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0:00-2:00. Welcome the class. This is a longer, comprehensive session — plan for 60-75 minutes, or split across two training periods (procedures/appearance in one session, the Q&amp;A bank in a second). Ask: 'Who has a board coming up, or has been to one before?' Tailor pacing based on the room's experience level. Note: board question content (current leadership names, unit-specific info) should be verified and updated close to the actual board date, since these details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2:00-4:00. Walk through the agenda. Flag that this is intentionally long and comprehensive.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4:00-7:00. Clarify the difference between required promotion boards and optional/competitive recognition boards. Both use nearly identical format and preparation, so today's lesson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7:00-10:00. Reassure Soldiers this isn't an interrogation - each board member usually has their own lane of questions, so preparation across categories (which the Q&amp;A bank covers) means no single member can catch you totally off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10:00-13:00. Emphasize the mock board step specifically - it's the single highest-value thing Soldiers skip, and the thing that most reduces board-day nerves.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13:00-16:00. Uniform standards are detailed and unit-specific in places - point Soldiers to their current AR 670-1 and their unit's board packet/SOP for exact requirements rather than relying purely on memory, since small details (ribbon order, badge placement) are exactly what boards notice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16:00-19:00. Have Soldiers physically practice this sequence right now if space allows - knock, enter, march, report, wait. Muscle memory here reduces nerves more than almost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19:00-22:00. This is a reassurance slide - a lot of anxiety comes from believing boards demand perfect knowledge. Emphasize that a Soldier who says 'I don't know that answer, but I'll find out and get back to you' calmly usually scores better than one who freezes or bluffs.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22:00-25:00. Ask if anyone's heard a board horror story from a peer - usually ties back to one of these four. Normalize asking for a question to be repeated; it's not a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25:00-27:00. Introduce the Q&amp;A bank. Recommend Soldiers actually read questions aloud and answer aloud, not just silently read - board rooms are a verbal exercise, and practicing silently doesn't build the same muscle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covers this category alongside the others. IMPORTANT: senior leadership names change - verify current names before the actual board, since an outdated answer here looks worse than not knowing at all. The last two rows are intentionally blank - every Soldier MUST know their own chain of command and unit mission cold; no generic answer can substitute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Soldiers to start a physical or digital flashcard set today using this deck's Q&amp;A bank as the seed content, then keep adding to it as their NCO gives them unit-specific questions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real time for this if running the full session — even one volunteer running the full sequence in front of the class is worth more than another 10 minutes of lecture. If time is short, at minimum run the reporting statement and knock/enter sequence with 2-3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Close with the discussion prompt - have each Soldier name their weakest category out loud, and offer to pair them with a battle buddy who's stronger in that area for continued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Shape 1"/>
          <p:cNvSpPr/>
          <p:nvPr/>
        </p:nvSpPr>
        <p:spPr>
          <a:xfrm>
            <a:off x="-1828800" y="4572000"/>
            <a:ext cx="4114800" cy="4114800"/>
          </a:xfrm>
          <a:prstGeom prst="ellipse">
            <a:avLst/>
          </a:prstGeom>
          <a:solidFill>
            <a:srgbClr val="3C3F2C">
              <a:alpha val="60000"/>
            </a:srgbClr>
          </a:solidFill>
          <a:ln/>
        </p:spPr>
      </p:sp>
      <p:pic>
        <p:nvPicPr>
          <p:cNvPr id="4" name="Image 0" descr="icon_medal.png">    </p:cNvPr>
          <p:cNvPicPr>
            <a:picLocks noChangeAspect="1"/>
          </p:cNvPicPr>
          <p:nvPr/>
        </p:nvPicPr>
        <p:blipFill>
          <a:blip r:embed="rId1"/>
          <a:stretch>
            <a:fillRect/>
          </a:stretch>
        </p:blipFill>
        <p:spPr>
          <a:xfrm>
            <a:off x="822960" y="1188720"/>
            <a:ext cx="1005840" cy="1005840"/>
          </a:xfrm>
          <a:prstGeom prst="rect">
            <a:avLst/>
          </a:prstGeom>
        </p:spPr>
      </p:pic>
      <p:sp>
        <p:nvSpPr>
          <p:cNvPr id="5" name="Text 2"/>
          <p:cNvSpPr/>
          <p:nvPr/>
        </p:nvSpPr>
        <p:spPr>
          <a:xfrm>
            <a:off x="822960" y="2423160"/>
            <a:ext cx="10332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PROMOTION BOARD</a:t>
            </a:r>
            <a:endParaRPr lang="en-US" sz="3800" dirty="0"/>
          </a:p>
        </p:txBody>
      </p:sp>
      <p:sp>
        <p:nvSpPr>
          <p:cNvPr id="6" name="Text 3"/>
          <p:cNvSpPr/>
          <p:nvPr/>
        </p:nvSpPr>
        <p:spPr>
          <a:xfrm>
            <a:off x="822960" y="3108960"/>
            <a:ext cx="10332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PREPARATION</a:t>
            </a:r>
            <a:endParaRPr lang="en-US" sz="3800" dirty="0"/>
          </a:p>
        </p:txBody>
      </p:sp>
      <p:sp>
        <p:nvSpPr>
          <p:cNvPr id="7" name="Text 4"/>
          <p:cNvSpPr/>
          <p:nvPr/>
        </p:nvSpPr>
        <p:spPr>
          <a:xfrm>
            <a:off x="822960" y="3886200"/>
            <a:ext cx="10058400" cy="502920"/>
          </a:xfrm>
          <a:prstGeom prst="rect">
            <a:avLst/>
          </a:prstGeom>
          <a:noFill/>
          <a:ln/>
        </p:spPr>
        <p:txBody>
          <a:bodyPr wrap="square" lIns="0" tIns="0" rIns="0" bIns="0" rtlCol="0" anchor="ctr"/>
          <a:lstStyle/>
          <a:p>
            <a:pPr indent="0" marL="0">
              <a:buNone/>
            </a:pPr>
            <a:r>
              <a:rPr lang="en-US" sz="1900" i="1" dirty="0">
                <a:solidFill>
                  <a:srgbClr val="C9A227"/>
                </a:solidFill>
                <a:latin typeface="Calibri" pitchFamily="34" charset="0"/>
                <a:ea typeface="Calibri" pitchFamily="34" charset="-122"/>
                <a:cs typeface="Calibri" pitchFamily="34" charset="-120"/>
              </a:rPr>
              <a:t>A Complete Guide + Question &amp; Answer Bank</a:t>
            </a:r>
            <a:endParaRPr lang="en-US" sz="1900" dirty="0"/>
          </a:p>
        </p:txBody>
      </p:sp>
      <p:sp>
        <p:nvSpPr>
          <p:cNvPr id="8" name="Text 5"/>
          <p:cNvSpPr/>
          <p:nvPr/>
        </p:nvSpPr>
        <p:spPr>
          <a:xfrm>
            <a:off x="822960" y="5943600"/>
            <a:ext cx="10515600" cy="365760"/>
          </a:xfrm>
          <a:prstGeom prst="rect">
            <a:avLst/>
          </a:prstGeom>
          <a:noFill/>
          <a:ln/>
        </p:spPr>
        <p:txBody>
          <a:bodyPr wrap="square" lIns="0" tIns="0" rIns="0" bIns="0" rtlCol="0" anchor="ctr"/>
          <a:lstStyle/>
          <a:p>
            <a:pPr indent="0" marL="0">
              <a:buNone/>
            </a:pPr>
            <a:r>
              <a:rPr lang="en-US" sz="1350" dirty="0">
                <a:solidFill>
                  <a:srgbClr val="C9B896"/>
                </a:solidFill>
                <a:latin typeface="Calibri" pitchFamily="34" charset="0"/>
                <a:ea typeface="Calibri" pitchFamily="34" charset="-122"/>
                <a:cs typeface="Calibri" pitchFamily="34" charset="-120"/>
              </a:rPr>
              <a:t>An Extended Session for Regular Army Soldiers  |  U.S. Army Cyber School</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WE'LL COVER TODAY</a:t>
            </a:r>
            <a:endParaRPr lang="en-US" sz="2800" dirty="0"/>
          </a:p>
        </p:txBody>
      </p:sp>
      <p:sp>
        <p:nvSpPr>
          <p:cNvPr id="4" name="Shape 2"/>
          <p:cNvSpPr/>
          <p:nvPr/>
        </p:nvSpPr>
        <p:spPr>
          <a:xfrm>
            <a:off x="548640" y="1417320"/>
            <a:ext cx="411480" cy="411480"/>
          </a:xfrm>
          <a:prstGeom prst="ellipse">
            <a:avLst/>
          </a:prstGeom>
          <a:solidFill>
            <a:srgbClr val="C9A227"/>
          </a:solidFill>
          <a:ln/>
        </p:spPr>
      </p:sp>
      <p:sp>
        <p:nvSpPr>
          <p:cNvPr id="5" name="Text 3"/>
          <p:cNvSpPr/>
          <p:nvPr/>
        </p:nvSpPr>
        <p:spPr>
          <a:xfrm>
            <a:off x="548640" y="1417320"/>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097280" y="1371600"/>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What a promotion/Soldier board is, and why it matters</a:t>
            </a:r>
            <a:endParaRPr lang="en-US" sz="1300" dirty="0"/>
          </a:p>
        </p:txBody>
      </p:sp>
      <p:sp>
        <p:nvSpPr>
          <p:cNvPr id="7" name="Shape 5"/>
          <p:cNvSpPr/>
          <p:nvPr/>
        </p:nvSpPr>
        <p:spPr>
          <a:xfrm>
            <a:off x="6263640" y="1417320"/>
            <a:ext cx="411480" cy="411480"/>
          </a:xfrm>
          <a:prstGeom prst="ellipse">
            <a:avLst/>
          </a:prstGeom>
          <a:solidFill>
            <a:srgbClr val="C9A227"/>
          </a:solidFill>
          <a:ln/>
        </p:spPr>
      </p:sp>
      <p:sp>
        <p:nvSpPr>
          <p:cNvPr id="8" name="Text 6"/>
          <p:cNvSpPr/>
          <p:nvPr/>
        </p:nvSpPr>
        <p:spPr>
          <a:xfrm>
            <a:off x="6263640" y="1417320"/>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6812280" y="1371600"/>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Board composition, roles, and the notification timeline</a:t>
            </a:r>
            <a:endParaRPr lang="en-US" sz="1300" dirty="0"/>
          </a:p>
        </p:txBody>
      </p:sp>
      <p:sp>
        <p:nvSpPr>
          <p:cNvPr id="10" name="Shape 8"/>
          <p:cNvSpPr/>
          <p:nvPr/>
        </p:nvSpPr>
        <p:spPr>
          <a:xfrm>
            <a:off x="548640" y="2258568"/>
            <a:ext cx="411480" cy="411480"/>
          </a:xfrm>
          <a:prstGeom prst="ellipse">
            <a:avLst/>
          </a:prstGeom>
          <a:solidFill>
            <a:srgbClr val="C9A227"/>
          </a:solidFill>
          <a:ln/>
        </p:spPr>
      </p:sp>
      <p:sp>
        <p:nvSpPr>
          <p:cNvPr id="11" name="Text 9"/>
          <p:cNvSpPr/>
          <p:nvPr/>
        </p:nvSpPr>
        <p:spPr>
          <a:xfrm>
            <a:off x="548640" y="2258568"/>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097280" y="2212848"/>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Uniform, appearance, and bearing standards</a:t>
            </a:r>
            <a:endParaRPr lang="en-US" sz="1300" dirty="0"/>
          </a:p>
        </p:txBody>
      </p:sp>
      <p:sp>
        <p:nvSpPr>
          <p:cNvPr id="13" name="Shape 11"/>
          <p:cNvSpPr/>
          <p:nvPr/>
        </p:nvSpPr>
        <p:spPr>
          <a:xfrm>
            <a:off x="6263640" y="2258568"/>
            <a:ext cx="411480" cy="411480"/>
          </a:xfrm>
          <a:prstGeom prst="ellipse">
            <a:avLst/>
          </a:prstGeom>
          <a:solidFill>
            <a:srgbClr val="C9A227"/>
          </a:solidFill>
          <a:ln/>
        </p:spPr>
      </p:sp>
      <p:sp>
        <p:nvSpPr>
          <p:cNvPr id="14" name="Text 12"/>
          <p:cNvSpPr/>
          <p:nvPr/>
        </p:nvSpPr>
        <p:spPr>
          <a:xfrm>
            <a:off x="6263640" y="2258568"/>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6812280" y="2212848"/>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Reporting in and the board room walkthrough, step by step</a:t>
            </a:r>
            <a:endParaRPr lang="en-US" sz="1300" dirty="0"/>
          </a:p>
        </p:txBody>
      </p:sp>
      <p:sp>
        <p:nvSpPr>
          <p:cNvPr id="16" name="Shape 14"/>
          <p:cNvSpPr/>
          <p:nvPr/>
        </p:nvSpPr>
        <p:spPr>
          <a:xfrm>
            <a:off x="548640" y="3099816"/>
            <a:ext cx="411480" cy="411480"/>
          </a:xfrm>
          <a:prstGeom prst="ellipse">
            <a:avLst/>
          </a:prstGeom>
          <a:solidFill>
            <a:srgbClr val="C9A227"/>
          </a:solidFill>
          <a:ln/>
        </p:spPr>
      </p:sp>
      <p:sp>
        <p:nvSpPr>
          <p:cNvPr id="17" name="Text 15"/>
          <p:cNvSpPr/>
          <p:nvPr/>
        </p:nvSpPr>
        <p:spPr>
          <a:xfrm>
            <a:off x="548640" y="3099816"/>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097280" y="3054096"/>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What boards are really scoring — and common mistakes</a:t>
            </a:r>
            <a:endParaRPr lang="en-US" sz="1300" dirty="0"/>
          </a:p>
        </p:txBody>
      </p:sp>
      <p:sp>
        <p:nvSpPr>
          <p:cNvPr id="19" name="Shape 17"/>
          <p:cNvSpPr/>
          <p:nvPr/>
        </p:nvSpPr>
        <p:spPr>
          <a:xfrm>
            <a:off x="6263640" y="3099816"/>
            <a:ext cx="411480" cy="411480"/>
          </a:xfrm>
          <a:prstGeom prst="ellipse">
            <a:avLst/>
          </a:prstGeom>
          <a:solidFill>
            <a:srgbClr val="C9A227"/>
          </a:solidFill>
          <a:ln/>
        </p:spPr>
      </p:sp>
      <p:sp>
        <p:nvSpPr>
          <p:cNvPr id="20" name="Text 18"/>
          <p:cNvSpPr/>
          <p:nvPr/>
        </p:nvSpPr>
        <p:spPr>
          <a:xfrm>
            <a:off x="6263640" y="3099816"/>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6</a:t>
            </a:r>
            <a:endParaRPr lang="en-US" sz="1600" dirty="0"/>
          </a:p>
        </p:txBody>
      </p:sp>
      <p:sp>
        <p:nvSpPr>
          <p:cNvPr id="21" name="Text 19"/>
          <p:cNvSpPr/>
          <p:nvPr/>
        </p:nvSpPr>
        <p:spPr>
          <a:xfrm>
            <a:off x="6812280" y="3054096"/>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A full Question &amp; Answer bank across 10 study categories</a:t>
            </a:r>
            <a:endParaRPr lang="en-US" sz="1300" dirty="0"/>
          </a:p>
        </p:txBody>
      </p:sp>
      <p:sp>
        <p:nvSpPr>
          <p:cNvPr id="22" name="Shape 20"/>
          <p:cNvSpPr/>
          <p:nvPr/>
        </p:nvSpPr>
        <p:spPr>
          <a:xfrm>
            <a:off x="548640" y="3941064"/>
            <a:ext cx="411480" cy="411480"/>
          </a:xfrm>
          <a:prstGeom prst="ellipse">
            <a:avLst/>
          </a:prstGeom>
          <a:solidFill>
            <a:srgbClr val="C9A227"/>
          </a:solidFill>
          <a:ln/>
        </p:spPr>
      </p:sp>
      <p:sp>
        <p:nvSpPr>
          <p:cNvPr id="23" name="Text 21"/>
          <p:cNvSpPr/>
          <p:nvPr/>
        </p:nvSpPr>
        <p:spPr>
          <a:xfrm>
            <a:off x="548640" y="3941064"/>
            <a:ext cx="411480" cy="411480"/>
          </a:xfrm>
          <a:prstGeom prst="rect">
            <a:avLst/>
          </a:prstGeom>
          <a:noFill/>
          <a:ln/>
        </p:spPr>
        <p:txBody>
          <a:bodyPr wrap="square" lIns="0" tIns="0" rIns="0" bIns="0" rtlCol="0" anchor="ctr"/>
          <a:lstStyle/>
          <a:p>
            <a:pPr algn="ctr" indent="0" marL="0">
              <a:buNone/>
            </a:pPr>
            <a:r>
              <a:rPr lang="en-US" sz="1600" b="1" dirty="0">
                <a:solidFill>
                  <a:srgbClr val="24261A"/>
                </a:solidFill>
                <a:latin typeface="Cambria" pitchFamily="34" charset="0"/>
                <a:ea typeface="Cambria" pitchFamily="34" charset="-122"/>
                <a:cs typeface="Cambria" pitchFamily="34" charset="-120"/>
              </a:rPr>
              <a:t>7</a:t>
            </a:r>
            <a:endParaRPr lang="en-US" sz="1600" dirty="0"/>
          </a:p>
        </p:txBody>
      </p:sp>
      <p:sp>
        <p:nvSpPr>
          <p:cNvPr id="24" name="Text 22"/>
          <p:cNvSpPr/>
          <p:nvPr/>
        </p:nvSpPr>
        <p:spPr>
          <a:xfrm>
            <a:off x="1097280" y="3895344"/>
            <a:ext cx="4846320" cy="502920"/>
          </a:xfrm>
          <a:prstGeom prst="rect">
            <a:avLst/>
          </a:prstGeom>
          <a:noFill/>
          <a:ln/>
        </p:spPr>
        <p:txBody>
          <a:bodyPr wrap="square" lIns="0" tIns="0" rIns="0" bIns="0" rtlCol="0" anchor="ctr"/>
          <a:lstStyle/>
          <a:p>
            <a:pPr indent="0" marL="0">
              <a:buNone/>
            </a:pPr>
            <a:r>
              <a:rPr lang="en-US" sz="1300" dirty="0">
                <a:solidFill>
                  <a:srgbClr val="2B2B25"/>
                </a:solidFill>
                <a:latin typeface="Calibri" pitchFamily="34" charset="0"/>
                <a:ea typeface="Calibri" pitchFamily="34" charset="-122"/>
                <a:cs typeface="Calibri" pitchFamily="34" charset="-120"/>
              </a:rPr>
              <a:t>Study tips, resources, and a mock board practice drill</a:t>
            </a:r>
            <a:endParaRPr lang="en-US" sz="1300" dirty="0"/>
          </a:p>
        </p:txBody>
      </p:sp>
      <p:sp>
        <p:nvSpPr>
          <p:cNvPr id="25" name="Text 23"/>
          <p:cNvSpPr/>
          <p:nvPr/>
        </p:nvSpPr>
        <p:spPr>
          <a:xfrm>
            <a:off x="548640" y="6035040"/>
            <a:ext cx="10972800" cy="365760"/>
          </a:xfrm>
          <a:prstGeom prst="rect">
            <a:avLst/>
          </a:prstGeom>
          <a:noFill/>
          <a:ln/>
        </p:spPr>
        <p:txBody>
          <a:bodyPr wrap="square" lIns="0" tIns="0" rIns="0" bIns="0" rtlCol="0" anchor="ctr"/>
          <a:lstStyle/>
          <a:p>
            <a:pPr indent="0" marL="0">
              <a:buNone/>
            </a:pPr>
            <a:r>
              <a:rPr lang="en-US" sz="1200" i="1" dirty="0">
                <a:solidFill>
                  <a:srgbClr val="5B7553"/>
                </a:solidFill>
                <a:latin typeface="Calibri" pitchFamily="34" charset="0"/>
                <a:ea typeface="Calibri" pitchFamily="34" charset="-122"/>
                <a:cs typeface="Calibri" pitchFamily="34" charset="-120"/>
              </a:rPr>
              <a:t>Total time: 60-75 minutes — a longer session, ideal to split across two periods</a:t>
            </a:r>
            <a:endParaRPr lang="en-US" sz="1200" dirty="0"/>
          </a:p>
        </p:txBody>
      </p:sp>
      <p:sp>
        <p:nvSpPr>
          <p:cNvPr id="26" name="Text 24"/>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IS A PROMOTION / SOLDIER BOARD?</a:t>
            </a:r>
            <a:endParaRPr lang="en-US" sz="2600" dirty="0"/>
          </a:p>
        </p:txBody>
      </p:sp>
      <p:sp>
        <p:nvSpPr>
          <p:cNvPr id="4" name="Text 2"/>
          <p:cNvSpPr/>
          <p:nvPr/>
        </p:nvSpPr>
        <p:spPr>
          <a:xfrm>
            <a:off x="548640" y="1188720"/>
            <a:ext cx="11064240" cy="82296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A board is a formal, in-person evaluation where a panel of NCOs (or officers) assesses a Soldier's knowledge, bearing, and readiness for greater responsibility — whether that's promotion, or recognition like Soldier of the Month.</a:t>
            </a:r>
            <a:endParaRPr lang="en-US" sz="1450" dirty="0"/>
          </a:p>
        </p:txBody>
      </p:sp>
      <p:sp>
        <p:nvSpPr>
          <p:cNvPr id="5" name="Shape 3"/>
          <p:cNvSpPr/>
          <p:nvPr/>
        </p:nvSpPr>
        <p:spPr>
          <a:xfrm>
            <a:off x="548640" y="2286000"/>
            <a:ext cx="3566160" cy="3566160"/>
          </a:xfrm>
          <a:prstGeom prst="roundRect">
            <a:avLst>
              <a:gd name="adj" fmla="val 2051"/>
            </a:avLst>
          </a:prstGeom>
          <a:solidFill>
            <a:srgbClr val="F1EDE3"/>
          </a:solidFill>
          <a:ln/>
          <a:effectLst>
            <a:outerShdw sx="100000" sy="100000" kx="0" ky="0" algn="bl" rotWithShape="0" blurRad="76200" dist="25400" dir="2700000">
              <a:srgbClr val="000000">
                <a:alpha val="10000"/>
              </a:srgbClr>
            </a:outerShdw>
          </a:effectLst>
        </p:spPr>
      </p:sp>
      <p:sp>
        <p:nvSpPr>
          <p:cNvPr id="6" name="Text 4"/>
          <p:cNvSpPr/>
          <p:nvPr/>
        </p:nvSpPr>
        <p:spPr>
          <a:xfrm>
            <a:off x="777240" y="2514600"/>
            <a:ext cx="3108960" cy="64008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Promotion Boards</a:t>
            </a:r>
            <a:endParaRPr lang="en-US" sz="1450" dirty="0"/>
          </a:p>
        </p:txBody>
      </p:sp>
      <p:sp>
        <p:nvSpPr>
          <p:cNvPr id="7" name="Text 5"/>
          <p:cNvSpPr/>
          <p:nvPr/>
        </p:nvSpPr>
        <p:spPr>
          <a:xfrm>
            <a:off x="777240" y="3246120"/>
            <a:ext cx="3108960" cy="242316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Required for advancement to certain NCO ranks (e.g., SGT, SSG) per AR 600-8-19 — you can't be promoted without passing one.</a:t>
            </a:r>
            <a:endParaRPr lang="en-US" sz="1200" dirty="0"/>
          </a:p>
        </p:txBody>
      </p:sp>
      <p:sp>
        <p:nvSpPr>
          <p:cNvPr id="8" name="Shape 6"/>
          <p:cNvSpPr/>
          <p:nvPr/>
        </p:nvSpPr>
        <p:spPr>
          <a:xfrm>
            <a:off x="4297680" y="2286000"/>
            <a:ext cx="3566160" cy="3566160"/>
          </a:xfrm>
          <a:prstGeom prst="roundRect">
            <a:avLst>
              <a:gd name="adj" fmla="val 2051"/>
            </a:avLst>
          </a:prstGeom>
          <a:solidFill>
            <a:srgbClr val="F1EDE3"/>
          </a:solidFill>
          <a:ln/>
          <a:effectLst>
            <a:outerShdw sx="100000" sy="100000" kx="0" ky="0" algn="bl" rotWithShape="0" blurRad="76200" dist="25400" dir="2700000">
              <a:srgbClr val="000000">
                <a:alpha val="10000"/>
              </a:srgbClr>
            </a:outerShdw>
          </a:effectLst>
        </p:spPr>
      </p:sp>
      <p:sp>
        <p:nvSpPr>
          <p:cNvPr id="9" name="Text 7"/>
          <p:cNvSpPr/>
          <p:nvPr/>
        </p:nvSpPr>
        <p:spPr>
          <a:xfrm>
            <a:off x="4526280" y="2514600"/>
            <a:ext cx="3108960" cy="64008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Soldier/NCO of the Month/Quarter/Year</a:t>
            </a:r>
            <a:endParaRPr lang="en-US" sz="1450" dirty="0"/>
          </a:p>
        </p:txBody>
      </p:sp>
      <p:sp>
        <p:nvSpPr>
          <p:cNvPr id="10" name="Text 8"/>
          <p:cNvSpPr/>
          <p:nvPr/>
        </p:nvSpPr>
        <p:spPr>
          <a:xfrm>
            <a:off x="4526280" y="3246120"/>
            <a:ext cx="3108960" cy="242316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Competitive recognition boards — not required for promotion, but a strong resume and confidence builder.</a:t>
            </a:r>
            <a:endParaRPr lang="en-US" sz="1200" dirty="0"/>
          </a:p>
        </p:txBody>
      </p:sp>
      <p:sp>
        <p:nvSpPr>
          <p:cNvPr id="11" name="Shape 9"/>
          <p:cNvSpPr/>
          <p:nvPr/>
        </p:nvSpPr>
        <p:spPr>
          <a:xfrm>
            <a:off x="8046720" y="2286000"/>
            <a:ext cx="3566160" cy="3566160"/>
          </a:xfrm>
          <a:prstGeom prst="roundRect">
            <a:avLst>
              <a:gd name="adj" fmla="val 2051"/>
            </a:avLst>
          </a:prstGeom>
          <a:solidFill>
            <a:srgbClr val="F1EDE3"/>
          </a:solidFill>
          <a:ln/>
          <a:effectLst>
            <a:outerShdw sx="100000" sy="100000" kx="0" ky="0" algn="bl" rotWithShape="0" blurRad="76200" dist="25400" dir="2700000">
              <a:srgbClr val="000000">
                <a:alpha val="10000"/>
              </a:srgbClr>
            </a:outerShdw>
          </a:effectLst>
        </p:spPr>
      </p:sp>
      <p:sp>
        <p:nvSpPr>
          <p:cNvPr id="12" name="Text 10"/>
          <p:cNvSpPr/>
          <p:nvPr/>
        </p:nvSpPr>
        <p:spPr>
          <a:xfrm>
            <a:off x="8275320" y="2514600"/>
            <a:ext cx="3108960" cy="64008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Command-Level Boards</a:t>
            </a:r>
            <a:endParaRPr lang="en-US" sz="1450" dirty="0"/>
          </a:p>
        </p:txBody>
      </p:sp>
      <p:sp>
        <p:nvSpPr>
          <p:cNvPr id="13" name="Text 11"/>
          <p:cNvSpPr/>
          <p:nvPr/>
        </p:nvSpPr>
        <p:spPr>
          <a:xfrm>
            <a:off x="8275320" y="3246120"/>
            <a:ext cx="3108960" cy="242316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Boards run by your unit, battalion, brigade, or higher — format is consistent, but panel and difficulty scale up.</a:t>
            </a:r>
            <a:endParaRPr lang="en-US" sz="1200" dirty="0"/>
          </a:p>
        </p:txBody>
      </p:sp>
      <p:sp>
        <p:nvSpPr>
          <p:cNvPr id="14" name="Text 12"/>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20040"/>
            <a:ext cx="1115568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WHO'S IN THE ROOM: BOARD COMPOSITION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3017520"/>
        </p:xfrm>
        <a:graphic>
          <a:graphicData uri="http://schemas.openxmlformats.org/drawingml/2006/table">
            <a:tbl>
              <a:tblPr/>
              <a:tblGrid>
                <a:gridCol w="2926080"/>
                <a:gridCol w="8138160"/>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They Do</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621792">
                <a:tc>
                  <a:txBody>
                    <a:bodyPr/>
                    <a:lstStyle/>
                    <a:p>
                      <a:pPr indent="0" marL="0">
                        <a:buNone/>
                      </a:pPr>
                      <a:r>
                        <a:rPr lang="en-US" sz="1400" b="1" dirty="0">
                          <a:solidFill>
                            <a:srgbClr val="2B2B25"/>
                          </a:solidFill>
                          <a:latin typeface="Calibri" pitchFamily="34" charset="0"/>
                          <a:ea typeface="Calibri" pitchFamily="34" charset="-122"/>
                          <a:cs typeface="Calibri" pitchFamily="34" charset="-120"/>
                        </a:rPr>
                        <a:t>Board President</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400" dirty="0">
                          <a:solidFill>
                            <a:srgbClr val="2B2B25"/>
                          </a:solidFill>
                          <a:latin typeface="Calibri" pitchFamily="34" charset="0"/>
                          <a:ea typeface="Calibri" pitchFamily="34" charset="-122"/>
                          <a:cs typeface="Calibri" pitchFamily="34" charset="-120"/>
                        </a:rPr>
                        <a:t>The senior NCO/officer presiding — usually opens, closes, and asks the final question</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400" b="1" dirty="0">
                          <a:solidFill>
                            <a:srgbClr val="2B2B25"/>
                          </a:solidFill>
                          <a:latin typeface="Calibri" pitchFamily="34" charset="0"/>
                          <a:ea typeface="Calibri" pitchFamily="34" charset="-122"/>
                          <a:cs typeface="Calibri" pitchFamily="34" charset="-120"/>
                        </a:rPr>
                        <a:t>Voting Members</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400" dirty="0">
                          <a:solidFill>
                            <a:srgbClr val="2B2B25"/>
                          </a:solidFill>
                          <a:latin typeface="Calibri" pitchFamily="34" charset="0"/>
                          <a:ea typeface="Calibri" pitchFamily="34" charset="-122"/>
                          <a:cs typeface="Calibri" pitchFamily="34" charset="-120"/>
                        </a:rPr>
                        <a:t>Typically 3-5 senior NCOs who each score you and ask questions in their area of expertise</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400" b="1" dirty="0">
                          <a:solidFill>
                            <a:srgbClr val="2B2B25"/>
                          </a:solidFill>
                          <a:latin typeface="Calibri" pitchFamily="34" charset="0"/>
                          <a:ea typeface="Calibri" pitchFamily="34" charset="-122"/>
                          <a:cs typeface="Calibri" pitchFamily="34" charset="-120"/>
                        </a:rPr>
                        <a:t>Recorder</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400" dirty="0">
                          <a:solidFill>
                            <a:srgbClr val="2B2B25"/>
                          </a:solidFill>
                          <a:latin typeface="Calibri" pitchFamily="34" charset="0"/>
                          <a:ea typeface="Calibri" pitchFamily="34" charset="-122"/>
                          <a:cs typeface="Calibri" pitchFamily="34" charset="-120"/>
                        </a:rPr>
                        <a:t>Tracks scores and administrative details — may not ask questions directly</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400" b="1" dirty="0">
                          <a:solidFill>
                            <a:srgbClr val="2B2B25"/>
                          </a:solidFill>
                          <a:latin typeface="Calibri" pitchFamily="34" charset="0"/>
                          <a:ea typeface="Calibri" pitchFamily="34" charset="-122"/>
                          <a:cs typeface="Calibri" pitchFamily="34" charset="-120"/>
                        </a:rPr>
                        <a:t>You</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400" dirty="0">
                          <a:solidFill>
                            <a:srgbClr val="2B2B25"/>
                          </a:solidFill>
                          <a:latin typeface="Calibri" pitchFamily="34" charset="0"/>
                          <a:ea typeface="Calibri" pitchFamily="34" charset="-122"/>
                          <a:cs typeface="Calibri" pitchFamily="34" charset="-120"/>
                        </a:rPr>
                        <a:t>Enter one at a time; boards are almost always conducted individually, not in groups</a:t>
                      </a:r>
                      <a:endParaRPr lang="en-US" sz="14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4" name="Shape 1"/>
          <p:cNvSpPr/>
          <p:nvPr/>
        </p:nvSpPr>
        <p:spPr>
          <a:xfrm>
            <a:off x="548640" y="4434840"/>
            <a:ext cx="11064240" cy="1737360"/>
          </a:xfrm>
          <a:prstGeom prst="roundRect">
            <a:avLst>
              <a:gd name="adj" fmla="val 4211"/>
            </a:avLst>
          </a:prstGeom>
          <a:solidFill>
            <a:srgbClr val="3C3F2C"/>
          </a:solidFill>
          <a:ln/>
        </p:spPr>
      </p:sp>
      <p:sp>
        <p:nvSpPr>
          <p:cNvPr id="5" name="Text 2"/>
          <p:cNvSpPr/>
          <p:nvPr/>
        </p:nvSpPr>
        <p:spPr>
          <a:xfrm>
            <a:off x="822960" y="4572000"/>
            <a:ext cx="10515600" cy="1463040"/>
          </a:xfrm>
          <a:prstGeom prst="rect">
            <a:avLst/>
          </a:prstGeom>
          <a:noFill/>
          <a:ln/>
        </p:spPr>
        <p:txBody>
          <a:bodyPr wrap="square" lIns="0" tIns="0" rIns="0" bIns="0" rtlCol="0" anchor="t"/>
          <a:lstStyle/>
          <a:p>
            <a:pPr indent="0" marL="0">
              <a:buNone/>
            </a:pPr>
            <a:r>
              <a:rPr lang="en-US" sz="1300" b="1" dirty="0">
                <a:solidFill>
                  <a:srgbClr val="C9A227"/>
                </a:solidFill>
                <a:latin typeface="Calibri" pitchFamily="34" charset="0"/>
                <a:ea typeface="Calibri" pitchFamily="34" charset="-122"/>
                <a:cs typeface="Calibri" pitchFamily="34" charset="-120"/>
              </a:rPr>
              <a:t>Good to know: </a:t>
            </a:r>
            <a:pPr indent="0" marL="0">
              <a:buNone/>
            </a:pPr>
            <a:r>
              <a:rPr lang="en-US" sz="1300" dirty="0">
                <a:solidFill>
                  <a:srgbClr val="FFFFFF"/>
                </a:solidFill>
                <a:latin typeface="Calibri" pitchFamily="34" charset="0"/>
                <a:ea typeface="Calibri" pitchFamily="34" charset="-122"/>
                <a:cs typeface="Calibri" pitchFamily="34" charset="-120"/>
              </a:rPr>
              <a:t>Boards usually last 10-20 minutes per Soldier. Members typically each pick a lane (values, history, current events, MOS-specific) so you aren't asked the same thing twice.</a:t>
            </a:r>
            <a:endParaRPr lang="en-US" sz="1300" dirty="0"/>
          </a:p>
        </p:txBody>
      </p:sp>
      <p:sp>
        <p:nvSpPr>
          <p:cNvPr id="6" name="Text 3"/>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BEFORE THE BOARD: YOUR PREP TIMELINE</a:t>
            </a:r>
            <a:endParaRPr lang="en-US" sz="2600" dirty="0"/>
          </a:p>
        </p:txBody>
      </p:sp>
      <p:sp>
        <p:nvSpPr>
          <p:cNvPr id="4" name="Shape 2"/>
          <p:cNvSpPr/>
          <p:nvPr/>
        </p:nvSpPr>
        <p:spPr>
          <a:xfrm>
            <a:off x="548640" y="1371600"/>
            <a:ext cx="594360" cy="594360"/>
          </a:xfrm>
          <a:prstGeom prst="ellipse">
            <a:avLst/>
          </a:prstGeom>
          <a:solidFill>
            <a:srgbClr val="C9A227"/>
          </a:solidFill>
          <a:ln/>
        </p:spPr>
      </p:sp>
      <p:sp>
        <p:nvSpPr>
          <p:cNvPr id="5" name="Text 3"/>
          <p:cNvSpPr/>
          <p:nvPr/>
        </p:nvSpPr>
        <p:spPr>
          <a:xfrm>
            <a:off x="548640" y="1371600"/>
            <a:ext cx="594360" cy="594360"/>
          </a:xfrm>
          <a:prstGeom prst="rect">
            <a:avLst/>
          </a:prstGeom>
          <a:noFill/>
          <a:ln/>
        </p:spPr>
        <p:txBody>
          <a:bodyPr wrap="square" lIns="0" tIns="0" rIns="0" bIns="0" rtlCol="0" anchor="ctr"/>
          <a:lstStyle/>
          <a:p>
            <a:pPr algn="ctr" indent="0" marL="0">
              <a:buNone/>
            </a:pPr>
            <a:r>
              <a:rPr lang="en-US" sz="2400" b="1" dirty="0">
                <a:solidFill>
                  <a:srgbClr val="24261A"/>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1280160" y="1353312"/>
            <a:ext cx="4663440" cy="50292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Get notified &amp; confirm the date</a:t>
            </a:r>
            <a:endParaRPr lang="en-US" sz="1450" dirty="0"/>
          </a:p>
        </p:txBody>
      </p:sp>
      <p:sp>
        <p:nvSpPr>
          <p:cNvPr id="7" name="Text 5"/>
          <p:cNvSpPr/>
          <p:nvPr/>
        </p:nvSpPr>
        <p:spPr>
          <a:xfrm>
            <a:off x="1280160" y="1874520"/>
            <a:ext cx="4663440" cy="16459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Your unit will notify you of the board date, time, and location — confirm it in writing with your NCO.</a:t>
            </a:r>
            <a:endParaRPr lang="en-US" sz="1150" dirty="0"/>
          </a:p>
        </p:txBody>
      </p:sp>
      <p:sp>
        <p:nvSpPr>
          <p:cNvPr id="8" name="Shape 6"/>
          <p:cNvSpPr/>
          <p:nvPr/>
        </p:nvSpPr>
        <p:spPr>
          <a:xfrm>
            <a:off x="6263640" y="1371600"/>
            <a:ext cx="594360" cy="594360"/>
          </a:xfrm>
          <a:prstGeom prst="ellipse">
            <a:avLst/>
          </a:prstGeom>
          <a:solidFill>
            <a:srgbClr val="C9A227"/>
          </a:solidFill>
          <a:ln/>
        </p:spPr>
      </p:sp>
      <p:sp>
        <p:nvSpPr>
          <p:cNvPr id="9" name="Text 7"/>
          <p:cNvSpPr/>
          <p:nvPr/>
        </p:nvSpPr>
        <p:spPr>
          <a:xfrm>
            <a:off x="6263640" y="1371600"/>
            <a:ext cx="594360" cy="594360"/>
          </a:xfrm>
          <a:prstGeom prst="rect">
            <a:avLst/>
          </a:prstGeom>
          <a:noFill/>
          <a:ln/>
        </p:spPr>
        <p:txBody>
          <a:bodyPr wrap="square" lIns="0" tIns="0" rIns="0" bIns="0" rtlCol="0" anchor="ctr"/>
          <a:lstStyle/>
          <a:p>
            <a:pPr algn="ctr" indent="0" marL="0">
              <a:buNone/>
            </a:pPr>
            <a:r>
              <a:rPr lang="en-US" sz="2400" b="1" dirty="0">
                <a:solidFill>
                  <a:srgbClr val="24261A"/>
                </a:solidFill>
                <a:latin typeface="Cambria" pitchFamily="34" charset="0"/>
                <a:ea typeface="Cambria" pitchFamily="34" charset="-122"/>
                <a:cs typeface="Cambria" pitchFamily="34" charset="-120"/>
              </a:rPr>
              <a:t>2</a:t>
            </a:r>
            <a:endParaRPr lang="en-US" sz="2400" dirty="0"/>
          </a:p>
        </p:txBody>
      </p:sp>
      <p:sp>
        <p:nvSpPr>
          <p:cNvPr id="10" name="Text 8"/>
          <p:cNvSpPr/>
          <p:nvPr/>
        </p:nvSpPr>
        <p:spPr>
          <a:xfrm>
            <a:off x="6995160" y="1353312"/>
            <a:ext cx="4663440" cy="50292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Start studying 2-3 weeks out</a:t>
            </a:r>
            <a:endParaRPr lang="en-US" sz="1450" dirty="0"/>
          </a:p>
        </p:txBody>
      </p:sp>
      <p:sp>
        <p:nvSpPr>
          <p:cNvPr id="11" name="Text 9"/>
          <p:cNvSpPr/>
          <p:nvPr/>
        </p:nvSpPr>
        <p:spPr>
          <a:xfrm>
            <a:off x="6995160" y="1874520"/>
            <a:ext cx="4663440" cy="16459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Cramming the night before rarely works — spread study across the categories in this deck's Q&amp;A bank.</a:t>
            </a:r>
            <a:endParaRPr lang="en-US" sz="1150" dirty="0"/>
          </a:p>
        </p:txBody>
      </p:sp>
      <p:sp>
        <p:nvSpPr>
          <p:cNvPr id="12" name="Shape 10"/>
          <p:cNvSpPr/>
          <p:nvPr/>
        </p:nvSpPr>
        <p:spPr>
          <a:xfrm>
            <a:off x="548640" y="3886200"/>
            <a:ext cx="594360" cy="594360"/>
          </a:xfrm>
          <a:prstGeom prst="ellipse">
            <a:avLst/>
          </a:prstGeom>
          <a:solidFill>
            <a:srgbClr val="C9A227"/>
          </a:solidFill>
          <a:ln/>
        </p:spPr>
      </p:sp>
      <p:sp>
        <p:nvSpPr>
          <p:cNvPr id="13" name="Text 11"/>
          <p:cNvSpPr/>
          <p:nvPr/>
        </p:nvSpPr>
        <p:spPr>
          <a:xfrm>
            <a:off x="548640" y="3886200"/>
            <a:ext cx="594360" cy="594360"/>
          </a:xfrm>
          <a:prstGeom prst="rect">
            <a:avLst/>
          </a:prstGeom>
          <a:noFill/>
          <a:ln/>
        </p:spPr>
        <p:txBody>
          <a:bodyPr wrap="square" lIns="0" tIns="0" rIns="0" bIns="0" rtlCol="0" anchor="ctr"/>
          <a:lstStyle/>
          <a:p>
            <a:pPr algn="ctr" indent="0" marL="0">
              <a:buNone/>
            </a:pPr>
            <a:r>
              <a:rPr lang="en-US" sz="2400" b="1" dirty="0">
                <a:solidFill>
                  <a:srgbClr val="24261A"/>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1280160" y="3867912"/>
            <a:ext cx="4663440" cy="50292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Prep your uniform 1 week out</a:t>
            </a:r>
            <a:endParaRPr lang="en-US" sz="1450" dirty="0"/>
          </a:p>
        </p:txBody>
      </p:sp>
      <p:sp>
        <p:nvSpPr>
          <p:cNvPr id="15" name="Text 13"/>
          <p:cNvSpPr/>
          <p:nvPr/>
        </p:nvSpPr>
        <p:spPr>
          <a:xfrm>
            <a:off x="1280160" y="4389120"/>
            <a:ext cx="4663440" cy="16459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Have your uniform cleaned, pressed, and fully inspected well before board day — not the morning of.</a:t>
            </a:r>
            <a:endParaRPr lang="en-US" sz="1150" dirty="0"/>
          </a:p>
        </p:txBody>
      </p:sp>
      <p:sp>
        <p:nvSpPr>
          <p:cNvPr id="16" name="Shape 14"/>
          <p:cNvSpPr/>
          <p:nvPr/>
        </p:nvSpPr>
        <p:spPr>
          <a:xfrm>
            <a:off x="6263640" y="3886200"/>
            <a:ext cx="594360" cy="594360"/>
          </a:xfrm>
          <a:prstGeom prst="ellipse">
            <a:avLst/>
          </a:prstGeom>
          <a:solidFill>
            <a:srgbClr val="C9A227"/>
          </a:solidFill>
          <a:ln/>
        </p:spPr>
      </p:sp>
      <p:sp>
        <p:nvSpPr>
          <p:cNvPr id="17" name="Text 15"/>
          <p:cNvSpPr/>
          <p:nvPr/>
        </p:nvSpPr>
        <p:spPr>
          <a:xfrm>
            <a:off x="6263640" y="3886200"/>
            <a:ext cx="594360" cy="594360"/>
          </a:xfrm>
          <a:prstGeom prst="rect">
            <a:avLst/>
          </a:prstGeom>
          <a:noFill/>
          <a:ln/>
        </p:spPr>
        <p:txBody>
          <a:bodyPr wrap="square" lIns="0" tIns="0" rIns="0" bIns="0" rtlCol="0" anchor="ctr"/>
          <a:lstStyle/>
          <a:p>
            <a:pPr algn="ctr" indent="0" marL="0">
              <a:buNone/>
            </a:pPr>
            <a:r>
              <a:rPr lang="en-US" sz="2400" b="1" dirty="0">
                <a:solidFill>
                  <a:srgbClr val="24261A"/>
                </a:solidFill>
                <a:latin typeface="Cambria" pitchFamily="34" charset="0"/>
                <a:ea typeface="Cambria" pitchFamily="34" charset="-122"/>
                <a:cs typeface="Cambria" pitchFamily="34" charset="-120"/>
              </a:rPr>
              <a:t>4</a:t>
            </a:r>
            <a:endParaRPr lang="en-US" sz="2400" dirty="0"/>
          </a:p>
        </p:txBody>
      </p:sp>
      <p:sp>
        <p:nvSpPr>
          <p:cNvPr id="18" name="Text 16"/>
          <p:cNvSpPr/>
          <p:nvPr/>
        </p:nvSpPr>
        <p:spPr>
          <a:xfrm>
            <a:off x="6995160" y="3867912"/>
            <a:ext cx="4663440" cy="50292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Mock board 2-3 days out</a:t>
            </a:r>
            <a:endParaRPr lang="en-US" sz="1450" dirty="0"/>
          </a:p>
        </p:txBody>
      </p:sp>
      <p:sp>
        <p:nvSpPr>
          <p:cNvPr id="19" name="Text 17"/>
          <p:cNvSpPr/>
          <p:nvPr/>
        </p:nvSpPr>
        <p:spPr>
          <a:xfrm>
            <a:off x="6995160" y="4389120"/>
            <a:ext cx="4663440" cy="16459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Have your NCO or peers run a practice board so you're not hearing questions cold for the first time.</a:t>
            </a:r>
            <a:endParaRPr lang="en-US" sz="1150" dirty="0"/>
          </a:p>
        </p:txBody>
      </p:sp>
      <p:sp>
        <p:nvSpPr>
          <p:cNvPr id="20" name="Text 18"/>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20040"/>
            <a:ext cx="1115568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UNIFORM &amp; APPEARANCE STANDARDS</a:t>
            </a:r>
            <a:endParaRPr lang="en-US" sz="2600" dirty="0"/>
          </a:p>
        </p:txBody>
      </p:sp>
      <p:sp>
        <p:nvSpPr>
          <p:cNvPr id="3" name="Text 1"/>
          <p:cNvSpPr/>
          <p:nvPr/>
        </p:nvSpPr>
        <p:spPr>
          <a:xfrm>
            <a:off x="548640" y="914400"/>
            <a:ext cx="9144000" cy="365760"/>
          </a:xfrm>
          <a:prstGeom prst="rect">
            <a:avLst/>
          </a:prstGeom>
          <a:noFill/>
          <a:ln/>
        </p:spPr>
        <p:txBody>
          <a:bodyPr wrap="square" lIns="0" tIns="0" rIns="0" bIns="0" rtlCol="0" anchor="ctr"/>
          <a:lstStyle/>
          <a:p>
            <a:pPr indent="0" marL="0">
              <a:buNone/>
            </a:pPr>
            <a:r>
              <a:rPr lang="en-US" sz="1400" i="1" dirty="0">
                <a:solidFill>
                  <a:srgbClr val="C9A227"/>
                </a:solidFill>
                <a:latin typeface="Calibri" pitchFamily="34" charset="0"/>
                <a:ea typeface="Calibri" pitchFamily="34" charset="-122"/>
                <a:cs typeface="Calibri" pitchFamily="34" charset="-120"/>
              </a:rPr>
              <a:t>First impressions start before you say a word</a:t>
            </a:r>
            <a:endParaRPr lang="en-US" sz="1400" dirty="0"/>
          </a:p>
        </p:txBody>
      </p:sp>
      <p:sp>
        <p:nvSpPr>
          <p:cNvPr id="4" name="Text 2"/>
          <p:cNvSpPr/>
          <p:nvPr/>
        </p:nvSpPr>
        <p:spPr>
          <a:xfrm>
            <a:off x="548640" y="1508760"/>
            <a:ext cx="11064240" cy="32918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Uniform freshly cleaned and pressed, with sharp, correct creases per your unit's standard</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All badges, tabs, ribbons, and insignia present, correctly placed, and in the correct order of precedence</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Boots/shoes shined; brass and any metal devices polished</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Haircut/grooming standard met with no exceptions — check IAW AR 670-1 before board day, not the morning of</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Reference the current AR 670-1 for exact placement and wear standards — these details get updated periodically</a:t>
            </a:r>
            <a:endParaRPr lang="en-US" sz="1500" dirty="0"/>
          </a:p>
        </p:txBody>
      </p:sp>
      <p:sp>
        <p:nvSpPr>
          <p:cNvPr id="5" name="Shape 3"/>
          <p:cNvSpPr/>
          <p:nvPr/>
        </p:nvSpPr>
        <p:spPr>
          <a:xfrm>
            <a:off x="548640" y="5029200"/>
            <a:ext cx="11064240" cy="1188720"/>
          </a:xfrm>
          <a:prstGeom prst="roundRect">
            <a:avLst>
              <a:gd name="adj" fmla="val 6154"/>
            </a:avLst>
          </a:prstGeom>
          <a:solidFill>
            <a:srgbClr val="3C3F2C"/>
          </a:solidFill>
          <a:ln/>
        </p:spPr>
      </p:sp>
      <p:sp>
        <p:nvSpPr>
          <p:cNvPr id="6" name="Text 4"/>
          <p:cNvSpPr/>
          <p:nvPr/>
        </p:nvSpPr>
        <p:spPr>
          <a:xfrm>
            <a:off x="822960" y="5166360"/>
            <a:ext cx="10515600" cy="91440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Pro tip: </a:t>
            </a:r>
            <a:pPr indent="0" marL="0">
              <a:buNone/>
            </a:pPr>
            <a:r>
              <a:rPr lang="en-US" sz="1300" dirty="0">
                <a:solidFill>
                  <a:srgbClr val="FFFFFF"/>
                </a:solidFill>
                <a:latin typeface="Calibri" pitchFamily="34" charset="0"/>
                <a:ea typeface="Calibri" pitchFamily="34" charset="-122"/>
                <a:cs typeface="Calibri" pitchFamily="34" charset="-120"/>
              </a:rPr>
              <a:t>Have a peer or your NCO do a full uniform inspection 2-3 days before the board, not the morning of — that gives you time to fix anything.</a:t>
            </a:r>
            <a:endParaRPr lang="en-US" sz="1300" dirty="0"/>
          </a:p>
        </p:txBody>
      </p:sp>
      <p:sp>
        <p:nvSpPr>
          <p:cNvPr id="7" name="Text 5"/>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REPORTING IN: THE FIRST 15 SECONDS</a:t>
            </a:r>
            <a:endParaRPr lang="en-US" sz="2600" dirty="0"/>
          </a:p>
        </p:txBody>
      </p:sp>
      <p:sp>
        <p:nvSpPr>
          <p:cNvPr id="4" name="Text 2"/>
          <p:cNvSpPr/>
          <p:nvPr/>
        </p:nvSpPr>
        <p:spPr>
          <a:xfrm>
            <a:off x="548640" y="1188720"/>
            <a:ext cx="11064240" cy="54864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How you enter the room sets the tone for the entire board. This sequence should be so rehearsed it's automatic.</a:t>
            </a:r>
            <a:endParaRPr lang="en-US" sz="1450" dirty="0"/>
          </a:p>
        </p:txBody>
      </p:sp>
      <p:sp>
        <p:nvSpPr>
          <p:cNvPr id="5" name="Shape 3"/>
          <p:cNvSpPr/>
          <p:nvPr/>
        </p:nvSpPr>
        <p:spPr>
          <a:xfrm>
            <a:off x="548640" y="1965960"/>
            <a:ext cx="2651760" cy="3566160"/>
          </a:xfrm>
          <a:prstGeom prst="roundRect">
            <a:avLst>
              <a:gd name="adj" fmla="val 2759"/>
            </a:avLst>
          </a:prstGeom>
          <a:solidFill>
            <a:srgbClr val="F1EDE3"/>
          </a:solidFill>
          <a:ln/>
          <a:effectLst>
            <a:outerShdw sx="100000" sy="100000" kx="0" ky="0" algn="bl" rotWithShape="0" blurRad="76200" dist="25400" dir="2700000">
              <a:srgbClr val="000000">
                <a:alpha val="10000"/>
              </a:srgbClr>
            </a:outerShdw>
          </a:effectLst>
        </p:spPr>
      </p:sp>
      <p:sp>
        <p:nvSpPr>
          <p:cNvPr id="6" name="Shape 4"/>
          <p:cNvSpPr/>
          <p:nvPr/>
        </p:nvSpPr>
        <p:spPr>
          <a:xfrm>
            <a:off x="1600200" y="2194560"/>
            <a:ext cx="548640" cy="548640"/>
          </a:xfrm>
          <a:prstGeom prst="ellipse">
            <a:avLst/>
          </a:prstGeom>
          <a:solidFill>
            <a:srgbClr val="C9A227"/>
          </a:solidFill>
          <a:ln/>
        </p:spPr>
      </p:sp>
      <p:sp>
        <p:nvSpPr>
          <p:cNvPr id="7" name="Text 5"/>
          <p:cNvSpPr/>
          <p:nvPr/>
        </p:nvSpPr>
        <p:spPr>
          <a:xfrm>
            <a:off x="1600200" y="2194560"/>
            <a:ext cx="548640" cy="548640"/>
          </a:xfrm>
          <a:prstGeom prst="rect">
            <a:avLst/>
          </a:prstGeom>
          <a:noFill/>
          <a:ln/>
        </p:spPr>
        <p:txBody>
          <a:bodyPr wrap="square" lIns="0" tIns="0" rIns="0" bIns="0" rtlCol="0" anchor="ctr"/>
          <a:lstStyle/>
          <a:p>
            <a:pPr algn="ctr" indent="0" marL="0">
              <a:buNone/>
            </a:pPr>
            <a:r>
              <a:rPr lang="en-US" sz="2200" b="1" dirty="0">
                <a:solidFill>
                  <a:srgbClr val="24261A"/>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685800" y="2880360"/>
            <a:ext cx="2377440" cy="457200"/>
          </a:xfrm>
          <a:prstGeom prst="rect">
            <a:avLst/>
          </a:prstGeom>
          <a:noFill/>
          <a:ln/>
        </p:spPr>
        <p:txBody>
          <a:bodyPr wrap="square" lIns="0" tIns="0" rIns="0" bIns="0" rtlCol="0" anchor="ctr"/>
          <a:lstStyle/>
          <a:p>
            <a:pPr algn="ctr" indent="0" marL="0">
              <a:buNone/>
            </a:pPr>
            <a:r>
              <a:rPr lang="en-US" sz="1300" b="1" dirty="0">
                <a:solidFill>
                  <a:srgbClr val="3C3F2C"/>
                </a:solidFill>
                <a:latin typeface="Calibri" pitchFamily="34" charset="0"/>
                <a:ea typeface="Calibri" pitchFamily="34" charset="-122"/>
                <a:cs typeface="Calibri" pitchFamily="34" charset="-120"/>
              </a:rPr>
              <a:t>Knock and wait</a:t>
            </a:r>
            <a:endParaRPr lang="en-US" sz="1300" dirty="0"/>
          </a:p>
        </p:txBody>
      </p:sp>
      <p:sp>
        <p:nvSpPr>
          <p:cNvPr id="9" name="Text 7"/>
          <p:cNvSpPr/>
          <p:nvPr/>
        </p:nvSpPr>
        <p:spPr>
          <a:xfrm>
            <a:off x="731520" y="3383280"/>
            <a:ext cx="2286000" cy="1965960"/>
          </a:xfrm>
          <a:prstGeom prst="rect">
            <a:avLst/>
          </a:prstGeom>
          <a:noFill/>
          <a:ln/>
        </p:spPr>
        <p:txBody>
          <a:bodyPr wrap="square" lIns="0" tIns="0" rIns="0" bIns="0" rtlCol="0" anchor="t"/>
          <a:lstStyle/>
          <a:p>
            <a:pPr algn="ctr" indent="0" marL="0">
              <a:buNone/>
            </a:pPr>
            <a:r>
              <a:rPr lang="en-US" sz="1100" dirty="0">
                <a:solidFill>
                  <a:srgbClr val="2B2B25"/>
                </a:solidFill>
                <a:latin typeface="Calibri" pitchFamily="34" charset="0"/>
                <a:ea typeface="Calibri" pitchFamily="34" charset="-122"/>
                <a:cs typeface="Calibri" pitchFamily="34" charset="-120"/>
              </a:rPr>
              <a:t>Knock firmly, wait to be told to enter.</a:t>
            </a:r>
            <a:endParaRPr lang="en-US" sz="1100" dirty="0"/>
          </a:p>
        </p:txBody>
      </p:sp>
      <p:sp>
        <p:nvSpPr>
          <p:cNvPr id="10" name="Shape 8"/>
          <p:cNvSpPr/>
          <p:nvPr/>
        </p:nvSpPr>
        <p:spPr>
          <a:xfrm>
            <a:off x="3383280" y="1965960"/>
            <a:ext cx="2651760" cy="3566160"/>
          </a:xfrm>
          <a:prstGeom prst="roundRect">
            <a:avLst>
              <a:gd name="adj" fmla="val 2759"/>
            </a:avLst>
          </a:prstGeom>
          <a:solidFill>
            <a:srgbClr val="F1EDE3"/>
          </a:solidFill>
          <a:ln/>
          <a:effectLst>
            <a:outerShdw sx="100000" sy="100000" kx="0" ky="0" algn="bl" rotWithShape="0" blurRad="76200" dist="25400" dir="2700000">
              <a:srgbClr val="000000">
                <a:alpha val="10000"/>
              </a:srgbClr>
            </a:outerShdw>
          </a:effectLst>
        </p:spPr>
      </p:sp>
      <p:sp>
        <p:nvSpPr>
          <p:cNvPr id="11" name="Shape 9"/>
          <p:cNvSpPr/>
          <p:nvPr/>
        </p:nvSpPr>
        <p:spPr>
          <a:xfrm>
            <a:off x="4434840" y="2194560"/>
            <a:ext cx="548640" cy="548640"/>
          </a:xfrm>
          <a:prstGeom prst="ellipse">
            <a:avLst/>
          </a:prstGeom>
          <a:solidFill>
            <a:srgbClr val="C9A227"/>
          </a:solidFill>
          <a:ln/>
        </p:spPr>
      </p:sp>
      <p:sp>
        <p:nvSpPr>
          <p:cNvPr id="12" name="Text 10"/>
          <p:cNvSpPr/>
          <p:nvPr/>
        </p:nvSpPr>
        <p:spPr>
          <a:xfrm>
            <a:off x="4434840" y="2194560"/>
            <a:ext cx="548640" cy="548640"/>
          </a:xfrm>
          <a:prstGeom prst="rect">
            <a:avLst/>
          </a:prstGeom>
          <a:noFill/>
          <a:ln/>
        </p:spPr>
        <p:txBody>
          <a:bodyPr wrap="square" lIns="0" tIns="0" rIns="0" bIns="0" rtlCol="0" anchor="ctr"/>
          <a:lstStyle/>
          <a:p>
            <a:pPr algn="ctr" indent="0" marL="0">
              <a:buNone/>
            </a:pPr>
            <a:r>
              <a:rPr lang="en-US" sz="2200" b="1" dirty="0">
                <a:solidFill>
                  <a:srgbClr val="24261A"/>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3520440" y="2880360"/>
            <a:ext cx="2377440" cy="457200"/>
          </a:xfrm>
          <a:prstGeom prst="rect">
            <a:avLst/>
          </a:prstGeom>
          <a:noFill/>
          <a:ln/>
        </p:spPr>
        <p:txBody>
          <a:bodyPr wrap="square" lIns="0" tIns="0" rIns="0" bIns="0" rtlCol="0" anchor="ctr"/>
          <a:lstStyle/>
          <a:p>
            <a:pPr algn="ctr" indent="0" marL="0">
              <a:buNone/>
            </a:pPr>
            <a:r>
              <a:rPr lang="en-US" sz="1300" b="1" dirty="0">
                <a:solidFill>
                  <a:srgbClr val="3C3F2C"/>
                </a:solidFill>
                <a:latin typeface="Calibri" pitchFamily="34" charset="0"/>
                <a:ea typeface="Calibri" pitchFamily="34" charset="-122"/>
                <a:cs typeface="Calibri" pitchFamily="34" charset="-120"/>
              </a:rPr>
              <a:t>March to the correct spot</a:t>
            </a:r>
            <a:endParaRPr lang="en-US" sz="1300" dirty="0"/>
          </a:p>
        </p:txBody>
      </p:sp>
      <p:sp>
        <p:nvSpPr>
          <p:cNvPr id="14" name="Text 12"/>
          <p:cNvSpPr/>
          <p:nvPr/>
        </p:nvSpPr>
        <p:spPr>
          <a:xfrm>
            <a:off x="3566160" y="3383280"/>
            <a:ext cx="2286000" cy="1965960"/>
          </a:xfrm>
          <a:prstGeom prst="rect">
            <a:avLst/>
          </a:prstGeom>
          <a:noFill/>
          <a:ln/>
        </p:spPr>
        <p:txBody>
          <a:bodyPr wrap="square" lIns="0" tIns="0" rIns="0" bIns="0" rtlCol="0" anchor="t"/>
          <a:lstStyle/>
          <a:p>
            <a:pPr algn="ctr" indent="0" marL="0">
              <a:buNone/>
            </a:pPr>
            <a:r>
              <a:rPr lang="en-US" sz="1100" dirty="0">
                <a:solidFill>
                  <a:srgbClr val="2B2B25"/>
                </a:solidFill>
                <a:latin typeface="Calibri" pitchFamily="34" charset="0"/>
                <a:ea typeface="Calibri" pitchFamily="34" charset="-122"/>
                <a:cs typeface="Calibri" pitchFamily="34" charset="-120"/>
              </a:rPr>
              <a:t>Enter with correct posture, march to the designated position in front of the board.</a:t>
            </a:r>
            <a:endParaRPr lang="en-US" sz="1100" dirty="0"/>
          </a:p>
        </p:txBody>
      </p:sp>
      <p:sp>
        <p:nvSpPr>
          <p:cNvPr id="15" name="Shape 13"/>
          <p:cNvSpPr/>
          <p:nvPr/>
        </p:nvSpPr>
        <p:spPr>
          <a:xfrm>
            <a:off x="6217920" y="1965960"/>
            <a:ext cx="2651760" cy="3566160"/>
          </a:xfrm>
          <a:prstGeom prst="roundRect">
            <a:avLst>
              <a:gd name="adj" fmla="val 2759"/>
            </a:avLst>
          </a:prstGeom>
          <a:solidFill>
            <a:srgbClr val="F1EDE3"/>
          </a:solidFill>
          <a:ln/>
          <a:effectLst>
            <a:outerShdw sx="100000" sy="100000" kx="0" ky="0" algn="bl" rotWithShape="0" blurRad="76200" dist="25400" dir="2700000">
              <a:srgbClr val="000000">
                <a:alpha val="10000"/>
              </a:srgbClr>
            </a:outerShdw>
          </a:effectLst>
        </p:spPr>
      </p:sp>
      <p:sp>
        <p:nvSpPr>
          <p:cNvPr id="16" name="Shape 14"/>
          <p:cNvSpPr/>
          <p:nvPr/>
        </p:nvSpPr>
        <p:spPr>
          <a:xfrm>
            <a:off x="7269480" y="2194560"/>
            <a:ext cx="548640" cy="548640"/>
          </a:xfrm>
          <a:prstGeom prst="ellipse">
            <a:avLst/>
          </a:prstGeom>
          <a:solidFill>
            <a:srgbClr val="C9A227"/>
          </a:solidFill>
          <a:ln/>
        </p:spPr>
      </p:sp>
      <p:sp>
        <p:nvSpPr>
          <p:cNvPr id="17" name="Text 15"/>
          <p:cNvSpPr/>
          <p:nvPr/>
        </p:nvSpPr>
        <p:spPr>
          <a:xfrm>
            <a:off x="7269480" y="2194560"/>
            <a:ext cx="548640" cy="548640"/>
          </a:xfrm>
          <a:prstGeom prst="rect">
            <a:avLst/>
          </a:prstGeom>
          <a:noFill/>
          <a:ln/>
        </p:spPr>
        <p:txBody>
          <a:bodyPr wrap="square" lIns="0" tIns="0" rIns="0" bIns="0" rtlCol="0" anchor="ctr"/>
          <a:lstStyle/>
          <a:p>
            <a:pPr algn="ctr" indent="0" marL="0">
              <a:buNone/>
            </a:pPr>
            <a:r>
              <a:rPr lang="en-US" sz="2200" b="1" dirty="0">
                <a:solidFill>
                  <a:srgbClr val="24261A"/>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6355080" y="2880360"/>
            <a:ext cx="2377440" cy="457200"/>
          </a:xfrm>
          <a:prstGeom prst="rect">
            <a:avLst/>
          </a:prstGeom>
          <a:noFill/>
          <a:ln/>
        </p:spPr>
        <p:txBody>
          <a:bodyPr wrap="square" lIns="0" tIns="0" rIns="0" bIns="0" rtlCol="0" anchor="ctr"/>
          <a:lstStyle/>
          <a:p>
            <a:pPr algn="ctr" indent="0" marL="0">
              <a:buNone/>
            </a:pPr>
            <a:r>
              <a:rPr lang="en-US" sz="1300" b="1" dirty="0">
                <a:solidFill>
                  <a:srgbClr val="3C3F2C"/>
                </a:solidFill>
                <a:latin typeface="Calibri" pitchFamily="34" charset="0"/>
                <a:ea typeface="Calibri" pitchFamily="34" charset="-122"/>
                <a:cs typeface="Calibri" pitchFamily="34" charset="-120"/>
              </a:rPr>
              <a:t>Report</a:t>
            </a:r>
            <a:endParaRPr lang="en-US" sz="1300" dirty="0"/>
          </a:p>
        </p:txBody>
      </p:sp>
      <p:sp>
        <p:nvSpPr>
          <p:cNvPr id="19" name="Text 17"/>
          <p:cNvSpPr/>
          <p:nvPr/>
        </p:nvSpPr>
        <p:spPr>
          <a:xfrm>
            <a:off x="6400800" y="3383280"/>
            <a:ext cx="2286000" cy="1965960"/>
          </a:xfrm>
          <a:prstGeom prst="rect">
            <a:avLst/>
          </a:prstGeom>
          <a:noFill/>
          <a:ln/>
        </p:spPr>
        <p:txBody>
          <a:bodyPr wrap="square" lIns="0" tIns="0" rIns="0" bIns="0" rtlCol="0" anchor="t"/>
          <a:lstStyle/>
          <a:p>
            <a:pPr algn="ctr" indent="0" marL="0">
              <a:buNone/>
            </a:pPr>
            <a:r>
              <a:rPr lang="en-US" sz="1100" dirty="0">
                <a:solidFill>
                  <a:srgbClr val="2B2B25"/>
                </a:solidFill>
                <a:latin typeface="Calibri" pitchFamily="34" charset="0"/>
                <a:ea typeface="Calibri" pitchFamily="34" charset="-122"/>
                <a:cs typeface="Calibri" pitchFamily="34" charset="-120"/>
              </a:rPr>
              <a:t>Come to attention and deliver your reporting statement clearly, at the correct volume.</a:t>
            </a:r>
            <a:endParaRPr lang="en-US" sz="1100" dirty="0"/>
          </a:p>
        </p:txBody>
      </p:sp>
      <p:sp>
        <p:nvSpPr>
          <p:cNvPr id="20" name="Shape 18"/>
          <p:cNvSpPr/>
          <p:nvPr/>
        </p:nvSpPr>
        <p:spPr>
          <a:xfrm>
            <a:off x="9052560" y="1965960"/>
            <a:ext cx="2651760" cy="3566160"/>
          </a:xfrm>
          <a:prstGeom prst="roundRect">
            <a:avLst>
              <a:gd name="adj" fmla="val 2759"/>
            </a:avLst>
          </a:prstGeom>
          <a:solidFill>
            <a:srgbClr val="F1EDE3"/>
          </a:solidFill>
          <a:ln/>
          <a:effectLst>
            <a:outerShdw sx="100000" sy="100000" kx="0" ky="0" algn="bl" rotWithShape="0" blurRad="76200" dist="25400" dir="2700000">
              <a:srgbClr val="000000">
                <a:alpha val="10000"/>
              </a:srgbClr>
            </a:outerShdw>
          </a:effectLst>
        </p:spPr>
      </p:sp>
      <p:sp>
        <p:nvSpPr>
          <p:cNvPr id="21" name="Shape 19"/>
          <p:cNvSpPr/>
          <p:nvPr/>
        </p:nvSpPr>
        <p:spPr>
          <a:xfrm>
            <a:off x="10104120" y="2194560"/>
            <a:ext cx="548640" cy="548640"/>
          </a:xfrm>
          <a:prstGeom prst="ellipse">
            <a:avLst/>
          </a:prstGeom>
          <a:solidFill>
            <a:srgbClr val="C9A227"/>
          </a:solidFill>
          <a:ln/>
        </p:spPr>
      </p:sp>
      <p:sp>
        <p:nvSpPr>
          <p:cNvPr id="22" name="Text 20"/>
          <p:cNvSpPr/>
          <p:nvPr/>
        </p:nvSpPr>
        <p:spPr>
          <a:xfrm>
            <a:off x="10104120" y="2194560"/>
            <a:ext cx="548640" cy="548640"/>
          </a:xfrm>
          <a:prstGeom prst="rect">
            <a:avLst/>
          </a:prstGeom>
          <a:noFill/>
          <a:ln/>
        </p:spPr>
        <p:txBody>
          <a:bodyPr wrap="square" lIns="0" tIns="0" rIns="0" bIns="0" rtlCol="0" anchor="ctr"/>
          <a:lstStyle/>
          <a:p>
            <a:pPr algn="ctr" indent="0" marL="0">
              <a:buNone/>
            </a:pPr>
            <a:r>
              <a:rPr lang="en-US" sz="2200" b="1" dirty="0">
                <a:solidFill>
                  <a:srgbClr val="24261A"/>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9189720" y="2880360"/>
            <a:ext cx="2377440" cy="457200"/>
          </a:xfrm>
          <a:prstGeom prst="rect">
            <a:avLst/>
          </a:prstGeom>
          <a:noFill/>
          <a:ln/>
        </p:spPr>
        <p:txBody>
          <a:bodyPr wrap="square" lIns="0" tIns="0" rIns="0" bIns="0" rtlCol="0" anchor="ctr"/>
          <a:lstStyle/>
          <a:p>
            <a:pPr algn="ctr" indent="0" marL="0">
              <a:buNone/>
            </a:pPr>
            <a:r>
              <a:rPr lang="en-US" sz="1300" b="1" dirty="0">
                <a:solidFill>
                  <a:srgbClr val="3C3F2C"/>
                </a:solidFill>
                <a:latin typeface="Calibri" pitchFamily="34" charset="0"/>
                <a:ea typeface="Calibri" pitchFamily="34" charset="-122"/>
                <a:cs typeface="Calibri" pitchFamily="34" charset="-120"/>
              </a:rPr>
              <a:t>Wait, then be seated</a:t>
            </a:r>
            <a:endParaRPr lang="en-US" sz="1300" dirty="0"/>
          </a:p>
        </p:txBody>
      </p:sp>
      <p:sp>
        <p:nvSpPr>
          <p:cNvPr id="24" name="Text 22"/>
          <p:cNvSpPr/>
          <p:nvPr/>
        </p:nvSpPr>
        <p:spPr>
          <a:xfrm>
            <a:off x="9235440" y="3383280"/>
            <a:ext cx="2286000" cy="1965960"/>
          </a:xfrm>
          <a:prstGeom prst="rect">
            <a:avLst/>
          </a:prstGeom>
          <a:noFill/>
          <a:ln/>
        </p:spPr>
        <p:txBody>
          <a:bodyPr wrap="square" lIns="0" tIns="0" rIns="0" bIns="0" rtlCol="0" anchor="t"/>
          <a:lstStyle/>
          <a:p>
            <a:pPr algn="ctr" indent="0" marL="0">
              <a:buNone/>
            </a:pPr>
            <a:r>
              <a:rPr lang="en-US" sz="1100" dirty="0">
                <a:solidFill>
                  <a:srgbClr val="2B2B25"/>
                </a:solidFill>
                <a:latin typeface="Calibri" pitchFamily="34" charset="0"/>
                <a:ea typeface="Calibri" pitchFamily="34" charset="-122"/>
                <a:cs typeface="Calibri" pitchFamily="34" charset="-120"/>
              </a:rPr>
              <a:t>Hold position until told to be seated or to proceed — don't sit or relax early.</a:t>
            </a:r>
            <a:endParaRPr lang="en-US" sz="1100" dirty="0"/>
          </a:p>
        </p:txBody>
      </p:sp>
      <p:sp>
        <p:nvSpPr>
          <p:cNvPr id="25" name="Text 23"/>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BOARDS ARE REALLY SCORING</a:t>
            </a:r>
            <a:endParaRPr lang="en-US" sz="2800" dirty="0"/>
          </a:p>
        </p:txBody>
      </p:sp>
      <p:sp>
        <p:nvSpPr>
          <p:cNvPr id="3" name="Text 1"/>
          <p:cNvSpPr/>
          <p:nvPr/>
        </p:nvSpPr>
        <p:spPr>
          <a:xfrm>
            <a:off x="548640" y="960120"/>
            <a:ext cx="100584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Hint: it's not about knowing every answer perfectly</a:t>
            </a:r>
            <a:endParaRPr lang="en-US" sz="1500" dirty="0"/>
          </a:p>
        </p:txBody>
      </p:sp>
      <p:sp>
        <p:nvSpPr>
          <p:cNvPr id="4" name="Shape 2"/>
          <p:cNvSpPr/>
          <p:nvPr/>
        </p:nvSpPr>
        <p:spPr>
          <a:xfrm>
            <a:off x="548640" y="1508760"/>
            <a:ext cx="5394960" cy="2286000"/>
          </a:xfrm>
          <a:prstGeom prst="roundRect">
            <a:avLst>
              <a:gd name="adj" fmla="val 3200"/>
            </a:avLst>
          </a:prstGeom>
          <a:solidFill>
            <a:srgbClr val="3C3F2C"/>
          </a:solidFill>
          <a:ln/>
        </p:spPr>
      </p:sp>
      <p:sp>
        <p:nvSpPr>
          <p:cNvPr id="5" name="Text 3"/>
          <p:cNvSpPr/>
          <p:nvPr/>
        </p:nvSpPr>
        <p:spPr>
          <a:xfrm>
            <a:off x="822960" y="1737360"/>
            <a:ext cx="484632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Bearing &amp; Confidence</a:t>
            </a:r>
            <a:endParaRPr lang="en-US" sz="1500" dirty="0"/>
          </a:p>
        </p:txBody>
      </p:sp>
      <p:sp>
        <p:nvSpPr>
          <p:cNvPr id="6" name="Text 4"/>
          <p:cNvSpPr/>
          <p:nvPr/>
        </p:nvSpPr>
        <p:spPr>
          <a:xfrm>
            <a:off x="822960" y="2286000"/>
            <a:ext cx="4846320" cy="1325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How you carry yourself under pressure matters as much as what you say.</a:t>
            </a:r>
            <a:endParaRPr lang="en-US" sz="1250" dirty="0"/>
          </a:p>
        </p:txBody>
      </p:sp>
      <p:sp>
        <p:nvSpPr>
          <p:cNvPr id="7" name="Shape 5"/>
          <p:cNvSpPr/>
          <p:nvPr/>
        </p:nvSpPr>
        <p:spPr>
          <a:xfrm>
            <a:off x="6263640" y="1508760"/>
            <a:ext cx="5394960" cy="2286000"/>
          </a:xfrm>
          <a:prstGeom prst="roundRect">
            <a:avLst>
              <a:gd name="adj" fmla="val 3200"/>
            </a:avLst>
          </a:prstGeom>
          <a:solidFill>
            <a:srgbClr val="3C3F2C"/>
          </a:solidFill>
          <a:ln/>
        </p:spPr>
      </p:sp>
      <p:sp>
        <p:nvSpPr>
          <p:cNvPr id="8" name="Text 6"/>
          <p:cNvSpPr/>
          <p:nvPr/>
        </p:nvSpPr>
        <p:spPr>
          <a:xfrm>
            <a:off x="6537960" y="1737360"/>
            <a:ext cx="484632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Composure Under Pressure</a:t>
            </a:r>
            <a:endParaRPr lang="en-US" sz="1500" dirty="0"/>
          </a:p>
        </p:txBody>
      </p:sp>
      <p:sp>
        <p:nvSpPr>
          <p:cNvPr id="9" name="Text 7"/>
          <p:cNvSpPr/>
          <p:nvPr/>
        </p:nvSpPr>
        <p:spPr>
          <a:xfrm>
            <a:off x="6537960" y="2286000"/>
            <a:ext cx="4846320" cy="1325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Boards intentionally create stress — staying calm when you don't know something is itself a scored skill.</a:t>
            </a:r>
            <a:endParaRPr lang="en-US" sz="1250" dirty="0"/>
          </a:p>
        </p:txBody>
      </p:sp>
      <p:sp>
        <p:nvSpPr>
          <p:cNvPr id="10" name="Shape 8"/>
          <p:cNvSpPr/>
          <p:nvPr/>
        </p:nvSpPr>
        <p:spPr>
          <a:xfrm>
            <a:off x="548640" y="4023360"/>
            <a:ext cx="5394960" cy="2286000"/>
          </a:xfrm>
          <a:prstGeom prst="roundRect">
            <a:avLst>
              <a:gd name="adj" fmla="val 3200"/>
            </a:avLst>
          </a:prstGeom>
          <a:solidFill>
            <a:srgbClr val="3C3F2C"/>
          </a:solidFill>
          <a:ln/>
        </p:spPr>
      </p:sp>
      <p:sp>
        <p:nvSpPr>
          <p:cNvPr id="11" name="Text 9"/>
          <p:cNvSpPr/>
          <p:nvPr/>
        </p:nvSpPr>
        <p:spPr>
          <a:xfrm>
            <a:off x="822960" y="4251960"/>
            <a:ext cx="484632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Knowledge, Not Perfection</a:t>
            </a:r>
            <a:endParaRPr lang="en-US" sz="1500" dirty="0"/>
          </a:p>
        </p:txBody>
      </p:sp>
      <p:sp>
        <p:nvSpPr>
          <p:cNvPr id="12" name="Text 10"/>
          <p:cNvSpPr/>
          <p:nvPr/>
        </p:nvSpPr>
        <p:spPr>
          <a:xfrm>
            <a:off x="822960" y="4800600"/>
            <a:ext cx="4846320" cy="1325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Solid general knowledge plus honest gaps beats confidently wrong answers every time.</a:t>
            </a:r>
            <a:endParaRPr lang="en-US" sz="1250" dirty="0"/>
          </a:p>
        </p:txBody>
      </p:sp>
      <p:sp>
        <p:nvSpPr>
          <p:cNvPr id="13" name="Shape 11"/>
          <p:cNvSpPr/>
          <p:nvPr/>
        </p:nvSpPr>
        <p:spPr>
          <a:xfrm>
            <a:off x="6263640" y="4023360"/>
            <a:ext cx="5394960" cy="2286000"/>
          </a:xfrm>
          <a:prstGeom prst="roundRect">
            <a:avLst>
              <a:gd name="adj" fmla="val 3200"/>
            </a:avLst>
          </a:prstGeom>
          <a:solidFill>
            <a:srgbClr val="3C3F2C"/>
          </a:solidFill>
          <a:ln/>
        </p:spPr>
      </p:sp>
      <p:sp>
        <p:nvSpPr>
          <p:cNvPr id="14" name="Text 12"/>
          <p:cNvSpPr/>
          <p:nvPr/>
        </p:nvSpPr>
        <p:spPr>
          <a:xfrm>
            <a:off x="6537960" y="4251960"/>
            <a:ext cx="484632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How You Recover</a:t>
            </a:r>
            <a:endParaRPr lang="en-US" sz="1500" dirty="0"/>
          </a:p>
        </p:txBody>
      </p:sp>
      <p:sp>
        <p:nvSpPr>
          <p:cNvPr id="15" name="Text 13"/>
          <p:cNvSpPr/>
          <p:nvPr/>
        </p:nvSpPr>
        <p:spPr>
          <a:xfrm>
            <a:off x="6537960" y="4800600"/>
            <a:ext cx="4846320" cy="1325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Missing a question isn't the end — how gracefully you recover often matters more than the miss itself.</a:t>
            </a:r>
            <a:endParaRPr lang="en-US" sz="1250" dirty="0"/>
          </a:p>
        </p:txBody>
      </p:sp>
      <p:sp>
        <p:nvSpPr>
          <p:cNvPr id="16" name="Text 14"/>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COMMON MISTAKES AT BOARDS</a:t>
            </a:r>
            <a:endParaRPr lang="en-US" sz="2800" dirty="0"/>
          </a:p>
        </p:txBody>
      </p:sp>
      <p:sp>
        <p:nvSpPr>
          <p:cNvPr id="4" name="Shape 2"/>
          <p:cNvSpPr/>
          <p:nvPr/>
        </p:nvSpPr>
        <p:spPr>
          <a:xfrm>
            <a:off x="548640" y="146304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5" name="Image 0" descr="icon_warning.png">    </p:cNvPr>
          <p:cNvPicPr>
            <a:picLocks noChangeAspect="1"/>
          </p:cNvPicPr>
          <p:nvPr/>
        </p:nvPicPr>
        <p:blipFill>
          <a:blip r:embed="rId1"/>
          <a:stretch>
            <a:fillRect/>
          </a:stretch>
        </p:blipFill>
        <p:spPr>
          <a:xfrm>
            <a:off x="777240" y="1691640"/>
            <a:ext cx="457200" cy="457200"/>
          </a:xfrm>
          <a:prstGeom prst="rect">
            <a:avLst/>
          </a:prstGeom>
        </p:spPr>
      </p:pic>
      <p:sp>
        <p:nvSpPr>
          <p:cNvPr id="6" name="Text 3"/>
          <p:cNvSpPr/>
          <p:nvPr/>
        </p:nvSpPr>
        <p:spPr>
          <a:xfrm>
            <a:off x="1417320" y="1645920"/>
            <a:ext cx="4343400" cy="59436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Bluffing an answer</a:t>
            </a:r>
            <a:endParaRPr lang="en-US" sz="1400" dirty="0"/>
          </a:p>
        </p:txBody>
      </p:sp>
      <p:sp>
        <p:nvSpPr>
          <p:cNvPr id="7" name="Text 4"/>
          <p:cNvSpPr/>
          <p:nvPr/>
        </p:nvSpPr>
        <p:spPr>
          <a:xfrm>
            <a:off x="1417320" y="2331720"/>
            <a:ext cx="4343400" cy="12344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Board members almost always know when you're guessing — it costs more than an honest "I don't know."</a:t>
            </a:r>
            <a:endParaRPr lang="en-US" sz="1150" dirty="0"/>
          </a:p>
        </p:txBody>
      </p:sp>
      <p:sp>
        <p:nvSpPr>
          <p:cNvPr id="8" name="Shape 5"/>
          <p:cNvSpPr/>
          <p:nvPr/>
        </p:nvSpPr>
        <p:spPr>
          <a:xfrm>
            <a:off x="6263640" y="146304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9" name="Image 1" descr="icon_warning.png">    </p:cNvPr>
          <p:cNvPicPr>
            <a:picLocks noChangeAspect="1"/>
          </p:cNvPicPr>
          <p:nvPr/>
        </p:nvPicPr>
        <p:blipFill>
          <a:blip r:embed="rId2"/>
          <a:stretch>
            <a:fillRect/>
          </a:stretch>
        </p:blipFill>
        <p:spPr>
          <a:xfrm>
            <a:off x="6492240" y="1691640"/>
            <a:ext cx="457200" cy="457200"/>
          </a:xfrm>
          <a:prstGeom prst="rect">
            <a:avLst/>
          </a:prstGeom>
        </p:spPr>
      </p:pic>
      <p:sp>
        <p:nvSpPr>
          <p:cNvPr id="10" name="Text 6"/>
          <p:cNvSpPr/>
          <p:nvPr/>
        </p:nvSpPr>
        <p:spPr>
          <a:xfrm>
            <a:off x="7132320" y="1645920"/>
            <a:ext cx="4343400" cy="59436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Memorizing without understanding</a:t>
            </a:r>
            <a:endParaRPr lang="en-US" sz="1400" dirty="0"/>
          </a:p>
        </p:txBody>
      </p:sp>
      <p:sp>
        <p:nvSpPr>
          <p:cNvPr id="11" name="Text 7"/>
          <p:cNvSpPr/>
          <p:nvPr/>
        </p:nvSpPr>
        <p:spPr>
          <a:xfrm>
            <a:off x="7132320" y="2331720"/>
            <a:ext cx="4343400" cy="12344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Rote recitation falls apart under a follow-up question. Understand the material, don't just memorize it.</a:t>
            </a:r>
            <a:endParaRPr lang="en-US" sz="1150" dirty="0"/>
          </a:p>
        </p:txBody>
      </p:sp>
      <p:sp>
        <p:nvSpPr>
          <p:cNvPr id="12" name="Shape 8"/>
          <p:cNvSpPr/>
          <p:nvPr/>
        </p:nvSpPr>
        <p:spPr>
          <a:xfrm>
            <a:off x="548640" y="402336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3" name="Image 2" descr="icon_warning.png">    </p:cNvPr>
          <p:cNvPicPr>
            <a:picLocks noChangeAspect="1"/>
          </p:cNvPicPr>
          <p:nvPr/>
        </p:nvPicPr>
        <p:blipFill>
          <a:blip r:embed="rId3"/>
          <a:stretch>
            <a:fillRect/>
          </a:stretch>
        </p:blipFill>
        <p:spPr>
          <a:xfrm>
            <a:off x="777240" y="4251960"/>
            <a:ext cx="457200" cy="457200"/>
          </a:xfrm>
          <a:prstGeom prst="rect">
            <a:avLst/>
          </a:prstGeom>
        </p:spPr>
      </p:pic>
      <p:sp>
        <p:nvSpPr>
          <p:cNvPr id="14" name="Text 9"/>
          <p:cNvSpPr/>
          <p:nvPr/>
        </p:nvSpPr>
        <p:spPr>
          <a:xfrm>
            <a:off x="1417320" y="4206240"/>
            <a:ext cx="4343400" cy="59436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Rushing the reporting statement</a:t>
            </a:r>
            <a:endParaRPr lang="en-US" sz="1400" dirty="0"/>
          </a:p>
        </p:txBody>
      </p:sp>
      <p:sp>
        <p:nvSpPr>
          <p:cNvPr id="15" name="Text 10"/>
          <p:cNvSpPr/>
          <p:nvPr/>
        </p:nvSpPr>
        <p:spPr>
          <a:xfrm>
            <a:off x="1417320" y="4892040"/>
            <a:ext cx="4343400" cy="12344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Nerves make Soldiers rush their entrance — slow down, it's the easiest points to get right.</a:t>
            </a:r>
            <a:endParaRPr lang="en-US" sz="1150" dirty="0"/>
          </a:p>
        </p:txBody>
      </p:sp>
      <p:sp>
        <p:nvSpPr>
          <p:cNvPr id="16" name="Shape 11"/>
          <p:cNvSpPr/>
          <p:nvPr/>
        </p:nvSpPr>
        <p:spPr>
          <a:xfrm>
            <a:off x="6263640" y="402336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7" name="Image 3" descr="icon_warning.png">    </p:cNvPr>
          <p:cNvPicPr>
            <a:picLocks noChangeAspect="1"/>
          </p:cNvPicPr>
          <p:nvPr/>
        </p:nvPicPr>
        <p:blipFill>
          <a:blip r:embed="rId4"/>
          <a:stretch>
            <a:fillRect/>
          </a:stretch>
        </p:blipFill>
        <p:spPr>
          <a:xfrm>
            <a:off x="6492240" y="4251960"/>
            <a:ext cx="457200" cy="457200"/>
          </a:xfrm>
          <a:prstGeom prst="rect">
            <a:avLst/>
          </a:prstGeom>
        </p:spPr>
      </p:pic>
      <p:sp>
        <p:nvSpPr>
          <p:cNvPr id="18" name="Text 12"/>
          <p:cNvSpPr/>
          <p:nvPr/>
        </p:nvSpPr>
        <p:spPr>
          <a:xfrm>
            <a:off x="7132320" y="4206240"/>
            <a:ext cx="4343400" cy="59436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Not asking for repeat/clarification</a:t>
            </a:r>
            <a:endParaRPr lang="en-US" sz="1400" dirty="0"/>
          </a:p>
        </p:txBody>
      </p:sp>
      <p:sp>
        <p:nvSpPr>
          <p:cNvPr id="19" name="Text 13"/>
          <p:cNvSpPr/>
          <p:nvPr/>
        </p:nvSpPr>
        <p:spPr>
          <a:xfrm>
            <a:off x="7132320" y="4892040"/>
            <a:ext cx="4343400" cy="12344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It's fully acceptable to ask a board member to repeat or clarify a question — better than answering the wrong one.</a:t>
            </a:r>
            <a:endParaRPr lang="en-US" sz="1150" dirty="0"/>
          </a:p>
        </p:txBody>
      </p:sp>
      <p:sp>
        <p:nvSpPr>
          <p:cNvPr id="20" name="Text 14"/>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Text 1"/>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QUESTION &amp; ANSWER BANK</a:t>
            </a:r>
            <a:endParaRPr lang="en-US" sz="3200" dirty="0"/>
          </a:p>
        </p:txBody>
      </p:sp>
      <p:sp>
        <p:nvSpPr>
          <p:cNvPr id="4" name="Text 2"/>
          <p:cNvSpPr/>
          <p:nvPr/>
        </p:nvSpPr>
        <p:spPr>
          <a:xfrm>
            <a:off x="548640" y="1097280"/>
            <a:ext cx="9144000" cy="365760"/>
          </a:xfrm>
          <a:prstGeom prst="rect">
            <a:avLst/>
          </a:prstGeom>
          <a:noFill/>
          <a:ln/>
        </p:spPr>
        <p:txBody>
          <a:bodyPr wrap="square" lIns="0" tIns="0" rIns="0" bIns="0" rtlCol="0" anchor="ctr"/>
          <a:lstStyle/>
          <a:p>
            <a:pPr indent="0" marL="0">
              <a:buNone/>
            </a:pPr>
            <a:r>
              <a:rPr lang="en-US" sz="1600" i="1" dirty="0">
                <a:solidFill>
                  <a:srgbClr val="C9A227"/>
                </a:solidFill>
                <a:latin typeface="Calibri" pitchFamily="34" charset="0"/>
                <a:ea typeface="Calibri" pitchFamily="34" charset="-122"/>
                <a:cs typeface="Calibri" pitchFamily="34" charset="-120"/>
              </a:rPr>
              <a:t>10 categories, straight from Army doctrine</a:t>
            </a:r>
            <a:endParaRPr lang="en-US" sz="1600" dirty="0"/>
          </a:p>
        </p:txBody>
      </p:sp>
      <p:sp>
        <p:nvSpPr>
          <p:cNvPr id="5" name="Text 3"/>
          <p:cNvSpPr/>
          <p:nvPr/>
        </p:nvSpPr>
        <p:spPr>
          <a:xfrm>
            <a:off x="548640" y="1920240"/>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1. Army Values (LDRSHIP)</a:t>
            </a:r>
            <a:endParaRPr lang="en-US" sz="1500" dirty="0"/>
          </a:p>
        </p:txBody>
      </p:sp>
      <p:sp>
        <p:nvSpPr>
          <p:cNvPr id="6" name="Text 4"/>
          <p:cNvSpPr/>
          <p:nvPr/>
        </p:nvSpPr>
        <p:spPr>
          <a:xfrm>
            <a:off x="6263640" y="1920240"/>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 Soldier's Creed &amp; NCO Creed</a:t>
            </a:r>
            <a:endParaRPr lang="en-US" sz="1500" dirty="0"/>
          </a:p>
        </p:txBody>
      </p:sp>
      <p:sp>
        <p:nvSpPr>
          <p:cNvPr id="7" name="Text 5"/>
          <p:cNvSpPr/>
          <p:nvPr/>
        </p:nvSpPr>
        <p:spPr>
          <a:xfrm>
            <a:off x="548640" y="2532888"/>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3. General Orders &amp; Guard Duty</a:t>
            </a:r>
            <a:endParaRPr lang="en-US" sz="1500" dirty="0"/>
          </a:p>
        </p:txBody>
      </p:sp>
      <p:sp>
        <p:nvSpPr>
          <p:cNvPr id="8" name="Text 6"/>
          <p:cNvSpPr/>
          <p:nvPr/>
        </p:nvSpPr>
        <p:spPr>
          <a:xfrm>
            <a:off x="6263640" y="2532888"/>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Army Structure &amp; Chain of Command</a:t>
            </a:r>
            <a:endParaRPr lang="en-US" sz="1500" dirty="0"/>
          </a:p>
        </p:txBody>
      </p:sp>
      <p:sp>
        <p:nvSpPr>
          <p:cNvPr id="9" name="Text 7"/>
          <p:cNvSpPr/>
          <p:nvPr/>
        </p:nvSpPr>
        <p:spPr>
          <a:xfrm>
            <a:off x="548640" y="3145536"/>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5. Current Leadership Awareness</a:t>
            </a:r>
            <a:endParaRPr lang="en-US" sz="1500" dirty="0"/>
          </a:p>
        </p:txBody>
      </p:sp>
      <p:sp>
        <p:nvSpPr>
          <p:cNvPr id="10" name="Text 8"/>
          <p:cNvSpPr/>
          <p:nvPr/>
        </p:nvSpPr>
        <p:spPr>
          <a:xfrm>
            <a:off x="6263640" y="3145536"/>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6. Customs, Courtesies &amp; Traditions</a:t>
            </a:r>
            <a:endParaRPr lang="en-US" sz="1500" dirty="0"/>
          </a:p>
        </p:txBody>
      </p:sp>
      <p:sp>
        <p:nvSpPr>
          <p:cNvPr id="11" name="Text 9"/>
          <p:cNvSpPr/>
          <p:nvPr/>
        </p:nvSpPr>
        <p:spPr>
          <a:xfrm>
            <a:off x="548640" y="3758184"/>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7. Rank &amp; Insignia</a:t>
            </a:r>
            <a:endParaRPr lang="en-US" sz="1500" dirty="0"/>
          </a:p>
        </p:txBody>
      </p:sp>
      <p:sp>
        <p:nvSpPr>
          <p:cNvPr id="12" name="Text 10"/>
          <p:cNvSpPr/>
          <p:nvPr/>
        </p:nvSpPr>
        <p:spPr>
          <a:xfrm>
            <a:off x="6263640" y="3758184"/>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8. Drill and Ceremony</a:t>
            </a:r>
            <a:endParaRPr lang="en-US" sz="1500" dirty="0"/>
          </a:p>
        </p:txBody>
      </p:sp>
      <p:sp>
        <p:nvSpPr>
          <p:cNvPr id="13" name="Text 11"/>
          <p:cNvSpPr/>
          <p:nvPr/>
        </p:nvSpPr>
        <p:spPr>
          <a:xfrm>
            <a:off x="548640" y="4370832"/>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9. Warrior Tasks &amp; Battle Drills</a:t>
            </a:r>
            <a:endParaRPr lang="en-US" sz="1500" dirty="0"/>
          </a:p>
        </p:txBody>
      </p:sp>
      <p:sp>
        <p:nvSpPr>
          <p:cNvPr id="14" name="Text 12"/>
          <p:cNvSpPr/>
          <p:nvPr/>
        </p:nvSpPr>
        <p:spPr>
          <a:xfrm>
            <a:off x="6263640" y="4370832"/>
            <a:ext cx="539496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10. 17E / EW-Specific Questions</a:t>
            </a:r>
            <a:endParaRPr lang="en-US" sz="1500" dirty="0"/>
          </a:p>
        </p:txBody>
      </p:sp>
      <p:sp>
        <p:nvSpPr>
          <p:cNvPr id="15" name="Shape 13"/>
          <p:cNvSpPr/>
          <p:nvPr/>
        </p:nvSpPr>
        <p:spPr>
          <a:xfrm>
            <a:off x="548640" y="5486400"/>
            <a:ext cx="11064240" cy="822960"/>
          </a:xfrm>
          <a:prstGeom prst="roundRect">
            <a:avLst>
              <a:gd name="adj" fmla="val 8889"/>
            </a:avLst>
          </a:prstGeom>
          <a:solidFill>
            <a:srgbClr val="3C3F2C"/>
          </a:solidFill>
          <a:ln/>
        </p:spPr>
      </p:sp>
      <p:sp>
        <p:nvSpPr>
          <p:cNvPr id="16" name="Text 14"/>
          <p:cNvSpPr/>
          <p:nvPr/>
        </p:nvSpPr>
        <p:spPr>
          <a:xfrm>
            <a:off x="822960" y="5623560"/>
            <a:ext cx="10515600" cy="548640"/>
          </a:xfrm>
          <a:prstGeom prst="rect">
            <a:avLst/>
          </a:prstGeom>
          <a:noFill/>
          <a:ln/>
        </p:spPr>
        <p:txBody>
          <a:bodyPr wrap="square" lIns="0" tIns="0" rIns="0" bIns="0" rtlCol="0" anchor="ctr"/>
          <a:lstStyle/>
          <a:p>
            <a:pPr indent="0" marL="0">
              <a:buNone/>
            </a:pPr>
            <a:r>
              <a:rPr lang="en-US" sz="1250" i="1" dirty="0">
                <a:solidFill>
                  <a:srgbClr val="C9B896"/>
                </a:solidFill>
                <a:latin typeface="Calibri" pitchFamily="34" charset="0"/>
                <a:ea typeface="Calibri" pitchFamily="34" charset="-122"/>
                <a:cs typeface="Calibri" pitchFamily="34" charset="-120"/>
              </a:rPr>
              <a:t>Use this like flashcards: cover the answer, read the question, say your answer out loud, then check yourself.</a:t>
            </a:r>
            <a:endParaRPr lang="en-US" sz="1250" dirty="0"/>
          </a:p>
        </p:txBody>
      </p:sp>
      <p:sp>
        <p:nvSpPr>
          <p:cNvPr id="17" name="Text 15"/>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ARMY VALUES (LDRSHIP)</a:t>
            </a:r>
            <a:endParaRPr lang="en-US" sz="2400" dirty="0"/>
          </a:p>
        </p:txBody>
      </p:sp>
      <p:sp>
        <p:nvSpPr>
          <p:cNvPr id="4" name="Text 2"/>
          <p:cNvSpPr/>
          <p:nvPr/>
        </p:nvSpPr>
        <p:spPr>
          <a:xfrm>
            <a:off x="548640" y="1143000"/>
            <a:ext cx="11064240" cy="457200"/>
          </a:xfrm>
          <a:prstGeom prst="rect">
            <a:avLst/>
          </a:prstGeom>
          <a:noFill/>
          <a:ln/>
        </p:spPr>
        <p:txBody>
          <a:bodyPr wrap="square" lIns="0" tIns="0" rIns="0" bIns="0" rtlCol="0" anchor="ctr"/>
          <a:lstStyle/>
          <a:p>
            <a:pPr indent="0" marL="0">
              <a:buNone/>
            </a:pPr>
            <a:r>
              <a:rPr lang="en-US" sz="1300" i="1" dirty="0">
                <a:solidFill>
                  <a:srgbClr val="5B7553"/>
                </a:solidFill>
                <a:latin typeface="Calibri" pitchFamily="34" charset="0"/>
                <a:ea typeface="Calibri" pitchFamily="34" charset="-122"/>
                <a:cs typeface="Calibri" pitchFamily="34" charset="-120"/>
              </a:rPr>
              <a:t>Q: What does LDRSHIP stand for? A: Loyalty, Duty, Respect, Selfless Service, Honor, Integrity, Personal Courage.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4480560"/>
        </p:xfrm>
        <a:graphic>
          <a:graphicData uri="http://schemas.openxmlformats.org/drawingml/2006/table">
            <a:tbl>
              <a:tblPr/>
              <a:tblGrid>
                <a:gridCol w="2743200"/>
                <a:gridCol w="832104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Official Definition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566928">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Loyalty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Bear true faith and allegiance to the U.S. Constitution, the Army, your unit, and other Soldiers.</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02920">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Duty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Fulfill your obligations.</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02920">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Respect</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Treat people as they should be treated.</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66928">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Selfless Service</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Put the welfare of the nation, the Army, and your subordinates before your own.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02920">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Honor</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Live up to all the Army Values.</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02920">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Integrity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Do what's right, legally and morally.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66928">
                <a:tc>
                  <a:txBody>
                    <a:bodyPr/>
                    <a:lstStyle/>
                    <a:p>
                      <a:pPr indent="0" marL="0">
                        <a:buNone/>
                      </a:pPr>
                      <a:r>
                        <a:rPr lang="en-US" sz="1300" b="1" dirty="0">
                          <a:solidFill>
                            <a:srgbClr val="2B2B25"/>
                          </a:solidFill>
                          <a:latin typeface="Calibri" pitchFamily="34" charset="0"/>
                          <a:ea typeface="Calibri" pitchFamily="34" charset="-122"/>
                          <a:cs typeface="Calibri" pitchFamily="34" charset="-120"/>
                        </a:rPr>
                        <a:t>Personal Courage</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Face fear, danger, or adversity, physical or moral.</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Text 3"/>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SOLDIER'S CREED &amp; NCO CREED</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opening line of the Soldier's Creed?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am an American Soldier."</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line references warrior tasks and drills?</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am disciplined, physically and mentally tough, trained and proficient in my warrior tasks and drills."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line in the Soldier's Creed refers to never abandoning a teammate?</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will never leave a fallen comrade."</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opening line of the NCO Creed?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"No one is more professional than I."</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NCO Corps known as, per the NCO Creed?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Backbone of the Army."</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are an NCO's two basic responsibilities per the creed?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Accomplishment of the mission and the welfare of your Soldiers.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an NCO's "watchword," per the creed?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Competence.</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According to the creed, what will every Soldier receive from their NCO?</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"All Soldiers are entitled to outstanding leadership; I will provide that leadership."</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GENERAL ORDERS &amp; GUARD DUTY</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First General Order?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will guard everything within the limits of my post and quit my post only when properly relieved."</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Second General Order?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will obey my special orders and perform all my duties in a military manner."</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Third General Order?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"I will report violations of my special orders, emergencies, and anything not covered in my instructions, to the commander of the relief."</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When are you considered "properly relieved" from a post?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When your relief has arrived and you've passed on all special instructions for the post.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should you do if you don't understand a special order for your post?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Ask your chain of command or the commander of the relief to clarify before assuming the post.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Why do General Orders apply to every Soldier, not just those on guard duty?</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They establish baseline standards of vigilance, discipline, and reporting expected of every Soldier at all times.</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ARMY STRUCTURE &amp; CHAIN OF COMMAND</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smallest organized Army element?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 fire team, typically around 4 Soldiers.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About how large is a squad?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Roughly 9-10 Soldiers, led by a Staff Sergeant.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About how large is a platoon, and who leads it?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About 16-44 Soldiers, led by a Lieutenant with a Platoon Sergeant as principal NCO.</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About how large is a company, and who commands it?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Roughly 62-190 Soldiers, commanded by a Captain.</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About how large is a battalion, and who commands it?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About 300-1,000 Soldiers, commanded by a Lieutenant Colonel.</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About how large is a brigade, and who commands it?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About 1,500-3,200 Soldiers, commanded by a Colonel.</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chain of command?</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line of authority and responsibility from you, up through your NCOs and officers, to the President.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NCO Support Channel?</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 parallel channel of NCOs (Team Leader through Command Sergeant Major) that reinforces and supports the chain of command.</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2004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CURRENT LEADERSHIP AWARENESS</a:t>
            </a:r>
            <a:endParaRPr lang="en-US" sz="2400" dirty="0"/>
          </a:p>
        </p:txBody>
      </p:sp>
      <p:sp>
        <p:nvSpPr>
          <p:cNvPr id="3" name="Shape 1"/>
          <p:cNvSpPr/>
          <p:nvPr/>
        </p:nvSpPr>
        <p:spPr>
          <a:xfrm>
            <a:off x="548640" y="914400"/>
            <a:ext cx="3657600" cy="365760"/>
          </a:xfrm>
          <a:prstGeom prst="roundRect">
            <a:avLst>
              <a:gd name="adj" fmla="val 15000"/>
            </a:avLst>
          </a:prstGeom>
          <a:solidFill>
            <a:srgbClr val="B25A4A"/>
          </a:solidFill>
          <a:ln/>
        </p:spPr>
      </p:sp>
      <p:sp>
        <p:nvSpPr>
          <p:cNvPr id="4" name="Text 2"/>
          <p:cNvSpPr/>
          <p:nvPr/>
        </p:nvSpPr>
        <p:spPr>
          <a:xfrm>
            <a:off x="548640" y="914400"/>
            <a:ext cx="3657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VERIFY BEFORE YOUR BOARD DATE</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114800"/>
        </p:xfrm>
        <a:graphic>
          <a:graphicData uri="http://schemas.openxmlformats.org/drawingml/2006/table">
            <a:tbl>
              <a:tblPr/>
              <a:tblGrid>
                <a:gridCol w="5029200"/>
                <a:gridCol w="6035040"/>
              </a:tblGrid>
              <a:tr h="7772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 (as of mid-2026 — reverify)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777240">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Who is the Secretary of the Army?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The Honorable Daniel P. Driscoll (26th Secretary of the Army)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777240">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Who is the Chief of Staff of the Army?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General Christopher C. LaNeve</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777240">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Who is the Sergeant Major of the Army?</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SMA Michael R. Weimer (17th SMA)</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777240">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Who is your Battalion/Brigade Commander &amp; CSM?</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[Fill in locally — boards ask this often]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777240">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What is your unit's mission?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300" dirty="0">
                          <a:solidFill>
                            <a:srgbClr val="2B2B25"/>
                          </a:solidFill>
                          <a:latin typeface="Calibri" pitchFamily="34" charset="0"/>
                          <a:ea typeface="Calibri" pitchFamily="34" charset="-122"/>
                          <a:cs typeface="Calibri" pitchFamily="34" charset="-120"/>
                        </a:rPr>
                        <a:t>[Fill in locally — know your own unit cold]</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Text 3"/>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CUSTOMS, COURTESIES &amp; TRADITIONS</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When do you render a hand salute?</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To recognized officers, in uniform, typically outdoors, and when reporting to an officer indoors.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Reveille?</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ceremony marking the start of the duty day, honoring the flag as it's raised.</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Retreat?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ceremony marking the end of the duty day, honoring the flag as it's lowered.</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does the Army celebrate as its birthday?</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June 14, 1775 — the date the Continental Army was established.</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color is the fringe on the Army flag?</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Gold.</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a "Pass in Review"?</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 ceremonial marching formation past reviewing officials, typically closing out a parade or ceremony.</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RANK &amp; INSIGNIA</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rank is E-5?</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Sergeant (SGT).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rank is E-6?</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Staff Sergeant (SSG).</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insignia does a Sergeant First Class (E-7) wear?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Three chevrons up, two rockers down.</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insignia does a Command Sergeant Major wear?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Three chevrons, three rockers, with a star centered in the wreath.</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rank is O-1?</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Second Lieutenant (2LT).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rank is W-1?</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Warrant Officer 1 (WO1).</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What's the difference between a Sergeant Major and a Command Sergeant Major?</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Both are E-9; a CSM holds a command-level leadership position, while an SGM typically serves in a staff role.</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DRILL AND CEREMONY</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command to begin marching from a halt?</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"Forward, March."</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foot do you always step off on when marching?</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left foot.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command aligns a formation at proper interval and distance?</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"Dress Right, Dress" (or "Dress Center, Dress").</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command brings a marching formation to a stop?</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"Detachment, Halt," given as the correct foot strikes the ground.</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"normal interval" in a formation?</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An arm's length distance to the left between Soldiers.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command renders a hand salute while in formation?</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"Present, ARMS," followed by "Order, ARMS" to return to attention.</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WARRIOR TASKS &amp; BATTLE DRILLS</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are the 5 categories of Warrior Tasks?</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Shoot, Move, Communicate, Survive, and Adapt.</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Name the 4 core Battle Drills.</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React to Contact, React to Ambush (Near), React to Ambush (Far), and React to Indirect Fire.</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standard for zeroing an M4?</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5 of 6 rounds in two consecutive shot groups inside a 4cm circle, using 18 rounds or fewer.</a:t>
            </a:r>
            <a:endParaRPr lang="en-US" sz="125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is the time standard to don, clear, and check a protective mask?</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9 seconds.</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What's the difference between a Warrior Task and a Battle Drill?</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A task is an individual skill; a drill is an instinctive, collective team reaction with no time for a deliberate decision.</a:t>
            </a:r>
            <a:endParaRPr lang="en-US" sz="1250" dirty="0"/>
          </a:p>
          <a:p>
            <a:pPr indent="0" marL="0">
              <a:spcAft>
                <a:spcPts val="200"/>
              </a:spcAft>
              <a:buNone/>
            </a:pPr>
            <a:r>
              <a:rPr lang="en-US" sz="1250" b="1" dirty="0">
                <a:solidFill>
                  <a:srgbClr val="3C3F2C"/>
                </a:solidFill>
                <a:latin typeface="Calibri" pitchFamily="34" charset="0"/>
                <a:ea typeface="Calibri" pitchFamily="34" charset="-122"/>
                <a:cs typeface="Calibri" pitchFamily="34" charset="-120"/>
              </a:rPr>
              <a:t>Q: What publication is the authoritative source for Warrior Tasks and Battle Drills?</a:t>
            </a:r>
            <a:endParaRPr lang="en-US" sz="1250" dirty="0"/>
          </a:p>
          <a:p>
            <a:pPr indent="0" marL="0">
              <a:spcAft>
                <a:spcPts val="1200"/>
              </a:spcAft>
              <a:buNone/>
            </a:pPr>
            <a:r>
              <a:rPr lang="en-US" sz="1250" dirty="0">
                <a:solidFill>
                  <a:srgbClr val="2B2B25"/>
                </a:solidFill>
                <a:latin typeface="Calibri" pitchFamily="34" charset="0"/>
                <a:ea typeface="Calibri" pitchFamily="34" charset="-122"/>
                <a:cs typeface="Calibri" pitchFamily="34" charset="-120"/>
              </a:rPr>
              <a:t>A: The Soldier's Manual of Common Tasks (SMCT) — STP 21-1 and STP 21-24.</a:t>
            </a:r>
            <a:endParaRPr lang="en-US" sz="125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BANK: 17E / ELECTROMAGNETIC WARFARE-SPECIFIC</a:t>
            </a:r>
            <a:endParaRPr lang="en-US" sz="2400" dirty="0"/>
          </a:p>
        </p:txBody>
      </p:sp>
      <p:sp>
        <p:nvSpPr>
          <p:cNvPr id="4" name="Shape 2"/>
          <p:cNvSpPr/>
          <p:nvPr/>
        </p:nvSpPr>
        <p:spPr>
          <a:xfrm>
            <a:off x="10607040" y="228600"/>
            <a:ext cx="1051560" cy="365760"/>
          </a:xfrm>
          <a:prstGeom prst="roundRect">
            <a:avLst>
              <a:gd name="adj" fmla="val 15000"/>
            </a:avLst>
          </a:prstGeom>
          <a:solidFill>
            <a:srgbClr val="8B3A3A"/>
          </a:solidFill>
          <a:ln/>
        </p:spPr>
      </p:sp>
      <p:sp>
        <p:nvSpPr>
          <p:cNvPr id="5" name="Text 3"/>
          <p:cNvSpPr/>
          <p:nvPr/>
        </p:nvSpPr>
        <p:spPr>
          <a:xfrm>
            <a:off x="10607040" y="228600"/>
            <a:ext cx="10515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STUDY</a:t>
            </a:r>
            <a:endParaRPr lang="en-US" sz="1000" dirty="0"/>
          </a:p>
        </p:txBody>
      </p:sp>
      <p:sp>
        <p:nvSpPr>
          <p:cNvPr id="6" name="Text 4"/>
          <p:cNvSpPr/>
          <p:nvPr/>
        </p:nvSpPr>
        <p:spPr>
          <a:xfrm>
            <a:off x="548640" y="1234440"/>
            <a:ext cx="5440680" cy="5166360"/>
          </a:xfrm>
          <a:prstGeom prst="rect">
            <a:avLst/>
          </a:prstGeom>
          <a:noFill/>
          <a:ln/>
        </p:spPr>
        <p:txBody>
          <a:bodyPr wrap="square" lIns="0" tIns="0" rIns="0" bIns="0" rtlCol="0" anchor="t"/>
          <a:lstStyle/>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does 17E stand for?</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Electromagnetic Warfare Specialist.</a:t>
            </a:r>
            <a:endParaRPr lang="en-US" sz="1200" dirty="0"/>
          </a:p>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does EMSO stand for?</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Electromagnetic Spectrum Operations.</a:t>
            </a:r>
            <a:endParaRPr lang="en-US" sz="1200" dirty="0"/>
          </a:p>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does CEMA stand for?</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Cyberspace Electromagnetic Activities.</a:t>
            </a:r>
            <a:endParaRPr lang="en-US" sz="1200" dirty="0"/>
          </a:p>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does SIGINT stand for?</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Signals Intelligence.</a:t>
            </a:r>
            <a:endParaRPr lang="en-US" sz="1200" dirty="0"/>
          </a:p>
        </p:txBody>
      </p:sp>
      <p:sp>
        <p:nvSpPr>
          <p:cNvPr id="7" name="Text 5"/>
          <p:cNvSpPr/>
          <p:nvPr/>
        </p:nvSpPr>
        <p:spPr>
          <a:xfrm>
            <a:off x="6309360" y="1234440"/>
            <a:ext cx="5440680" cy="5166360"/>
          </a:xfrm>
          <a:prstGeom prst="rect">
            <a:avLst/>
          </a:prstGeom>
          <a:noFill/>
          <a:ln/>
        </p:spPr>
        <p:txBody>
          <a:bodyPr wrap="square" lIns="0" tIns="0" rIns="0" bIns="0" rtlCol="0" anchor="t"/>
          <a:lstStyle/>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document lays out your MOS's critical individual tasks?</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Your MOS-specific Soldier Training Publication (STP).</a:t>
            </a:r>
            <a:endParaRPr lang="en-US" sz="1200" dirty="0"/>
          </a:p>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What official Army document maps your entire 17E career path?</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The 17E Career Map, published under DA PAM 600-25.</a:t>
            </a:r>
            <a:endParaRPr lang="en-US" sz="1200" dirty="0"/>
          </a:p>
          <a:p>
            <a:pPr indent="0" marL="0">
              <a:spcAft>
                <a:spcPts val="200"/>
              </a:spcAft>
              <a:buNone/>
            </a:pPr>
            <a:r>
              <a:rPr lang="en-US" sz="1200" b="1" dirty="0">
                <a:solidFill>
                  <a:srgbClr val="3C3F2C"/>
                </a:solidFill>
                <a:latin typeface="Calibri" pitchFamily="34" charset="0"/>
                <a:ea typeface="Calibri" pitchFamily="34" charset="-122"/>
                <a:cs typeface="Calibri" pitchFamily="34" charset="-120"/>
              </a:rPr>
              <a:t>Q: Name one recurring technical course on the 17E career map.</a:t>
            </a:r>
            <a:endParaRPr lang="en-US" sz="1200" dirty="0"/>
          </a:p>
          <a:p>
            <a:pPr indent="0" marL="0">
              <a:spcAft>
                <a:spcPts val="1200"/>
              </a:spcAft>
              <a:buNone/>
            </a:pPr>
            <a:r>
              <a:rPr lang="en-US" sz="1200" dirty="0">
                <a:solidFill>
                  <a:srgbClr val="2B2B25"/>
                </a:solidFill>
                <a:latin typeface="Calibri" pitchFamily="34" charset="0"/>
                <a:ea typeface="Calibri" pitchFamily="34" charset="-122"/>
                <a:cs typeface="Calibri" pitchFamily="34" charset="-120"/>
              </a:rPr>
              <a:t>A: Examples include Advanced RF and Applied Radio Theory (SI319) or Electromagnetic Preparation of the Battlefield (SI320).</a:t>
            </a:r>
            <a:endParaRPr lang="en-US" sz="1200" dirty="0"/>
          </a:p>
        </p:txBody>
      </p:sp>
      <p:sp>
        <p:nvSpPr>
          <p:cNvPr id="8" name="Text 6"/>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19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STUDY TIPS &amp; RESOURCES</a:t>
            </a:r>
            <a:endParaRPr lang="en-US" sz="2800" dirty="0"/>
          </a:p>
        </p:txBody>
      </p:sp>
      <p:sp>
        <p:nvSpPr>
          <p:cNvPr id="4" name="Shape 2"/>
          <p:cNvSpPr/>
          <p:nvPr/>
        </p:nvSpPr>
        <p:spPr>
          <a:xfrm>
            <a:off x="548640" y="1371600"/>
            <a:ext cx="2651760" cy="42062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5" name="Image 0" descr="icon_book.png">    </p:cNvPr>
          <p:cNvPicPr>
            <a:picLocks noChangeAspect="1"/>
          </p:cNvPicPr>
          <p:nvPr/>
        </p:nvPicPr>
        <p:blipFill>
          <a:blip r:embed="rId1"/>
          <a:stretch>
            <a:fillRect/>
          </a:stretch>
        </p:blipFill>
        <p:spPr>
          <a:xfrm>
            <a:off x="731520" y="1645920"/>
            <a:ext cx="502920" cy="502920"/>
          </a:xfrm>
          <a:prstGeom prst="rect">
            <a:avLst/>
          </a:prstGeom>
        </p:spPr>
      </p:pic>
      <p:sp>
        <p:nvSpPr>
          <p:cNvPr id="6" name="Text 3"/>
          <p:cNvSpPr/>
          <p:nvPr/>
        </p:nvSpPr>
        <p:spPr>
          <a:xfrm>
            <a:off x="731520" y="2286000"/>
            <a:ext cx="2286000" cy="68580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Flashcard It</a:t>
            </a:r>
            <a:endParaRPr lang="en-US" sz="1350" dirty="0"/>
          </a:p>
        </p:txBody>
      </p:sp>
      <p:sp>
        <p:nvSpPr>
          <p:cNvPr id="7" name="Text 4"/>
          <p:cNvSpPr/>
          <p:nvPr/>
        </p:nvSpPr>
        <p:spPr>
          <a:xfrm>
            <a:off x="731520" y="3063240"/>
            <a:ext cx="2286000" cy="23317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Turn every Q&amp;A pair in this deck into an actual flashcard — physical or app-based. Repetition beats re-reading.</a:t>
            </a:r>
            <a:endParaRPr lang="en-US" sz="1150" dirty="0"/>
          </a:p>
        </p:txBody>
      </p:sp>
      <p:sp>
        <p:nvSpPr>
          <p:cNvPr id="8" name="Shape 5"/>
          <p:cNvSpPr/>
          <p:nvPr/>
        </p:nvSpPr>
        <p:spPr>
          <a:xfrm>
            <a:off x="3429000" y="1371600"/>
            <a:ext cx="2651760" cy="42062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9" name="Image 1" descr="icon_users.png">    </p:cNvPr>
          <p:cNvPicPr>
            <a:picLocks noChangeAspect="1"/>
          </p:cNvPicPr>
          <p:nvPr/>
        </p:nvPicPr>
        <p:blipFill>
          <a:blip r:embed="rId2"/>
          <a:stretch>
            <a:fillRect/>
          </a:stretch>
        </p:blipFill>
        <p:spPr>
          <a:xfrm>
            <a:off x="3611880" y="1645920"/>
            <a:ext cx="502920" cy="502920"/>
          </a:xfrm>
          <a:prstGeom prst="rect">
            <a:avLst/>
          </a:prstGeom>
        </p:spPr>
      </p:pic>
      <p:sp>
        <p:nvSpPr>
          <p:cNvPr id="10" name="Text 6"/>
          <p:cNvSpPr/>
          <p:nvPr/>
        </p:nvSpPr>
        <p:spPr>
          <a:xfrm>
            <a:off x="3611880" y="2286000"/>
            <a:ext cx="2286000" cy="68580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Study With a Battle Buddy</a:t>
            </a:r>
            <a:endParaRPr lang="en-US" sz="1350" dirty="0"/>
          </a:p>
        </p:txBody>
      </p:sp>
      <p:sp>
        <p:nvSpPr>
          <p:cNvPr id="11" name="Text 7"/>
          <p:cNvSpPr/>
          <p:nvPr/>
        </p:nvSpPr>
        <p:spPr>
          <a:xfrm>
            <a:off x="3611880" y="3063240"/>
            <a:ext cx="2286000" cy="23317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Quiz each other out loud. Answering verbally under mild social pressure mimics the board environment.</a:t>
            </a:r>
            <a:endParaRPr lang="en-US" sz="1150" dirty="0"/>
          </a:p>
        </p:txBody>
      </p:sp>
      <p:sp>
        <p:nvSpPr>
          <p:cNvPr id="12" name="Shape 8"/>
          <p:cNvSpPr/>
          <p:nvPr/>
        </p:nvSpPr>
        <p:spPr>
          <a:xfrm>
            <a:off x="6309360" y="1371600"/>
            <a:ext cx="2651760" cy="42062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3" name="Image 2" descr="icon_search.png">    </p:cNvPr>
          <p:cNvPicPr>
            <a:picLocks noChangeAspect="1"/>
          </p:cNvPicPr>
          <p:nvPr/>
        </p:nvPicPr>
        <p:blipFill>
          <a:blip r:embed="rId3"/>
          <a:stretch>
            <a:fillRect/>
          </a:stretch>
        </p:blipFill>
        <p:spPr>
          <a:xfrm>
            <a:off x="6492240" y="1645920"/>
            <a:ext cx="502920" cy="502920"/>
          </a:xfrm>
          <a:prstGeom prst="rect">
            <a:avLst/>
          </a:prstGeom>
        </p:spPr>
      </p:pic>
      <p:sp>
        <p:nvSpPr>
          <p:cNvPr id="14" name="Text 9"/>
          <p:cNvSpPr/>
          <p:nvPr/>
        </p:nvSpPr>
        <p:spPr>
          <a:xfrm>
            <a:off x="6492240" y="2286000"/>
            <a:ext cx="2286000" cy="68580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Know Your Own Unit Cold</a:t>
            </a:r>
            <a:endParaRPr lang="en-US" sz="1350" dirty="0"/>
          </a:p>
        </p:txBody>
      </p:sp>
      <p:sp>
        <p:nvSpPr>
          <p:cNvPr id="15" name="Text 10"/>
          <p:cNvSpPr/>
          <p:nvPr/>
        </p:nvSpPr>
        <p:spPr>
          <a:xfrm>
            <a:off x="6492240" y="3063240"/>
            <a:ext cx="2286000" cy="23317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Chain of command, unit history, and current unit mission are always fair game — no study guide covers this for you.</a:t>
            </a:r>
            <a:endParaRPr lang="en-US" sz="1150" dirty="0"/>
          </a:p>
        </p:txBody>
      </p:sp>
      <p:sp>
        <p:nvSpPr>
          <p:cNvPr id="16" name="Shape 11"/>
          <p:cNvSpPr/>
          <p:nvPr/>
        </p:nvSpPr>
        <p:spPr>
          <a:xfrm>
            <a:off x="9189720" y="1371600"/>
            <a:ext cx="2651760" cy="42062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7" name="Image 3" descr="icon_check.png">    </p:cNvPr>
          <p:cNvPicPr>
            <a:picLocks noChangeAspect="1"/>
          </p:cNvPicPr>
          <p:nvPr/>
        </p:nvPicPr>
        <p:blipFill>
          <a:blip r:embed="rId4"/>
          <a:stretch>
            <a:fillRect/>
          </a:stretch>
        </p:blipFill>
        <p:spPr>
          <a:xfrm>
            <a:off x="9372600" y="1645920"/>
            <a:ext cx="502920" cy="502920"/>
          </a:xfrm>
          <a:prstGeom prst="rect">
            <a:avLst/>
          </a:prstGeom>
        </p:spPr>
      </p:pic>
      <p:sp>
        <p:nvSpPr>
          <p:cNvPr id="18" name="Text 12"/>
          <p:cNvSpPr/>
          <p:nvPr/>
        </p:nvSpPr>
        <p:spPr>
          <a:xfrm>
            <a:off x="9372600" y="2286000"/>
            <a:ext cx="2286000" cy="68580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Read Current Army News</a:t>
            </a:r>
            <a:endParaRPr lang="en-US" sz="1350" dirty="0"/>
          </a:p>
        </p:txBody>
      </p:sp>
      <p:sp>
        <p:nvSpPr>
          <p:cNvPr id="19" name="Text 13"/>
          <p:cNvSpPr/>
          <p:nvPr/>
        </p:nvSpPr>
        <p:spPr>
          <a:xfrm>
            <a:off x="9372600" y="3063240"/>
            <a:ext cx="2286000" cy="23317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Check Army.mil or your installation paper the week of your board — current events questions reward it.</a:t>
            </a:r>
            <a:endParaRPr lang="en-US" sz="1150" dirty="0"/>
          </a:p>
        </p:txBody>
      </p:sp>
      <p:sp>
        <p:nvSpPr>
          <p:cNvPr id="20" name="Text 14"/>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20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MOCK BOARD PRACTICE DRILL</a:t>
            </a:r>
            <a:endParaRPr lang="en-US" sz="3000" dirty="0"/>
          </a:p>
        </p:txBody>
      </p:sp>
      <p:sp>
        <p:nvSpPr>
          <p:cNvPr id="3" name="Text 1"/>
          <p:cNvSpPr/>
          <p:nvPr/>
        </p:nvSpPr>
        <p:spPr>
          <a:xfrm>
            <a:off x="548640" y="960120"/>
            <a:ext cx="100584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Run this today, in class, before anyone's real board</a:t>
            </a:r>
            <a:endParaRPr lang="en-US" sz="1500" dirty="0"/>
          </a:p>
        </p:txBody>
      </p:sp>
      <p:sp>
        <p:nvSpPr>
          <p:cNvPr id="4" name="Shape 2"/>
          <p:cNvSpPr/>
          <p:nvPr/>
        </p:nvSpPr>
        <p:spPr>
          <a:xfrm>
            <a:off x="548640" y="1554480"/>
            <a:ext cx="640080" cy="640080"/>
          </a:xfrm>
          <a:prstGeom prst="ellipse">
            <a:avLst/>
          </a:prstGeom>
          <a:solidFill>
            <a:srgbClr val="C9A227"/>
          </a:solidFill>
          <a:ln/>
        </p:spPr>
      </p:sp>
      <p:sp>
        <p:nvSpPr>
          <p:cNvPr id="5" name="Text 3"/>
          <p:cNvSpPr/>
          <p:nvPr/>
        </p:nvSpPr>
        <p:spPr>
          <a:xfrm>
            <a:off x="548640" y="155448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371600" y="1536192"/>
            <a:ext cx="4572000" cy="54864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Set up a mini panel</a:t>
            </a:r>
            <a:endParaRPr lang="en-US" sz="1550" dirty="0"/>
          </a:p>
        </p:txBody>
      </p:sp>
      <p:sp>
        <p:nvSpPr>
          <p:cNvPr id="7" name="Text 5"/>
          <p:cNvSpPr/>
          <p:nvPr/>
        </p:nvSpPr>
        <p:spPr>
          <a:xfrm>
            <a:off x="1371600" y="2121408"/>
            <a:ext cx="4572000" cy="164592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2-3 instructors or senior Soldiers sit as the board; everyone else observes.</a:t>
            </a:r>
            <a:endParaRPr lang="en-US" sz="1200" dirty="0"/>
          </a:p>
        </p:txBody>
      </p:sp>
      <p:sp>
        <p:nvSpPr>
          <p:cNvPr id="8" name="Shape 6"/>
          <p:cNvSpPr/>
          <p:nvPr/>
        </p:nvSpPr>
        <p:spPr>
          <a:xfrm>
            <a:off x="6263640" y="1554480"/>
            <a:ext cx="640080" cy="640080"/>
          </a:xfrm>
          <a:prstGeom prst="ellipse">
            <a:avLst/>
          </a:prstGeom>
          <a:solidFill>
            <a:srgbClr val="C9A227"/>
          </a:solidFill>
          <a:ln/>
        </p:spPr>
      </p:sp>
      <p:sp>
        <p:nvSpPr>
          <p:cNvPr id="9" name="Text 7"/>
          <p:cNvSpPr/>
          <p:nvPr/>
        </p:nvSpPr>
        <p:spPr>
          <a:xfrm>
            <a:off x="6263640" y="155448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7086600" y="1536192"/>
            <a:ext cx="4572000" cy="54864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Full reporting sequence</a:t>
            </a:r>
            <a:endParaRPr lang="en-US" sz="1550" dirty="0"/>
          </a:p>
        </p:txBody>
      </p:sp>
      <p:sp>
        <p:nvSpPr>
          <p:cNvPr id="11" name="Text 9"/>
          <p:cNvSpPr/>
          <p:nvPr/>
        </p:nvSpPr>
        <p:spPr>
          <a:xfrm>
            <a:off x="7086600" y="2121408"/>
            <a:ext cx="4572000" cy="164592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Each volunteer knocks, enters, marches, and delivers their reporting statement for real.</a:t>
            </a:r>
            <a:endParaRPr lang="en-US" sz="1200" dirty="0"/>
          </a:p>
        </p:txBody>
      </p:sp>
      <p:sp>
        <p:nvSpPr>
          <p:cNvPr id="12" name="Shape 10"/>
          <p:cNvSpPr/>
          <p:nvPr/>
        </p:nvSpPr>
        <p:spPr>
          <a:xfrm>
            <a:off x="548640" y="4160520"/>
            <a:ext cx="640080" cy="640080"/>
          </a:xfrm>
          <a:prstGeom prst="ellipse">
            <a:avLst/>
          </a:prstGeom>
          <a:solidFill>
            <a:srgbClr val="C9A227"/>
          </a:solidFill>
          <a:ln/>
        </p:spPr>
      </p:sp>
      <p:sp>
        <p:nvSpPr>
          <p:cNvPr id="13" name="Text 11"/>
          <p:cNvSpPr/>
          <p:nvPr/>
        </p:nvSpPr>
        <p:spPr>
          <a:xfrm>
            <a:off x="548640" y="416052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371600" y="4142232"/>
            <a:ext cx="4572000" cy="54864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Draw 3-4 questions</a:t>
            </a:r>
            <a:endParaRPr lang="en-US" sz="1550" dirty="0"/>
          </a:p>
        </p:txBody>
      </p:sp>
      <p:sp>
        <p:nvSpPr>
          <p:cNvPr id="15" name="Text 13"/>
          <p:cNvSpPr/>
          <p:nvPr/>
        </p:nvSpPr>
        <p:spPr>
          <a:xfrm>
            <a:off x="1371600" y="4727448"/>
            <a:ext cx="4572000" cy="164592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Pull from different categories in today's Q&amp;A bank — mix it up, don't telegraph the topic.</a:t>
            </a:r>
            <a:endParaRPr lang="en-US" sz="1200" dirty="0"/>
          </a:p>
        </p:txBody>
      </p:sp>
      <p:sp>
        <p:nvSpPr>
          <p:cNvPr id="16" name="Shape 14"/>
          <p:cNvSpPr/>
          <p:nvPr/>
        </p:nvSpPr>
        <p:spPr>
          <a:xfrm>
            <a:off x="6263640" y="4160520"/>
            <a:ext cx="640080" cy="640080"/>
          </a:xfrm>
          <a:prstGeom prst="ellipse">
            <a:avLst/>
          </a:prstGeom>
          <a:solidFill>
            <a:srgbClr val="C9A227"/>
          </a:solidFill>
          <a:ln/>
        </p:spPr>
      </p:sp>
      <p:sp>
        <p:nvSpPr>
          <p:cNvPr id="17" name="Text 15"/>
          <p:cNvSpPr/>
          <p:nvPr/>
        </p:nvSpPr>
        <p:spPr>
          <a:xfrm>
            <a:off x="6263640" y="416052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7086600" y="4142232"/>
            <a:ext cx="4572000" cy="54864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Debrief immediately</a:t>
            </a:r>
            <a:endParaRPr lang="en-US" sz="1550" dirty="0"/>
          </a:p>
        </p:txBody>
      </p:sp>
      <p:sp>
        <p:nvSpPr>
          <p:cNvPr id="19" name="Text 17"/>
          <p:cNvSpPr/>
          <p:nvPr/>
        </p:nvSpPr>
        <p:spPr>
          <a:xfrm>
            <a:off x="7086600" y="4727448"/>
            <a:ext cx="4572000" cy="164592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Give specific feedback: bearing, answer quality, recovery from a missed question — while it's fresh.</a:t>
            </a:r>
            <a:endParaRPr lang="en-US" sz="1200" dirty="0"/>
          </a:p>
        </p:txBody>
      </p:sp>
      <p:sp>
        <p:nvSpPr>
          <p:cNvPr id="20" name="Text 18"/>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8A8C78"/>
                </a:solidFill>
                <a:latin typeface="Calibri" pitchFamily="34" charset="0"/>
                <a:ea typeface="Calibri" pitchFamily="34" charset="-122"/>
                <a:cs typeface="Calibri" pitchFamily="34" charset="-120"/>
              </a:rPr>
              <a:t>PROMOTION BOARD PREPARATION  |  21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3C3F2C"/>
          </a:solidFill>
          <a:ln/>
        </p:spPr>
      </p:sp>
      <p:sp>
        <p:nvSpPr>
          <p:cNvPr id="3" name="Text 1"/>
          <p:cNvSpPr/>
          <p:nvPr/>
        </p:nvSpPr>
        <p:spPr>
          <a:xfrm>
            <a:off x="548640" y="22860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pic>
        <p:nvPicPr>
          <p:cNvPr id="4" name="Image 0" descr="icon_medal.png">    </p:cNvPr>
          <p:cNvPicPr>
            <a:picLocks noChangeAspect="1"/>
          </p:cNvPicPr>
          <p:nvPr/>
        </p:nvPicPr>
        <p:blipFill>
          <a:blip r:embed="rId1"/>
          <a:stretch>
            <a:fillRect/>
          </a:stretch>
        </p:blipFill>
        <p:spPr>
          <a:xfrm>
            <a:off x="731520" y="1554480"/>
            <a:ext cx="457200" cy="457200"/>
          </a:xfrm>
          <a:prstGeom prst="rect">
            <a:avLst/>
          </a:prstGeom>
        </p:spPr>
      </p:pic>
      <p:sp>
        <p:nvSpPr>
          <p:cNvPr id="5" name="Text 2"/>
          <p:cNvSpPr/>
          <p:nvPr/>
        </p:nvSpPr>
        <p:spPr>
          <a:xfrm>
            <a:off x="1417320" y="1508760"/>
            <a:ext cx="10058400" cy="548640"/>
          </a:xfrm>
          <a:prstGeom prst="rect">
            <a:avLst/>
          </a:prstGeom>
          <a:noFill/>
          <a:ln/>
        </p:spPr>
        <p:txBody>
          <a:bodyPr wrap="square" lIns="0" tIns="0" rIns="0" bIns="0" rtlCol="0" anchor="ctr"/>
          <a:lstStyle/>
          <a:p>
            <a:pPr indent="0" marL="0">
              <a:buNone/>
            </a:pPr>
            <a:r>
              <a:rPr lang="en-US" sz="1550" dirty="0">
                <a:solidFill>
                  <a:srgbClr val="2B2B25"/>
                </a:solidFill>
                <a:latin typeface="Calibri" pitchFamily="34" charset="0"/>
                <a:ea typeface="Calibri" pitchFamily="34" charset="-122"/>
                <a:cs typeface="Calibri" pitchFamily="34" charset="-120"/>
              </a:rPr>
              <a:t>Boards score bearing and composure as much as raw knowledge — stay calm</a:t>
            </a:r>
            <a:endParaRPr lang="en-US" sz="1550" dirty="0"/>
          </a:p>
        </p:txBody>
      </p:sp>
      <p:pic>
        <p:nvPicPr>
          <p:cNvPr id="6" name="Image 1" descr="icon_book.png">    </p:cNvPr>
          <p:cNvPicPr>
            <a:picLocks noChangeAspect="1"/>
          </p:cNvPicPr>
          <p:nvPr/>
        </p:nvPicPr>
        <p:blipFill>
          <a:blip r:embed="rId2"/>
          <a:stretch>
            <a:fillRect/>
          </a:stretch>
        </p:blipFill>
        <p:spPr>
          <a:xfrm>
            <a:off x="731520" y="2331720"/>
            <a:ext cx="457200" cy="457200"/>
          </a:xfrm>
          <a:prstGeom prst="rect">
            <a:avLst/>
          </a:prstGeom>
        </p:spPr>
      </p:pic>
      <p:sp>
        <p:nvSpPr>
          <p:cNvPr id="7" name="Text 3"/>
          <p:cNvSpPr/>
          <p:nvPr/>
        </p:nvSpPr>
        <p:spPr>
          <a:xfrm>
            <a:off x="1417320" y="2286000"/>
            <a:ext cx="10058400" cy="548640"/>
          </a:xfrm>
          <a:prstGeom prst="rect">
            <a:avLst/>
          </a:prstGeom>
          <a:noFill/>
          <a:ln/>
        </p:spPr>
        <p:txBody>
          <a:bodyPr wrap="square" lIns="0" tIns="0" rIns="0" bIns="0" rtlCol="0" anchor="ctr"/>
          <a:lstStyle/>
          <a:p>
            <a:pPr indent="0" marL="0">
              <a:buNone/>
            </a:pPr>
            <a:r>
              <a:rPr lang="en-US" sz="1550" dirty="0">
                <a:solidFill>
                  <a:srgbClr val="2B2B25"/>
                </a:solidFill>
                <a:latin typeface="Calibri" pitchFamily="34" charset="0"/>
                <a:ea typeface="Calibri" pitchFamily="34" charset="-122"/>
                <a:cs typeface="Calibri" pitchFamily="34" charset="-120"/>
              </a:rPr>
              <a:t>Study across all 10 categories, starting 2-3 weeks out, not the night before</a:t>
            </a:r>
            <a:endParaRPr lang="en-US" sz="1550" dirty="0"/>
          </a:p>
        </p:txBody>
      </p:sp>
      <p:pic>
        <p:nvPicPr>
          <p:cNvPr id="8" name="Image 2" descr="icon_check.png">    </p:cNvPr>
          <p:cNvPicPr>
            <a:picLocks noChangeAspect="1"/>
          </p:cNvPicPr>
          <p:nvPr/>
        </p:nvPicPr>
        <p:blipFill>
          <a:blip r:embed="rId3"/>
          <a:stretch>
            <a:fillRect/>
          </a:stretch>
        </p:blipFill>
        <p:spPr>
          <a:xfrm>
            <a:off x="731520" y="3108960"/>
            <a:ext cx="457200" cy="457200"/>
          </a:xfrm>
          <a:prstGeom prst="rect">
            <a:avLst/>
          </a:prstGeom>
        </p:spPr>
      </p:pic>
      <p:sp>
        <p:nvSpPr>
          <p:cNvPr id="9" name="Text 4"/>
          <p:cNvSpPr/>
          <p:nvPr/>
        </p:nvSpPr>
        <p:spPr>
          <a:xfrm>
            <a:off x="1417320" y="3063240"/>
            <a:ext cx="10058400" cy="548640"/>
          </a:xfrm>
          <a:prstGeom prst="rect">
            <a:avLst/>
          </a:prstGeom>
          <a:noFill/>
          <a:ln/>
        </p:spPr>
        <p:txBody>
          <a:bodyPr wrap="square" lIns="0" tIns="0" rIns="0" bIns="0" rtlCol="0" anchor="ctr"/>
          <a:lstStyle/>
          <a:p>
            <a:pPr indent="0" marL="0">
              <a:buNone/>
            </a:pPr>
            <a:r>
              <a:rPr lang="en-US" sz="1550" dirty="0">
                <a:solidFill>
                  <a:srgbClr val="2B2B25"/>
                </a:solidFill>
                <a:latin typeface="Calibri" pitchFamily="34" charset="0"/>
                <a:ea typeface="Calibri" pitchFamily="34" charset="-122"/>
                <a:cs typeface="Calibri" pitchFamily="34" charset="-120"/>
              </a:rPr>
              <a:t>Know your own chain of command and unit mission cold — no study guide covers that</a:t>
            </a:r>
            <a:endParaRPr lang="en-US" sz="1550" dirty="0"/>
          </a:p>
        </p:txBody>
      </p:sp>
      <p:pic>
        <p:nvPicPr>
          <p:cNvPr id="10" name="Image 3" descr="icon_users.png">    </p:cNvPr>
          <p:cNvPicPr>
            <a:picLocks noChangeAspect="1"/>
          </p:cNvPicPr>
          <p:nvPr/>
        </p:nvPicPr>
        <p:blipFill>
          <a:blip r:embed="rId4"/>
          <a:stretch>
            <a:fillRect/>
          </a:stretch>
        </p:blipFill>
        <p:spPr>
          <a:xfrm>
            <a:off x="731520" y="3886200"/>
            <a:ext cx="457200" cy="457200"/>
          </a:xfrm>
          <a:prstGeom prst="rect">
            <a:avLst/>
          </a:prstGeom>
        </p:spPr>
      </p:pic>
      <p:sp>
        <p:nvSpPr>
          <p:cNvPr id="11" name="Text 5"/>
          <p:cNvSpPr/>
          <p:nvPr/>
        </p:nvSpPr>
        <p:spPr>
          <a:xfrm>
            <a:off x="1417320" y="3840480"/>
            <a:ext cx="10058400" cy="548640"/>
          </a:xfrm>
          <a:prstGeom prst="rect">
            <a:avLst/>
          </a:prstGeom>
          <a:noFill/>
          <a:ln/>
        </p:spPr>
        <p:txBody>
          <a:bodyPr wrap="square" lIns="0" tIns="0" rIns="0" bIns="0" rtlCol="0" anchor="ctr"/>
          <a:lstStyle/>
          <a:p>
            <a:pPr indent="0" marL="0">
              <a:buNone/>
            </a:pPr>
            <a:r>
              <a:rPr lang="en-US" sz="1550" dirty="0">
                <a:solidFill>
                  <a:srgbClr val="2B2B25"/>
                </a:solidFill>
                <a:latin typeface="Calibri" pitchFamily="34" charset="0"/>
                <a:ea typeface="Calibri" pitchFamily="34" charset="-122"/>
                <a:cs typeface="Calibri" pitchFamily="34" charset="-120"/>
              </a:rPr>
              <a:t>Run a real mock board before the real one — it's the highest-value prep step</a:t>
            </a:r>
            <a:endParaRPr lang="en-US" sz="1550" dirty="0"/>
          </a:p>
        </p:txBody>
      </p:sp>
      <p:sp>
        <p:nvSpPr>
          <p:cNvPr id="12" name="Shape 6"/>
          <p:cNvSpPr/>
          <p:nvPr/>
        </p:nvSpPr>
        <p:spPr>
          <a:xfrm>
            <a:off x="548640" y="4846320"/>
            <a:ext cx="11064240" cy="1371600"/>
          </a:xfrm>
          <a:prstGeom prst="roundRect">
            <a:avLst>
              <a:gd name="adj" fmla="val 5333"/>
            </a:avLst>
          </a:prstGeom>
          <a:solidFill>
            <a:srgbClr val="F1EDE3"/>
          </a:solidFill>
          <a:ln/>
          <a:effectLst>
            <a:outerShdw sx="100000" sy="100000" kx="0" ky="0" algn="bl" rotWithShape="0" blurRad="76200" dist="25400" dir="2700000">
              <a:srgbClr val="000000">
                <a:alpha val="10000"/>
              </a:srgbClr>
            </a:outerShdw>
          </a:effectLst>
        </p:spPr>
      </p:sp>
      <p:pic>
        <p:nvPicPr>
          <p:cNvPr id="13" name="Image 4" descr="icon_question.png">    </p:cNvPr>
          <p:cNvPicPr>
            <a:picLocks noChangeAspect="1"/>
          </p:cNvPicPr>
          <p:nvPr/>
        </p:nvPicPr>
        <p:blipFill>
          <a:blip r:embed="rId5"/>
          <a:stretch>
            <a:fillRect/>
          </a:stretch>
        </p:blipFill>
        <p:spPr>
          <a:xfrm>
            <a:off x="822960" y="5120640"/>
            <a:ext cx="502920" cy="502920"/>
          </a:xfrm>
          <a:prstGeom prst="rect">
            <a:avLst/>
          </a:prstGeom>
        </p:spPr>
      </p:pic>
      <p:sp>
        <p:nvSpPr>
          <p:cNvPr id="14" name="Text 7"/>
          <p:cNvSpPr/>
          <p:nvPr/>
        </p:nvSpPr>
        <p:spPr>
          <a:xfrm>
            <a:off x="1508760" y="5029200"/>
            <a:ext cx="9784080" cy="1097280"/>
          </a:xfrm>
          <a:prstGeom prst="rect">
            <a:avLst/>
          </a:prstGeom>
          <a:noFill/>
          <a:ln/>
        </p:spPr>
        <p:txBody>
          <a:bodyPr wrap="square" lIns="0" tIns="0" rIns="0" bIns="0" rtlCol="0" anchor="ctr"/>
          <a:lstStyle/>
          <a:p>
            <a:pPr indent="0" marL="0">
              <a:buNone/>
            </a:pPr>
            <a:r>
              <a:rPr lang="en-US" sz="1350" b="1" dirty="0">
                <a:solidFill>
                  <a:srgbClr val="3C3F2C"/>
                </a:solidFill>
                <a:latin typeface="Calibri" pitchFamily="34" charset="0"/>
                <a:ea typeface="Calibri" pitchFamily="34" charset="-122"/>
                <a:cs typeface="Calibri" pitchFamily="34" charset="-120"/>
              </a:rPr>
              <a:t>Before we close — </a:t>
            </a:r>
            <a:pPr indent="0" marL="0">
              <a:buNone/>
            </a:pPr>
            <a:r>
              <a:rPr lang="en-US" sz="1350" dirty="0">
                <a:solidFill>
                  <a:srgbClr val="2B2B25"/>
                </a:solidFill>
                <a:latin typeface="Calibri" pitchFamily="34" charset="0"/>
                <a:ea typeface="Calibri" pitchFamily="34" charset="-122"/>
                <a:cs typeface="Calibri" pitchFamily="34" charset="-120"/>
              </a:rPr>
              <a:t>Which of the 10 Q&amp;A categories are you personally weakest in? Pick one to study first this week.</a:t>
            </a:r>
            <a:endParaRPr lang="en-US" sz="1350" dirty="0"/>
          </a:p>
        </p:txBody>
      </p:sp>
      <p:sp>
        <p:nvSpPr>
          <p:cNvPr id="15" name="Text 8"/>
          <p:cNvSpPr/>
          <p:nvPr/>
        </p:nvSpPr>
        <p:spPr>
          <a:xfrm>
            <a:off x="0" y="6537960"/>
            <a:ext cx="12191695" cy="274320"/>
          </a:xfrm>
          <a:prstGeom prst="rect">
            <a:avLst/>
          </a:prstGeom>
          <a:noFill/>
          <a:ln/>
        </p:spPr>
        <p:txBody>
          <a:bodyPr wrap="square" rtlCol="0" anchor="ctr"/>
          <a:lstStyle/>
          <a:p>
            <a:pPr algn="ctr" indent="0" marL="0">
              <a:buNone/>
            </a:pPr>
            <a:r>
              <a:rPr lang="en-US" sz="850" dirty="0">
                <a:solidFill>
                  <a:srgbClr val="9C9C90"/>
                </a:solidFill>
                <a:latin typeface="Calibri" pitchFamily="34" charset="0"/>
                <a:ea typeface="Calibri" pitchFamily="34" charset="-122"/>
                <a:cs typeface="Calibri" pitchFamily="34" charset="-120"/>
              </a:rPr>
              <a:t>PROMOTION BOARD PREPARATION  |  22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Promotion Board Preparation</dc:title>
  <dc:subject>PptxGenJS Presentation</dc:subject>
  <dc:creator>US Army Cyber School</dc:creator>
  <cp:lastModifiedBy>US Army Cyber School</cp:lastModifiedBy>
  <cp:revision>1</cp:revision>
  <dcterms:created xsi:type="dcterms:W3CDTF">2026-07-08T00:21:37Z</dcterms:created>
  <dcterms:modified xsi:type="dcterms:W3CDTF">2026-07-08T00:21:37Z</dcterms:modified>
</cp:coreProperties>
</file>