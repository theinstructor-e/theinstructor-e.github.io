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brief walks students through everything they need for a TDY-to-school move: the order, entitlements, the difference between TDY and PCS, the Government Travel Charge Card, the Defense Travel System, in-processing, and packing. All content is current to 2026 references shown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TDY plainly: temporary, you return to your PDS afterward, your unit doesn't change. Emphasize three anchors — the JTR governs, you must have a valid funded order (DTS authorization or DD 1610), and the 180-day rule. Call out the 50-mile commuting rule early because it changes whether a student gets per diem and billeting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 comparison slide. The single most important point: a school is TDY, not PCS. Walk the rows — intent (return vs. relocate), duration (weeks vs. a 2-4 year tour), the form (DTS/DD1610 vs. PCS orders/DD1614 for civilians), unit (unchanged vs. losing/gaining), and money (per diem vs. relocation entitlements like HHG, DLA, house-hunting, TLE/TLA). Flag the edge case: PCS with TDY-en-route, where the school leg is still TDY and is accounted separately from the PCS move. Sources: JTR / DTMO Travel Orders supplement (AP-TO-01, Mar 2026) for the DD1610/DD1614 distinction; JTR 180-day rule for duration.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documents that most often stop a student at the door. Stress the order (10+ printed copies), the ATRRS reserved seat, and the TASS pre-execution checklist with original signatures. GTCC readiness now includes the DD 3120 SOU and current training on file with the APC. MEC must be loaded to the CAC before travel. Readiness: many schoolhouses weigh and tape on arrival.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diem has three parts: lodging (actual cost up to the locality cap), meals and incidentals (M&amp;IE, at 75% on first/last day), and transportation (air is the default). Note the actual dollar rates are locality-based and change annually — students look them up in DTS or on the DTMO per diem site. The quarters/DFAC rule is the common surprise: on an installation you can be directed to government lodging and meals, which lowers per diem, and non-availability must be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the GTCC. Set expectation: the card is mandatory for official travel and the student is personally liable for the bill. Next slides cover the ground rules and the compliance mechanics.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ground rules: mandatory use, personal liability on an IBA (pay the bill on time even before reimbursement lands), standard vs. restricted at the 659 FICO line with no credit hit to apply, and activate/set PIN before travel. The right panel gives the numbers to remember: 60-day TDY payment window, 5-day voucher deadline, 3-year SOU/training cycle, and no interest. Source: DoD GTCC Regulations, rev. 29 May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split disbursement is the fix, delinquency is the failure mode. Split disbursement pays the vendor directly from the reimbursement — show the DFAS to vendor to bank flow. On the right, the misuse/delinquency consequences: official use only, on-time payment regardless of reimbursement status, Scheduled Partial Payments for 45+ day courses, and the real penalties. Source: DoD GTCC Regulations, rev. 29 May 2026; DTS Regulations (SPP for 45+ day 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DTS. Frame it as the one system that carries the trip from authorization through payment. Next slide is the workflow; the one after is voucher tips plus the packing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two halves. Authorization first (build, route, get approval) — nothing tickets until the AO approves. Then travel and keep receipts (lodging always, plus anything $75+). Then the voucher within 5 days, created FROM the authorization, with estimates updated to actuals. Finally DFAS pays and split disbursement settles the card. Source: DTS Regulations (DoDI 5154.31, Vol. 3); DTMO DTS Guide 3 (Vouchers).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voucher mistakes that delay payment — profile data wrong, amending the authorization instead of creating a voucher, leaving estimates instead of actuals, unaddressed pre-audit flags, split disbursement off, and missing the 75-day amend window. Right: the packing list in three buckets. Remind students the welcome packet dictates the exact uniform and any special gear.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recall slide. Lead with the new anchor — a school is TDY, not PCS. Then the eight things that keep a student out of trouble. Close by telling them exactly who to ask: training NCO, DTS AO, or unit APC.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slide so the brief is defensible and auditable. Every substantive claim in the deck traces to one of these: JTR (May 2026) for entitlements and the 180-day rule; GTCC Regulations (29 May 2026) for card policy; DTS Regulations (DoDI 5154.31 Vol. 3) for the authorization/voucher/SPP mechanics; DD 1610 (APR 2026) and DD 1614 plus the AP-TO-01 Travel Orders supplement for the TDY-vs-PCS form distinction; TRADOC Reg 350-18 for TASS; ATRRS for seats. Remind students per diem rates change annually.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422"/>
        </a:solidFill>
      </p:bgPr>
    </p:bg>
    <p:spTree>
      <p:nvGrpSpPr>
        <p:cNvPr id="1" name=""/>
        <p:cNvGrpSpPr/>
        <p:nvPr/>
      </p:nvGrpSpPr>
      <p:grpSpPr>
        <a:xfrm>
          <a:off x="0" y="0"/>
          <a:ext cx="0" cy="0"/>
          <a:chOff x="0" y="0"/>
          <a:chExt cx="0" cy="0"/>
        </a:xfrm>
      </p:grpSpPr>
      <p:sp>
        <p:nvSpPr>
          <p:cNvPr id="2" name="Shape 0"/>
          <p:cNvSpPr/>
          <p:nvPr/>
        </p:nvSpPr>
        <p:spPr>
          <a:xfrm>
            <a:off x="914400" y="0"/>
            <a:ext cx="0" cy="6858000"/>
          </a:xfrm>
          <a:prstGeom prst="line">
            <a:avLst/>
          </a:prstGeom>
          <a:noFill/>
          <a:ln w="6350">
            <a:solidFill>
              <a:srgbClr val="24384F">
                <a:alpha val="32000"/>
              </a:srgbClr>
            </a:solidFill>
            <a:prstDash val="solid"/>
          </a:ln>
        </p:spPr>
      </p:sp>
      <p:sp>
        <p:nvSpPr>
          <p:cNvPr id="3" name="Shape 1"/>
          <p:cNvSpPr/>
          <p:nvPr/>
        </p:nvSpPr>
        <p:spPr>
          <a:xfrm>
            <a:off x="1828800" y="0"/>
            <a:ext cx="0" cy="6858000"/>
          </a:xfrm>
          <a:prstGeom prst="line">
            <a:avLst/>
          </a:prstGeom>
          <a:noFill/>
          <a:ln w="6350">
            <a:solidFill>
              <a:srgbClr val="24384F">
                <a:alpha val="32000"/>
              </a:srgbClr>
            </a:solidFill>
            <a:prstDash val="solid"/>
          </a:ln>
        </p:spPr>
      </p:sp>
      <p:sp>
        <p:nvSpPr>
          <p:cNvPr id="4" name="Shape 2"/>
          <p:cNvSpPr/>
          <p:nvPr/>
        </p:nvSpPr>
        <p:spPr>
          <a:xfrm>
            <a:off x="2743200" y="0"/>
            <a:ext cx="0" cy="6858000"/>
          </a:xfrm>
          <a:prstGeom prst="line">
            <a:avLst/>
          </a:prstGeom>
          <a:noFill/>
          <a:ln w="6350">
            <a:solidFill>
              <a:srgbClr val="24384F">
                <a:alpha val="32000"/>
              </a:srgbClr>
            </a:solidFill>
            <a:prstDash val="solid"/>
          </a:ln>
        </p:spPr>
      </p:sp>
      <p:sp>
        <p:nvSpPr>
          <p:cNvPr id="5" name="Shape 3"/>
          <p:cNvSpPr/>
          <p:nvPr/>
        </p:nvSpPr>
        <p:spPr>
          <a:xfrm>
            <a:off x="3657600" y="0"/>
            <a:ext cx="0" cy="6858000"/>
          </a:xfrm>
          <a:prstGeom prst="line">
            <a:avLst/>
          </a:prstGeom>
          <a:noFill/>
          <a:ln w="6350">
            <a:solidFill>
              <a:srgbClr val="24384F">
                <a:alpha val="32000"/>
              </a:srgbClr>
            </a:solidFill>
            <a:prstDash val="solid"/>
          </a:ln>
        </p:spPr>
      </p:sp>
      <p:sp>
        <p:nvSpPr>
          <p:cNvPr id="6" name="Shape 4"/>
          <p:cNvSpPr/>
          <p:nvPr/>
        </p:nvSpPr>
        <p:spPr>
          <a:xfrm>
            <a:off x="4572000" y="0"/>
            <a:ext cx="0" cy="6858000"/>
          </a:xfrm>
          <a:prstGeom prst="line">
            <a:avLst/>
          </a:prstGeom>
          <a:noFill/>
          <a:ln w="6350">
            <a:solidFill>
              <a:srgbClr val="24384F">
                <a:alpha val="32000"/>
              </a:srgbClr>
            </a:solidFill>
            <a:prstDash val="solid"/>
          </a:ln>
        </p:spPr>
      </p:sp>
      <p:sp>
        <p:nvSpPr>
          <p:cNvPr id="7" name="Shape 5"/>
          <p:cNvSpPr/>
          <p:nvPr/>
        </p:nvSpPr>
        <p:spPr>
          <a:xfrm>
            <a:off x="5486400" y="0"/>
            <a:ext cx="0" cy="6858000"/>
          </a:xfrm>
          <a:prstGeom prst="line">
            <a:avLst/>
          </a:prstGeom>
          <a:noFill/>
          <a:ln w="6350">
            <a:solidFill>
              <a:srgbClr val="24384F">
                <a:alpha val="32000"/>
              </a:srgbClr>
            </a:solidFill>
            <a:prstDash val="solid"/>
          </a:ln>
        </p:spPr>
      </p:sp>
      <p:sp>
        <p:nvSpPr>
          <p:cNvPr id="8" name="Shape 6"/>
          <p:cNvSpPr/>
          <p:nvPr/>
        </p:nvSpPr>
        <p:spPr>
          <a:xfrm>
            <a:off x="6400800" y="0"/>
            <a:ext cx="0" cy="6858000"/>
          </a:xfrm>
          <a:prstGeom prst="line">
            <a:avLst/>
          </a:prstGeom>
          <a:noFill/>
          <a:ln w="6350">
            <a:solidFill>
              <a:srgbClr val="24384F">
                <a:alpha val="32000"/>
              </a:srgbClr>
            </a:solidFill>
            <a:prstDash val="solid"/>
          </a:ln>
        </p:spPr>
      </p:sp>
      <p:sp>
        <p:nvSpPr>
          <p:cNvPr id="9" name="Shape 7"/>
          <p:cNvSpPr/>
          <p:nvPr/>
        </p:nvSpPr>
        <p:spPr>
          <a:xfrm>
            <a:off x="7315200" y="0"/>
            <a:ext cx="0" cy="6858000"/>
          </a:xfrm>
          <a:prstGeom prst="line">
            <a:avLst/>
          </a:prstGeom>
          <a:noFill/>
          <a:ln w="6350">
            <a:solidFill>
              <a:srgbClr val="24384F">
                <a:alpha val="32000"/>
              </a:srgbClr>
            </a:solidFill>
            <a:prstDash val="solid"/>
          </a:ln>
        </p:spPr>
      </p:sp>
      <p:sp>
        <p:nvSpPr>
          <p:cNvPr id="10" name="Shape 8"/>
          <p:cNvSpPr/>
          <p:nvPr/>
        </p:nvSpPr>
        <p:spPr>
          <a:xfrm>
            <a:off x="8229600" y="0"/>
            <a:ext cx="0" cy="6858000"/>
          </a:xfrm>
          <a:prstGeom prst="line">
            <a:avLst/>
          </a:prstGeom>
          <a:noFill/>
          <a:ln w="6350">
            <a:solidFill>
              <a:srgbClr val="24384F">
                <a:alpha val="32000"/>
              </a:srgbClr>
            </a:solidFill>
            <a:prstDash val="solid"/>
          </a:ln>
        </p:spPr>
      </p:sp>
      <p:sp>
        <p:nvSpPr>
          <p:cNvPr id="11" name="Shape 9"/>
          <p:cNvSpPr/>
          <p:nvPr/>
        </p:nvSpPr>
        <p:spPr>
          <a:xfrm>
            <a:off x="9144000" y="0"/>
            <a:ext cx="0" cy="6858000"/>
          </a:xfrm>
          <a:prstGeom prst="line">
            <a:avLst/>
          </a:prstGeom>
          <a:noFill/>
          <a:ln w="6350">
            <a:solidFill>
              <a:srgbClr val="24384F">
                <a:alpha val="32000"/>
              </a:srgbClr>
            </a:solidFill>
            <a:prstDash val="solid"/>
          </a:ln>
        </p:spPr>
      </p:sp>
      <p:sp>
        <p:nvSpPr>
          <p:cNvPr id="12" name="Shape 10"/>
          <p:cNvSpPr/>
          <p:nvPr/>
        </p:nvSpPr>
        <p:spPr>
          <a:xfrm>
            <a:off x="10058400" y="0"/>
            <a:ext cx="0" cy="6858000"/>
          </a:xfrm>
          <a:prstGeom prst="line">
            <a:avLst/>
          </a:prstGeom>
          <a:noFill/>
          <a:ln w="6350">
            <a:solidFill>
              <a:srgbClr val="24384F">
                <a:alpha val="32000"/>
              </a:srgbClr>
            </a:solidFill>
            <a:prstDash val="solid"/>
          </a:ln>
        </p:spPr>
      </p:sp>
      <p:sp>
        <p:nvSpPr>
          <p:cNvPr id="13" name="Shape 11"/>
          <p:cNvSpPr/>
          <p:nvPr/>
        </p:nvSpPr>
        <p:spPr>
          <a:xfrm>
            <a:off x="10972800" y="0"/>
            <a:ext cx="0" cy="6858000"/>
          </a:xfrm>
          <a:prstGeom prst="line">
            <a:avLst/>
          </a:prstGeom>
          <a:noFill/>
          <a:ln w="6350">
            <a:solidFill>
              <a:srgbClr val="24384F">
                <a:alpha val="32000"/>
              </a:srgbClr>
            </a:solidFill>
            <a:prstDash val="solid"/>
          </a:ln>
        </p:spPr>
      </p:sp>
      <p:sp>
        <p:nvSpPr>
          <p:cNvPr id="14" name="Shape 12"/>
          <p:cNvSpPr/>
          <p:nvPr/>
        </p:nvSpPr>
        <p:spPr>
          <a:xfrm>
            <a:off x="11887200" y="0"/>
            <a:ext cx="0" cy="6858000"/>
          </a:xfrm>
          <a:prstGeom prst="line">
            <a:avLst/>
          </a:prstGeom>
          <a:noFill/>
          <a:ln w="6350">
            <a:solidFill>
              <a:srgbClr val="24384F">
                <a:alpha val="32000"/>
              </a:srgbClr>
            </a:solidFill>
            <a:prstDash val="solid"/>
          </a:ln>
        </p:spPr>
      </p:sp>
      <p:sp>
        <p:nvSpPr>
          <p:cNvPr id="15" name="Shape 13"/>
          <p:cNvSpPr/>
          <p:nvPr/>
        </p:nvSpPr>
        <p:spPr>
          <a:xfrm>
            <a:off x="0" y="914400"/>
            <a:ext cx="12188952" cy="0"/>
          </a:xfrm>
          <a:prstGeom prst="line">
            <a:avLst/>
          </a:prstGeom>
          <a:noFill/>
          <a:ln w="6350">
            <a:solidFill>
              <a:srgbClr val="24384F">
                <a:alpha val="32000"/>
              </a:srgbClr>
            </a:solidFill>
            <a:prstDash val="solid"/>
          </a:ln>
        </p:spPr>
      </p:sp>
      <p:sp>
        <p:nvSpPr>
          <p:cNvPr id="16" name="Shape 14"/>
          <p:cNvSpPr/>
          <p:nvPr/>
        </p:nvSpPr>
        <p:spPr>
          <a:xfrm>
            <a:off x="0" y="1828800"/>
            <a:ext cx="12188952" cy="0"/>
          </a:xfrm>
          <a:prstGeom prst="line">
            <a:avLst/>
          </a:prstGeom>
          <a:noFill/>
          <a:ln w="6350">
            <a:solidFill>
              <a:srgbClr val="24384F">
                <a:alpha val="32000"/>
              </a:srgbClr>
            </a:solidFill>
            <a:prstDash val="solid"/>
          </a:ln>
        </p:spPr>
      </p:sp>
      <p:sp>
        <p:nvSpPr>
          <p:cNvPr id="17" name="Shape 15"/>
          <p:cNvSpPr/>
          <p:nvPr/>
        </p:nvSpPr>
        <p:spPr>
          <a:xfrm>
            <a:off x="0" y="2743200"/>
            <a:ext cx="12188952" cy="0"/>
          </a:xfrm>
          <a:prstGeom prst="line">
            <a:avLst/>
          </a:prstGeom>
          <a:noFill/>
          <a:ln w="6350">
            <a:solidFill>
              <a:srgbClr val="24384F">
                <a:alpha val="32000"/>
              </a:srgbClr>
            </a:solidFill>
            <a:prstDash val="solid"/>
          </a:ln>
        </p:spPr>
      </p:sp>
      <p:sp>
        <p:nvSpPr>
          <p:cNvPr id="18" name="Shape 16"/>
          <p:cNvSpPr/>
          <p:nvPr/>
        </p:nvSpPr>
        <p:spPr>
          <a:xfrm>
            <a:off x="0" y="3657600"/>
            <a:ext cx="12188952" cy="0"/>
          </a:xfrm>
          <a:prstGeom prst="line">
            <a:avLst/>
          </a:prstGeom>
          <a:noFill/>
          <a:ln w="6350">
            <a:solidFill>
              <a:srgbClr val="24384F">
                <a:alpha val="32000"/>
              </a:srgbClr>
            </a:solidFill>
            <a:prstDash val="solid"/>
          </a:ln>
        </p:spPr>
      </p:sp>
      <p:sp>
        <p:nvSpPr>
          <p:cNvPr id="19" name="Shape 17"/>
          <p:cNvSpPr/>
          <p:nvPr/>
        </p:nvSpPr>
        <p:spPr>
          <a:xfrm>
            <a:off x="0" y="4572000"/>
            <a:ext cx="12188952" cy="0"/>
          </a:xfrm>
          <a:prstGeom prst="line">
            <a:avLst/>
          </a:prstGeom>
          <a:noFill/>
          <a:ln w="6350">
            <a:solidFill>
              <a:srgbClr val="24384F">
                <a:alpha val="32000"/>
              </a:srgbClr>
            </a:solidFill>
            <a:prstDash val="solid"/>
          </a:ln>
        </p:spPr>
      </p:sp>
      <p:sp>
        <p:nvSpPr>
          <p:cNvPr id="20" name="Shape 18"/>
          <p:cNvSpPr/>
          <p:nvPr/>
        </p:nvSpPr>
        <p:spPr>
          <a:xfrm>
            <a:off x="0" y="5486400"/>
            <a:ext cx="12188952" cy="0"/>
          </a:xfrm>
          <a:prstGeom prst="line">
            <a:avLst/>
          </a:prstGeom>
          <a:noFill/>
          <a:ln w="6350">
            <a:solidFill>
              <a:srgbClr val="24384F">
                <a:alpha val="32000"/>
              </a:srgbClr>
            </a:solidFill>
            <a:prstDash val="solid"/>
          </a:ln>
        </p:spPr>
      </p:sp>
      <p:sp>
        <p:nvSpPr>
          <p:cNvPr id="21" name="Shape 19"/>
          <p:cNvSpPr/>
          <p:nvPr/>
        </p:nvSpPr>
        <p:spPr>
          <a:xfrm>
            <a:off x="0" y="6400800"/>
            <a:ext cx="12188952" cy="0"/>
          </a:xfrm>
          <a:prstGeom prst="line">
            <a:avLst/>
          </a:prstGeom>
          <a:noFill/>
          <a:ln w="6350">
            <a:solidFill>
              <a:srgbClr val="24384F">
                <a:alpha val="32000"/>
              </a:srgbClr>
            </a:solidFill>
            <a:prstDash val="solid"/>
          </a:ln>
        </p:spPr>
      </p:sp>
      <p:sp>
        <p:nvSpPr>
          <p:cNvPr id="22" name="Shape 20"/>
          <p:cNvSpPr/>
          <p:nvPr/>
        </p:nvSpPr>
        <p:spPr>
          <a:xfrm>
            <a:off x="640080" y="822960"/>
            <a:ext cx="640080" cy="0"/>
          </a:xfrm>
          <a:prstGeom prst="line">
            <a:avLst/>
          </a:prstGeom>
          <a:noFill/>
          <a:ln w="31750">
            <a:solidFill>
              <a:srgbClr val="2DD4E0"/>
            </a:solidFill>
            <a:prstDash val="solid"/>
          </a:ln>
        </p:spPr>
      </p:sp>
      <p:sp>
        <p:nvSpPr>
          <p:cNvPr id="23" name="Shape 21"/>
          <p:cNvSpPr/>
          <p:nvPr/>
        </p:nvSpPr>
        <p:spPr>
          <a:xfrm>
            <a:off x="640080" y="822960"/>
            <a:ext cx="0" cy="640080"/>
          </a:xfrm>
          <a:prstGeom prst="line">
            <a:avLst/>
          </a:prstGeom>
          <a:noFill/>
          <a:ln w="31750">
            <a:solidFill>
              <a:srgbClr val="2DD4E0"/>
            </a:solidFill>
            <a:prstDash val="solid"/>
          </a:ln>
        </p:spPr>
      </p:sp>
      <p:sp>
        <p:nvSpPr>
          <p:cNvPr id="24" name="Shape 22"/>
          <p:cNvSpPr/>
          <p:nvPr/>
        </p:nvSpPr>
        <p:spPr>
          <a:xfrm>
            <a:off x="640080" y="1188720"/>
            <a:ext cx="2880360" cy="457200"/>
          </a:xfrm>
          <a:prstGeom prst="roundRect">
            <a:avLst>
              <a:gd name="adj" fmla="val 50000"/>
            </a:avLst>
          </a:prstGeom>
          <a:solidFill>
            <a:srgbClr val="0F1D30"/>
          </a:solidFill>
          <a:ln w="12700">
            <a:solidFill>
              <a:srgbClr val="1B8A93"/>
            </a:solidFill>
            <a:prstDash val="solid"/>
          </a:ln>
        </p:spPr>
      </p:sp>
      <p:sp>
        <p:nvSpPr>
          <p:cNvPr id="25" name="Text 23"/>
          <p:cNvSpPr/>
          <p:nvPr/>
        </p:nvSpPr>
        <p:spPr>
          <a:xfrm>
            <a:off x="640080" y="1188720"/>
            <a:ext cx="2880360" cy="457200"/>
          </a:xfrm>
          <a:prstGeom prst="rect">
            <a:avLst/>
          </a:prstGeom>
          <a:noFill/>
          <a:ln/>
        </p:spPr>
        <p:txBody>
          <a:bodyPr wrap="square" rtlCol="0" anchor="ctr"/>
          <a:lstStyle/>
          <a:p>
            <a:pPr algn="ctr" indent="0" marL="0">
              <a:buNone/>
            </a:pPr>
            <a:r>
              <a:rPr lang="en-US" sz="1050" b="1" spc="200" kern="0" dirty="0">
                <a:solidFill>
                  <a:srgbClr val="2DD4E0"/>
                </a:solidFill>
                <a:latin typeface="Calibri" pitchFamily="34" charset="0"/>
                <a:ea typeface="Calibri" pitchFamily="34" charset="-122"/>
                <a:cs typeface="Calibri" pitchFamily="34" charset="-120"/>
              </a:rPr>
              <a:t>SOLDIER READINESS BRIEF</a:t>
            </a:r>
            <a:endParaRPr lang="en-US" sz="1050" dirty="0"/>
          </a:p>
        </p:txBody>
      </p:sp>
      <p:sp>
        <p:nvSpPr>
          <p:cNvPr id="26" name="Text 24"/>
          <p:cNvSpPr/>
          <p:nvPr/>
        </p:nvSpPr>
        <p:spPr>
          <a:xfrm>
            <a:off x="612648" y="2057400"/>
            <a:ext cx="10972800" cy="1051560"/>
          </a:xfrm>
          <a:prstGeom prst="rect">
            <a:avLst/>
          </a:prstGeom>
          <a:noFill/>
          <a:ln/>
        </p:spPr>
        <p:txBody>
          <a:bodyPr wrap="square"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TDY for Schools</a:t>
            </a:r>
            <a:endParaRPr lang="en-US" sz="5800" dirty="0"/>
          </a:p>
        </p:txBody>
      </p:sp>
      <p:sp>
        <p:nvSpPr>
          <p:cNvPr id="27" name="Text 25"/>
          <p:cNvSpPr/>
          <p:nvPr/>
        </p:nvSpPr>
        <p:spPr>
          <a:xfrm>
            <a:off x="640080" y="3200400"/>
            <a:ext cx="10515600" cy="457200"/>
          </a:xfrm>
          <a:prstGeom prst="rect">
            <a:avLst/>
          </a:prstGeom>
          <a:noFill/>
          <a:ln/>
        </p:spPr>
        <p:txBody>
          <a:bodyPr wrap="square" rtlCol="0" anchor="ctr"/>
          <a:lstStyle/>
          <a:p>
            <a:pPr indent="0" marL="0">
              <a:buNone/>
            </a:pPr>
            <a:r>
              <a:rPr lang="en-US" sz="1900" i="1" dirty="0">
                <a:solidFill>
                  <a:srgbClr val="2DD4E0"/>
                </a:solidFill>
                <a:latin typeface="Cambria" pitchFamily="34" charset="0"/>
                <a:ea typeface="Cambria" pitchFamily="34" charset="-122"/>
                <a:cs typeface="Cambria" pitchFamily="34" charset="-120"/>
              </a:rPr>
              <a:t>A Soldier's Guide to Temporary Duty for Institutional Training</a:t>
            </a:r>
            <a:endParaRPr lang="en-US" sz="1900" dirty="0"/>
          </a:p>
        </p:txBody>
      </p:sp>
      <p:sp>
        <p:nvSpPr>
          <p:cNvPr id="28" name="Text 26"/>
          <p:cNvSpPr/>
          <p:nvPr/>
        </p:nvSpPr>
        <p:spPr>
          <a:xfrm>
            <a:off x="658368" y="3886200"/>
            <a:ext cx="10972800" cy="365760"/>
          </a:xfrm>
          <a:prstGeom prst="rect">
            <a:avLst/>
          </a:prstGeom>
          <a:noFill/>
          <a:ln/>
        </p:spPr>
        <p:txBody>
          <a:bodyPr wrap="square" rtlCol="0" anchor="ctr"/>
          <a:lstStyle/>
          <a:p>
            <a:pPr indent="0" marL="0">
              <a:buNone/>
            </a:pPr>
            <a:r>
              <a:rPr lang="en-US" sz="1500" b="1" dirty="0">
                <a:solidFill>
                  <a:srgbClr val="E8EEF5"/>
                </a:solidFill>
                <a:latin typeface="Calibri" pitchFamily="34" charset="0"/>
                <a:ea typeface="Calibri" pitchFamily="34" charset="-122"/>
                <a:cs typeface="Calibri" pitchFamily="34" charset="-120"/>
              </a:rPr>
              <a:t>Orders &amp; entitlements</a:t>
            </a:r>
            <a:pPr indent="0" marL="0">
              <a:buNone/>
            </a:pPr>
            <a:r>
              <a:rPr lang="en-US" sz="1500" b="1" dirty="0">
                <a:solidFill>
                  <a:srgbClr val="6B8299"/>
                </a:solidFill>
                <a:latin typeface="Calibri" pitchFamily="34" charset="0"/>
                <a:ea typeface="Calibri" pitchFamily="34" charset="-122"/>
                <a:cs typeface="Calibri" pitchFamily="34" charset="-120"/>
              </a:rPr>
              <a:t>   /   </a:t>
            </a:r>
            <a:pPr indent="0" marL="0">
              <a:buNone/>
            </a:pPr>
            <a:r>
              <a:rPr lang="en-US" sz="1500" b="1" dirty="0">
                <a:solidFill>
                  <a:srgbClr val="F2A900"/>
                </a:solidFill>
                <a:latin typeface="Calibri" pitchFamily="34" charset="0"/>
                <a:ea typeface="Calibri" pitchFamily="34" charset="-122"/>
                <a:cs typeface="Calibri" pitchFamily="34" charset="-120"/>
              </a:rPr>
              <a:t>TDY vs. PCS</a:t>
            </a:r>
            <a:pPr indent="0" marL="0">
              <a:buNone/>
            </a:pPr>
            <a:r>
              <a:rPr lang="en-US" sz="1500" b="1" dirty="0">
                <a:solidFill>
                  <a:srgbClr val="6B8299"/>
                </a:solidFill>
                <a:latin typeface="Calibri" pitchFamily="34" charset="0"/>
                <a:ea typeface="Calibri" pitchFamily="34" charset="-122"/>
                <a:cs typeface="Calibri" pitchFamily="34" charset="-120"/>
              </a:rPr>
              <a:t>   /   </a:t>
            </a:r>
            <a:pPr indent="0" marL="0">
              <a:buNone/>
            </a:pPr>
            <a:r>
              <a:rPr lang="en-US" sz="1500" b="1" dirty="0">
                <a:solidFill>
                  <a:srgbClr val="3DD68C"/>
                </a:solidFill>
                <a:latin typeface="Calibri" pitchFamily="34" charset="0"/>
                <a:ea typeface="Calibri" pitchFamily="34" charset="-122"/>
                <a:cs typeface="Calibri" pitchFamily="34" charset="-120"/>
              </a:rPr>
              <a:t>GTCC &amp; DTS</a:t>
            </a:r>
            <a:pPr indent="0" marL="0">
              <a:buNone/>
            </a:pPr>
            <a:r>
              <a:rPr lang="en-US" sz="1500" b="1" dirty="0">
                <a:solidFill>
                  <a:srgbClr val="6B8299"/>
                </a:solidFill>
                <a:latin typeface="Calibri" pitchFamily="34" charset="0"/>
                <a:ea typeface="Calibri" pitchFamily="34" charset="-122"/>
                <a:cs typeface="Calibri" pitchFamily="34" charset="-120"/>
              </a:rPr>
              <a:t>   /   </a:t>
            </a:r>
            <a:pPr indent="0" marL="0">
              <a:buNone/>
            </a:pPr>
            <a:r>
              <a:rPr lang="en-US" sz="1500" b="1" dirty="0">
                <a:solidFill>
                  <a:srgbClr val="E8EEF5"/>
                </a:solidFill>
                <a:latin typeface="Calibri" pitchFamily="34" charset="0"/>
                <a:ea typeface="Calibri" pitchFamily="34" charset="-122"/>
                <a:cs typeface="Calibri" pitchFamily="34" charset="-120"/>
              </a:rPr>
              <a:t>In-processing &amp; packing</a:t>
            </a:r>
            <a:endParaRPr lang="en-US" sz="1500" dirty="0"/>
          </a:p>
        </p:txBody>
      </p:sp>
      <p:sp>
        <p:nvSpPr>
          <p:cNvPr id="29" name="Shape 27"/>
          <p:cNvSpPr/>
          <p:nvPr/>
        </p:nvSpPr>
        <p:spPr>
          <a:xfrm>
            <a:off x="640080" y="4572000"/>
            <a:ext cx="8138160" cy="868680"/>
          </a:xfrm>
          <a:prstGeom prst="roundRect">
            <a:avLst>
              <a:gd name="adj" fmla="val 8421"/>
            </a:avLst>
          </a:prstGeom>
          <a:solidFill>
            <a:srgbClr val="0F1D30"/>
          </a:solidFill>
          <a:ln w="12700">
            <a:solidFill>
              <a:srgbClr val="24384F"/>
            </a:solidFill>
            <a:prstDash val="solid"/>
          </a:ln>
        </p:spPr>
      </p:sp>
      <p:sp>
        <p:nvSpPr>
          <p:cNvPr id="30" name="Text 28"/>
          <p:cNvSpPr/>
          <p:nvPr/>
        </p:nvSpPr>
        <p:spPr>
          <a:xfrm>
            <a:off x="914400" y="4700016"/>
            <a:ext cx="7680960" cy="256032"/>
          </a:xfrm>
          <a:prstGeom prst="rect">
            <a:avLst/>
          </a:prstGeom>
          <a:noFill/>
          <a:ln/>
        </p:spPr>
        <p:txBody>
          <a:bodyPr wrap="square" rtlCol="0" anchor="ctr"/>
          <a:lstStyle/>
          <a:p>
            <a:pPr indent="0" marL="0">
              <a:buNone/>
            </a:pPr>
            <a:r>
              <a:rPr lang="en-US" sz="1000" b="1" spc="250" kern="0" dirty="0">
                <a:solidFill>
                  <a:srgbClr val="F2A900"/>
                </a:solidFill>
                <a:latin typeface="Calibri" pitchFamily="34" charset="0"/>
                <a:ea typeface="Calibri" pitchFamily="34" charset="-122"/>
                <a:cs typeface="Calibri" pitchFamily="34" charset="-120"/>
              </a:rPr>
              <a:t>CURRENT AS OF 2026</a:t>
            </a:r>
            <a:endParaRPr lang="en-US" sz="1000" dirty="0"/>
          </a:p>
        </p:txBody>
      </p:sp>
      <p:sp>
        <p:nvSpPr>
          <p:cNvPr id="31" name="Text 29"/>
          <p:cNvSpPr/>
          <p:nvPr/>
        </p:nvSpPr>
        <p:spPr>
          <a:xfrm>
            <a:off x="914400" y="4974336"/>
            <a:ext cx="7635240" cy="384048"/>
          </a:xfrm>
          <a:prstGeom prst="rect">
            <a:avLst/>
          </a:prstGeom>
          <a:noFill/>
          <a:ln/>
        </p:spPr>
        <p:txBody>
          <a:bodyPr wrap="square" rtlCol="0" anchor="t"/>
          <a:lstStyle/>
          <a:p>
            <a:pPr indent="0" marL="0">
              <a:buNone/>
            </a:pPr>
            <a:r>
              <a:rPr lang="en-US" sz="1050" dirty="0">
                <a:solidFill>
                  <a:srgbClr val="9FB3C8"/>
                </a:solidFill>
                <a:latin typeface="Calibri" pitchFamily="34" charset="0"/>
                <a:ea typeface="Calibri" pitchFamily="34" charset="-122"/>
                <a:cs typeface="Calibri" pitchFamily="34" charset="-120"/>
              </a:rPr>
              <a:t>JTR (May 2026 change)  ·  DoD GTCC Regulations (rev. 29 May 2026)  ·  DD Form 1610 (APR 2026)  ·  DTS Regulations (DoDI 5154.31, Vol. 3)</a:t>
            </a:r>
            <a:endParaRPr lang="en-US" sz="1050" dirty="0"/>
          </a:p>
        </p:txBody>
      </p:sp>
      <p:sp>
        <p:nvSpPr>
          <p:cNvPr id="32" name="Text 30"/>
          <p:cNvSpPr/>
          <p:nvPr/>
        </p:nvSpPr>
        <p:spPr>
          <a:xfrm>
            <a:off x="640080" y="5806440"/>
            <a:ext cx="10058400" cy="365760"/>
          </a:xfrm>
          <a:prstGeom prst="rect">
            <a:avLst/>
          </a:prstGeom>
          <a:noFill/>
          <a:ln/>
        </p:spPr>
        <p:txBody>
          <a:bodyPr wrap="square" rtlCol="0" anchor="ctr"/>
          <a:lstStyle/>
          <a:p>
            <a:pPr indent="0" marL="0">
              <a:buNone/>
            </a:pPr>
            <a:r>
              <a:rPr lang="en-US" sz="1250" dirty="0">
                <a:solidFill>
                  <a:srgbClr val="6B8299"/>
                </a:solidFill>
                <a:latin typeface="Calibri" pitchFamily="34" charset="0"/>
                <a:ea typeface="Calibri" pitchFamily="34" charset="-122"/>
                <a:cs typeface="Calibri" pitchFamily="34" charset="-120"/>
              </a:rPr>
              <a:t>U.S. Army Cyber School  ·  17E Electronic Warfare Specialist Pipeline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422"/>
        </a:solidFill>
      </p:bgPr>
    </p:bg>
    <p:spTree>
      <p:nvGrpSpPr>
        <p:cNvPr id="1" name=""/>
        <p:cNvGrpSpPr/>
        <p:nvPr/>
      </p:nvGrpSpPr>
      <p:grpSpPr>
        <a:xfrm>
          <a:off x="0" y="0"/>
          <a:ext cx="0" cy="0"/>
          <a:chOff x="0" y="0"/>
          <a:chExt cx="0" cy="0"/>
        </a:xfrm>
      </p:grpSpPr>
      <p:sp>
        <p:nvSpPr>
          <p:cNvPr id="2" name="Shape 0"/>
          <p:cNvSpPr/>
          <p:nvPr/>
        </p:nvSpPr>
        <p:spPr>
          <a:xfrm>
            <a:off x="640080" y="457200"/>
            <a:ext cx="310896" cy="0"/>
          </a:xfrm>
          <a:prstGeom prst="line">
            <a:avLst/>
          </a:prstGeom>
          <a:noFill/>
          <a:ln w="25400">
            <a:solidFill>
              <a:srgbClr val="2DD4E0"/>
            </a:solidFill>
            <a:prstDash val="solid"/>
          </a:ln>
        </p:spPr>
      </p:sp>
      <p:sp>
        <p:nvSpPr>
          <p:cNvPr id="3" name="Shape 1"/>
          <p:cNvSpPr/>
          <p:nvPr/>
        </p:nvSpPr>
        <p:spPr>
          <a:xfrm>
            <a:off x="640080" y="457200"/>
            <a:ext cx="0" cy="310896"/>
          </a:xfrm>
          <a:prstGeom prst="line">
            <a:avLst/>
          </a:prstGeom>
          <a:noFill/>
          <a:ln w="25400">
            <a:solidFill>
              <a:srgbClr val="2DD4E0"/>
            </a:solidFill>
            <a:prstDash val="solid"/>
          </a:ln>
        </p:spPr>
      </p:sp>
      <p:sp>
        <p:nvSpPr>
          <p:cNvPr id="4" name="Text 2"/>
          <p:cNvSpPr/>
          <p:nvPr/>
        </p:nvSpPr>
        <p:spPr>
          <a:xfrm>
            <a:off x="1097280" y="420624"/>
            <a:ext cx="10058400" cy="274320"/>
          </a:xfrm>
          <a:prstGeom prst="rect">
            <a:avLst/>
          </a:prstGeom>
          <a:noFill/>
          <a:ln/>
        </p:spPr>
        <p:txBody>
          <a:bodyPr wrap="square" rtlCol="0" anchor="ctr"/>
          <a:lstStyle/>
          <a:p>
            <a:pPr indent="0" marL="0">
              <a:buNone/>
            </a:pPr>
            <a:r>
              <a:rPr lang="en-US" sz="1150" b="1" spc="350" kern="0" dirty="0">
                <a:solidFill>
                  <a:srgbClr val="2DD4E0"/>
                </a:solidFill>
                <a:latin typeface="Calibri" pitchFamily="34" charset="0"/>
                <a:ea typeface="Calibri" pitchFamily="34" charset="-122"/>
                <a:cs typeface="Calibri" pitchFamily="34" charset="-120"/>
              </a:rPr>
              <a:t>THE BASICS</a:t>
            </a:r>
            <a:endParaRPr lang="en-US" sz="1150" dirty="0"/>
          </a:p>
        </p:txBody>
      </p:sp>
      <p:sp>
        <p:nvSpPr>
          <p:cNvPr id="5" name="Text 3"/>
          <p:cNvSpPr/>
          <p:nvPr/>
        </p:nvSpPr>
        <p:spPr>
          <a:xfrm>
            <a:off x="640080" y="713232"/>
            <a:ext cx="10972800" cy="7772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TDY to a School Means</a:t>
            </a:r>
            <a:endParaRPr lang="en-US" sz="3000" dirty="0"/>
          </a:p>
        </p:txBody>
      </p:sp>
      <p:sp>
        <p:nvSpPr>
          <p:cNvPr id="6" name="Text 4"/>
          <p:cNvSpPr/>
          <p:nvPr/>
        </p:nvSpPr>
        <p:spPr>
          <a:xfrm>
            <a:off x="640080" y="1600200"/>
            <a:ext cx="5532120" cy="1554480"/>
          </a:xfrm>
          <a:prstGeom prst="rect">
            <a:avLst/>
          </a:prstGeom>
          <a:noFill/>
          <a:ln/>
        </p:spPr>
        <p:txBody>
          <a:bodyPr wrap="square" rtlCol="0" anchor="t"/>
          <a:lstStyle/>
          <a:p>
            <a:pPr indent="0" marL="0">
              <a:lnSpc>
                <a:spcPct val="132000"/>
              </a:lnSpc>
              <a:buNone/>
            </a:pPr>
            <a:r>
              <a:rPr lang="en-US" sz="1500" b="1" dirty="0">
                <a:solidFill>
                  <a:srgbClr val="2DD4E0"/>
                </a:solidFill>
                <a:latin typeface="Calibri" pitchFamily="34" charset="0"/>
                <a:ea typeface="Calibri" pitchFamily="34" charset="-122"/>
                <a:cs typeface="Calibri" pitchFamily="34" charset="-120"/>
              </a:rPr>
              <a:t>Temporary Duty (TDY) </a:t>
            </a:r>
            <a:pPr indent="0" marL="0">
              <a:lnSpc>
                <a:spcPct val="132000"/>
              </a:lnSpc>
              <a:buNone/>
            </a:pPr>
            <a:r>
              <a:rPr lang="en-US" sz="1500" dirty="0">
                <a:solidFill>
                  <a:srgbClr val="E8EEF5"/>
                </a:solidFill>
                <a:latin typeface="Calibri" pitchFamily="34" charset="0"/>
                <a:ea typeface="Calibri" pitchFamily="34" charset="-122"/>
                <a:cs typeface="Calibri" pitchFamily="34" charset="-120"/>
              </a:rPr>
              <a:t>is a short-term move from your permanent duty station (PDS) to attend an institutional course, with an expectation of returning to your PDS when it ends. Your unit stays your unit — you're detailed to the schoolhouse for the class duration.</a:t>
            </a:r>
            <a:endParaRPr lang="en-US" sz="1500" dirty="0"/>
          </a:p>
        </p:txBody>
      </p:sp>
      <p:sp>
        <p:nvSpPr>
          <p:cNvPr id="7" name="Shape 5"/>
          <p:cNvSpPr/>
          <p:nvPr/>
        </p:nvSpPr>
        <p:spPr>
          <a:xfrm>
            <a:off x="6400800" y="1536192"/>
            <a:ext cx="5138928" cy="1280160"/>
          </a:xfrm>
          <a:prstGeom prst="roundRect">
            <a:avLst>
              <a:gd name="adj" fmla="val 5714"/>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8" name="Shape 6"/>
          <p:cNvSpPr/>
          <p:nvPr/>
        </p:nvSpPr>
        <p:spPr>
          <a:xfrm>
            <a:off x="6400800" y="1536192"/>
            <a:ext cx="82296" cy="1280160"/>
          </a:xfrm>
          <a:prstGeom prst="roundRect">
            <a:avLst>
              <a:gd name="adj" fmla="val 44444"/>
            </a:avLst>
          </a:prstGeom>
          <a:solidFill>
            <a:srgbClr val="2DD4E0"/>
          </a:solidFill>
          <a:ln/>
        </p:spPr>
      </p:sp>
      <p:sp>
        <p:nvSpPr>
          <p:cNvPr id="9" name="Text 7"/>
          <p:cNvSpPr/>
          <p:nvPr/>
        </p:nvSpPr>
        <p:spPr>
          <a:xfrm>
            <a:off x="6656832" y="1664208"/>
            <a:ext cx="4754880" cy="320040"/>
          </a:xfrm>
          <a:prstGeom prst="rect">
            <a:avLst/>
          </a:prstGeom>
          <a:noFill/>
          <a:ln/>
        </p:spPr>
        <p:txBody>
          <a:bodyPr wrap="square" rtlCol="0" anchor="ctr"/>
          <a:lstStyle/>
          <a:p>
            <a:pPr indent="0" marL="0">
              <a:buNone/>
            </a:pPr>
            <a:r>
              <a:rPr lang="en-US" sz="1450" b="1" dirty="0">
                <a:solidFill>
                  <a:srgbClr val="2DD4E0"/>
                </a:solidFill>
                <a:latin typeface="Cambria" pitchFamily="34" charset="0"/>
                <a:ea typeface="Cambria" pitchFamily="34" charset="-122"/>
                <a:cs typeface="Cambria" pitchFamily="34" charset="-120"/>
              </a:rPr>
              <a:t>Governing authority</a:t>
            </a:r>
            <a:endParaRPr lang="en-US" sz="1450" dirty="0"/>
          </a:p>
        </p:txBody>
      </p:sp>
      <p:sp>
        <p:nvSpPr>
          <p:cNvPr id="10" name="Text 8"/>
          <p:cNvSpPr/>
          <p:nvPr/>
        </p:nvSpPr>
        <p:spPr>
          <a:xfrm>
            <a:off x="6656832" y="1993392"/>
            <a:ext cx="4754880" cy="777240"/>
          </a:xfrm>
          <a:prstGeom prst="rect">
            <a:avLst/>
          </a:prstGeom>
          <a:noFill/>
          <a:ln/>
        </p:spPr>
        <p:txBody>
          <a:bodyPr wrap="square" rtlCol="0" anchor="t"/>
          <a:lstStyle/>
          <a:p>
            <a:pPr indent="0" marL="0">
              <a:lnSpc>
                <a:spcPct val="115000"/>
              </a:lnSpc>
              <a:buNone/>
            </a:pPr>
            <a:r>
              <a:rPr lang="en-US" sz="1200" dirty="0">
                <a:solidFill>
                  <a:srgbClr val="9FB3C8"/>
                </a:solidFill>
                <a:latin typeface="Calibri" pitchFamily="34" charset="0"/>
                <a:ea typeface="Calibri" pitchFamily="34" charset="-122"/>
                <a:cs typeface="Calibri" pitchFamily="34" charset="-120"/>
              </a:rPr>
              <a:t>The Joint Travel Regulations (JTR) carry the force of law for DoD travelers. TDY entitlements are in JTR Chapters 2–3.</a:t>
            </a:r>
            <a:endParaRPr lang="en-US" sz="1200" dirty="0"/>
          </a:p>
        </p:txBody>
      </p:sp>
      <p:sp>
        <p:nvSpPr>
          <p:cNvPr id="11" name="Shape 9"/>
          <p:cNvSpPr/>
          <p:nvPr/>
        </p:nvSpPr>
        <p:spPr>
          <a:xfrm>
            <a:off x="6400800" y="2953512"/>
            <a:ext cx="5138928" cy="1280160"/>
          </a:xfrm>
          <a:prstGeom prst="roundRect">
            <a:avLst>
              <a:gd name="adj" fmla="val 5714"/>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12" name="Shape 10"/>
          <p:cNvSpPr/>
          <p:nvPr/>
        </p:nvSpPr>
        <p:spPr>
          <a:xfrm>
            <a:off x="6400800" y="2953512"/>
            <a:ext cx="82296" cy="1280160"/>
          </a:xfrm>
          <a:prstGeom prst="roundRect">
            <a:avLst>
              <a:gd name="adj" fmla="val 44444"/>
            </a:avLst>
          </a:prstGeom>
          <a:solidFill>
            <a:srgbClr val="F2A900"/>
          </a:solidFill>
          <a:ln/>
        </p:spPr>
      </p:sp>
      <p:sp>
        <p:nvSpPr>
          <p:cNvPr id="13" name="Text 11"/>
          <p:cNvSpPr/>
          <p:nvPr/>
        </p:nvSpPr>
        <p:spPr>
          <a:xfrm>
            <a:off x="6656832" y="3081528"/>
            <a:ext cx="4754880" cy="320040"/>
          </a:xfrm>
          <a:prstGeom prst="rect">
            <a:avLst/>
          </a:prstGeom>
          <a:noFill/>
          <a:ln/>
        </p:spPr>
        <p:txBody>
          <a:bodyPr wrap="square" rtlCol="0" anchor="ctr"/>
          <a:lstStyle/>
          <a:p>
            <a:pPr indent="0" marL="0">
              <a:buNone/>
            </a:pPr>
            <a:r>
              <a:rPr lang="en-US" sz="1450" b="1" dirty="0">
                <a:solidFill>
                  <a:srgbClr val="F2A900"/>
                </a:solidFill>
                <a:latin typeface="Cambria" pitchFamily="34" charset="0"/>
                <a:ea typeface="Cambria" pitchFamily="34" charset="-122"/>
                <a:cs typeface="Cambria" pitchFamily="34" charset="-120"/>
              </a:rPr>
              <a:t>The order</a:t>
            </a:r>
            <a:endParaRPr lang="en-US" sz="1450" dirty="0"/>
          </a:p>
        </p:txBody>
      </p:sp>
      <p:sp>
        <p:nvSpPr>
          <p:cNvPr id="14" name="Text 12"/>
          <p:cNvSpPr/>
          <p:nvPr/>
        </p:nvSpPr>
        <p:spPr>
          <a:xfrm>
            <a:off x="6656832" y="3410712"/>
            <a:ext cx="4754880" cy="777240"/>
          </a:xfrm>
          <a:prstGeom prst="rect">
            <a:avLst/>
          </a:prstGeom>
          <a:noFill/>
          <a:ln/>
        </p:spPr>
        <p:txBody>
          <a:bodyPr wrap="square" rtlCol="0" anchor="t"/>
          <a:lstStyle/>
          <a:p>
            <a:pPr indent="0" marL="0">
              <a:lnSpc>
                <a:spcPct val="115000"/>
              </a:lnSpc>
              <a:buNone/>
            </a:pPr>
            <a:r>
              <a:rPr lang="en-US" sz="1200" dirty="0">
                <a:solidFill>
                  <a:srgbClr val="9FB3C8"/>
                </a:solidFill>
                <a:latin typeface="Calibri" pitchFamily="34" charset="0"/>
                <a:ea typeface="Calibri" pitchFamily="34" charset="-122"/>
                <a:cs typeface="Calibri" pitchFamily="34" charset="-120"/>
              </a:rPr>
              <a:t>A DTS-generated authorization or a DD Form 1610 (APR 2026). No valid, funded order means no travel and no reimbursement.</a:t>
            </a:r>
            <a:endParaRPr lang="en-US" sz="1200" dirty="0"/>
          </a:p>
        </p:txBody>
      </p:sp>
      <p:sp>
        <p:nvSpPr>
          <p:cNvPr id="15" name="Shape 13"/>
          <p:cNvSpPr/>
          <p:nvPr/>
        </p:nvSpPr>
        <p:spPr>
          <a:xfrm>
            <a:off x="6400800" y="4370832"/>
            <a:ext cx="5138928" cy="1280160"/>
          </a:xfrm>
          <a:prstGeom prst="roundRect">
            <a:avLst>
              <a:gd name="adj" fmla="val 5714"/>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16" name="Shape 14"/>
          <p:cNvSpPr/>
          <p:nvPr/>
        </p:nvSpPr>
        <p:spPr>
          <a:xfrm>
            <a:off x="6400800" y="4370832"/>
            <a:ext cx="82296" cy="1280160"/>
          </a:xfrm>
          <a:prstGeom prst="roundRect">
            <a:avLst>
              <a:gd name="adj" fmla="val 44444"/>
            </a:avLst>
          </a:prstGeom>
          <a:solidFill>
            <a:srgbClr val="3DD68C"/>
          </a:solidFill>
          <a:ln/>
        </p:spPr>
      </p:sp>
      <p:sp>
        <p:nvSpPr>
          <p:cNvPr id="17" name="Text 15"/>
          <p:cNvSpPr/>
          <p:nvPr/>
        </p:nvSpPr>
        <p:spPr>
          <a:xfrm>
            <a:off x="6656832" y="4498848"/>
            <a:ext cx="4754880" cy="320040"/>
          </a:xfrm>
          <a:prstGeom prst="rect">
            <a:avLst/>
          </a:prstGeom>
          <a:noFill/>
          <a:ln/>
        </p:spPr>
        <p:txBody>
          <a:bodyPr wrap="square" rtlCol="0" anchor="ctr"/>
          <a:lstStyle/>
          <a:p>
            <a:pPr indent="0" marL="0">
              <a:buNone/>
            </a:pPr>
            <a:r>
              <a:rPr lang="en-US" sz="1450" b="1" dirty="0">
                <a:solidFill>
                  <a:srgbClr val="3DD68C"/>
                </a:solidFill>
                <a:latin typeface="Cambria" pitchFamily="34" charset="0"/>
                <a:ea typeface="Cambria" pitchFamily="34" charset="-122"/>
                <a:cs typeface="Cambria" pitchFamily="34" charset="-120"/>
              </a:rPr>
              <a:t>The 180-day line</a:t>
            </a:r>
            <a:endParaRPr lang="en-US" sz="1450" dirty="0"/>
          </a:p>
        </p:txBody>
      </p:sp>
      <p:sp>
        <p:nvSpPr>
          <p:cNvPr id="18" name="Text 16"/>
          <p:cNvSpPr/>
          <p:nvPr/>
        </p:nvSpPr>
        <p:spPr>
          <a:xfrm>
            <a:off x="6656832" y="4828032"/>
            <a:ext cx="4754880" cy="777240"/>
          </a:xfrm>
          <a:prstGeom prst="rect">
            <a:avLst/>
          </a:prstGeom>
          <a:noFill/>
          <a:ln/>
        </p:spPr>
        <p:txBody>
          <a:bodyPr wrap="square" rtlCol="0" anchor="t"/>
          <a:lstStyle/>
          <a:p>
            <a:pPr indent="0" marL="0">
              <a:lnSpc>
                <a:spcPct val="115000"/>
              </a:lnSpc>
              <a:buNone/>
            </a:pPr>
            <a:r>
              <a:rPr lang="en-US" sz="1200" dirty="0">
                <a:solidFill>
                  <a:srgbClr val="9FB3C8"/>
                </a:solidFill>
                <a:latin typeface="Calibri" pitchFamily="34" charset="0"/>
                <a:ea typeface="Calibri" pitchFamily="34" charset="-122"/>
                <a:cs typeface="Calibri" pitchFamily="34" charset="-120"/>
              </a:rPr>
              <a:t>TDY of 181+ consecutive days at one location needs Secretarial-Process approval first, or per diem stops on day 181.</a:t>
            </a:r>
            <a:endParaRPr lang="en-US" sz="1200" dirty="0"/>
          </a:p>
        </p:txBody>
      </p:sp>
      <p:sp>
        <p:nvSpPr>
          <p:cNvPr id="19" name="Shape 17"/>
          <p:cNvSpPr/>
          <p:nvPr/>
        </p:nvSpPr>
        <p:spPr>
          <a:xfrm>
            <a:off x="640080" y="3429000"/>
            <a:ext cx="5532120" cy="2148840"/>
          </a:xfrm>
          <a:prstGeom prst="roundRect">
            <a:avLst>
              <a:gd name="adj" fmla="val 3404"/>
            </a:avLst>
          </a:prstGeom>
          <a:solidFill>
            <a:srgbClr val="0F1D30"/>
          </a:solidFill>
          <a:ln w="15875">
            <a:solidFill>
              <a:srgbClr val="2DD4E0"/>
            </a:solidFill>
            <a:prstDash val="solid"/>
          </a:ln>
          <a:effectLst>
            <a:outerShdw sx="100000" sy="100000" kx="0" ky="0" algn="bl" rotWithShape="0" blurRad="101600" dist="38100" dir="5400000">
              <a:srgbClr val="000000">
                <a:alpha val="28000"/>
              </a:srgbClr>
            </a:outerShdw>
          </a:effectLst>
        </p:spPr>
      </p:sp>
      <p:sp>
        <p:nvSpPr>
          <p:cNvPr id="20" name="Shape 18"/>
          <p:cNvSpPr/>
          <p:nvPr/>
        </p:nvSpPr>
        <p:spPr>
          <a:xfrm>
            <a:off x="896112" y="3685032"/>
            <a:ext cx="475488" cy="475488"/>
          </a:xfrm>
          <a:prstGeom prst="ellipse">
            <a:avLst/>
          </a:prstGeom>
          <a:solidFill>
            <a:srgbClr val="2DD4E0"/>
          </a:solidFill>
          <a:ln/>
          <a:effectLst>
            <a:outerShdw sx="100000" sy="100000" kx="0" ky="0" algn="bl" rotWithShape="0" blurRad="101600" dist="38100" dir="5400000">
              <a:srgbClr val="000000">
                <a:alpha val="28000"/>
              </a:srgbClr>
            </a:outerShdw>
          </a:effectLst>
        </p:spPr>
      </p:sp>
      <p:sp>
        <p:nvSpPr>
          <p:cNvPr id="21" name="Text 19"/>
          <p:cNvSpPr/>
          <p:nvPr/>
        </p:nvSpPr>
        <p:spPr>
          <a:xfrm>
            <a:off x="896112" y="3685032"/>
            <a:ext cx="475488" cy="475488"/>
          </a:xfrm>
          <a:prstGeom prst="rect">
            <a:avLst/>
          </a:prstGeom>
          <a:noFill/>
          <a:ln/>
        </p:spPr>
        <p:txBody>
          <a:bodyPr wrap="square" rtlCol="0" anchor="ctr"/>
          <a:lstStyle/>
          <a:p>
            <a:pPr algn="ctr" indent="0" marL="0">
              <a:buNone/>
            </a:pPr>
            <a:r>
              <a:rPr lang="en-US" sz="1144" b="1" dirty="0">
                <a:solidFill>
                  <a:srgbClr val="0A1422"/>
                </a:solidFill>
                <a:latin typeface="Cambria" pitchFamily="34" charset="0"/>
                <a:ea typeface="Cambria" pitchFamily="34" charset="-122"/>
                <a:cs typeface="Cambria" pitchFamily="34" charset="-120"/>
              </a:rPr>
              <a:t>!</a:t>
            </a:r>
            <a:endParaRPr lang="en-US" sz="1144" dirty="0"/>
          </a:p>
        </p:txBody>
      </p:sp>
      <p:sp>
        <p:nvSpPr>
          <p:cNvPr id="22" name="Text 20"/>
          <p:cNvSpPr/>
          <p:nvPr/>
        </p:nvSpPr>
        <p:spPr>
          <a:xfrm>
            <a:off x="1554480" y="3703320"/>
            <a:ext cx="4389120" cy="411480"/>
          </a:xfrm>
          <a:prstGeom prst="rect">
            <a:avLst/>
          </a:prstGeom>
          <a:noFill/>
          <a:ln/>
        </p:spPr>
        <p:txBody>
          <a:bodyPr wrap="square" rtlCol="0" anchor="ctr"/>
          <a:lstStyle/>
          <a:p>
            <a:pPr indent="0" marL="0">
              <a:buNone/>
            </a:pPr>
            <a:r>
              <a:rPr lang="en-US" sz="1500" b="1" dirty="0">
                <a:solidFill>
                  <a:srgbClr val="2DD4E0"/>
                </a:solidFill>
                <a:latin typeface="Cambria" pitchFamily="34" charset="0"/>
                <a:ea typeface="Cambria" pitchFamily="34" charset="-122"/>
                <a:cs typeface="Cambria" pitchFamily="34" charset="-120"/>
              </a:rPr>
              <a:t>First thing to know</a:t>
            </a:r>
            <a:endParaRPr lang="en-US" sz="1500" dirty="0"/>
          </a:p>
        </p:txBody>
      </p:sp>
      <p:sp>
        <p:nvSpPr>
          <p:cNvPr id="23" name="Text 21"/>
          <p:cNvSpPr/>
          <p:nvPr/>
        </p:nvSpPr>
        <p:spPr>
          <a:xfrm>
            <a:off x="896112" y="4279392"/>
            <a:ext cx="5029200" cy="1188720"/>
          </a:xfrm>
          <a:prstGeom prst="rect">
            <a:avLst/>
          </a:prstGeom>
          <a:noFill/>
          <a:ln/>
        </p:spPr>
        <p:txBody>
          <a:bodyPr wrap="square" rtlCol="0" anchor="t"/>
          <a:lstStyle/>
          <a:p>
            <a:pPr indent="0" marL="0">
              <a:lnSpc>
                <a:spcPct val="128000"/>
              </a:lnSpc>
              <a:buNone/>
            </a:pPr>
            <a:r>
              <a:rPr lang="en-US" sz="1300" b="1" dirty="0">
                <a:solidFill>
                  <a:srgbClr val="E8EEF5"/>
                </a:solidFill>
                <a:latin typeface="Calibri" pitchFamily="34" charset="0"/>
                <a:ea typeface="Calibri" pitchFamily="34" charset="-122"/>
                <a:cs typeface="Calibri" pitchFamily="34" charset="-120"/>
              </a:rPr>
              <a:t>If you live within 50 miles of the schoolhouse</a:t>
            </a:r>
            <a:pPr indent="0" marL="0">
              <a:lnSpc>
                <a:spcPct val="128000"/>
              </a:lnSpc>
              <a:buNone/>
            </a:pPr>
            <a:r>
              <a:rPr lang="en-US" sz="1300" dirty="0">
                <a:solidFill>
                  <a:srgbClr val="9FB3C8"/>
                </a:solidFill>
                <a:latin typeface="Calibri" pitchFamily="34" charset="0"/>
                <a:ea typeface="Calibri" pitchFamily="34" charset="-122"/>
                <a:cs typeface="Calibri" pitchFamily="34" charset="-120"/>
              </a:rPr>
              <a:t>, you commute — no per diem and no billeting. Many courses enforce this radius rule, so confirm your status before planning lodging or a hotel.</a:t>
            </a:r>
            <a:endParaRPr lang="en-US" sz="1300" dirty="0"/>
          </a:p>
        </p:txBody>
      </p:sp>
      <p:sp>
        <p:nvSpPr>
          <p:cNvPr id="24" name="Shape 22"/>
          <p:cNvSpPr/>
          <p:nvPr/>
        </p:nvSpPr>
        <p:spPr>
          <a:xfrm>
            <a:off x="640080" y="6355080"/>
            <a:ext cx="10908792" cy="0"/>
          </a:xfrm>
          <a:prstGeom prst="line">
            <a:avLst/>
          </a:prstGeom>
          <a:noFill/>
          <a:ln w="9525">
            <a:solidFill>
              <a:srgbClr val="24384F"/>
            </a:solidFill>
            <a:prstDash val="solid"/>
          </a:ln>
        </p:spPr>
      </p:sp>
      <p:sp>
        <p:nvSpPr>
          <p:cNvPr id="25" name="Text 23"/>
          <p:cNvSpPr/>
          <p:nvPr/>
        </p:nvSpPr>
        <p:spPr>
          <a:xfrm>
            <a:off x="640080" y="6400800"/>
            <a:ext cx="7315200" cy="274320"/>
          </a:xfrm>
          <a:prstGeom prst="rect">
            <a:avLst/>
          </a:prstGeom>
          <a:noFill/>
          <a:ln/>
        </p:spPr>
        <p:txBody>
          <a:bodyPr wrap="square" rtlCol="0" anchor="ctr"/>
          <a:lstStyle/>
          <a:p>
            <a:pPr algn="l" indent="0" marL="0">
              <a:buNone/>
            </a:pPr>
            <a:r>
              <a:rPr lang="en-US" sz="850" dirty="0">
                <a:solidFill>
                  <a:srgbClr val="6B8299"/>
                </a:solidFill>
                <a:latin typeface="Calibri" pitchFamily="34" charset="0"/>
                <a:ea typeface="Calibri" pitchFamily="34" charset="-122"/>
                <a:cs typeface="Calibri" pitchFamily="34" charset="-120"/>
              </a:rPr>
              <a:t>112-17E10E  ·  Electronic Warfare Specialist Course</a:t>
            </a:r>
            <a:endParaRPr lang="en-US" sz="850" dirty="0"/>
          </a:p>
        </p:txBody>
      </p:sp>
      <p:sp>
        <p:nvSpPr>
          <p:cNvPr id="26" name="Text 24"/>
          <p:cNvSpPr/>
          <p:nvPr/>
        </p:nvSpPr>
        <p:spPr>
          <a:xfrm>
            <a:off x="8165592" y="6400800"/>
            <a:ext cx="2834640" cy="274320"/>
          </a:xfrm>
          <a:prstGeom prst="rect">
            <a:avLst/>
          </a:prstGeom>
          <a:noFill/>
          <a:ln/>
        </p:spPr>
        <p:txBody>
          <a:bodyPr wrap="square" rtlCol="0" anchor="ctr"/>
          <a:lstStyle/>
          <a:p>
            <a:pPr algn="r" indent="0" marL="0">
              <a:buNone/>
            </a:pPr>
            <a:r>
              <a:rPr lang="en-US" sz="850" spc="150" kern="0" dirty="0">
                <a:solidFill>
                  <a:srgbClr val="6B8299"/>
                </a:solidFill>
                <a:latin typeface="Calibri" pitchFamily="34" charset="0"/>
                <a:ea typeface="Calibri" pitchFamily="34" charset="-122"/>
                <a:cs typeface="Calibri" pitchFamily="34" charset="-120"/>
              </a:rPr>
              <a:t>U.S. ARMY CYBER SCHOOL</a:t>
            </a:r>
            <a:endParaRPr lang="en-US" sz="850" dirty="0"/>
          </a:p>
        </p:txBody>
      </p:sp>
      <p:sp>
        <p:nvSpPr>
          <p:cNvPr id="27" name="Text 25"/>
          <p:cNvSpPr/>
          <p:nvPr/>
        </p:nvSpPr>
        <p:spPr>
          <a:xfrm>
            <a:off x="11137392" y="6382512"/>
            <a:ext cx="411480" cy="292608"/>
          </a:xfrm>
          <a:prstGeom prst="rect">
            <a:avLst/>
          </a:prstGeom>
          <a:noFill/>
          <a:ln/>
        </p:spPr>
        <p:txBody>
          <a:bodyPr wrap="square" rtlCol="0" anchor="ctr"/>
          <a:lstStyle/>
          <a:p>
            <a:pPr algn="r" indent="0" marL="0">
              <a:buNone/>
            </a:pPr>
            <a:r>
              <a:rPr lang="en-US" sz="1100" b="1" dirty="0">
                <a:solidFill>
                  <a:srgbClr val="2DD4E0"/>
                </a:solidFill>
                <a:latin typeface="Cambria" pitchFamily="34" charset="0"/>
                <a:ea typeface="Cambria" pitchFamily="34" charset="-122"/>
                <a:cs typeface="Cambria"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422"/>
        </a:solidFill>
      </p:bgPr>
    </p:bg>
    <p:spTree>
      <p:nvGrpSpPr>
        <p:cNvPr id="1" name=""/>
        <p:cNvGrpSpPr/>
        <p:nvPr/>
      </p:nvGrpSpPr>
      <p:grpSpPr>
        <a:xfrm>
          <a:off x="0" y="0"/>
          <a:ext cx="0" cy="0"/>
          <a:chOff x="0" y="0"/>
          <a:chExt cx="0" cy="0"/>
        </a:xfrm>
      </p:grpSpPr>
      <p:sp>
        <p:nvSpPr>
          <p:cNvPr id="2" name="Shape 0"/>
          <p:cNvSpPr/>
          <p:nvPr/>
        </p:nvSpPr>
        <p:spPr>
          <a:xfrm>
            <a:off x="640080" y="457200"/>
            <a:ext cx="310896" cy="0"/>
          </a:xfrm>
          <a:prstGeom prst="line">
            <a:avLst/>
          </a:prstGeom>
          <a:noFill/>
          <a:ln w="25400">
            <a:solidFill>
              <a:srgbClr val="F2A900"/>
            </a:solidFill>
            <a:prstDash val="solid"/>
          </a:ln>
        </p:spPr>
      </p:sp>
      <p:sp>
        <p:nvSpPr>
          <p:cNvPr id="3" name="Shape 1"/>
          <p:cNvSpPr/>
          <p:nvPr/>
        </p:nvSpPr>
        <p:spPr>
          <a:xfrm>
            <a:off x="640080" y="457200"/>
            <a:ext cx="0" cy="310896"/>
          </a:xfrm>
          <a:prstGeom prst="line">
            <a:avLst/>
          </a:prstGeom>
          <a:noFill/>
          <a:ln w="25400">
            <a:solidFill>
              <a:srgbClr val="F2A900"/>
            </a:solidFill>
            <a:prstDash val="solid"/>
          </a:ln>
        </p:spPr>
      </p:sp>
      <p:sp>
        <p:nvSpPr>
          <p:cNvPr id="4" name="Text 2"/>
          <p:cNvSpPr/>
          <p:nvPr/>
        </p:nvSpPr>
        <p:spPr>
          <a:xfrm>
            <a:off x="1097280" y="420624"/>
            <a:ext cx="10058400" cy="274320"/>
          </a:xfrm>
          <a:prstGeom prst="rect">
            <a:avLst/>
          </a:prstGeom>
          <a:noFill/>
          <a:ln/>
        </p:spPr>
        <p:txBody>
          <a:bodyPr wrap="square" rtlCol="0" anchor="ctr"/>
          <a:lstStyle/>
          <a:p>
            <a:pPr indent="0" marL="0">
              <a:buNone/>
            </a:pPr>
            <a:r>
              <a:rPr lang="en-US" sz="1150" b="1" spc="350" kern="0" dirty="0">
                <a:solidFill>
                  <a:srgbClr val="F2A900"/>
                </a:solidFill>
                <a:latin typeface="Calibri" pitchFamily="34" charset="0"/>
                <a:ea typeface="Calibri" pitchFamily="34" charset="-122"/>
                <a:cs typeface="Calibri" pitchFamily="34" charset="-120"/>
              </a:rPr>
              <a:t>KNOW THE DIFFERENCE</a:t>
            </a:r>
            <a:endParaRPr lang="en-US" sz="1150" dirty="0"/>
          </a:p>
        </p:txBody>
      </p:sp>
      <p:sp>
        <p:nvSpPr>
          <p:cNvPr id="5" name="Text 3"/>
          <p:cNvSpPr/>
          <p:nvPr/>
        </p:nvSpPr>
        <p:spPr>
          <a:xfrm>
            <a:off x="640080" y="713232"/>
            <a:ext cx="10972800" cy="7772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TDY vs. PCS</a:t>
            </a:r>
            <a:endParaRPr lang="en-US" sz="3000" dirty="0"/>
          </a:p>
        </p:txBody>
      </p:sp>
      <p:sp>
        <p:nvSpPr>
          <p:cNvPr id="6" name="Text 4"/>
          <p:cNvSpPr/>
          <p:nvPr/>
        </p:nvSpPr>
        <p:spPr>
          <a:xfrm>
            <a:off x="640080" y="1481328"/>
            <a:ext cx="10972800" cy="457200"/>
          </a:xfrm>
          <a:prstGeom prst="rect">
            <a:avLst/>
          </a:prstGeom>
          <a:noFill/>
          <a:ln/>
        </p:spPr>
        <p:txBody>
          <a:bodyPr wrap="square" rtlCol="0" anchor="t"/>
          <a:lstStyle/>
          <a:p>
            <a:pPr indent="0" marL="0">
              <a:buNone/>
            </a:pPr>
            <a:r>
              <a:rPr lang="en-US" sz="1350" i="1" dirty="0">
                <a:solidFill>
                  <a:srgbClr val="9FB3C8"/>
                </a:solidFill>
                <a:latin typeface="Calibri" pitchFamily="34" charset="0"/>
                <a:ea typeface="Calibri" pitchFamily="34" charset="-122"/>
                <a:cs typeface="Calibri" pitchFamily="34" charset="-120"/>
              </a:rPr>
              <a:t>Both move you somewhere on orders — but the intent, paperwork, and money are completely different. For a school, you are almost always TDY.</a:t>
            </a:r>
            <a:endParaRPr lang="en-US" sz="1350" dirty="0"/>
          </a:p>
        </p:txBody>
      </p:sp>
      <p:sp>
        <p:nvSpPr>
          <p:cNvPr id="7" name="Shape 5"/>
          <p:cNvSpPr/>
          <p:nvPr/>
        </p:nvSpPr>
        <p:spPr>
          <a:xfrm>
            <a:off x="640080" y="2011680"/>
            <a:ext cx="3456432" cy="502920"/>
          </a:xfrm>
          <a:prstGeom prst="roundRect">
            <a:avLst>
              <a:gd name="adj" fmla="val 9091"/>
            </a:avLst>
          </a:prstGeom>
          <a:solidFill>
            <a:srgbClr val="0F1D30"/>
          </a:solidFill>
          <a:ln w="12700">
            <a:solidFill>
              <a:srgbClr val="24384F"/>
            </a:solidFill>
            <a:prstDash val="solid"/>
          </a:ln>
        </p:spPr>
      </p:sp>
      <p:sp>
        <p:nvSpPr>
          <p:cNvPr id="8" name="Text 6"/>
          <p:cNvSpPr/>
          <p:nvPr/>
        </p:nvSpPr>
        <p:spPr>
          <a:xfrm>
            <a:off x="804672" y="2011680"/>
            <a:ext cx="3182112" cy="502920"/>
          </a:xfrm>
          <a:prstGeom prst="rect">
            <a:avLst/>
          </a:prstGeom>
          <a:noFill/>
          <a:ln/>
        </p:spPr>
        <p:txBody>
          <a:bodyPr wrap="square" rtlCol="0" anchor="ctr"/>
          <a:lstStyle/>
          <a:p>
            <a:pPr indent="0" marL="0">
              <a:buNone/>
            </a:pPr>
            <a:r>
              <a:rPr lang="en-US" sz="1050" b="1" spc="200" kern="0" dirty="0">
                <a:solidFill>
                  <a:srgbClr val="6B8299"/>
                </a:solidFill>
                <a:latin typeface="Calibri" pitchFamily="34" charset="0"/>
                <a:ea typeface="Calibri" pitchFamily="34" charset="-122"/>
                <a:cs typeface="Calibri" pitchFamily="34" charset="-120"/>
              </a:rPr>
              <a:t>ATTRIBUTE</a:t>
            </a:r>
            <a:endParaRPr lang="en-US" sz="1050" dirty="0"/>
          </a:p>
        </p:txBody>
      </p:sp>
      <p:sp>
        <p:nvSpPr>
          <p:cNvPr id="9" name="Shape 7"/>
          <p:cNvSpPr/>
          <p:nvPr/>
        </p:nvSpPr>
        <p:spPr>
          <a:xfrm>
            <a:off x="4279392" y="2011680"/>
            <a:ext cx="3456432" cy="502920"/>
          </a:xfrm>
          <a:prstGeom prst="roundRect">
            <a:avLst>
              <a:gd name="adj" fmla="val 9091"/>
            </a:avLst>
          </a:prstGeom>
          <a:solidFill>
            <a:srgbClr val="17293F"/>
          </a:solidFill>
          <a:ln w="12700">
            <a:solidFill>
              <a:srgbClr val="24384F"/>
            </a:solidFill>
            <a:prstDash val="solid"/>
          </a:ln>
        </p:spPr>
      </p:sp>
      <p:sp>
        <p:nvSpPr>
          <p:cNvPr id="10" name="Text 8"/>
          <p:cNvSpPr/>
          <p:nvPr/>
        </p:nvSpPr>
        <p:spPr>
          <a:xfrm>
            <a:off x="4443984" y="2011680"/>
            <a:ext cx="3182112" cy="502920"/>
          </a:xfrm>
          <a:prstGeom prst="rect">
            <a:avLst/>
          </a:prstGeom>
          <a:noFill/>
          <a:ln/>
        </p:spPr>
        <p:txBody>
          <a:bodyPr wrap="square" rtlCol="0" anchor="ctr"/>
          <a:lstStyle/>
          <a:p>
            <a:pPr indent="0" marL="0">
              <a:buNone/>
            </a:pPr>
            <a:r>
              <a:rPr lang="en-US" sz="1250" b="1" spc="50" kern="0" dirty="0">
                <a:solidFill>
                  <a:srgbClr val="2DD4E0"/>
                </a:solidFill>
                <a:latin typeface="Calibri" pitchFamily="34" charset="0"/>
                <a:ea typeface="Calibri" pitchFamily="34" charset="-122"/>
                <a:cs typeface="Calibri" pitchFamily="34" charset="-120"/>
              </a:rPr>
              <a:t>TDY  ·  Temporary Duty</a:t>
            </a:r>
            <a:endParaRPr lang="en-US" sz="1250" dirty="0"/>
          </a:p>
        </p:txBody>
      </p:sp>
      <p:sp>
        <p:nvSpPr>
          <p:cNvPr id="11" name="Shape 9"/>
          <p:cNvSpPr/>
          <p:nvPr/>
        </p:nvSpPr>
        <p:spPr>
          <a:xfrm>
            <a:off x="7918704" y="2011680"/>
            <a:ext cx="3621024" cy="502920"/>
          </a:xfrm>
          <a:prstGeom prst="roundRect">
            <a:avLst>
              <a:gd name="adj" fmla="val 9091"/>
            </a:avLst>
          </a:prstGeom>
          <a:solidFill>
            <a:srgbClr val="17293F"/>
          </a:solidFill>
          <a:ln w="12700">
            <a:solidFill>
              <a:srgbClr val="24384F"/>
            </a:solidFill>
            <a:prstDash val="solid"/>
          </a:ln>
        </p:spPr>
      </p:sp>
      <p:sp>
        <p:nvSpPr>
          <p:cNvPr id="12" name="Text 10"/>
          <p:cNvSpPr/>
          <p:nvPr/>
        </p:nvSpPr>
        <p:spPr>
          <a:xfrm>
            <a:off x="8083296" y="2011680"/>
            <a:ext cx="3346704" cy="502920"/>
          </a:xfrm>
          <a:prstGeom prst="rect">
            <a:avLst/>
          </a:prstGeom>
          <a:noFill/>
          <a:ln/>
        </p:spPr>
        <p:txBody>
          <a:bodyPr wrap="square" rtlCol="0" anchor="ctr"/>
          <a:lstStyle/>
          <a:p>
            <a:pPr indent="0" marL="0">
              <a:buNone/>
            </a:pPr>
            <a:r>
              <a:rPr lang="en-US" sz="1250" b="1" spc="50" kern="0" dirty="0">
                <a:solidFill>
                  <a:srgbClr val="F2A900"/>
                </a:solidFill>
                <a:latin typeface="Calibri" pitchFamily="34" charset="0"/>
                <a:ea typeface="Calibri" pitchFamily="34" charset="-122"/>
                <a:cs typeface="Calibri" pitchFamily="34" charset="-120"/>
              </a:rPr>
              <a:t>PCS  ·  Permanent Change of Station</a:t>
            </a:r>
            <a:endParaRPr lang="en-US" sz="1250" dirty="0"/>
          </a:p>
        </p:txBody>
      </p:sp>
      <p:sp>
        <p:nvSpPr>
          <p:cNvPr id="13" name="Shape 11"/>
          <p:cNvSpPr/>
          <p:nvPr/>
        </p:nvSpPr>
        <p:spPr>
          <a:xfrm>
            <a:off x="640080" y="2560320"/>
            <a:ext cx="3456432" cy="475488"/>
          </a:xfrm>
          <a:prstGeom prst="rect">
            <a:avLst/>
          </a:prstGeom>
          <a:solidFill>
            <a:srgbClr val="0F1D30"/>
          </a:solidFill>
          <a:ln w="6350">
            <a:solidFill>
              <a:srgbClr val="24384F"/>
            </a:solidFill>
            <a:prstDash val="solid"/>
          </a:ln>
        </p:spPr>
      </p:sp>
      <p:sp>
        <p:nvSpPr>
          <p:cNvPr id="14" name="Text 12"/>
          <p:cNvSpPr/>
          <p:nvPr/>
        </p:nvSpPr>
        <p:spPr>
          <a:xfrm>
            <a:off x="804672" y="2578608"/>
            <a:ext cx="3163824" cy="438912"/>
          </a:xfrm>
          <a:prstGeom prst="rect">
            <a:avLst/>
          </a:prstGeom>
          <a:noFill/>
          <a:ln/>
        </p:spPr>
        <p:txBody>
          <a:bodyPr wrap="square" rtlCol="0" anchor="ctr"/>
          <a:lstStyle/>
          <a:p>
            <a:pPr indent="0" marL="0">
              <a:lnSpc>
                <a:spcPct val="100000"/>
              </a:lnSpc>
              <a:buNone/>
            </a:pPr>
            <a:r>
              <a:rPr lang="en-US" sz="1150" b="1" dirty="0">
                <a:solidFill>
                  <a:srgbClr val="E8EEF5"/>
                </a:solidFill>
                <a:latin typeface="Calibri" pitchFamily="34" charset="0"/>
                <a:ea typeface="Calibri" pitchFamily="34" charset="-122"/>
                <a:cs typeface="Calibri" pitchFamily="34" charset="-120"/>
              </a:rPr>
              <a:t>Intent</a:t>
            </a:r>
            <a:endParaRPr lang="en-US" sz="1150" dirty="0"/>
          </a:p>
        </p:txBody>
      </p:sp>
      <p:sp>
        <p:nvSpPr>
          <p:cNvPr id="15" name="Shape 13"/>
          <p:cNvSpPr/>
          <p:nvPr/>
        </p:nvSpPr>
        <p:spPr>
          <a:xfrm>
            <a:off x="4279392" y="2560320"/>
            <a:ext cx="3456432" cy="475488"/>
          </a:xfrm>
          <a:prstGeom prst="rect">
            <a:avLst/>
          </a:prstGeom>
          <a:solidFill>
            <a:srgbClr val="0F1D30"/>
          </a:solidFill>
          <a:ln w="6350">
            <a:solidFill>
              <a:srgbClr val="24384F"/>
            </a:solidFill>
            <a:prstDash val="solid"/>
          </a:ln>
        </p:spPr>
      </p:sp>
      <p:sp>
        <p:nvSpPr>
          <p:cNvPr id="16" name="Text 14"/>
          <p:cNvSpPr/>
          <p:nvPr/>
        </p:nvSpPr>
        <p:spPr>
          <a:xfrm>
            <a:off x="4443984" y="2578608"/>
            <a:ext cx="3163824" cy="438912"/>
          </a:xfrm>
          <a:prstGeom prst="rect">
            <a:avLst/>
          </a:prstGeom>
          <a:noFill/>
          <a:ln/>
        </p:spPr>
        <p:txBody>
          <a:bodyPr wrap="square" rtlCol="0" anchor="ctr"/>
          <a:lstStyle/>
          <a:p>
            <a:pPr indent="0" marL="0">
              <a:lnSpc>
                <a:spcPct val="100000"/>
              </a:lnSpc>
              <a:buNone/>
            </a:pPr>
            <a:r>
              <a:rPr lang="en-US" sz="1050" dirty="0">
                <a:solidFill>
                  <a:srgbClr val="9FB3C8"/>
                </a:solidFill>
                <a:latin typeface="Calibri" pitchFamily="34" charset="0"/>
                <a:ea typeface="Calibri" pitchFamily="34" charset="-122"/>
                <a:cs typeface="Calibri" pitchFamily="34" charset="-120"/>
              </a:rPr>
              <a:t>Temporary — you return to your PDS after the course.</a:t>
            </a:r>
            <a:endParaRPr lang="en-US" sz="1050" dirty="0"/>
          </a:p>
        </p:txBody>
      </p:sp>
      <p:sp>
        <p:nvSpPr>
          <p:cNvPr id="17" name="Shape 15"/>
          <p:cNvSpPr/>
          <p:nvPr/>
        </p:nvSpPr>
        <p:spPr>
          <a:xfrm>
            <a:off x="7918704" y="2560320"/>
            <a:ext cx="3621024" cy="475488"/>
          </a:xfrm>
          <a:prstGeom prst="rect">
            <a:avLst/>
          </a:prstGeom>
          <a:solidFill>
            <a:srgbClr val="0F1D30"/>
          </a:solidFill>
          <a:ln w="6350">
            <a:solidFill>
              <a:srgbClr val="24384F"/>
            </a:solidFill>
            <a:prstDash val="solid"/>
          </a:ln>
        </p:spPr>
      </p:sp>
      <p:sp>
        <p:nvSpPr>
          <p:cNvPr id="18" name="Text 16"/>
          <p:cNvSpPr/>
          <p:nvPr/>
        </p:nvSpPr>
        <p:spPr>
          <a:xfrm>
            <a:off x="8083296" y="2578608"/>
            <a:ext cx="3328416" cy="438912"/>
          </a:xfrm>
          <a:prstGeom prst="rect">
            <a:avLst/>
          </a:prstGeom>
          <a:noFill/>
          <a:ln/>
        </p:spPr>
        <p:txBody>
          <a:bodyPr wrap="square" rtlCol="0" anchor="ctr"/>
          <a:lstStyle/>
          <a:p>
            <a:pPr indent="0" marL="0">
              <a:lnSpc>
                <a:spcPct val="100000"/>
              </a:lnSpc>
              <a:buNone/>
            </a:pPr>
            <a:r>
              <a:rPr lang="en-US" sz="1050" dirty="0">
                <a:solidFill>
                  <a:srgbClr val="9FB3C8"/>
                </a:solidFill>
                <a:latin typeface="Calibri" pitchFamily="34" charset="0"/>
                <a:ea typeface="Calibri" pitchFamily="34" charset="-122"/>
                <a:cs typeface="Calibri" pitchFamily="34" charset="-120"/>
              </a:rPr>
              <a:t>Permanent — your PDS changes to the new location.</a:t>
            </a:r>
            <a:endParaRPr lang="en-US" sz="1050" dirty="0"/>
          </a:p>
        </p:txBody>
      </p:sp>
      <p:sp>
        <p:nvSpPr>
          <p:cNvPr id="19" name="Shape 17"/>
          <p:cNvSpPr/>
          <p:nvPr/>
        </p:nvSpPr>
        <p:spPr>
          <a:xfrm>
            <a:off x="640080" y="3035808"/>
            <a:ext cx="3456432" cy="475488"/>
          </a:xfrm>
          <a:prstGeom prst="rect">
            <a:avLst/>
          </a:prstGeom>
          <a:solidFill>
            <a:srgbClr val="0A1422"/>
          </a:solidFill>
          <a:ln w="6350">
            <a:solidFill>
              <a:srgbClr val="24384F"/>
            </a:solidFill>
            <a:prstDash val="solid"/>
          </a:ln>
        </p:spPr>
      </p:sp>
      <p:sp>
        <p:nvSpPr>
          <p:cNvPr id="20" name="Text 18"/>
          <p:cNvSpPr/>
          <p:nvPr/>
        </p:nvSpPr>
        <p:spPr>
          <a:xfrm>
            <a:off x="804672" y="3054096"/>
            <a:ext cx="3163824" cy="438912"/>
          </a:xfrm>
          <a:prstGeom prst="rect">
            <a:avLst/>
          </a:prstGeom>
          <a:noFill/>
          <a:ln/>
        </p:spPr>
        <p:txBody>
          <a:bodyPr wrap="square" rtlCol="0" anchor="ctr"/>
          <a:lstStyle/>
          <a:p>
            <a:pPr indent="0" marL="0">
              <a:lnSpc>
                <a:spcPct val="100000"/>
              </a:lnSpc>
              <a:buNone/>
            </a:pPr>
            <a:r>
              <a:rPr lang="en-US" sz="1150" b="1" dirty="0">
                <a:solidFill>
                  <a:srgbClr val="E8EEF5"/>
                </a:solidFill>
                <a:latin typeface="Calibri" pitchFamily="34" charset="0"/>
                <a:ea typeface="Calibri" pitchFamily="34" charset="-122"/>
                <a:cs typeface="Calibri" pitchFamily="34" charset="-120"/>
              </a:rPr>
              <a:t>Duration</a:t>
            </a:r>
            <a:endParaRPr lang="en-US" sz="1150" dirty="0"/>
          </a:p>
        </p:txBody>
      </p:sp>
      <p:sp>
        <p:nvSpPr>
          <p:cNvPr id="21" name="Shape 19"/>
          <p:cNvSpPr/>
          <p:nvPr/>
        </p:nvSpPr>
        <p:spPr>
          <a:xfrm>
            <a:off x="4279392" y="3035808"/>
            <a:ext cx="3456432" cy="475488"/>
          </a:xfrm>
          <a:prstGeom prst="rect">
            <a:avLst/>
          </a:prstGeom>
          <a:solidFill>
            <a:srgbClr val="0A1422"/>
          </a:solidFill>
          <a:ln w="6350">
            <a:solidFill>
              <a:srgbClr val="24384F"/>
            </a:solidFill>
            <a:prstDash val="solid"/>
          </a:ln>
        </p:spPr>
      </p:sp>
      <p:sp>
        <p:nvSpPr>
          <p:cNvPr id="22" name="Text 20"/>
          <p:cNvSpPr/>
          <p:nvPr/>
        </p:nvSpPr>
        <p:spPr>
          <a:xfrm>
            <a:off x="4443984" y="3054096"/>
            <a:ext cx="3163824" cy="438912"/>
          </a:xfrm>
          <a:prstGeom prst="rect">
            <a:avLst/>
          </a:prstGeom>
          <a:noFill/>
          <a:ln/>
        </p:spPr>
        <p:txBody>
          <a:bodyPr wrap="square" rtlCol="0" anchor="ctr"/>
          <a:lstStyle/>
          <a:p>
            <a:pPr indent="0" marL="0">
              <a:lnSpc>
                <a:spcPct val="100000"/>
              </a:lnSpc>
              <a:buNone/>
            </a:pPr>
            <a:r>
              <a:rPr lang="en-US" sz="1050" dirty="0">
                <a:solidFill>
                  <a:srgbClr val="9FB3C8"/>
                </a:solidFill>
                <a:latin typeface="Calibri" pitchFamily="34" charset="0"/>
                <a:ea typeface="Calibri" pitchFamily="34" charset="-122"/>
                <a:cs typeface="Calibri" pitchFamily="34" charset="-120"/>
              </a:rPr>
              <a:t>Short-term; school courses run under 20 weeks.</a:t>
            </a:r>
            <a:endParaRPr lang="en-US" sz="1050" dirty="0"/>
          </a:p>
        </p:txBody>
      </p:sp>
      <p:sp>
        <p:nvSpPr>
          <p:cNvPr id="23" name="Shape 21"/>
          <p:cNvSpPr/>
          <p:nvPr/>
        </p:nvSpPr>
        <p:spPr>
          <a:xfrm>
            <a:off x="7918704" y="3035808"/>
            <a:ext cx="3621024" cy="475488"/>
          </a:xfrm>
          <a:prstGeom prst="rect">
            <a:avLst/>
          </a:prstGeom>
          <a:solidFill>
            <a:srgbClr val="0A1422"/>
          </a:solidFill>
          <a:ln w="6350">
            <a:solidFill>
              <a:srgbClr val="24384F"/>
            </a:solidFill>
            <a:prstDash val="solid"/>
          </a:ln>
        </p:spPr>
      </p:sp>
      <p:sp>
        <p:nvSpPr>
          <p:cNvPr id="24" name="Text 22"/>
          <p:cNvSpPr/>
          <p:nvPr/>
        </p:nvSpPr>
        <p:spPr>
          <a:xfrm>
            <a:off x="8083296" y="3054096"/>
            <a:ext cx="3328416" cy="438912"/>
          </a:xfrm>
          <a:prstGeom prst="rect">
            <a:avLst/>
          </a:prstGeom>
          <a:noFill/>
          <a:ln/>
        </p:spPr>
        <p:txBody>
          <a:bodyPr wrap="square" rtlCol="0" anchor="ctr"/>
          <a:lstStyle/>
          <a:p>
            <a:pPr indent="0" marL="0">
              <a:lnSpc>
                <a:spcPct val="100000"/>
              </a:lnSpc>
              <a:buNone/>
            </a:pPr>
            <a:r>
              <a:rPr lang="en-US" sz="1050" dirty="0">
                <a:solidFill>
                  <a:srgbClr val="9FB3C8"/>
                </a:solidFill>
                <a:latin typeface="Calibri" pitchFamily="34" charset="0"/>
                <a:ea typeface="Calibri" pitchFamily="34" charset="-122"/>
                <a:cs typeface="Calibri" pitchFamily="34" charset="-120"/>
              </a:rPr>
              <a:t>Long-term relocation, typically a 2–4 year tour.</a:t>
            </a:r>
            <a:endParaRPr lang="en-US" sz="1050" dirty="0"/>
          </a:p>
        </p:txBody>
      </p:sp>
      <p:sp>
        <p:nvSpPr>
          <p:cNvPr id="25" name="Shape 23"/>
          <p:cNvSpPr/>
          <p:nvPr/>
        </p:nvSpPr>
        <p:spPr>
          <a:xfrm>
            <a:off x="640080" y="3511296"/>
            <a:ext cx="3456432" cy="475488"/>
          </a:xfrm>
          <a:prstGeom prst="rect">
            <a:avLst/>
          </a:prstGeom>
          <a:solidFill>
            <a:srgbClr val="0F1D30"/>
          </a:solidFill>
          <a:ln w="6350">
            <a:solidFill>
              <a:srgbClr val="24384F"/>
            </a:solidFill>
            <a:prstDash val="solid"/>
          </a:ln>
        </p:spPr>
      </p:sp>
      <p:sp>
        <p:nvSpPr>
          <p:cNvPr id="26" name="Text 24"/>
          <p:cNvSpPr/>
          <p:nvPr/>
        </p:nvSpPr>
        <p:spPr>
          <a:xfrm>
            <a:off x="804672" y="3529584"/>
            <a:ext cx="3163824" cy="438912"/>
          </a:xfrm>
          <a:prstGeom prst="rect">
            <a:avLst/>
          </a:prstGeom>
          <a:noFill/>
          <a:ln/>
        </p:spPr>
        <p:txBody>
          <a:bodyPr wrap="square" rtlCol="0" anchor="ctr"/>
          <a:lstStyle/>
          <a:p>
            <a:pPr indent="0" marL="0">
              <a:lnSpc>
                <a:spcPct val="100000"/>
              </a:lnSpc>
              <a:buNone/>
            </a:pPr>
            <a:r>
              <a:rPr lang="en-US" sz="1150" b="1" dirty="0">
                <a:solidFill>
                  <a:srgbClr val="E8EEF5"/>
                </a:solidFill>
                <a:latin typeface="Calibri" pitchFamily="34" charset="0"/>
                <a:ea typeface="Calibri" pitchFamily="34" charset="-122"/>
                <a:cs typeface="Calibri" pitchFamily="34" charset="-120"/>
              </a:rPr>
              <a:t>The order / form</a:t>
            </a:r>
            <a:endParaRPr lang="en-US" sz="1150" dirty="0"/>
          </a:p>
        </p:txBody>
      </p:sp>
      <p:sp>
        <p:nvSpPr>
          <p:cNvPr id="27" name="Shape 25"/>
          <p:cNvSpPr/>
          <p:nvPr/>
        </p:nvSpPr>
        <p:spPr>
          <a:xfrm>
            <a:off x="4279392" y="3511296"/>
            <a:ext cx="3456432" cy="475488"/>
          </a:xfrm>
          <a:prstGeom prst="rect">
            <a:avLst/>
          </a:prstGeom>
          <a:solidFill>
            <a:srgbClr val="0F1D30"/>
          </a:solidFill>
          <a:ln w="6350">
            <a:solidFill>
              <a:srgbClr val="24384F"/>
            </a:solidFill>
            <a:prstDash val="solid"/>
          </a:ln>
        </p:spPr>
      </p:sp>
      <p:sp>
        <p:nvSpPr>
          <p:cNvPr id="28" name="Text 26"/>
          <p:cNvSpPr/>
          <p:nvPr/>
        </p:nvSpPr>
        <p:spPr>
          <a:xfrm>
            <a:off x="4443984" y="3529584"/>
            <a:ext cx="3163824" cy="438912"/>
          </a:xfrm>
          <a:prstGeom prst="rect">
            <a:avLst/>
          </a:prstGeom>
          <a:noFill/>
          <a:ln/>
        </p:spPr>
        <p:txBody>
          <a:bodyPr wrap="square" rtlCol="0" anchor="ctr"/>
          <a:lstStyle/>
          <a:p>
            <a:pPr indent="0" marL="0">
              <a:lnSpc>
                <a:spcPct val="100000"/>
              </a:lnSpc>
              <a:buNone/>
            </a:pPr>
            <a:r>
              <a:rPr lang="en-US" sz="1050" dirty="0">
                <a:solidFill>
                  <a:srgbClr val="9FB3C8"/>
                </a:solidFill>
                <a:latin typeface="Calibri" pitchFamily="34" charset="0"/>
                <a:ea typeface="Calibri" pitchFamily="34" charset="-122"/>
                <a:cs typeface="Calibri" pitchFamily="34" charset="-120"/>
              </a:rPr>
              <a:t>DTS authorization or DD Form 1610.</a:t>
            </a:r>
            <a:endParaRPr lang="en-US" sz="1050" dirty="0"/>
          </a:p>
        </p:txBody>
      </p:sp>
      <p:sp>
        <p:nvSpPr>
          <p:cNvPr id="29" name="Shape 27"/>
          <p:cNvSpPr/>
          <p:nvPr/>
        </p:nvSpPr>
        <p:spPr>
          <a:xfrm>
            <a:off x="7918704" y="3511296"/>
            <a:ext cx="3621024" cy="475488"/>
          </a:xfrm>
          <a:prstGeom prst="rect">
            <a:avLst/>
          </a:prstGeom>
          <a:solidFill>
            <a:srgbClr val="0F1D30"/>
          </a:solidFill>
          <a:ln w="6350">
            <a:solidFill>
              <a:srgbClr val="24384F"/>
            </a:solidFill>
            <a:prstDash val="solid"/>
          </a:ln>
        </p:spPr>
      </p:sp>
      <p:sp>
        <p:nvSpPr>
          <p:cNvPr id="30" name="Text 28"/>
          <p:cNvSpPr/>
          <p:nvPr/>
        </p:nvSpPr>
        <p:spPr>
          <a:xfrm>
            <a:off x="8083296" y="3529584"/>
            <a:ext cx="3328416" cy="438912"/>
          </a:xfrm>
          <a:prstGeom prst="rect">
            <a:avLst/>
          </a:prstGeom>
          <a:noFill/>
          <a:ln/>
        </p:spPr>
        <p:txBody>
          <a:bodyPr wrap="square" rtlCol="0" anchor="ctr"/>
          <a:lstStyle/>
          <a:p>
            <a:pPr indent="0" marL="0">
              <a:lnSpc>
                <a:spcPct val="100000"/>
              </a:lnSpc>
              <a:buNone/>
            </a:pPr>
            <a:r>
              <a:rPr lang="en-US" sz="1050" dirty="0">
                <a:solidFill>
                  <a:srgbClr val="9FB3C8"/>
                </a:solidFill>
                <a:latin typeface="Calibri" pitchFamily="34" charset="0"/>
                <a:ea typeface="Calibri" pitchFamily="34" charset="-122"/>
                <a:cs typeface="Calibri" pitchFamily="34" charset="-120"/>
              </a:rPr>
              <a:t>PCS orders; DD Form 1614 for DoD civilians.</a:t>
            </a:r>
            <a:endParaRPr lang="en-US" sz="1050" dirty="0"/>
          </a:p>
        </p:txBody>
      </p:sp>
      <p:sp>
        <p:nvSpPr>
          <p:cNvPr id="31" name="Shape 29"/>
          <p:cNvSpPr/>
          <p:nvPr/>
        </p:nvSpPr>
        <p:spPr>
          <a:xfrm>
            <a:off x="640080" y="3986784"/>
            <a:ext cx="3456432" cy="475488"/>
          </a:xfrm>
          <a:prstGeom prst="rect">
            <a:avLst/>
          </a:prstGeom>
          <a:solidFill>
            <a:srgbClr val="0A1422"/>
          </a:solidFill>
          <a:ln w="6350">
            <a:solidFill>
              <a:srgbClr val="24384F"/>
            </a:solidFill>
            <a:prstDash val="solid"/>
          </a:ln>
        </p:spPr>
      </p:sp>
      <p:sp>
        <p:nvSpPr>
          <p:cNvPr id="32" name="Text 30"/>
          <p:cNvSpPr/>
          <p:nvPr/>
        </p:nvSpPr>
        <p:spPr>
          <a:xfrm>
            <a:off x="804672" y="4005072"/>
            <a:ext cx="3163824" cy="438912"/>
          </a:xfrm>
          <a:prstGeom prst="rect">
            <a:avLst/>
          </a:prstGeom>
          <a:noFill/>
          <a:ln/>
        </p:spPr>
        <p:txBody>
          <a:bodyPr wrap="square" rtlCol="0" anchor="ctr"/>
          <a:lstStyle/>
          <a:p>
            <a:pPr indent="0" marL="0">
              <a:lnSpc>
                <a:spcPct val="100000"/>
              </a:lnSpc>
              <a:buNone/>
            </a:pPr>
            <a:r>
              <a:rPr lang="en-US" sz="1150" b="1" dirty="0">
                <a:solidFill>
                  <a:srgbClr val="E8EEF5"/>
                </a:solidFill>
                <a:latin typeface="Calibri" pitchFamily="34" charset="0"/>
                <a:ea typeface="Calibri" pitchFamily="34" charset="-122"/>
                <a:cs typeface="Calibri" pitchFamily="34" charset="-120"/>
              </a:rPr>
              <a:t>Your unit</a:t>
            </a:r>
            <a:endParaRPr lang="en-US" sz="1150" dirty="0"/>
          </a:p>
        </p:txBody>
      </p:sp>
      <p:sp>
        <p:nvSpPr>
          <p:cNvPr id="33" name="Shape 31"/>
          <p:cNvSpPr/>
          <p:nvPr/>
        </p:nvSpPr>
        <p:spPr>
          <a:xfrm>
            <a:off x="4279392" y="3986784"/>
            <a:ext cx="3456432" cy="475488"/>
          </a:xfrm>
          <a:prstGeom prst="rect">
            <a:avLst/>
          </a:prstGeom>
          <a:solidFill>
            <a:srgbClr val="0A1422"/>
          </a:solidFill>
          <a:ln w="6350">
            <a:solidFill>
              <a:srgbClr val="24384F"/>
            </a:solidFill>
            <a:prstDash val="solid"/>
          </a:ln>
        </p:spPr>
      </p:sp>
      <p:sp>
        <p:nvSpPr>
          <p:cNvPr id="34" name="Text 32"/>
          <p:cNvSpPr/>
          <p:nvPr/>
        </p:nvSpPr>
        <p:spPr>
          <a:xfrm>
            <a:off x="4443984" y="4005072"/>
            <a:ext cx="3163824" cy="438912"/>
          </a:xfrm>
          <a:prstGeom prst="rect">
            <a:avLst/>
          </a:prstGeom>
          <a:noFill/>
          <a:ln/>
        </p:spPr>
        <p:txBody>
          <a:bodyPr wrap="square" rtlCol="0" anchor="ctr"/>
          <a:lstStyle/>
          <a:p>
            <a:pPr indent="0" marL="0">
              <a:lnSpc>
                <a:spcPct val="100000"/>
              </a:lnSpc>
              <a:buNone/>
            </a:pPr>
            <a:r>
              <a:rPr lang="en-US" sz="1050" dirty="0">
                <a:solidFill>
                  <a:srgbClr val="9FB3C8"/>
                </a:solidFill>
                <a:latin typeface="Calibri" pitchFamily="34" charset="0"/>
                <a:ea typeface="Calibri" pitchFamily="34" charset="-122"/>
                <a:cs typeface="Calibri" pitchFamily="34" charset="-120"/>
              </a:rPr>
              <a:t>Unchanged — you stay assigned to your home unit.</a:t>
            </a:r>
            <a:endParaRPr lang="en-US" sz="1050" dirty="0"/>
          </a:p>
        </p:txBody>
      </p:sp>
      <p:sp>
        <p:nvSpPr>
          <p:cNvPr id="35" name="Shape 33"/>
          <p:cNvSpPr/>
          <p:nvPr/>
        </p:nvSpPr>
        <p:spPr>
          <a:xfrm>
            <a:off x="7918704" y="3986784"/>
            <a:ext cx="3621024" cy="475488"/>
          </a:xfrm>
          <a:prstGeom prst="rect">
            <a:avLst/>
          </a:prstGeom>
          <a:solidFill>
            <a:srgbClr val="0A1422"/>
          </a:solidFill>
          <a:ln w="6350">
            <a:solidFill>
              <a:srgbClr val="24384F"/>
            </a:solidFill>
            <a:prstDash val="solid"/>
          </a:ln>
        </p:spPr>
      </p:sp>
      <p:sp>
        <p:nvSpPr>
          <p:cNvPr id="36" name="Text 34"/>
          <p:cNvSpPr/>
          <p:nvPr/>
        </p:nvSpPr>
        <p:spPr>
          <a:xfrm>
            <a:off x="8083296" y="4005072"/>
            <a:ext cx="3328416" cy="438912"/>
          </a:xfrm>
          <a:prstGeom prst="rect">
            <a:avLst/>
          </a:prstGeom>
          <a:noFill/>
          <a:ln/>
        </p:spPr>
        <p:txBody>
          <a:bodyPr wrap="square" rtlCol="0" anchor="ctr"/>
          <a:lstStyle/>
          <a:p>
            <a:pPr indent="0" marL="0">
              <a:lnSpc>
                <a:spcPct val="100000"/>
              </a:lnSpc>
              <a:buNone/>
            </a:pPr>
            <a:r>
              <a:rPr lang="en-US" sz="1050" dirty="0">
                <a:solidFill>
                  <a:srgbClr val="9FB3C8"/>
                </a:solidFill>
                <a:latin typeface="Calibri" pitchFamily="34" charset="0"/>
                <a:ea typeface="Calibri" pitchFamily="34" charset="-122"/>
                <a:cs typeface="Calibri" pitchFamily="34" charset="-120"/>
              </a:rPr>
              <a:t>You out-process the losing unit and join a gaining unit.</a:t>
            </a:r>
            <a:endParaRPr lang="en-US" sz="1050" dirty="0"/>
          </a:p>
        </p:txBody>
      </p:sp>
      <p:sp>
        <p:nvSpPr>
          <p:cNvPr id="37" name="Shape 35"/>
          <p:cNvSpPr/>
          <p:nvPr/>
        </p:nvSpPr>
        <p:spPr>
          <a:xfrm>
            <a:off x="640080" y="4462272"/>
            <a:ext cx="3456432" cy="475488"/>
          </a:xfrm>
          <a:prstGeom prst="rect">
            <a:avLst/>
          </a:prstGeom>
          <a:solidFill>
            <a:srgbClr val="0F1D30"/>
          </a:solidFill>
          <a:ln w="6350">
            <a:solidFill>
              <a:srgbClr val="24384F"/>
            </a:solidFill>
            <a:prstDash val="solid"/>
          </a:ln>
        </p:spPr>
      </p:sp>
      <p:sp>
        <p:nvSpPr>
          <p:cNvPr id="38" name="Text 36"/>
          <p:cNvSpPr/>
          <p:nvPr/>
        </p:nvSpPr>
        <p:spPr>
          <a:xfrm>
            <a:off x="804672" y="4480560"/>
            <a:ext cx="3163824" cy="438912"/>
          </a:xfrm>
          <a:prstGeom prst="rect">
            <a:avLst/>
          </a:prstGeom>
          <a:noFill/>
          <a:ln/>
        </p:spPr>
        <p:txBody>
          <a:bodyPr wrap="square" rtlCol="0" anchor="ctr"/>
          <a:lstStyle/>
          <a:p>
            <a:pPr indent="0" marL="0">
              <a:lnSpc>
                <a:spcPct val="100000"/>
              </a:lnSpc>
              <a:buNone/>
            </a:pPr>
            <a:r>
              <a:rPr lang="en-US" sz="1150" b="1" dirty="0">
                <a:solidFill>
                  <a:srgbClr val="E8EEF5"/>
                </a:solidFill>
                <a:latin typeface="Calibri" pitchFamily="34" charset="0"/>
                <a:ea typeface="Calibri" pitchFamily="34" charset="-122"/>
                <a:cs typeface="Calibri" pitchFamily="34" charset="-120"/>
              </a:rPr>
              <a:t>Money model</a:t>
            </a:r>
            <a:endParaRPr lang="en-US" sz="1150" dirty="0"/>
          </a:p>
        </p:txBody>
      </p:sp>
      <p:sp>
        <p:nvSpPr>
          <p:cNvPr id="39" name="Shape 37"/>
          <p:cNvSpPr/>
          <p:nvPr/>
        </p:nvSpPr>
        <p:spPr>
          <a:xfrm>
            <a:off x="4279392" y="4462272"/>
            <a:ext cx="3456432" cy="475488"/>
          </a:xfrm>
          <a:prstGeom prst="rect">
            <a:avLst/>
          </a:prstGeom>
          <a:solidFill>
            <a:srgbClr val="0F1D30"/>
          </a:solidFill>
          <a:ln w="6350">
            <a:solidFill>
              <a:srgbClr val="24384F"/>
            </a:solidFill>
            <a:prstDash val="solid"/>
          </a:ln>
        </p:spPr>
      </p:sp>
      <p:sp>
        <p:nvSpPr>
          <p:cNvPr id="40" name="Text 38"/>
          <p:cNvSpPr/>
          <p:nvPr/>
        </p:nvSpPr>
        <p:spPr>
          <a:xfrm>
            <a:off x="4443984" y="4480560"/>
            <a:ext cx="3163824" cy="438912"/>
          </a:xfrm>
          <a:prstGeom prst="rect">
            <a:avLst/>
          </a:prstGeom>
          <a:noFill/>
          <a:ln/>
        </p:spPr>
        <p:txBody>
          <a:bodyPr wrap="square" rtlCol="0" anchor="ctr"/>
          <a:lstStyle/>
          <a:p>
            <a:pPr indent="0" marL="0">
              <a:lnSpc>
                <a:spcPct val="100000"/>
              </a:lnSpc>
              <a:buNone/>
            </a:pPr>
            <a:r>
              <a:rPr lang="en-US" sz="1050" dirty="0">
                <a:solidFill>
                  <a:srgbClr val="9FB3C8"/>
                </a:solidFill>
                <a:latin typeface="Calibri" pitchFamily="34" charset="0"/>
                <a:ea typeface="Calibri" pitchFamily="34" charset="-122"/>
                <a:cs typeface="Calibri" pitchFamily="34" charset="-120"/>
              </a:rPr>
              <a:t>Per diem (lodging + M&amp;IE) for the trip; travel pay.</a:t>
            </a:r>
            <a:endParaRPr lang="en-US" sz="1050" dirty="0"/>
          </a:p>
        </p:txBody>
      </p:sp>
      <p:sp>
        <p:nvSpPr>
          <p:cNvPr id="41" name="Shape 39"/>
          <p:cNvSpPr/>
          <p:nvPr/>
        </p:nvSpPr>
        <p:spPr>
          <a:xfrm>
            <a:off x="7918704" y="4462272"/>
            <a:ext cx="3621024" cy="475488"/>
          </a:xfrm>
          <a:prstGeom prst="rect">
            <a:avLst/>
          </a:prstGeom>
          <a:solidFill>
            <a:srgbClr val="0F1D30"/>
          </a:solidFill>
          <a:ln w="6350">
            <a:solidFill>
              <a:srgbClr val="24384F"/>
            </a:solidFill>
            <a:prstDash val="solid"/>
          </a:ln>
        </p:spPr>
      </p:sp>
      <p:sp>
        <p:nvSpPr>
          <p:cNvPr id="42" name="Text 40"/>
          <p:cNvSpPr/>
          <p:nvPr/>
        </p:nvSpPr>
        <p:spPr>
          <a:xfrm>
            <a:off x="8083296" y="4480560"/>
            <a:ext cx="3328416" cy="438912"/>
          </a:xfrm>
          <a:prstGeom prst="rect">
            <a:avLst/>
          </a:prstGeom>
          <a:noFill/>
          <a:ln/>
        </p:spPr>
        <p:txBody>
          <a:bodyPr wrap="square" rtlCol="0" anchor="ctr"/>
          <a:lstStyle/>
          <a:p>
            <a:pPr indent="0" marL="0">
              <a:lnSpc>
                <a:spcPct val="100000"/>
              </a:lnSpc>
              <a:buNone/>
            </a:pPr>
            <a:r>
              <a:rPr lang="en-US" sz="1050" dirty="0">
                <a:solidFill>
                  <a:srgbClr val="9FB3C8"/>
                </a:solidFill>
                <a:latin typeface="Calibri" pitchFamily="34" charset="0"/>
                <a:ea typeface="Calibri" pitchFamily="34" charset="-122"/>
                <a:cs typeface="Calibri" pitchFamily="34" charset="-120"/>
              </a:rPr>
              <a:t>Relocation: HHG shipment, DLA, house-hunting, TLE/TLA.</a:t>
            </a:r>
            <a:endParaRPr lang="en-US" sz="1050" dirty="0"/>
          </a:p>
        </p:txBody>
      </p:sp>
      <p:sp>
        <p:nvSpPr>
          <p:cNvPr id="43" name="Shape 41"/>
          <p:cNvSpPr/>
          <p:nvPr/>
        </p:nvSpPr>
        <p:spPr>
          <a:xfrm>
            <a:off x="640080" y="4937760"/>
            <a:ext cx="3456432" cy="475488"/>
          </a:xfrm>
          <a:prstGeom prst="rect">
            <a:avLst/>
          </a:prstGeom>
          <a:solidFill>
            <a:srgbClr val="0A1422"/>
          </a:solidFill>
          <a:ln w="6350">
            <a:solidFill>
              <a:srgbClr val="24384F"/>
            </a:solidFill>
            <a:prstDash val="solid"/>
          </a:ln>
        </p:spPr>
      </p:sp>
      <p:sp>
        <p:nvSpPr>
          <p:cNvPr id="44" name="Text 42"/>
          <p:cNvSpPr/>
          <p:nvPr/>
        </p:nvSpPr>
        <p:spPr>
          <a:xfrm>
            <a:off x="804672" y="4956048"/>
            <a:ext cx="3163824" cy="438912"/>
          </a:xfrm>
          <a:prstGeom prst="rect">
            <a:avLst/>
          </a:prstGeom>
          <a:noFill/>
          <a:ln/>
        </p:spPr>
        <p:txBody>
          <a:bodyPr wrap="square" rtlCol="0" anchor="ctr"/>
          <a:lstStyle/>
          <a:p>
            <a:pPr indent="0" marL="0">
              <a:lnSpc>
                <a:spcPct val="100000"/>
              </a:lnSpc>
              <a:buNone/>
            </a:pPr>
            <a:r>
              <a:rPr lang="en-US" sz="1150" b="1" dirty="0">
                <a:solidFill>
                  <a:srgbClr val="E8EEF5"/>
                </a:solidFill>
                <a:latin typeface="Calibri" pitchFamily="34" charset="0"/>
                <a:ea typeface="Calibri" pitchFamily="34" charset="-122"/>
                <a:cs typeface="Calibri" pitchFamily="34" charset="-120"/>
              </a:rPr>
              <a:t>Family / HHG</a:t>
            </a:r>
            <a:endParaRPr lang="en-US" sz="1150" dirty="0"/>
          </a:p>
        </p:txBody>
      </p:sp>
      <p:sp>
        <p:nvSpPr>
          <p:cNvPr id="45" name="Shape 43"/>
          <p:cNvSpPr/>
          <p:nvPr/>
        </p:nvSpPr>
        <p:spPr>
          <a:xfrm>
            <a:off x="4279392" y="4937760"/>
            <a:ext cx="3456432" cy="475488"/>
          </a:xfrm>
          <a:prstGeom prst="rect">
            <a:avLst/>
          </a:prstGeom>
          <a:solidFill>
            <a:srgbClr val="0A1422"/>
          </a:solidFill>
          <a:ln w="6350">
            <a:solidFill>
              <a:srgbClr val="24384F"/>
            </a:solidFill>
            <a:prstDash val="solid"/>
          </a:ln>
        </p:spPr>
      </p:sp>
      <p:sp>
        <p:nvSpPr>
          <p:cNvPr id="46" name="Text 44"/>
          <p:cNvSpPr/>
          <p:nvPr/>
        </p:nvSpPr>
        <p:spPr>
          <a:xfrm>
            <a:off x="4443984" y="4956048"/>
            <a:ext cx="3163824" cy="438912"/>
          </a:xfrm>
          <a:prstGeom prst="rect">
            <a:avLst/>
          </a:prstGeom>
          <a:noFill/>
          <a:ln/>
        </p:spPr>
        <p:txBody>
          <a:bodyPr wrap="square" rtlCol="0" anchor="ctr"/>
          <a:lstStyle/>
          <a:p>
            <a:pPr indent="0" marL="0">
              <a:lnSpc>
                <a:spcPct val="100000"/>
              </a:lnSpc>
              <a:buNone/>
            </a:pPr>
            <a:r>
              <a:rPr lang="en-US" sz="1050" dirty="0">
                <a:solidFill>
                  <a:srgbClr val="9FB3C8"/>
                </a:solidFill>
                <a:latin typeface="Calibri" pitchFamily="34" charset="0"/>
                <a:ea typeface="Calibri" pitchFamily="34" charset="-122"/>
                <a:cs typeface="Calibri" pitchFamily="34" charset="-120"/>
              </a:rPr>
              <a:t>Dependents and household goods stay home.</a:t>
            </a:r>
            <a:endParaRPr lang="en-US" sz="1050" dirty="0"/>
          </a:p>
        </p:txBody>
      </p:sp>
      <p:sp>
        <p:nvSpPr>
          <p:cNvPr id="47" name="Shape 45"/>
          <p:cNvSpPr/>
          <p:nvPr/>
        </p:nvSpPr>
        <p:spPr>
          <a:xfrm>
            <a:off x="7918704" y="4937760"/>
            <a:ext cx="3621024" cy="475488"/>
          </a:xfrm>
          <a:prstGeom prst="rect">
            <a:avLst/>
          </a:prstGeom>
          <a:solidFill>
            <a:srgbClr val="0A1422"/>
          </a:solidFill>
          <a:ln w="6350">
            <a:solidFill>
              <a:srgbClr val="24384F"/>
            </a:solidFill>
            <a:prstDash val="solid"/>
          </a:ln>
        </p:spPr>
      </p:sp>
      <p:sp>
        <p:nvSpPr>
          <p:cNvPr id="48" name="Text 46"/>
          <p:cNvSpPr/>
          <p:nvPr/>
        </p:nvSpPr>
        <p:spPr>
          <a:xfrm>
            <a:off x="8083296" y="4956048"/>
            <a:ext cx="3328416" cy="438912"/>
          </a:xfrm>
          <a:prstGeom prst="rect">
            <a:avLst/>
          </a:prstGeom>
          <a:noFill/>
          <a:ln/>
        </p:spPr>
        <p:txBody>
          <a:bodyPr wrap="square" rtlCol="0" anchor="ctr"/>
          <a:lstStyle/>
          <a:p>
            <a:pPr indent="0" marL="0">
              <a:lnSpc>
                <a:spcPct val="100000"/>
              </a:lnSpc>
              <a:buNone/>
            </a:pPr>
            <a:r>
              <a:rPr lang="en-US" sz="1050" dirty="0">
                <a:solidFill>
                  <a:srgbClr val="9FB3C8"/>
                </a:solidFill>
                <a:latin typeface="Calibri" pitchFamily="34" charset="0"/>
                <a:ea typeface="Calibri" pitchFamily="34" charset="-122"/>
                <a:cs typeface="Calibri" pitchFamily="34" charset="-120"/>
              </a:rPr>
              <a:t>Dependents relocate; household goods are shipped.</a:t>
            </a:r>
            <a:endParaRPr lang="en-US" sz="1050" dirty="0"/>
          </a:p>
        </p:txBody>
      </p:sp>
      <p:sp>
        <p:nvSpPr>
          <p:cNvPr id="49" name="Shape 47"/>
          <p:cNvSpPr/>
          <p:nvPr/>
        </p:nvSpPr>
        <p:spPr>
          <a:xfrm>
            <a:off x="640080" y="5541264"/>
            <a:ext cx="10908792" cy="548640"/>
          </a:xfrm>
          <a:prstGeom prst="roundRect">
            <a:avLst>
              <a:gd name="adj" fmla="val 13333"/>
            </a:avLst>
          </a:prstGeom>
          <a:solidFill>
            <a:srgbClr val="0F1D30"/>
          </a:solidFill>
          <a:ln w="15875">
            <a:solidFill>
              <a:srgbClr val="F2A900"/>
            </a:solidFill>
            <a:prstDash val="solid"/>
          </a:ln>
        </p:spPr>
      </p:sp>
      <p:sp>
        <p:nvSpPr>
          <p:cNvPr id="50" name="Text 48"/>
          <p:cNvSpPr/>
          <p:nvPr/>
        </p:nvSpPr>
        <p:spPr>
          <a:xfrm>
            <a:off x="868680" y="5541264"/>
            <a:ext cx="10451592" cy="548640"/>
          </a:xfrm>
          <a:prstGeom prst="rect">
            <a:avLst/>
          </a:prstGeom>
          <a:noFill/>
          <a:ln/>
        </p:spPr>
        <p:txBody>
          <a:bodyPr wrap="square" rtlCol="0" anchor="ctr"/>
          <a:lstStyle/>
          <a:p>
            <a:pPr indent="0" marL="0">
              <a:lnSpc>
                <a:spcPct val="108000"/>
              </a:lnSpc>
              <a:buNone/>
            </a:pPr>
            <a:r>
              <a:rPr lang="en-US" sz="1100" b="1" dirty="0">
                <a:solidFill>
                  <a:srgbClr val="F2A900"/>
                </a:solidFill>
                <a:latin typeface="Calibri" pitchFamily="34" charset="0"/>
                <a:ea typeface="Calibri" pitchFamily="34" charset="-122"/>
                <a:cs typeface="Calibri" pitchFamily="34" charset="-120"/>
              </a:rPr>
              <a:t>Bottom line:  </a:t>
            </a:r>
            <a:pPr indent="0" marL="0">
              <a:lnSpc>
                <a:spcPct val="108000"/>
              </a:lnSpc>
              <a:buNone/>
            </a:pPr>
            <a:r>
              <a:rPr lang="en-US" sz="1100" dirty="0">
                <a:solidFill>
                  <a:srgbClr val="E8EEF5"/>
                </a:solidFill>
                <a:latin typeface="Calibri" pitchFamily="34" charset="0"/>
                <a:ea typeface="Calibri" pitchFamily="34" charset="-122"/>
                <a:cs typeface="Calibri" pitchFamily="34" charset="-120"/>
              </a:rPr>
              <a:t>attending a 17E course is TDY. If your orders ever read PCS with TDY en route, the school portion is TDY but the move to your next PDS is PCS — accounted separately.</a:t>
            </a:r>
            <a:endParaRPr lang="en-US" sz="1100" dirty="0"/>
          </a:p>
        </p:txBody>
      </p:sp>
      <p:sp>
        <p:nvSpPr>
          <p:cNvPr id="51" name="Shape 49"/>
          <p:cNvSpPr/>
          <p:nvPr/>
        </p:nvSpPr>
        <p:spPr>
          <a:xfrm>
            <a:off x="640080" y="6355080"/>
            <a:ext cx="10908792" cy="0"/>
          </a:xfrm>
          <a:prstGeom prst="line">
            <a:avLst/>
          </a:prstGeom>
          <a:noFill/>
          <a:ln w="9525">
            <a:solidFill>
              <a:srgbClr val="24384F"/>
            </a:solidFill>
            <a:prstDash val="solid"/>
          </a:ln>
        </p:spPr>
      </p:sp>
      <p:sp>
        <p:nvSpPr>
          <p:cNvPr id="52" name="Text 50"/>
          <p:cNvSpPr/>
          <p:nvPr/>
        </p:nvSpPr>
        <p:spPr>
          <a:xfrm>
            <a:off x="640080" y="6400800"/>
            <a:ext cx="7315200" cy="274320"/>
          </a:xfrm>
          <a:prstGeom prst="rect">
            <a:avLst/>
          </a:prstGeom>
          <a:noFill/>
          <a:ln/>
        </p:spPr>
        <p:txBody>
          <a:bodyPr wrap="square" rtlCol="0" anchor="ctr"/>
          <a:lstStyle/>
          <a:p>
            <a:pPr algn="l" indent="0" marL="0">
              <a:buNone/>
            </a:pPr>
            <a:r>
              <a:rPr lang="en-US" sz="850" dirty="0">
                <a:solidFill>
                  <a:srgbClr val="6B8299"/>
                </a:solidFill>
                <a:latin typeface="Calibri" pitchFamily="34" charset="0"/>
                <a:ea typeface="Calibri" pitchFamily="34" charset="-122"/>
                <a:cs typeface="Calibri" pitchFamily="34" charset="-120"/>
              </a:rPr>
              <a:t>112-17E10E  ·  Electronic Warfare Specialist Course</a:t>
            </a:r>
            <a:endParaRPr lang="en-US" sz="850" dirty="0"/>
          </a:p>
        </p:txBody>
      </p:sp>
      <p:sp>
        <p:nvSpPr>
          <p:cNvPr id="53" name="Text 51"/>
          <p:cNvSpPr/>
          <p:nvPr/>
        </p:nvSpPr>
        <p:spPr>
          <a:xfrm>
            <a:off x="8165592" y="6400800"/>
            <a:ext cx="2834640" cy="274320"/>
          </a:xfrm>
          <a:prstGeom prst="rect">
            <a:avLst/>
          </a:prstGeom>
          <a:noFill/>
          <a:ln/>
        </p:spPr>
        <p:txBody>
          <a:bodyPr wrap="square" rtlCol="0" anchor="ctr"/>
          <a:lstStyle/>
          <a:p>
            <a:pPr algn="r" indent="0" marL="0">
              <a:buNone/>
            </a:pPr>
            <a:r>
              <a:rPr lang="en-US" sz="850" spc="150" kern="0" dirty="0">
                <a:solidFill>
                  <a:srgbClr val="6B8299"/>
                </a:solidFill>
                <a:latin typeface="Calibri" pitchFamily="34" charset="0"/>
                <a:ea typeface="Calibri" pitchFamily="34" charset="-122"/>
                <a:cs typeface="Calibri" pitchFamily="34" charset="-120"/>
              </a:rPr>
              <a:t>U.S. ARMY CYBER SCHOOL</a:t>
            </a:r>
            <a:endParaRPr lang="en-US" sz="850" dirty="0"/>
          </a:p>
        </p:txBody>
      </p:sp>
      <p:sp>
        <p:nvSpPr>
          <p:cNvPr id="54" name="Text 52"/>
          <p:cNvSpPr/>
          <p:nvPr/>
        </p:nvSpPr>
        <p:spPr>
          <a:xfrm>
            <a:off x="11137392" y="6382512"/>
            <a:ext cx="411480" cy="292608"/>
          </a:xfrm>
          <a:prstGeom prst="rect">
            <a:avLst/>
          </a:prstGeom>
          <a:noFill/>
          <a:ln/>
        </p:spPr>
        <p:txBody>
          <a:bodyPr wrap="square" rtlCol="0" anchor="ctr"/>
          <a:lstStyle/>
          <a:p>
            <a:pPr algn="r" indent="0" marL="0">
              <a:buNone/>
            </a:pPr>
            <a:r>
              <a:rPr lang="en-US" sz="1100" b="1" dirty="0">
                <a:solidFill>
                  <a:srgbClr val="2DD4E0"/>
                </a:solidFill>
                <a:latin typeface="Cambria" pitchFamily="34" charset="0"/>
                <a:ea typeface="Cambria" pitchFamily="34" charset="-122"/>
                <a:cs typeface="Cambria"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422"/>
        </a:solidFill>
      </p:bgPr>
    </p:bg>
    <p:spTree>
      <p:nvGrpSpPr>
        <p:cNvPr id="1" name=""/>
        <p:cNvGrpSpPr/>
        <p:nvPr/>
      </p:nvGrpSpPr>
      <p:grpSpPr>
        <a:xfrm>
          <a:off x="0" y="0"/>
          <a:ext cx="0" cy="0"/>
          <a:chOff x="0" y="0"/>
          <a:chExt cx="0" cy="0"/>
        </a:xfrm>
      </p:grpSpPr>
      <p:sp>
        <p:nvSpPr>
          <p:cNvPr id="2" name="Shape 0"/>
          <p:cNvSpPr/>
          <p:nvPr/>
        </p:nvSpPr>
        <p:spPr>
          <a:xfrm>
            <a:off x="640080" y="457200"/>
            <a:ext cx="310896" cy="0"/>
          </a:xfrm>
          <a:prstGeom prst="line">
            <a:avLst/>
          </a:prstGeom>
          <a:noFill/>
          <a:ln w="25400">
            <a:solidFill>
              <a:srgbClr val="2DD4E0"/>
            </a:solidFill>
            <a:prstDash val="solid"/>
          </a:ln>
        </p:spPr>
      </p:sp>
      <p:sp>
        <p:nvSpPr>
          <p:cNvPr id="3" name="Shape 1"/>
          <p:cNvSpPr/>
          <p:nvPr/>
        </p:nvSpPr>
        <p:spPr>
          <a:xfrm>
            <a:off x="640080" y="457200"/>
            <a:ext cx="0" cy="310896"/>
          </a:xfrm>
          <a:prstGeom prst="line">
            <a:avLst/>
          </a:prstGeom>
          <a:noFill/>
          <a:ln w="25400">
            <a:solidFill>
              <a:srgbClr val="2DD4E0"/>
            </a:solidFill>
            <a:prstDash val="solid"/>
          </a:ln>
        </p:spPr>
      </p:sp>
      <p:sp>
        <p:nvSpPr>
          <p:cNvPr id="4" name="Text 2"/>
          <p:cNvSpPr/>
          <p:nvPr/>
        </p:nvSpPr>
        <p:spPr>
          <a:xfrm>
            <a:off x="1097280" y="420624"/>
            <a:ext cx="10058400" cy="274320"/>
          </a:xfrm>
          <a:prstGeom prst="rect">
            <a:avLst/>
          </a:prstGeom>
          <a:noFill/>
          <a:ln/>
        </p:spPr>
        <p:txBody>
          <a:bodyPr wrap="square" rtlCol="0" anchor="ctr"/>
          <a:lstStyle/>
          <a:p>
            <a:pPr indent="0" marL="0">
              <a:buNone/>
            </a:pPr>
            <a:r>
              <a:rPr lang="en-US" sz="1150" b="1" spc="350" kern="0" dirty="0">
                <a:solidFill>
                  <a:srgbClr val="2DD4E0"/>
                </a:solidFill>
                <a:latin typeface="Calibri" pitchFamily="34" charset="0"/>
                <a:ea typeface="Calibri" pitchFamily="34" charset="-122"/>
                <a:cs typeface="Calibri" pitchFamily="34" charset="-120"/>
              </a:rPr>
              <a:t>BEFORE YOU TRAVEL</a:t>
            </a:r>
            <a:endParaRPr lang="en-US" sz="1150" dirty="0"/>
          </a:p>
        </p:txBody>
      </p:sp>
      <p:sp>
        <p:nvSpPr>
          <p:cNvPr id="5" name="Text 3"/>
          <p:cNvSpPr/>
          <p:nvPr/>
        </p:nvSpPr>
        <p:spPr>
          <a:xfrm>
            <a:off x="640080" y="713232"/>
            <a:ext cx="10972800" cy="7772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Documents That Have to Be Right</a:t>
            </a:r>
            <a:endParaRPr lang="en-US" sz="3000" dirty="0"/>
          </a:p>
        </p:txBody>
      </p:sp>
      <p:sp>
        <p:nvSpPr>
          <p:cNvPr id="6" name="Shape 4"/>
          <p:cNvSpPr/>
          <p:nvPr/>
        </p:nvSpPr>
        <p:spPr>
          <a:xfrm>
            <a:off x="640080" y="1572768"/>
            <a:ext cx="3538728" cy="1572768"/>
          </a:xfrm>
          <a:prstGeom prst="roundRect">
            <a:avLst>
              <a:gd name="adj" fmla="val 4651"/>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7" name="Shape 5"/>
          <p:cNvSpPr/>
          <p:nvPr/>
        </p:nvSpPr>
        <p:spPr>
          <a:xfrm>
            <a:off x="841248" y="1773936"/>
            <a:ext cx="402336" cy="402336"/>
          </a:xfrm>
          <a:prstGeom prst="ellipse">
            <a:avLst/>
          </a:prstGeom>
          <a:solidFill>
            <a:srgbClr val="2DD4E0"/>
          </a:solidFill>
          <a:ln/>
          <a:effectLst>
            <a:outerShdw sx="100000" sy="100000" kx="0" ky="0" algn="bl" rotWithShape="0" blurRad="101600" dist="38100" dir="5400000">
              <a:srgbClr val="000000">
                <a:alpha val="28000"/>
              </a:srgbClr>
            </a:outerShdw>
          </a:effectLst>
        </p:spPr>
      </p:sp>
      <p:sp>
        <p:nvSpPr>
          <p:cNvPr id="8" name="Text 6"/>
          <p:cNvSpPr/>
          <p:nvPr/>
        </p:nvSpPr>
        <p:spPr>
          <a:xfrm>
            <a:off x="841248" y="1773936"/>
            <a:ext cx="402336" cy="402336"/>
          </a:xfrm>
          <a:prstGeom prst="rect">
            <a:avLst/>
          </a:prstGeom>
          <a:noFill/>
          <a:ln/>
        </p:spPr>
        <p:txBody>
          <a:bodyPr wrap="square" rtlCol="0" anchor="ctr"/>
          <a:lstStyle/>
          <a:p>
            <a:pPr algn="ctr" indent="0" marL="0">
              <a:buNone/>
            </a:pPr>
            <a:r>
              <a:rPr lang="en-US" sz="968" b="1" dirty="0">
                <a:solidFill>
                  <a:srgbClr val="0A1422"/>
                </a:solidFill>
                <a:latin typeface="Cambria" pitchFamily="34" charset="0"/>
                <a:ea typeface="Cambria" pitchFamily="34" charset="-122"/>
                <a:cs typeface="Cambria" pitchFamily="34" charset="-120"/>
              </a:rPr>
              <a:t>1</a:t>
            </a:r>
            <a:endParaRPr lang="en-US" sz="968" dirty="0"/>
          </a:p>
        </p:txBody>
      </p:sp>
      <p:sp>
        <p:nvSpPr>
          <p:cNvPr id="9" name="Text 7"/>
          <p:cNvSpPr/>
          <p:nvPr/>
        </p:nvSpPr>
        <p:spPr>
          <a:xfrm>
            <a:off x="1371600" y="1737360"/>
            <a:ext cx="2670048" cy="493776"/>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Approved travel order</a:t>
            </a:r>
            <a:endParaRPr lang="en-US" sz="1300" dirty="0"/>
          </a:p>
        </p:txBody>
      </p:sp>
      <p:sp>
        <p:nvSpPr>
          <p:cNvPr id="10" name="Text 8"/>
          <p:cNvSpPr/>
          <p:nvPr/>
        </p:nvSpPr>
        <p:spPr>
          <a:xfrm>
            <a:off x="859536" y="2286000"/>
            <a:ext cx="3118104" cy="786384"/>
          </a:xfrm>
          <a:prstGeom prst="rect">
            <a:avLst/>
          </a:prstGeom>
          <a:noFill/>
          <a:ln/>
        </p:spPr>
        <p:txBody>
          <a:bodyPr wrap="square" rtlCol="0" anchor="t"/>
          <a:lstStyle/>
          <a:p>
            <a:pPr indent="0" marL="0">
              <a:lnSpc>
                <a:spcPct val="114000"/>
              </a:lnSpc>
              <a:buNone/>
            </a:pPr>
            <a:r>
              <a:rPr lang="en-US" sz="1100" dirty="0">
                <a:solidFill>
                  <a:srgbClr val="9FB3C8"/>
                </a:solidFill>
                <a:latin typeface="Calibri" pitchFamily="34" charset="0"/>
                <a:ea typeface="Calibri" pitchFamily="34" charset="-122"/>
                <a:cs typeface="Calibri" pitchFamily="34" charset="-120"/>
              </a:rPr>
              <a:t>DTS authorization or DD Form 1610 — signed and funded. Bring 10+ hard copies; schoolhouse printing is usually unavailable.</a:t>
            </a:r>
            <a:endParaRPr lang="en-US" sz="1100" dirty="0"/>
          </a:p>
        </p:txBody>
      </p:sp>
      <p:sp>
        <p:nvSpPr>
          <p:cNvPr id="11" name="Shape 9"/>
          <p:cNvSpPr/>
          <p:nvPr/>
        </p:nvSpPr>
        <p:spPr>
          <a:xfrm>
            <a:off x="4507992" y="1572768"/>
            <a:ext cx="3538728" cy="1572768"/>
          </a:xfrm>
          <a:prstGeom prst="roundRect">
            <a:avLst>
              <a:gd name="adj" fmla="val 4651"/>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12" name="Shape 10"/>
          <p:cNvSpPr/>
          <p:nvPr/>
        </p:nvSpPr>
        <p:spPr>
          <a:xfrm>
            <a:off x="4709160" y="1773936"/>
            <a:ext cx="402336" cy="402336"/>
          </a:xfrm>
          <a:prstGeom prst="ellipse">
            <a:avLst/>
          </a:prstGeom>
          <a:solidFill>
            <a:srgbClr val="F2A900"/>
          </a:solidFill>
          <a:ln/>
          <a:effectLst>
            <a:outerShdw sx="100000" sy="100000" kx="0" ky="0" algn="bl" rotWithShape="0" blurRad="101600" dist="38100" dir="5400000">
              <a:srgbClr val="000000">
                <a:alpha val="28000"/>
              </a:srgbClr>
            </a:outerShdw>
          </a:effectLst>
        </p:spPr>
      </p:sp>
      <p:sp>
        <p:nvSpPr>
          <p:cNvPr id="13" name="Text 11"/>
          <p:cNvSpPr/>
          <p:nvPr/>
        </p:nvSpPr>
        <p:spPr>
          <a:xfrm>
            <a:off x="4709160" y="1773936"/>
            <a:ext cx="402336" cy="402336"/>
          </a:xfrm>
          <a:prstGeom prst="rect">
            <a:avLst/>
          </a:prstGeom>
          <a:noFill/>
          <a:ln/>
        </p:spPr>
        <p:txBody>
          <a:bodyPr wrap="square" rtlCol="0" anchor="ctr"/>
          <a:lstStyle/>
          <a:p>
            <a:pPr algn="ctr" indent="0" marL="0">
              <a:buNone/>
            </a:pPr>
            <a:r>
              <a:rPr lang="en-US" sz="968" b="1" dirty="0">
                <a:solidFill>
                  <a:srgbClr val="0A1422"/>
                </a:solidFill>
                <a:latin typeface="Cambria" pitchFamily="34" charset="0"/>
                <a:ea typeface="Cambria" pitchFamily="34" charset="-122"/>
                <a:cs typeface="Cambria" pitchFamily="34" charset="-120"/>
              </a:rPr>
              <a:t>2</a:t>
            </a:r>
            <a:endParaRPr lang="en-US" sz="968" dirty="0"/>
          </a:p>
        </p:txBody>
      </p:sp>
      <p:sp>
        <p:nvSpPr>
          <p:cNvPr id="14" name="Text 12"/>
          <p:cNvSpPr/>
          <p:nvPr/>
        </p:nvSpPr>
        <p:spPr>
          <a:xfrm>
            <a:off x="5239512" y="1737360"/>
            <a:ext cx="2670048" cy="493776"/>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ATRRS seat reservation</a:t>
            </a:r>
            <a:endParaRPr lang="en-US" sz="1300" dirty="0"/>
          </a:p>
        </p:txBody>
      </p:sp>
      <p:sp>
        <p:nvSpPr>
          <p:cNvPr id="15" name="Text 13"/>
          <p:cNvSpPr/>
          <p:nvPr/>
        </p:nvSpPr>
        <p:spPr>
          <a:xfrm>
            <a:off x="4727448" y="2286000"/>
            <a:ext cx="3118104" cy="786384"/>
          </a:xfrm>
          <a:prstGeom prst="rect">
            <a:avLst/>
          </a:prstGeom>
          <a:noFill/>
          <a:ln/>
        </p:spPr>
        <p:txBody>
          <a:bodyPr wrap="square" rtlCol="0" anchor="t"/>
          <a:lstStyle/>
          <a:p>
            <a:pPr indent="0" marL="0">
              <a:lnSpc>
                <a:spcPct val="114000"/>
              </a:lnSpc>
              <a:buNone/>
            </a:pPr>
            <a:r>
              <a:rPr lang="en-US" sz="1100" dirty="0">
                <a:solidFill>
                  <a:srgbClr val="9FB3C8"/>
                </a:solidFill>
                <a:latin typeface="Calibri" pitchFamily="34" charset="0"/>
                <a:ea typeface="Calibri" pitchFamily="34" charset="-122"/>
                <a:cs typeface="Calibri" pitchFamily="34" charset="-120"/>
              </a:rPr>
              <a:t>A reserved (RS) seat in ATRRS is mandatory before the order is cut. No reservation means no class.</a:t>
            </a:r>
            <a:endParaRPr lang="en-US" sz="1100" dirty="0"/>
          </a:p>
        </p:txBody>
      </p:sp>
      <p:sp>
        <p:nvSpPr>
          <p:cNvPr id="16" name="Shape 14"/>
          <p:cNvSpPr/>
          <p:nvPr/>
        </p:nvSpPr>
        <p:spPr>
          <a:xfrm>
            <a:off x="8375904" y="1572768"/>
            <a:ext cx="3538728" cy="1572768"/>
          </a:xfrm>
          <a:prstGeom prst="roundRect">
            <a:avLst>
              <a:gd name="adj" fmla="val 4651"/>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17" name="Shape 15"/>
          <p:cNvSpPr/>
          <p:nvPr/>
        </p:nvSpPr>
        <p:spPr>
          <a:xfrm>
            <a:off x="8577072" y="1773936"/>
            <a:ext cx="402336" cy="402336"/>
          </a:xfrm>
          <a:prstGeom prst="ellipse">
            <a:avLst/>
          </a:prstGeom>
          <a:solidFill>
            <a:srgbClr val="2DD4E0"/>
          </a:solidFill>
          <a:ln/>
          <a:effectLst>
            <a:outerShdw sx="100000" sy="100000" kx="0" ky="0" algn="bl" rotWithShape="0" blurRad="101600" dist="38100" dir="5400000">
              <a:srgbClr val="000000">
                <a:alpha val="28000"/>
              </a:srgbClr>
            </a:outerShdw>
          </a:effectLst>
        </p:spPr>
      </p:sp>
      <p:sp>
        <p:nvSpPr>
          <p:cNvPr id="18" name="Text 16"/>
          <p:cNvSpPr/>
          <p:nvPr/>
        </p:nvSpPr>
        <p:spPr>
          <a:xfrm>
            <a:off x="8577072" y="1773936"/>
            <a:ext cx="402336" cy="402336"/>
          </a:xfrm>
          <a:prstGeom prst="rect">
            <a:avLst/>
          </a:prstGeom>
          <a:noFill/>
          <a:ln/>
        </p:spPr>
        <p:txBody>
          <a:bodyPr wrap="square" rtlCol="0" anchor="ctr"/>
          <a:lstStyle/>
          <a:p>
            <a:pPr algn="ctr" indent="0" marL="0">
              <a:buNone/>
            </a:pPr>
            <a:r>
              <a:rPr lang="en-US" sz="968" b="1" dirty="0">
                <a:solidFill>
                  <a:srgbClr val="0A1422"/>
                </a:solidFill>
                <a:latin typeface="Cambria" pitchFamily="34" charset="0"/>
                <a:ea typeface="Cambria" pitchFamily="34" charset="-122"/>
                <a:cs typeface="Cambria" pitchFamily="34" charset="-120"/>
              </a:rPr>
              <a:t>3</a:t>
            </a:r>
            <a:endParaRPr lang="en-US" sz="968" dirty="0"/>
          </a:p>
        </p:txBody>
      </p:sp>
      <p:sp>
        <p:nvSpPr>
          <p:cNvPr id="19" name="Text 17"/>
          <p:cNvSpPr/>
          <p:nvPr/>
        </p:nvSpPr>
        <p:spPr>
          <a:xfrm>
            <a:off x="9107424" y="1737360"/>
            <a:ext cx="2670048" cy="493776"/>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TASS pre-execution checklist</a:t>
            </a:r>
            <a:endParaRPr lang="en-US" sz="1300" dirty="0"/>
          </a:p>
        </p:txBody>
      </p:sp>
      <p:sp>
        <p:nvSpPr>
          <p:cNvPr id="20" name="Text 18"/>
          <p:cNvSpPr/>
          <p:nvPr/>
        </p:nvSpPr>
        <p:spPr>
          <a:xfrm>
            <a:off x="8595360" y="2286000"/>
            <a:ext cx="3118104" cy="786384"/>
          </a:xfrm>
          <a:prstGeom prst="rect">
            <a:avLst/>
          </a:prstGeom>
          <a:noFill/>
          <a:ln/>
        </p:spPr>
        <p:txBody>
          <a:bodyPr wrap="square" rtlCol="0" anchor="t"/>
          <a:lstStyle/>
          <a:p>
            <a:pPr indent="0" marL="0">
              <a:lnSpc>
                <a:spcPct val="114000"/>
              </a:lnSpc>
              <a:buNone/>
            </a:pPr>
            <a:r>
              <a:rPr lang="en-US" sz="1100" dirty="0">
                <a:solidFill>
                  <a:srgbClr val="9FB3C8"/>
                </a:solidFill>
                <a:latin typeface="Calibri" pitchFamily="34" charset="0"/>
                <a:ea typeface="Calibri" pitchFamily="34" charset="-122"/>
                <a:cs typeface="Calibri" pitchFamily="34" charset="-120"/>
              </a:rPr>
              <a:t>TRADOC Form 350-18-2R-E (or the ATRRS electronic version) with original signatures, per TRADOC Reg 350-18.</a:t>
            </a:r>
            <a:endParaRPr lang="en-US" sz="1100" dirty="0"/>
          </a:p>
        </p:txBody>
      </p:sp>
      <p:sp>
        <p:nvSpPr>
          <p:cNvPr id="21" name="Shape 19"/>
          <p:cNvSpPr/>
          <p:nvPr/>
        </p:nvSpPr>
        <p:spPr>
          <a:xfrm>
            <a:off x="640080" y="3419856"/>
            <a:ext cx="3538728" cy="1572768"/>
          </a:xfrm>
          <a:prstGeom prst="roundRect">
            <a:avLst>
              <a:gd name="adj" fmla="val 4651"/>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22" name="Shape 20"/>
          <p:cNvSpPr/>
          <p:nvPr/>
        </p:nvSpPr>
        <p:spPr>
          <a:xfrm>
            <a:off x="841248" y="3621024"/>
            <a:ext cx="402336" cy="402336"/>
          </a:xfrm>
          <a:prstGeom prst="ellipse">
            <a:avLst/>
          </a:prstGeom>
          <a:solidFill>
            <a:srgbClr val="F2A900"/>
          </a:solidFill>
          <a:ln/>
          <a:effectLst>
            <a:outerShdw sx="100000" sy="100000" kx="0" ky="0" algn="bl" rotWithShape="0" blurRad="101600" dist="38100" dir="5400000">
              <a:srgbClr val="000000">
                <a:alpha val="28000"/>
              </a:srgbClr>
            </a:outerShdw>
          </a:effectLst>
        </p:spPr>
      </p:sp>
      <p:sp>
        <p:nvSpPr>
          <p:cNvPr id="23" name="Text 21"/>
          <p:cNvSpPr/>
          <p:nvPr/>
        </p:nvSpPr>
        <p:spPr>
          <a:xfrm>
            <a:off x="841248" y="3621024"/>
            <a:ext cx="402336" cy="402336"/>
          </a:xfrm>
          <a:prstGeom prst="rect">
            <a:avLst/>
          </a:prstGeom>
          <a:noFill/>
          <a:ln/>
        </p:spPr>
        <p:txBody>
          <a:bodyPr wrap="square" rtlCol="0" anchor="ctr"/>
          <a:lstStyle/>
          <a:p>
            <a:pPr algn="ctr" indent="0" marL="0">
              <a:buNone/>
            </a:pPr>
            <a:r>
              <a:rPr lang="en-US" sz="968" b="1" dirty="0">
                <a:solidFill>
                  <a:srgbClr val="0A1422"/>
                </a:solidFill>
                <a:latin typeface="Cambria" pitchFamily="34" charset="0"/>
                <a:ea typeface="Cambria" pitchFamily="34" charset="-122"/>
                <a:cs typeface="Cambria" pitchFamily="34" charset="-120"/>
              </a:rPr>
              <a:t>4</a:t>
            </a:r>
            <a:endParaRPr lang="en-US" sz="968" dirty="0"/>
          </a:p>
        </p:txBody>
      </p:sp>
      <p:sp>
        <p:nvSpPr>
          <p:cNvPr id="24" name="Text 22"/>
          <p:cNvSpPr/>
          <p:nvPr/>
        </p:nvSpPr>
        <p:spPr>
          <a:xfrm>
            <a:off x="1371600" y="3584448"/>
            <a:ext cx="2670048" cy="493776"/>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GTCC + Statement of Understanding</a:t>
            </a:r>
            <a:endParaRPr lang="en-US" sz="1300" dirty="0"/>
          </a:p>
        </p:txBody>
      </p:sp>
      <p:sp>
        <p:nvSpPr>
          <p:cNvPr id="25" name="Text 23"/>
          <p:cNvSpPr/>
          <p:nvPr/>
        </p:nvSpPr>
        <p:spPr>
          <a:xfrm>
            <a:off x="859536" y="4133088"/>
            <a:ext cx="3118104" cy="786384"/>
          </a:xfrm>
          <a:prstGeom prst="rect">
            <a:avLst/>
          </a:prstGeom>
          <a:noFill/>
          <a:ln/>
        </p:spPr>
        <p:txBody>
          <a:bodyPr wrap="square" rtlCol="0" anchor="t"/>
          <a:lstStyle/>
          <a:p>
            <a:pPr indent="0" marL="0">
              <a:lnSpc>
                <a:spcPct val="114000"/>
              </a:lnSpc>
              <a:buNone/>
            </a:pPr>
            <a:r>
              <a:rPr lang="en-US" sz="1100" dirty="0">
                <a:solidFill>
                  <a:srgbClr val="9FB3C8"/>
                </a:solidFill>
                <a:latin typeface="Calibri" pitchFamily="34" charset="0"/>
                <a:ea typeface="Calibri" pitchFamily="34" charset="-122"/>
                <a:cs typeface="Calibri" pitchFamily="34" charset="-120"/>
              </a:rPr>
              <a:t>Active travel card, signed DD Form 3120 SOU, and a current GTCC training certificate on file with your APC.</a:t>
            </a:r>
            <a:endParaRPr lang="en-US" sz="1100" dirty="0"/>
          </a:p>
        </p:txBody>
      </p:sp>
      <p:sp>
        <p:nvSpPr>
          <p:cNvPr id="26" name="Shape 24"/>
          <p:cNvSpPr/>
          <p:nvPr/>
        </p:nvSpPr>
        <p:spPr>
          <a:xfrm>
            <a:off x="4507992" y="3419856"/>
            <a:ext cx="3538728" cy="1572768"/>
          </a:xfrm>
          <a:prstGeom prst="roundRect">
            <a:avLst>
              <a:gd name="adj" fmla="val 4651"/>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27" name="Shape 25"/>
          <p:cNvSpPr/>
          <p:nvPr/>
        </p:nvSpPr>
        <p:spPr>
          <a:xfrm>
            <a:off x="4709160" y="3621024"/>
            <a:ext cx="402336" cy="402336"/>
          </a:xfrm>
          <a:prstGeom prst="ellipse">
            <a:avLst/>
          </a:prstGeom>
          <a:solidFill>
            <a:srgbClr val="2DD4E0"/>
          </a:solidFill>
          <a:ln/>
          <a:effectLst>
            <a:outerShdw sx="100000" sy="100000" kx="0" ky="0" algn="bl" rotWithShape="0" blurRad="101600" dist="38100" dir="5400000">
              <a:srgbClr val="000000">
                <a:alpha val="28000"/>
              </a:srgbClr>
            </a:outerShdw>
          </a:effectLst>
        </p:spPr>
      </p:sp>
      <p:sp>
        <p:nvSpPr>
          <p:cNvPr id="28" name="Text 26"/>
          <p:cNvSpPr/>
          <p:nvPr/>
        </p:nvSpPr>
        <p:spPr>
          <a:xfrm>
            <a:off x="4709160" y="3621024"/>
            <a:ext cx="402336" cy="402336"/>
          </a:xfrm>
          <a:prstGeom prst="rect">
            <a:avLst/>
          </a:prstGeom>
          <a:noFill/>
          <a:ln/>
        </p:spPr>
        <p:txBody>
          <a:bodyPr wrap="square" rtlCol="0" anchor="ctr"/>
          <a:lstStyle/>
          <a:p>
            <a:pPr algn="ctr" indent="0" marL="0">
              <a:buNone/>
            </a:pPr>
            <a:r>
              <a:rPr lang="en-US" sz="968" b="1" dirty="0">
                <a:solidFill>
                  <a:srgbClr val="0A1422"/>
                </a:solidFill>
                <a:latin typeface="Cambria" pitchFamily="34" charset="0"/>
                <a:ea typeface="Cambria" pitchFamily="34" charset="-122"/>
                <a:cs typeface="Cambria" pitchFamily="34" charset="-120"/>
              </a:rPr>
              <a:t>5</a:t>
            </a:r>
            <a:endParaRPr lang="en-US" sz="968" dirty="0"/>
          </a:p>
        </p:txBody>
      </p:sp>
      <p:sp>
        <p:nvSpPr>
          <p:cNvPr id="29" name="Text 27"/>
          <p:cNvSpPr/>
          <p:nvPr/>
        </p:nvSpPr>
        <p:spPr>
          <a:xfrm>
            <a:off x="5239512" y="3584448"/>
            <a:ext cx="2670048" cy="493776"/>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ID &amp; Meal Entitlement Code</a:t>
            </a:r>
            <a:endParaRPr lang="en-US" sz="1300" dirty="0"/>
          </a:p>
        </p:txBody>
      </p:sp>
      <p:sp>
        <p:nvSpPr>
          <p:cNvPr id="30" name="Text 28"/>
          <p:cNvSpPr/>
          <p:nvPr/>
        </p:nvSpPr>
        <p:spPr>
          <a:xfrm>
            <a:off x="4727448" y="4133088"/>
            <a:ext cx="3118104" cy="786384"/>
          </a:xfrm>
          <a:prstGeom prst="rect">
            <a:avLst/>
          </a:prstGeom>
          <a:noFill/>
          <a:ln/>
        </p:spPr>
        <p:txBody>
          <a:bodyPr wrap="square" rtlCol="0" anchor="t"/>
          <a:lstStyle/>
          <a:p>
            <a:pPr indent="0" marL="0">
              <a:lnSpc>
                <a:spcPct val="114000"/>
              </a:lnSpc>
              <a:buNone/>
            </a:pPr>
            <a:r>
              <a:rPr lang="en-US" sz="1100" dirty="0">
                <a:solidFill>
                  <a:srgbClr val="9FB3C8"/>
                </a:solidFill>
                <a:latin typeface="Calibri" pitchFamily="34" charset="0"/>
                <a:ea typeface="Calibri" pitchFamily="34" charset="-122"/>
                <a:cs typeface="Calibri" pitchFamily="34" charset="-120"/>
              </a:rPr>
              <a:t>CAC with the correct MEC loaded before travel. Non-Army students often update the MEC during in-processing.</a:t>
            </a:r>
            <a:endParaRPr lang="en-US" sz="1100" dirty="0"/>
          </a:p>
        </p:txBody>
      </p:sp>
      <p:sp>
        <p:nvSpPr>
          <p:cNvPr id="31" name="Shape 29"/>
          <p:cNvSpPr/>
          <p:nvPr/>
        </p:nvSpPr>
        <p:spPr>
          <a:xfrm>
            <a:off x="8375904" y="3419856"/>
            <a:ext cx="3538728" cy="1572768"/>
          </a:xfrm>
          <a:prstGeom prst="roundRect">
            <a:avLst>
              <a:gd name="adj" fmla="val 4651"/>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32" name="Shape 30"/>
          <p:cNvSpPr/>
          <p:nvPr/>
        </p:nvSpPr>
        <p:spPr>
          <a:xfrm>
            <a:off x="8577072" y="3621024"/>
            <a:ext cx="402336" cy="402336"/>
          </a:xfrm>
          <a:prstGeom prst="ellipse">
            <a:avLst/>
          </a:prstGeom>
          <a:solidFill>
            <a:srgbClr val="F2A900"/>
          </a:solidFill>
          <a:ln/>
          <a:effectLst>
            <a:outerShdw sx="100000" sy="100000" kx="0" ky="0" algn="bl" rotWithShape="0" blurRad="101600" dist="38100" dir="5400000">
              <a:srgbClr val="000000">
                <a:alpha val="28000"/>
              </a:srgbClr>
            </a:outerShdw>
          </a:effectLst>
        </p:spPr>
      </p:sp>
      <p:sp>
        <p:nvSpPr>
          <p:cNvPr id="33" name="Text 31"/>
          <p:cNvSpPr/>
          <p:nvPr/>
        </p:nvSpPr>
        <p:spPr>
          <a:xfrm>
            <a:off x="8577072" y="3621024"/>
            <a:ext cx="402336" cy="402336"/>
          </a:xfrm>
          <a:prstGeom prst="rect">
            <a:avLst/>
          </a:prstGeom>
          <a:noFill/>
          <a:ln/>
        </p:spPr>
        <p:txBody>
          <a:bodyPr wrap="square" rtlCol="0" anchor="ctr"/>
          <a:lstStyle/>
          <a:p>
            <a:pPr algn="ctr" indent="0" marL="0">
              <a:buNone/>
            </a:pPr>
            <a:r>
              <a:rPr lang="en-US" sz="968" b="1" dirty="0">
                <a:solidFill>
                  <a:srgbClr val="0A1422"/>
                </a:solidFill>
                <a:latin typeface="Cambria" pitchFamily="34" charset="0"/>
                <a:ea typeface="Cambria" pitchFamily="34" charset="-122"/>
                <a:cs typeface="Cambria" pitchFamily="34" charset="-120"/>
              </a:rPr>
              <a:t>6</a:t>
            </a:r>
            <a:endParaRPr lang="en-US" sz="968" dirty="0"/>
          </a:p>
        </p:txBody>
      </p:sp>
      <p:sp>
        <p:nvSpPr>
          <p:cNvPr id="34" name="Text 32"/>
          <p:cNvSpPr/>
          <p:nvPr/>
        </p:nvSpPr>
        <p:spPr>
          <a:xfrm>
            <a:off x="9107424" y="3584448"/>
            <a:ext cx="2670048" cy="493776"/>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Medical / readiness</a:t>
            </a:r>
            <a:endParaRPr lang="en-US" sz="1300" dirty="0"/>
          </a:p>
        </p:txBody>
      </p:sp>
      <p:sp>
        <p:nvSpPr>
          <p:cNvPr id="35" name="Text 33"/>
          <p:cNvSpPr/>
          <p:nvPr/>
        </p:nvSpPr>
        <p:spPr>
          <a:xfrm>
            <a:off x="8595360" y="4133088"/>
            <a:ext cx="3118104" cy="786384"/>
          </a:xfrm>
          <a:prstGeom prst="rect">
            <a:avLst/>
          </a:prstGeom>
          <a:noFill/>
          <a:ln/>
        </p:spPr>
        <p:txBody>
          <a:bodyPr wrap="square" rtlCol="0" anchor="t"/>
          <a:lstStyle/>
          <a:p>
            <a:pPr indent="0" marL="0">
              <a:lnSpc>
                <a:spcPct val="114000"/>
              </a:lnSpc>
              <a:buNone/>
            </a:pPr>
            <a:r>
              <a:rPr lang="en-US" sz="1100" dirty="0">
                <a:solidFill>
                  <a:srgbClr val="9FB3C8"/>
                </a:solidFill>
                <a:latin typeface="Calibri" pitchFamily="34" charset="0"/>
                <a:ea typeface="Calibri" pitchFamily="34" charset="-122"/>
                <a:cs typeface="Calibri" pitchFamily="34" charset="-120"/>
              </a:rPr>
              <a:t>Current AFT and height/weight, plus any course prerequisites. Many schools weigh and tape on day one.</a:t>
            </a:r>
            <a:endParaRPr lang="en-US" sz="1100" dirty="0"/>
          </a:p>
        </p:txBody>
      </p:sp>
      <p:sp>
        <p:nvSpPr>
          <p:cNvPr id="36" name="Shape 34"/>
          <p:cNvSpPr/>
          <p:nvPr/>
        </p:nvSpPr>
        <p:spPr>
          <a:xfrm>
            <a:off x="640080" y="6355080"/>
            <a:ext cx="10908792" cy="0"/>
          </a:xfrm>
          <a:prstGeom prst="line">
            <a:avLst/>
          </a:prstGeom>
          <a:noFill/>
          <a:ln w="9525">
            <a:solidFill>
              <a:srgbClr val="24384F"/>
            </a:solidFill>
            <a:prstDash val="solid"/>
          </a:ln>
        </p:spPr>
      </p:sp>
      <p:sp>
        <p:nvSpPr>
          <p:cNvPr id="37" name="Text 35"/>
          <p:cNvSpPr/>
          <p:nvPr/>
        </p:nvSpPr>
        <p:spPr>
          <a:xfrm>
            <a:off x="640080" y="6400800"/>
            <a:ext cx="7315200" cy="274320"/>
          </a:xfrm>
          <a:prstGeom prst="rect">
            <a:avLst/>
          </a:prstGeom>
          <a:noFill/>
          <a:ln/>
        </p:spPr>
        <p:txBody>
          <a:bodyPr wrap="square" rtlCol="0" anchor="ctr"/>
          <a:lstStyle/>
          <a:p>
            <a:pPr algn="l" indent="0" marL="0">
              <a:buNone/>
            </a:pPr>
            <a:r>
              <a:rPr lang="en-US" sz="850" dirty="0">
                <a:solidFill>
                  <a:srgbClr val="6B8299"/>
                </a:solidFill>
                <a:latin typeface="Calibri" pitchFamily="34" charset="0"/>
                <a:ea typeface="Calibri" pitchFamily="34" charset="-122"/>
                <a:cs typeface="Calibri" pitchFamily="34" charset="-120"/>
              </a:rPr>
              <a:t>112-17E10E  ·  Electronic Warfare Specialist Course</a:t>
            </a:r>
            <a:endParaRPr lang="en-US" sz="850" dirty="0"/>
          </a:p>
        </p:txBody>
      </p:sp>
      <p:sp>
        <p:nvSpPr>
          <p:cNvPr id="38" name="Text 36"/>
          <p:cNvSpPr/>
          <p:nvPr/>
        </p:nvSpPr>
        <p:spPr>
          <a:xfrm>
            <a:off x="8165592" y="6400800"/>
            <a:ext cx="2834640" cy="274320"/>
          </a:xfrm>
          <a:prstGeom prst="rect">
            <a:avLst/>
          </a:prstGeom>
          <a:noFill/>
          <a:ln/>
        </p:spPr>
        <p:txBody>
          <a:bodyPr wrap="square" rtlCol="0" anchor="ctr"/>
          <a:lstStyle/>
          <a:p>
            <a:pPr algn="r" indent="0" marL="0">
              <a:buNone/>
            </a:pPr>
            <a:r>
              <a:rPr lang="en-US" sz="850" spc="150" kern="0" dirty="0">
                <a:solidFill>
                  <a:srgbClr val="6B8299"/>
                </a:solidFill>
                <a:latin typeface="Calibri" pitchFamily="34" charset="0"/>
                <a:ea typeface="Calibri" pitchFamily="34" charset="-122"/>
                <a:cs typeface="Calibri" pitchFamily="34" charset="-120"/>
              </a:rPr>
              <a:t>U.S. ARMY CYBER SCHOOL</a:t>
            </a:r>
            <a:endParaRPr lang="en-US" sz="850" dirty="0"/>
          </a:p>
        </p:txBody>
      </p:sp>
      <p:sp>
        <p:nvSpPr>
          <p:cNvPr id="39" name="Text 37"/>
          <p:cNvSpPr/>
          <p:nvPr/>
        </p:nvSpPr>
        <p:spPr>
          <a:xfrm>
            <a:off x="11137392" y="6382512"/>
            <a:ext cx="411480" cy="292608"/>
          </a:xfrm>
          <a:prstGeom prst="rect">
            <a:avLst/>
          </a:prstGeom>
          <a:noFill/>
          <a:ln/>
        </p:spPr>
        <p:txBody>
          <a:bodyPr wrap="square" rtlCol="0" anchor="ctr"/>
          <a:lstStyle/>
          <a:p>
            <a:pPr algn="r" indent="0" marL="0">
              <a:buNone/>
            </a:pPr>
            <a:r>
              <a:rPr lang="en-US" sz="1100" b="1" dirty="0">
                <a:solidFill>
                  <a:srgbClr val="2DD4E0"/>
                </a:solidFill>
                <a:latin typeface="Cambria" pitchFamily="34" charset="0"/>
                <a:ea typeface="Cambria" pitchFamily="34" charset="-122"/>
                <a:cs typeface="Cambria"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422"/>
        </a:solidFill>
      </p:bgPr>
    </p:bg>
    <p:spTree>
      <p:nvGrpSpPr>
        <p:cNvPr id="1" name=""/>
        <p:cNvGrpSpPr/>
        <p:nvPr/>
      </p:nvGrpSpPr>
      <p:grpSpPr>
        <a:xfrm>
          <a:off x="0" y="0"/>
          <a:ext cx="0" cy="0"/>
          <a:chOff x="0" y="0"/>
          <a:chExt cx="0" cy="0"/>
        </a:xfrm>
      </p:grpSpPr>
      <p:sp>
        <p:nvSpPr>
          <p:cNvPr id="2" name="Shape 0"/>
          <p:cNvSpPr/>
          <p:nvPr/>
        </p:nvSpPr>
        <p:spPr>
          <a:xfrm>
            <a:off x="640080" y="457200"/>
            <a:ext cx="310896" cy="0"/>
          </a:xfrm>
          <a:prstGeom prst="line">
            <a:avLst/>
          </a:prstGeom>
          <a:noFill/>
          <a:ln w="25400">
            <a:solidFill>
              <a:srgbClr val="2DD4E0"/>
            </a:solidFill>
            <a:prstDash val="solid"/>
          </a:ln>
        </p:spPr>
      </p:sp>
      <p:sp>
        <p:nvSpPr>
          <p:cNvPr id="3" name="Shape 1"/>
          <p:cNvSpPr/>
          <p:nvPr/>
        </p:nvSpPr>
        <p:spPr>
          <a:xfrm>
            <a:off x="640080" y="457200"/>
            <a:ext cx="0" cy="310896"/>
          </a:xfrm>
          <a:prstGeom prst="line">
            <a:avLst/>
          </a:prstGeom>
          <a:noFill/>
          <a:ln w="25400">
            <a:solidFill>
              <a:srgbClr val="2DD4E0"/>
            </a:solidFill>
            <a:prstDash val="solid"/>
          </a:ln>
        </p:spPr>
      </p:sp>
      <p:sp>
        <p:nvSpPr>
          <p:cNvPr id="4" name="Text 2"/>
          <p:cNvSpPr/>
          <p:nvPr/>
        </p:nvSpPr>
        <p:spPr>
          <a:xfrm>
            <a:off x="1097280" y="420624"/>
            <a:ext cx="10058400" cy="274320"/>
          </a:xfrm>
          <a:prstGeom prst="rect">
            <a:avLst/>
          </a:prstGeom>
          <a:noFill/>
          <a:ln/>
        </p:spPr>
        <p:txBody>
          <a:bodyPr wrap="square" rtlCol="0" anchor="ctr"/>
          <a:lstStyle/>
          <a:p>
            <a:pPr indent="0" marL="0">
              <a:buNone/>
            </a:pPr>
            <a:r>
              <a:rPr lang="en-US" sz="1150" b="1" spc="350" kern="0" dirty="0">
                <a:solidFill>
                  <a:srgbClr val="2DD4E0"/>
                </a:solidFill>
                <a:latin typeface="Calibri" pitchFamily="34" charset="0"/>
                <a:ea typeface="Calibri" pitchFamily="34" charset="-122"/>
                <a:cs typeface="Calibri" pitchFamily="34" charset="-120"/>
              </a:rPr>
              <a:t>ENTITLEMENTS</a:t>
            </a:r>
            <a:endParaRPr lang="en-US" sz="1150" dirty="0"/>
          </a:p>
        </p:txBody>
      </p:sp>
      <p:sp>
        <p:nvSpPr>
          <p:cNvPr id="5" name="Text 3"/>
          <p:cNvSpPr/>
          <p:nvPr/>
        </p:nvSpPr>
        <p:spPr>
          <a:xfrm>
            <a:off x="640080" y="713232"/>
            <a:ext cx="10972800" cy="7772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Per Diem &amp; What the Government Pays</a:t>
            </a:r>
            <a:endParaRPr lang="en-US" sz="3000" dirty="0"/>
          </a:p>
        </p:txBody>
      </p:sp>
      <p:sp>
        <p:nvSpPr>
          <p:cNvPr id="6" name="Shape 4"/>
          <p:cNvSpPr/>
          <p:nvPr/>
        </p:nvSpPr>
        <p:spPr>
          <a:xfrm>
            <a:off x="640080" y="1572768"/>
            <a:ext cx="3602736" cy="2395728"/>
          </a:xfrm>
          <a:prstGeom prst="roundRect">
            <a:avLst>
              <a:gd name="adj" fmla="val 3053"/>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7" name="Text 5"/>
          <p:cNvSpPr/>
          <p:nvPr/>
        </p:nvSpPr>
        <p:spPr>
          <a:xfrm>
            <a:off x="914400" y="1810512"/>
            <a:ext cx="3099816" cy="274320"/>
          </a:xfrm>
          <a:prstGeom prst="rect">
            <a:avLst/>
          </a:prstGeom>
          <a:noFill/>
          <a:ln/>
        </p:spPr>
        <p:txBody>
          <a:bodyPr wrap="square" rtlCol="0" anchor="ctr"/>
          <a:lstStyle/>
          <a:p>
            <a:pPr indent="0" marL="0">
              <a:buNone/>
            </a:pPr>
            <a:r>
              <a:rPr lang="en-US" sz="1150" b="1" spc="200" kern="0" dirty="0">
                <a:solidFill>
                  <a:srgbClr val="2DD4E0"/>
                </a:solidFill>
                <a:latin typeface="Calibri" pitchFamily="34" charset="0"/>
                <a:ea typeface="Calibri" pitchFamily="34" charset="-122"/>
                <a:cs typeface="Calibri" pitchFamily="34" charset="-120"/>
              </a:rPr>
              <a:t>LODGING</a:t>
            </a:r>
            <a:endParaRPr lang="en-US" sz="1150" dirty="0"/>
          </a:p>
        </p:txBody>
      </p:sp>
      <p:sp>
        <p:nvSpPr>
          <p:cNvPr id="8" name="Text 6"/>
          <p:cNvSpPr/>
          <p:nvPr/>
        </p:nvSpPr>
        <p:spPr>
          <a:xfrm>
            <a:off x="914400" y="2066544"/>
            <a:ext cx="3099816" cy="640080"/>
          </a:xfrm>
          <a:prstGeom prst="rect">
            <a:avLst/>
          </a:prstGeom>
          <a:noFill/>
          <a:ln/>
        </p:spPr>
        <p:txBody>
          <a:bodyPr wrap="square"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Actual cost</a:t>
            </a:r>
            <a:endParaRPr lang="en-US" sz="2500" dirty="0"/>
          </a:p>
        </p:txBody>
      </p:sp>
      <p:sp>
        <p:nvSpPr>
          <p:cNvPr id="9" name="Shape 7"/>
          <p:cNvSpPr/>
          <p:nvPr/>
        </p:nvSpPr>
        <p:spPr>
          <a:xfrm>
            <a:off x="932688" y="2743200"/>
            <a:ext cx="640080" cy="0"/>
          </a:xfrm>
          <a:prstGeom prst="line">
            <a:avLst/>
          </a:prstGeom>
          <a:noFill/>
          <a:ln w="25400">
            <a:solidFill>
              <a:srgbClr val="2DD4E0"/>
            </a:solidFill>
            <a:prstDash val="solid"/>
          </a:ln>
        </p:spPr>
      </p:sp>
      <p:sp>
        <p:nvSpPr>
          <p:cNvPr id="10" name="Text 8"/>
          <p:cNvSpPr/>
          <p:nvPr/>
        </p:nvSpPr>
        <p:spPr>
          <a:xfrm>
            <a:off x="914400" y="2852928"/>
            <a:ext cx="3072384" cy="1024128"/>
          </a:xfrm>
          <a:prstGeom prst="rect">
            <a:avLst/>
          </a:prstGeom>
          <a:noFill/>
          <a:ln/>
        </p:spPr>
        <p:txBody>
          <a:bodyPr wrap="square" rtlCol="0" anchor="t"/>
          <a:lstStyle/>
          <a:p>
            <a:pPr indent="0" marL="0">
              <a:lnSpc>
                <a:spcPct val="118000"/>
              </a:lnSpc>
              <a:buNone/>
            </a:pPr>
            <a:r>
              <a:rPr lang="en-US" sz="1150" dirty="0">
                <a:solidFill>
                  <a:srgbClr val="9FB3C8"/>
                </a:solidFill>
                <a:latin typeface="Calibri" pitchFamily="34" charset="0"/>
                <a:ea typeface="Calibri" pitchFamily="34" charset="-122"/>
                <a:cs typeface="Calibri" pitchFamily="34" charset="-120"/>
              </a:rPr>
              <a:t>Reimbursed up to the locality lodging rate. Book through DTS or the TMC. You pay any amount above the rate — and any no-show fee if you don't cancel in time.</a:t>
            </a:r>
            <a:endParaRPr lang="en-US" sz="1150" dirty="0"/>
          </a:p>
        </p:txBody>
      </p:sp>
      <p:sp>
        <p:nvSpPr>
          <p:cNvPr id="11" name="Shape 9"/>
          <p:cNvSpPr/>
          <p:nvPr/>
        </p:nvSpPr>
        <p:spPr>
          <a:xfrm>
            <a:off x="4498848" y="1572768"/>
            <a:ext cx="3602736" cy="2395728"/>
          </a:xfrm>
          <a:prstGeom prst="roundRect">
            <a:avLst>
              <a:gd name="adj" fmla="val 3053"/>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12" name="Text 10"/>
          <p:cNvSpPr/>
          <p:nvPr/>
        </p:nvSpPr>
        <p:spPr>
          <a:xfrm>
            <a:off x="4773168" y="1810512"/>
            <a:ext cx="3099816" cy="274320"/>
          </a:xfrm>
          <a:prstGeom prst="rect">
            <a:avLst/>
          </a:prstGeom>
          <a:noFill/>
          <a:ln/>
        </p:spPr>
        <p:txBody>
          <a:bodyPr wrap="square" rtlCol="0" anchor="ctr"/>
          <a:lstStyle/>
          <a:p>
            <a:pPr indent="0" marL="0">
              <a:buNone/>
            </a:pPr>
            <a:r>
              <a:rPr lang="en-US" sz="1150" b="1" spc="200" kern="0" dirty="0">
                <a:solidFill>
                  <a:srgbClr val="F2A900"/>
                </a:solidFill>
                <a:latin typeface="Calibri" pitchFamily="34" charset="0"/>
                <a:ea typeface="Calibri" pitchFamily="34" charset="-122"/>
                <a:cs typeface="Calibri" pitchFamily="34" charset="-120"/>
              </a:rPr>
              <a:t>MEALS &amp; IE</a:t>
            </a:r>
            <a:endParaRPr lang="en-US" sz="1150" dirty="0"/>
          </a:p>
        </p:txBody>
      </p:sp>
      <p:sp>
        <p:nvSpPr>
          <p:cNvPr id="13" name="Text 11"/>
          <p:cNvSpPr/>
          <p:nvPr/>
        </p:nvSpPr>
        <p:spPr>
          <a:xfrm>
            <a:off x="4773168" y="2066544"/>
            <a:ext cx="3099816" cy="640080"/>
          </a:xfrm>
          <a:prstGeom prst="rect">
            <a:avLst/>
          </a:prstGeom>
          <a:noFill/>
          <a:ln/>
        </p:spPr>
        <p:txBody>
          <a:bodyPr wrap="square"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M&amp;IE rate</a:t>
            </a:r>
            <a:endParaRPr lang="en-US" sz="2500" dirty="0"/>
          </a:p>
        </p:txBody>
      </p:sp>
      <p:sp>
        <p:nvSpPr>
          <p:cNvPr id="14" name="Shape 12"/>
          <p:cNvSpPr/>
          <p:nvPr/>
        </p:nvSpPr>
        <p:spPr>
          <a:xfrm>
            <a:off x="4791456" y="2743200"/>
            <a:ext cx="640080" cy="0"/>
          </a:xfrm>
          <a:prstGeom prst="line">
            <a:avLst/>
          </a:prstGeom>
          <a:noFill/>
          <a:ln w="25400">
            <a:solidFill>
              <a:srgbClr val="F2A900"/>
            </a:solidFill>
            <a:prstDash val="solid"/>
          </a:ln>
        </p:spPr>
      </p:sp>
      <p:sp>
        <p:nvSpPr>
          <p:cNvPr id="15" name="Text 13"/>
          <p:cNvSpPr/>
          <p:nvPr/>
        </p:nvSpPr>
        <p:spPr>
          <a:xfrm>
            <a:off x="4773168" y="2852928"/>
            <a:ext cx="3072384" cy="1024128"/>
          </a:xfrm>
          <a:prstGeom prst="rect">
            <a:avLst/>
          </a:prstGeom>
          <a:noFill/>
          <a:ln/>
        </p:spPr>
        <p:txBody>
          <a:bodyPr wrap="square" rtlCol="0" anchor="t"/>
          <a:lstStyle/>
          <a:p>
            <a:pPr indent="0" marL="0">
              <a:lnSpc>
                <a:spcPct val="118000"/>
              </a:lnSpc>
              <a:buNone/>
            </a:pPr>
            <a:r>
              <a:rPr lang="en-US" sz="1150" dirty="0">
                <a:solidFill>
                  <a:srgbClr val="9FB3C8"/>
                </a:solidFill>
                <a:latin typeface="Calibri" pitchFamily="34" charset="0"/>
                <a:ea typeface="Calibri" pitchFamily="34" charset="-122"/>
                <a:cs typeface="Calibri" pitchFamily="34" charset="-120"/>
              </a:rPr>
              <a:t>Locality meals and incidental rate. 75% of M&amp;IE on the first and last travel day. Directed government meals reduce this to a proportional rate.</a:t>
            </a:r>
            <a:endParaRPr lang="en-US" sz="1150" dirty="0"/>
          </a:p>
        </p:txBody>
      </p:sp>
      <p:sp>
        <p:nvSpPr>
          <p:cNvPr id="16" name="Shape 14"/>
          <p:cNvSpPr/>
          <p:nvPr/>
        </p:nvSpPr>
        <p:spPr>
          <a:xfrm>
            <a:off x="8357616" y="1572768"/>
            <a:ext cx="3602736" cy="2395728"/>
          </a:xfrm>
          <a:prstGeom prst="roundRect">
            <a:avLst>
              <a:gd name="adj" fmla="val 3053"/>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17" name="Text 15"/>
          <p:cNvSpPr/>
          <p:nvPr/>
        </p:nvSpPr>
        <p:spPr>
          <a:xfrm>
            <a:off x="8631936" y="1810512"/>
            <a:ext cx="3099816" cy="274320"/>
          </a:xfrm>
          <a:prstGeom prst="rect">
            <a:avLst/>
          </a:prstGeom>
          <a:noFill/>
          <a:ln/>
        </p:spPr>
        <p:txBody>
          <a:bodyPr wrap="square" rtlCol="0" anchor="ctr"/>
          <a:lstStyle/>
          <a:p>
            <a:pPr indent="0" marL="0">
              <a:buNone/>
            </a:pPr>
            <a:r>
              <a:rPr lang="en-US" sz="1150" b="1" spc="200" kern="0" dirty="0">
                <a:solidFill>
                  <a:srgbClr val="3DD68C"/>
                </a:solidFill>
                <a:latin typeface="Calibri" pitchFamily="34" charset="0"/>
                <a:ea typeface="Calibri" pitchFamily="34" charset="-122"/>
                <a:cs typeface="Calibri" pitchFamily="34" charset="-120"/>
              </a:rPr>
              <a:t>TRANSPORTATION</a:t>
            </a:r>
            <a:endParaRPr lang="en-US" sz="1150" dirty="0"/>
          </a:p>
        </p:txBody>
      </p:sp>
      <p:sp>
        <p:nvSpPr>
          <p:cNvPr id="18" name="Text 16"/>
          <p:cNvSpPr/>
          <p:nvPr/>
        </p:nvSpPr>
        <p:spPr>
          <a:xfrm>
            <a:off x="8631936" y="2066544"/>
            <a:ext cx="3099816" cy="640080"/>
          </a:xfrm>
          <a:prstGeom prst="rect">
            <a:avLst/>
          </a:prstGeom>
          <a:noFill/>
          <a:ln/>
        </p:spPr>
        <p:txBody>
          <a:bodyPr wrap="square"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To &amp; from</a:t>
            </a:r>
            <a:endParaRPr lang="en-US" sz="2500" dirty="0"/>
          </a:p>
        </p:txBody>
      </p:sp>
      <p:sp>
        <p:nvSpPr>
          <p:cNvPr id="19" name="Shape 17"/>
          <p:cNvSpPr/>
          <p:nvPr/>
        </p:nvSpPr>
        <p:spPr>
          <a:xfrm>
            <a:off x="8650224" y="2743200"/>
            <a:ext cx="640080" cy="0"/>
          </a:xfrm>
          <a:prstGeom prst="line">
            <a:avLst/>
          </a:prstGeom>
          <a:noFill/>
          <a:ln w="25400">
            <a:solidFill>
              <a:srgbClr val="3DD68C"/>
            </a:solidFill>
            <a:prstDash val="solid"/>
          </a:ln>
        </p:spPr>
      </p:sp>
      <p:sp>
        <p:nvSpPr>
          <p:cNvPr id="20" name="Text 18"/>
          <p:cNvSpPr/>
          <p:nvPr/>
        </p:nvSpPr>
        <p:spPr>
          <a:xfrm>
            <a:off x="8631936" y="2852928"/>
            <a:ext cx="3072384" cy="1024128"/>
          </a:xfrm>
          <a:prstGeom prst="rect">
            <a:avLst/>
          </a:prstGeom>
          <a:noFill/>
          <a:ln/>
        </p:spPr>
        <p:txBody>
          <a:bodyPr wrap="square" rtlCol="0" anchor="t"/>
          <a:lstStyle/>
          <a:p>
            <a:pPr indent="0" marL="0">
              <a:lnSpc>
                <a:spcPct val="118000"/>
              </a:lnSpc>
              <a:buNone/>
            </a:pPr>
            <a:r>
              <a:rPr lang="en-US" sz="1150" dirty="0">
                <a:solidFill>
                  <a:srgbClr val="9FB3C8"/>
                </a:solidFill>
                <a:latin typeface="Calibri" pitchFamily="34" charset="0"/>
                <a:ea typeface="Calibri" pitchFamily="34" charset="-122"/>
                <a:cs typeface="Calibri" pitchFamily="34" charset="-120"/>
              </a:rPr>
              <a:t>Air is the default TDY mode unless you justify otherwise. POV or rental is authorized only if it appears on the order — get it in writing first.</a:t>
            </a:r>
            <a:endParaRPr lang="en-US" sz="1150" dirty="0"/>
          </a:p>
        </p:txBody>
      </p:sp>
      <p:sp>
        <p:nvSpPr>
          <p:cNvPr id="21" name="Shape 19"/>
          <p:cNvSpPr/>
          <p:nvPr/>
        </p:nvSpPr>
        <p:spPr>
          <a:xfrm>
            <a:off x="640080" y="4206240"/>
            <a:ext cx="10908792" cy="1463040"/>
          </a:xfrm>
          <a:prstGeom prst="roundRect">
            <a:avLst>
              <a:gd name="adj" fmla="val 5000"/>
            </a:avLst>
          </a:prstGeom>
          <a:solidFill>
            <a:srgbClr val="0F1D30"/>
          </a:solidFill>
          <a:ln w="15875">
            <a:solidFill>
              <a:srgbClr val="2DD4E0"/>
            </a:solidFill>
            <a:prstDash val="solid"/>
          </a:ln>
          <a:effectLst>
            <a:outerShdw sx="100000" sy="100000" kx="0" ky="0" algn="bl" rotWithShape="0" blurRad="101600" dist="38100" dir="5400000">
              <a:srgbClr val="000000">
                <a:alpha val="28000"/>
              </a:srgbClr>
            </a:outerShdw>
          </a:effectLst>
        </p:spPr>
      </p:sp>
      <p:sp>
        <p:nvSpPr>
          <p:cNvPr id="22" name="Shape 20"/>
          <p:cNvSpPr/>
          <p:nvPr/>
        </p:nvSpPr>
        <p:spPr>
          <a:xfrm>
            <a:off x="896112" y="4443984"/>
            <a:ext cx="457200" cy="457200"/>
          </a:xfrm>
          <a:prstGeom prst="ellipse">
            <a:avLst/>
          </a:prstGeom>
          <a:solidFill>
            <a:srgbClr val="2DD4E0"/>
          </a:solidFill>
          <a:ln/>
          <a:effectLst>
            <a:outerShdw sx="100000" sy="100000" kx="0" ky="0" algn="bl" rotWithShape="0" blurRad="101600" dist="38100" dir="5400000">
              <a:srgbClr val="000000">
                <a:alpha val="28000"/>
              </a:srgbClr>
            </a:outerShdw>
          </a:effectLst>
        </p:spPr>
      </p:sp>
      <p:sp>
        <p:nvSpPr>
          <p:cNvPr id="23" name="Text 21"/>
          <p:cNvSpPr/>
          <p:nvPr/>
        </p:nvSpPr>
        <p:spPr>
          <a:xfrm>
            <a:off x="896112" y="4443984"/>
            <a:ext cx="457200" cy="457200"/>
          </a:xfrm>
          <a:prstGeom prst="rect">
            <a:avLst/>
          </a:prstGeom>
          <a:noFill/>
          <a:ln/>
        </p:spPr>
        <p:txBody>
          <a:bodyPr wrap="square" rtlCol="0" anchor="ctr"/>
          <a:lstStyle/>
          <a:p>
            <a:pPr algn="ctr" indent="0" marL="0">
              <a:buNone/>
            </a:pPr>
            <a:r>
              <a:rPr lang="en-US" sz="1100" b="1" dirty="0">
                <a:solidFill>
                  <a:srgbClr val="0A1422"/>
                </a:solidFill>
                <a:latin typeface="Cambria" pitchFamily="34" charset="0"/>
                <a:ea typeface="Cambria" pitchFamily="34" charset="-122"/>
                <a:cs typeface="Cambria" pitchFamily="34" charset="-120"/>
              </a:rPr>
              <a:t>★</a:t>
            </a:r>
            <a:endParaRPr lang="en-US" sz="1100" dirty="0"/>
          </a:p>
        </p:txBody>
      </p:sp>
      <p:sp>
        <p:nvSpPr>
          <p:cNvPr id="24" name="Text 22"/>
          <p:cNvSpPr/>
          <p:nvPr/>
        </p:nvSpPr>
        <p:spPr>
          <a:xfrm>
            <a:off x="1554480" y="4425696"/>
            <a:ext cx="9601200" cy="365760"/>
          </a:xfrm>
          <a:prstGeom prst="rect">
            <a:avLst/>
          </a:prstGeom>
          <a:noFill/>
          <a:ln/>
        </p:spPr>
        <p:txBody>
          <a:bodyPr wrap="square" rtlCol="0" anchor="ctr"/>
          <a:lstStyle/>
          <a:p>
            <a:pPr indent="0" marL="0">
              <a:buNone/>
            </a:pPr>
            <a:r>
              <a:rPr lang="en-US" sz="1550" b="1" dirty="0">
                <a:solidFill>
                  <a:srgbClr val="2DD4E0"/>
                </a:solidFill>
                <a:latin typeface="Cambria" pitchFamily="34" charset="0"/>
                <a:ea typeface="Cambria" pitchFamily="34" charset="-122"/>
                <a:cs typeface="Cambria" pitchFamily="34" charset="-120"/>
              </a:rPr>
              <a:t>Government quarters &amp; the DFAC</a:t>
            </a:r>
            <a:endParaRPr lang="en-US" sz="1550" dirty="0"/>
          </a:p>
        </p:txBody>
      </p:sp>
      <p:sp>
        <p:nvSpPr>
          <p:cNvPr id="25" name="Text 23"/>
          <p:cNvSpPr/>
          <p:nvPr/>
        </p:nvSpPr>
        <p:spPr>
          <a:xfrm>
            <a:off x="1554480" y="4809744"/>
            <a:ext cx="9966960" cy="777240"/>
          </a:xfrm>
          <a:prstGeom prst="rect">
            <a:avLst/>
          </a:prstGeom>
          <a:noFill/>
          <a:ln/>
        </p:spPr>
        <p:txBody>
          <a:bodyPr wrap="square" rtlCol="0" anchor="t"/>
          <a:lstStyle/>
          <a:p>
            <a:pPr indent="0" marL="0">
              <a:lnSpc>
                <a:spcPct val="122000"/>
              </a:lnSpc>
              <a:buNone/>
            </a:pPr>
            <a:r>
              <a:rPr lang="en-US" sz="1200" b="1" dirty="0">
                <a:solidFill>
                  <a:srgbClr val="E8EEF5"/>
                </a:solidFill>
                <a:latin typeface="Calibri" pitchFamily="34" charset="0"/>
                <a:ea typeface="Calibri" pitchFamily="34" charset="-122"/>
                <a:cs typeface="Calibri" pitchFamily="34" charset="-120"/>
              </a:rPr>
              <a:t>On a military installation you may be directed to use government quarters and the dining facility</a:t>
            </a:r>
            <a:pPr indent="0" marL="0">
              <a:lnSpc>
                <a:spcPct val="122000"/>
              </a:lnSpc>
              <a:buNone/>
            </a:pPr>
            <a:r>
              <a:rPr lang="en-US" sz="1200" dirty="0">
                <a:solidFill>
                  <a:srgbClr val="9FB3C8"/>
                </a:solidFill>
                <a:latin typeface="Calibri" pitchFamily="34" charset="0"/>
                <a:ea typeface="Calibri" pitchFamily="34" charset="-122"/>
                <a:cs typeface="Calibri" pitchFamily="34" charset="-120"/>
              </a:rPr>
              <a:t>, which reduces per diem. If quarters are unavailable, the AO must document a non-availability statement or number on the order or voucher. You cannot be held to the quarters rate at a location that has no quarters.</a:t>
            </a:r>
            <a:endParaRPr lang="en-US" sz="1200" dirty="0"/>
          </a:p>
        </p:txBody>
      </p:sp>
      <p:sp>
        <p:nvSpPr>
          <p:cNvPr id="26" name="Shape 24"/>
          <p:cNvSpPr/>
          <p:nvPr/>
        </p:nvSpPr>
        <p:spPr>
          <a:xfrm>
            <a:off x="640080" y="6355080"/>
            <a:ext cx="10908792" cy="0"/>
          </a:xfrm>
          <a:prstGeom prst="line">
            <a:avLst/>
          </a:prstGeom>
          <a:noFill/>
          <a:ln w="9525">
            <a:solidFill>
              <a:srgbClr val="24384F"/>
            </a:solidFill>
            <a:prstDash val="solid"/>
          </a:ln>
        </p:spPr>
      </p:sp>
      <p:sp>
        <p:nvSpPr>
          <p:cNvPr id="27" name="Text 25"/>
          <p:cNvSpPr/>
          <p:nvPr/>
        </p:nvSpPr>
        <p:spPr>
          <a:xfrm>
            <a:off x="640080" y="6400800"/>
            <a:ext cx="7315200" cy="274320"/>
          </a:xfrm>
          <a:prstGeom prst="rect">
            <a:avLst/>
          </a:prstGeom>
          <a:noFill/>
          <a:ln/>
        </p:spPr>
        <p:txBody>
          <a:bodyPr wrap="square" rtlCol="0" anchor="ctr"/>
          <a:lstStyle/>
          <a:p>
            <a:pPr algn="l" indent="0" marL="0">
              <a:buNone/>
            </a:pPr>
            <a:r>
              <a:rPr lang="en-US" sz="850" dirty="0">
                <a:solidFill>
                  <a:srgbClr val="6B8299"/>
                </a:solidFill>
                <a:latin typeface="Calibri" pitchFamily="34" charset="0"/>
                <a:ea typeface="Calibri" pitchFamily="34" charset="-122"/>
                <a:cs typeface="Calibri" pitchFamily="34" charset="-120"/>
              </a:rPr>
              <a:t>112-17E10E  ·  Electronic Warfare Specialist Course</a:t>
            </a:r>
            <a:endParaRPr lang="en-US" sz="850" dirty="0"/>
          </a:p>
        </p:txBody>
      </p:sp>
      <p:sp>
        <p:nvSpPr>
          <p:cNvPr id="28" name="Text 26"/>
          <p:cNvSpPr/>
          <p:nvPr/>
        </p:nvSpPr>
        <p:spPr>
          <a:xfrm>
            <a:off x="8165592" y="6400800"/>
            <a:ext cx="2834640" cy="274320"/>
          </a:xfrm>
          <a:prstGeom prst="rect">
            <a:avLst/>
          </a:prstGeom>
          <a:noFill/>
          <a:ln/>
        </p:spPr>
        <p:txBody>
          <a:bodyPr wrap="square" rtlCol="0" anchor="ctr"/>
          <a:lstStyle/>
          <a:p>
            <a:pPr algn="r" indent="0" marL="0">
              <a:buNone/>
            </a:pPr>
            <a:r>
              <a:rPr lang="en-US" sz="850" spc="150" kern="0" dirty="0">
                <a:solidFill>
                  <a:srgbClr val="6B8299"/>
                </a:solidFill>
                <a:latin typeface="Calibri" pitchFamily="34" charset="0"/>
                <a:ea typeface="Calibri" pitchFamily="34" charset="-122"/>
                <a:cs typeface="Calibri" pitchFamily="34" charset="-120"/>
              </a:rPr>
              <a:t>U.S. ARMY CYBER SCHOOL</a:t>
            </a:r>
            <a:endParaRPr lang="en-US" sz="850" dirty="0"/>
          </a:p>
        </p:txBody>
      </p:sp>
      <p:sp>
        <p:nvSpPr>
          <p:cNvPr id="29" name="Text 27"/>
          <p:cNvSpPr/>
          <p:nvPr/>
        </p:nvSpPr>
        <p:spPr>
          <a:xfrm>
            <a:off x="11137392" y="6382512"/>
            <a:ext cx="411480" cy="292608"/>
          </a:xfrm>
          <a:prstGeom prst="rect">
            <a:avLst/>
          </a:prstGeom>
          <a:noFill/>
          <a:ln/>
        </p:spPr>
        <p:txBody>
          <a:bodyPr wrap="square" rtlCol="0" anchor="ctr"/>
          <a:lstStyle/>
          <a:p>
            <a:pPr algn="r" indent="0" marL="0">
              <a:buNone/>
            </a:pPr>
            <a:r>
              <a:rPr lang="en-US" sz="1100" b="1" dirty="0">
                <a:solidFill>
                  <a:srgbClr val="2DD4E0"/>
                </a:solidFill>
                <a:latin typeface="Cambria" pitchFamily="34" charset="0"/>
                <a:ea typeface="Cambria" pitchFamily="34" charset="-122"/>
                <a:cs typeface="Cambria"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422"/>
        </a:solidFill>
      </p:bgPr>
    </p:bg>
    <p:spTree>
      <p:nvGrpSpPr>
        <p:cNvPr id="1" name=""/>
        <p:cNvGrpSpPr/>
        <p:nvPr/>
      </p:nvGrpSpPr>
      <p:grpSpPr>
        <a:xfrm>
          <a:off x="0" y="0"/>
          <a:ext cx="0" cy="0"/>
          <a:chOff x="0" y="0"/>
          <a:chExt cx="0" cy="0"/>
        </a:xfrm>
      </p:grpSpPr>
      <p:sp>
        <p:nvSpPr>
          <p:cNvPr id="2" name="Shape 0"/>
          <p:cNvSpPr/>
          <p:nvPr/>
        </p:nvSpPr>
        <p:spPr>
          <a:xfrm>
            <a:off x="914400" y="0"/>
            <a:ext cx="0" cy="6858000"/>
          </a:xfrm>
          <a:prstGeom prst="line">
            <a:avLst/>
          </a:prstGeom>
          <a:noFill/>
          <a:ln w="6350">
            <a:solidFill>
              <a:srgbClr val="24384F">
                <a:alpha val="32000"/>
              </a:srgbClr>
            </a:solidFill>
            <a:prstDash val="solid"/>
          </a:ln>
        </p:spPr>
      </p:sp>
      <p:sp>
        <p:nvSpPr>
          <p:cNvPr id="3" name="Shape 1"/>
          <p:cNvSpPr/>
          <p:nvPr/>
        </p:nvSpPr>
        <p:spPr>
          <a:xfrm>
            <a:off x="1828800" y="0"/>
            <a:ext cx="0" cy="6858000"/>
          </a:xfrm>
          <a:prstGeom prst="line">
            <a:avLst/>
          </a:prstGeom>
          <a:noFill/>
          <a:ln w="6350">
            <a:solidFill>
              <a:srgbClr val="24384F">
                <a:alpha val="32000"/>
              </a:srgbClr>
            </a:solidFill>
            <a:prstDash val="solid"/>
          </a:ln>
        </p:spPr>
      </p:sp>
      <p:sp>
        <p:nvSpPr>
          <p:cNvPr id="4" name="Shape 2"/>
          <p:cNvSpPr/>
          <p:nvPr/>
        </p:nvSpPr>
        <p:spPr>
          <a:xfrm>
            <a:off x="2743200" y="0"/>
            <a:ext cx="0" cy="6858000"/>
          </a:xfrm>
          <a:prstGeom prst="line">
            <a:avLst/>
          </a:prstGeom>
          <a:noFill/>
          <a:ln w="6350">
            <a:solidFill>
              <a:srgbClr val="24384F">
                <a:alpha val="32000"/>
              </a:srgbClr>
            </a:solidFill>
            <a:prstDash val="solid"/>
          </a:ln>
        </p:spPr>
      </p:sp>
      <p:sp>
        <p:nvSpPr>
          <p:cNvPr id="5" name="Shape 3"/>
          <p:cNvSpPr/>
          <p:nvPr/>
        </p:nvSpPr>
        <p:spPr>
          <a:xfrm>
            <a:off x="3657600" y="0"/>
            <a:ext cx="0" cy="6858000"/>
          </a:xfrm>
          <a:prstGeom prst="line">
            <a:avLst/>
          </a:prstGeom>
          <a:noFill/>
          <a:ln w="6350">
            <a:solidFill>
              <a:srgbClr val="24384F">
                <a:alpha val="32000"/>
              </a:srgbClr>
            </a:solidFill>
            <a:prstDash val="solid"/>
          </a:ln>
        </p:spPr>
      </p:sp>
      <p:sp>
        <p:nvSpPr>
          <p:cNvPr id="6" name="Shape 4"/>
          <p:cNvSpPr/>
          <p:nvPr/>
        </p:nvSpPr>
        <p:spPr>
          <a:xfrm>
            <a:off x="4572000" y="0"/>
            <a:ext cx="0" cy="6858000"/>
          </a:xfrm>
          <a:prstGeom prst="line">
            <a:avLst/>
          </a:prstGeom>
          <a:noFill/>
          <a:ln w="6350">
            <a:solidFill>
              <a:srgbClr val="24384F">
                <a:alpha val="32000"/>
              </a:srgbClr>
            </a:solidFill>
            <a:prstDash val="solid"/>
          </a:ln>
        </p:spPr>
      </p:sp>
      <p:sp>
        <p:nvSpPr>
          <p:cNvPr id="7" name="Shape 5"/>
          <p:cNvSpPr/>
          <p:nvPr/>
        </p:nvSpPr>
        <p:spPr>
          <a:xfrm>
            <a:off x="5486400" y="0"/>
            <a:ext cx="0" cy="6858000"/>
          </a:xfrm>
          <a:prstGeom prst="line">
            <a:avLst/>
          </a:prstGeom>
          <a:noFill/>
          <a:ln w="6350">
            <a:solidFill>
              <a:srgbClr val="24384F">
                <a:alpha val="32000"/>
              </a:srgbClr>
            </a:solidFill>
            <a:prstDash val="solid"/>
          </a:ln>
        </p:spPr>
      </p:sp>
      <p:sp>
        <p:nvSpPr>
          <p:cNvPr id="8" name="Shape 6"/>
          <p:cNvSpPr/>
          <p:nvPr/>
        </p:nvSpPr>
        <p:spPr>
          <a:xfrm>
            <a:off x="6400800" y="0"/>
            <a:ext cx="0" cy="6858000"/>
          </a:xfrm>
          <a:prstGeom prst="line">
            <a:avLst/>
          </a:prstGeom>
          <a:noFill/>
          <a:ln w="6350">
            <a:solidFill>
              <a:srgbClr val="24384F">
                <a:alpha val="32000"/>
              </a:srgbClr>
            </a:solidFill>
            <a:prstDash val="solid"/>
          </a:ln>
        </p:spPr>
      </p:sp>
      <p:sp>
        <p:nvSpPr>
          <p:cNvPr id="9" name="Shape 7"/>
          <p:cNvSpPr/>
          <p:nvPr/>
        </p:nvSpPr>
        <p:spPr>
          <a:xfrm>
            <a:off x="7315200" y="0"/>
            <a:ext cx="0" cy="6858000"/>
          </a:xfrm>
          <a:prstGeom prst="line">
            <a:avLst/>
          </a:prstGeom>
          <a:noFill/>
          <a:ln w="6350">
            <a:solidFill>
              <a:srgbClr val="24384F">
                <a:alpha val="32000"/>
              </a:srgbClr>
            </a:solidFill>
            <a:prstDash val="solid"/>
          </a:ln>
        </p:spPr>
      </p:sp>
      <p:sp>
        <p:nvSpPr>
          <p:cNvPr id="10" name="Shape 8"/>
          <p:cNvSpPr/>
          <p:nvPr/>
        </p:nvSpPr>
        <p:spPr>
          <a:xfrm>
            <a:off x="8229600" y="0"/>
            <a:ext cx="0" cy="6858000"/>
          </a:xfrm>
          <a:prstGeom prst="line">
            <a:avLst/>
          </a:prstGeom>
          <a:noFill/>
          <a:ln w="6350">
            <a:solidFill>
              <a:srgbClr val="24384F">
                <a:alpha val="32000"/>
              </a:srgbClr>
            </a:solidFill>
            <a:prstDash val="solid"/>
          </a:ln>
        </p:spPr>
      </p:sp>
      <p:sp>
        <p:nvSpPr>
          <p:cNvPr id="11" name="Shape 9"/>
          <p:cNvSpPr/>
          <p:nvPr/>
        </p:nvSpPr>
        <p:spPr>
          <a:xfrm>
            <a:off x="9144000" y="0"/>
            <a:ext cx="0" cy="6858000"/>
          </a:xfrm>
          <a:prstGeom prst="line">
            <a:avLst/>
          </a:prstGeom>
          <a:noFill/>
          <a:ln w="6350">
            <a:solidFill>
              <a:srgbClr val="24384F">
                <a:alpha val="32000"/>
              </a:srgbClr>
            </a:solidFill>
            <a:prstDash val="solid"/>
          </a:ln>
        </p:spPr>
      </p:sp>
      <p:sp>
        <p:nvSpPr>
          <p:cNvPr id="12" name="Shape 10"/>
          <p:cNvSpPr/>
          <p:nvPr/>
        </p:nvSpPr>
        <p:spPr>
          <a:xfrm>
            <a:off x="10058400" y="0"/>
            <a:ext cx="0" cy="6858000"/>
          </a:xfrm>
          <a:prstGeom prst="line">
            <a:avLst/>
          </a:prstGeom>
          <a:noFill/>
          <a:ln w="6350">
            <a:solidFill>
              <a:srgbClr val="24384F">
                <a:alpha val="32000"/>
              </a:srgbClr>
            </a:solidFill>
            <a:prstDash val="solid"/>
          </a:ln>
        </p:spPr>
      </p:sp>
      <p:sp>
        <p:nvSpPr>
          <p:cNvPr id="13" name="Shape 11"/>
          <p:cNvSpPr/>
          <p:nvPr/>
        </p:nvSpPr>
        <p:spPr>
          <a:xfrm>
            <a:off x="10972800" y="0"/>
            <a:ext cx="0" cy="6858000"/>
          </a:xfrm>
          <a:prstGeom prst="line">
            <a:avLst/>
          </a:prstGeom>
          <a:noFill/>
          <a:ln w="6350">
            <a:solidFill>
              <a:srgbClr val="24384F">
                <a:alpha val="32000"/>
              </a:srgbClr>
            </a:solidFill>
            <a:prstDash val="solid"/>
          </a:ln>
        </p:spPr>
      </p:sp>
      <p:sp>
        <p:nvSpPr>
          <p:cNvPr id="14" name="Shape 12"/>
          <p:cNvSpPr/>
          <p:nvPr/>
        </p:nvSpPr>
        <p:spPr>
          <a:xfrm>
            <a:off x="11887200" y="0"/>
            <a:ext cx="0" cy="6858000"/>
          </a:xfrm>
          <a:prstGeom prst="line">
            <a:avLst/>
          </a:prstGeom>
          <a:noFill/>
          <a:ln w="6350">
            <a:solidFill>
              <a:srgbClr val="24384F">
                <a:alpha val="32000"/>
              </a:srgbClr>
            </a:solidFill>
            <a:prstDash val="solid"/>
          </a:ln>
        </p:spPr>
      </p:sp>
      <p:sp>
        <p:nvSpPr>
          <p:cNvPr id="15" name="Shape 13"/>
          <p:cNvSpPr/>
          <p:nvPr/>
        </p:nvSpPr>
        <p:spPr>
          <a:xfrm>
            <a:off x="0" y="914400"/>
            <a:ext cx="12188952" cy="0"/>
          </a:xfrm>
          <a:prstGeom prst="line">
            <a:avLst/>
          </a:prstGeom>
          <a:noFill/>
          <a:ln w="6350">
            <a:solidFill>
              <a:srgbClr val="24384F">
                <a:alpha val="32000"/>
              </a:srgbClr>
            </a:solidFill>
            <a:prstDash val="solid"/>
          </a:ln>
        </p:spPr>
      </p:sp>
      <p:sp>
        <p:nvSpPr>
          <p:cNvPr id="16" name="Shape 14"/>
          <p:cNvSpPr/>
          <p:nvPr/>
        </p:nvSpPr>
        <p:spPr>
          <a:xfrm>
            <a:off x="0" y="1828800"/>
            <a:ext cx="12188952" cy="0"/>
          </a:xfrm>
          <a:prstGeom prst="line">
            <a:avLst/>
          </a:prstGeom>
          <a:noFill/>
          <a:ln w="6350">
            <a:solidFill>
              <a:srgbClr val="24384F">
                <a:alpha val="32000"/>
              </a:srgbClr>
            </a:solidFill>
            <a:prstDash val="solid"/>
          </a:ln>
        </p:spPr>
      </p:sp>
      <p:sp>
        <p:nvSpPr>
          <p:cNvPr id="17" name="Shape 15"/>
          <p:cNvSpPr/>
          <p:nvPr/>
        </p:nvSpPr>
        <p:spPr>
          <a:xfrm>
            <a:off x="0" y="2743200"/>
            <a:ext cx="12188952" cy="0"/>
          </a:xfrm>
          <a:prstGeom prst="line">
            <a:avLst/>
          </a:prstGeom>
          <a:noFill/>
          <a:ln w="6350">
            <a:solidFill>
              <a:srgbClr val="24384F">
                <a:alpha val="32000"/>
              </a:srgbClr>
            </a:solidFill>
            <a:prstDash val="solid"/>
          </a:ln>
        </p:spPr>
      </p:sp>
      <p:sp>
        <p:nvSpPr>
          <p:cNvPr id="18" name="Shape 16"/>
          <p:cNvSpPr/>
          <p:nvPr/>
        </p:nvSpPr>
        <p:spPr>
          <a:xfrm>
            <a:off x="0" y="3657600"/>
            <a:ext cx="12188952" cy="0"/>
          </a:xfrm>
          <a:prstGeom prst="line">
            <a:avLst/>
          </a:prstGeom>
          <a:noFill/>
          <a:ln w="6350">
            <a:solidFill>
              <a:srgbClr val="24384F">
                <a:alpha val="32000"/>
              </a:srgbClr>
            </a:solidFill>
            <a:prstDash val="solid"/>
          </a:ln>
        </p:spPr>
      </p:sp>
      <p:sp>
        <p:nvSpPr>
          <p:cNvPr id="19" name="Shape 17"/>
          <p:cNvSpPr/>
          <p:nvPr/>
        </p:nvSpPr>
        <p:spPr>
          <a:xfrm>
            <a:off x="0" y="4572000"/>
            <a:ext cx="12188952" cy="0"/>
          </a:xfrm>
          <a:prstGeom prst="line">
            <a:avLst/>
          </a:prstGeom>
          <a:noFill/>
          <a:ln w="6350">
            <a:solidFill>
              <a:srgbClr val="24384F">
                <a:alpha val="32000"/>
              </a:srgbClr>
            </a:solidFill>
            <a:prstDash val="solid"/>
          </a:ln>
        </p:spPr>
      </p:sp>
      <p:sp>
        <p:nvSpPr>
          <p:cNvPr id="20" name="Shape 18"/>
          <p:cNvSpPr/>
          <p:nvPr/>
        </p:nvSpPr>
        <p:spPr>
          <a:xfrm>
            <a:off x="0" y="5486400"/>
            <a:ext cx="12188952" cy="0"/>
          </a:xfrm>
          <a:prstGeom prst="line">
            <a:avLst/>
          </a:prstGeom>
          <a:noFill/>
          <a:ln w="6350">
            <a:solidFill>
              <a:srgbClr val="24384F">
                <a:alpha val="32000"/>
              </a:srgbClr>
            </a:solidFill>
            <a:prstDash val="solid"/>
          </a:ln>
        </p:spPr>
      </p:sp>
      <p:sp>
        <p:nvSpPr>
          <p:cNvPr id="21" name="Shape 19"/>
          <p:cNvSpPr/>
          <p:nvPr/>
        </p:nvSpPr>
        <p:spPr>
          <a:xfrm>
            <a:off x="0" y="6400800"/>
            <a:ext cx="12188952" cy="0"/>
          </a:xfrm>
          <a:prstGeom prst="line">
            <a:avLst/>
          </a:prstGeom>
          <a:noFill/>
          <a:ln w="6350">
            <a:solidFill>
              <a:srgbClr val="24384F">
                <a:alpha val="32000"/>
              </a:srgbClr>
            </a:solidFill>
            <a:prstDash val="solid"/>
          </a:ln>
        </p:spPr>
      </p:sp>
      <p:sp>
        <p:nvSpPr>
          <p:cNvPr id="22" name="Shape 20"/>
          <p:cNvSpPr/>
          <p:nvPr/>
        </p:nvSpPr>
        <p:spPr>
          <a:xfrm>
            <a:off x="640080" y="2148840"/>
            <a:ext cx="640080" cy="0"/>
          </a:xfrm>
          <a:prstGeom prst="line">
            <a:avLst/>
          </a:prstGeom>
          <a:noFill/>
          <a:ln w="31750">
            <a:solidFill>
              <a:srgbClr val="3DD68C"/>
            </a:solidFill>
            <a:prstDash val="solid"/>
          </a:ln>
        </p:spPr>
      </p:sp>
      <p:sp>
        <p:nvSpPr>
          <p:cNvPr id="23" name="Shape 21"/>
          <p:cNvSpPr/>
          <p:nvPr/>
        </p:nvSpPr>
        <p:spPr>
          <a:xfrm>
            <a:off x="640080" y="2148840"/>
            <a:ext cx="0" cy="640080"/>
          </a:xfrm>
          <a:prstGeom prst="line">
            <a:avLst/>
          </a:prstGeom>
          <a:noFill/>
          <a:ln w="31750">
            <a:solidFill>
              <a:srgbClr val="3DD68C"/>
            </a:solidFill>
            <a:prstDash val="solid"/>
          </a:ln>
        </p:spPr>
      </p:sp>
      <p:sp>
        <p:nvSpPr>
          <p:cNvPr id="24" name="Shape 22"/>
          <p:cNvSpPr/>
          <p:nvPr/>
        </p:nvSpPr>
        <p:spPr>
          <a:xfrm>
            <a:off x="640080" y="2514600"/>
            <a:ext cx="1417320" cy="1417320"/>
          </a:xfrm>
          <a:prstGeom prst="roundRect">
            <a:avLst>
              <a:gd name="adj" fmla="val 9032"/>
            </a:avLst>
          </a:prstGeom>
          <a:solidFill>
            <a:srgbClr val="17293F"/>
          </a:solidFill>
          <a:ln w="19050">
            <a:solidFill>
              <a:srgbClr val="3DD68C"/>
            </a:solidFill>
            <a:prstDash val="solid"/>
          </a:ln>
          <a:effectLst>
            <a:outerShdw sx="100000" sy="100000" kx="0" ky="0" algn="bl" rotWithShape="0" blurRad="101600" dist="38100" dir="5400000">
              <a:srgbClr val="000000">
                <a:alpha val="28000"/>
              </a:srgbClr>
            </a:outerShdw>
          </a:effectLst>
        </p:spPr>
      </p:sp>
      <p:sp>
        <p:nvSpPr>
          <p:cNvPr id="25" name="Text 23"/>
          <p:cNvSpPr/>
          <p:nvPr/>
        </p:nvSpPr>
        <p:spPr>
          <a:xfrm>
            <a:off x="640080" y="2487168"/>
            <a:ext cx="1417320" cy="1417320"/>
          </a:xfrm>
          <a:prstGeom prst="rect">
            <a:avLst/>
          </a:prstGeom>
          <a:noFill/>
          <a:ln/>
        </p:spPr>
        <p:txBody>
          <a:bodyPr wrap="square" rtlCol="0" anchor="ctr"/>
          <a:lstStyle/>
          <a:p>
            <a:pPr algn="ctr" indent="0" marL="0">
              <a:buNone/>
            </a:pPr>
            <a:r>
              <a:rPr lang="en-US" sz="6200" b="1" dirty="0">
                <a:solidFill>
                  <a:srgbClr val="3DD68C"/>
                </a:solidFill>
                <a:latin typeface="Cambria" pitchFamily="34" charset="0"/>
                <a:ea typeface="Cambria" pitchFamily="34" charset="-122"/>
                <a:cs typeface="Cambria" pitchFamily="34" charset="-120"/>
              </a:rPr>
              <a:t>$</a:t>
            </a:r>
            <a:endParaRPr lang="en-US" sz="6200" dirty="0"/>
          </a:p>
        </p:txBody>
      </p:sp>
      <p:sp>
        <p:nvSpPr>
          <p:cNvPr id="26" name="Text 24"/>
          <p:cNvSpPr/>
          <p:nvPr/>
        </p:nvSpPr>
        <p:spPr>
          <a:xfrm>
            <a:off x="2468880" y="2606040"/>
            <a:ext cx="8229600" cy="365760"/>
          </a:xfrm>
          <a:prstGeom prst="rect">
            <a:avLst/>
          </a:prstGeom>
          <a:noFill/>
          <a:ln/>
        </p:spPr>
        <p:txBody>
          <a:bodyPr wrap="square" rtlCol="0" anchor="ctr"/>
          <a:lstStyle/>
          <a:p>
            <a:pPr indent="0" marL="0">
              <a:buNone/>
            </a:pPr>
            <a:r>
              <a:rPr lang="en-US" sz="1300" b="1" spc="400" kern="0" dirty="0">
                <a:solidFill>
                  <a:srgbClr val="3DD68C"/>
                </a:solidFill>
                <a:latin typeface="Calibri" pitchFamily="34" charset="0"/>
                <a:ea typeface="Calibri" pitchFamily="34" charset="-122"/>
                <a:cs typeface="Calibri" pitchFamily="34" charset="-120"/>
              </a:rPr>
              <a:t>SECTION 01</a:t>
            </a:r>
            <a:endParaRPr lang="en-US" sz="1300" dirty="0"/>
          </a:p>
        </p:txBody>
      </p:sp>
      <p:sp>
        <p:nvSpPr>
          <p:cNvPr id="27" name="Text 25"/>
          <p:cNvSpPr/>
          <p:nvPr/>
        </p:nvSpPr>
        <p:spPr>
          <a:xfrm>
            <a:off x="2432304" y="2944368"/>
            <a:ext cx="9235440" cy="9144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Government Travel Charge Card</a:t>
            </a:r>
            <a:endParaRPr lang="en-US" sz="3800" dirty="0"/>
          </a:p>
        </p:txBody>
      </p:sp>
      <p:sp>
        <p:nvSpPr>
          <p:cNvPr id="28" name="Text 26"/>
          <p:cNvSpPr/>
          <p:nvPr/>
        </p:nvSpPr>
        <p:spPr>
          <a:xfrm>
            <a:off x="2468880" y="3840480"/>
            <a:ext cx="8778240" cy="548640"/>
          </a:xfrm>
          <a:prstGeom prst="rect">
            <a:avLst/>
          </a:prstGeom>
          <a:noFill/>
          <a:ln/>
        </p:spPr>
        <p:txBody>
          <a:bodyPr wrap="square" rtlCol="0" anchor="ctr"/>
          <a:lstStyle/>
          <a:p>
            <a:pPr indent="0" marL="0">
              <a:buNone/>
            </a:pPr>
            <a:r>
              <a:rPr lang="en-US" sz="1450" i="1" dirty="0">
                <a:solidFill>
                  <a:srgbClr val="9FB3C8"/>
                </a:solidFill>
                <a:latin typeface="Calibri" pitchFamily="34" charset="0"/>
                <a:ea typeface="Calibri" pitchFamily="34" charset="-122"/>
                <a:cs typeface="Calibri" pitchFamily="34" charset="-120"/>
              </a:rPr>
              <a:t>Mandatory-use card for official travel — how it works, how to stay compliant, and how not to go delinquent.</a:t>
            </a:r>
            <a:endParaRPr lang="en-US" sz="1450" dirty="0"/>
          </a:p>
        </p:txBody>
      </p:sp>
      <p:sp>
        <p:nvSpPr>
          <p:cNvPr id="29" name="Shape 27"/>
          <p:cNvSpPr/>
          <p:nvPr/>
        </p:nvSpPr>
        <p:spPr>
          <a:xfrm>
            <a:off x="640080" y="6355080"/>
            <a:ext cx="10908792" cy="0"/>
          </a:xfrm>
          <a:prstGeom prst="line">
            <a:avLst/>
          </a:prstGeom>
          <a:noFill/>
          <a:ln w="9525">
            <a:solidFill>
              <a:srgbClr val="24384F"/>
            </a:solidFill>
            <a:prstDash val="solid"/>
          </a:ln>
        </p:spPr>
      </p:sp>
      <p:sp>
        <p:nvSpPr>
          <p:cNvPr id="30" name="Text 28"/>
          <p:cNvSpPr/>
          <p:nvPr/>
        </p:nvSpPr>
        <p:spPr>
          <a:xfrm>
            <a:off x="640080" y="6400800"/>
            <a:ext cx="7315200" cy="274320"/>
          </a:xfrm>
          <a:prstGeom prst="rect">
            <a:avLst/>
          </a:prstGeom>
          <a:noFill/>
          <a:ln/>
        </p:spPr>
        <p:txBody>
          <a:bodyPr wrap="square" rtlCol="0" anchor="ctr"/>
          <a:lstStyle/>
          <a:p>
            <a:pPr algn="l" indent="0" marL="0">
              <a:buNone/>
            </a:pPr>
            <a:r>
              <a:rPr lang="en-US" sz="850" dirty="0">
                <a:solidFill>
                  <a:srgbClr val="6B8299"/>
                </a:solidFill>
                <a:latin typeface="Calibri" pitchFamily="34" charset="0"/>
                <a:ea typeface="Calibri" pitchFamily="34" charset="-122"/>
                <a:cs typeface="Calibri" pitchFamily="34" charset="-120"/>
              </a:rPr>
              <a:t>112-17E10E  ·  Electronic Warfare Specialist Course</a:t>
            </a:r>
            <a:endParaRPr lang="en-US" sz="850" dirty="0"/>
          </a:p>
        </p:txBody>
      </p:sp>
      <p:sp>
        <p:nvSpPr>
          <p:cNvPr id="31" name="Text 29"/>
          <p:cNvSpPr/>
          <p:nvPr/>
        </p:nvSpPr>
        <p:spPr>
          <a:xfrm>
            <a:off x="8165592" y="6400800"/>
            <a:ext cx="2834640" cy="274320"/>
          </a:xfrm>
          <a:prstGeom prst="rect">
            <a:avLst/>
          </a:prstGeom>
          <a:noFill/>
          <a:ln/>
        </p:spPr>
        <p:txBody>
          <a:bodyPr wrap="square" rtlCol="0" anchor="ctr"/>
          <a:lstStyle/>
          <a:p>
            <a:pPr algn="r" indent="0" marL="0">
              <a:buNone/>
            </a:pPr>
            <a:r>
              <a:rPr lang="en-US" sz="850" spc="150" kern="0" dirty="0">
                <a:solidFill>
                  <a:srgbClr val="6B8299"/>
                </a:solidFill>
                <a:latin typeface="Calibri" pitchFamily="34" charset="0"/>
                <a:ea typeface="Calibri" pitchFamily="34" charset="-122"/>
                <a:cs typeface="Calibri" pitchFamily="34" charset="-120"/>
              </a:rPr>
              <a:t>U.S. ARMY CYBER SCHOOL</a:t>
            </a:r>
            <a:endParaRPr lang="en-US" sz="850" dirty="0"/>
          </a:p>
        </p:txBody>
      </p:sp>
      <p:sp>
        <p:nvSpPr>
          <p:cNvPr id="32" name="Text 30"/>
          <p:cNvSpPr/>
          <p:nvPr/>
        </p:nvSpPr>
        <p:spPr>
          <a:xfrm>
            <a:off x="11137392" y="6382512"/>
            <a:ext cx="411480" cy="292608"/>
          </a:xfrm>
          <a:prstGeom prst="rect">
            <a:avLst/>
          </a:prstGeom>
          <a:noFill/>
          <a:ln/>
        </p:spPr>
        <p:txBody>
          <a:bodyPr wrap="square" rtlCol="0" anchor="ctr"/>
          <a:lstStyle/>
          <a:p>
            <a:pPr algn="r" indent="0" marL="0">
              <a:buNone/>
            </a:pPr>
            <a:r>
              <a:rPr lang="en-US" sz="1100" b="1" dirty="0">
                <a:solidFill>
                  <a:srgbClr val="2DD4E0"/>
                </a:solidFill>
                <a:latin typeface="Cambria" pitchFamily="34" charset="0"/>
                <a:ea typeface="Cambria" pitchFamily="34" charset="-122"/>
                <a:cs typeface="Cambria"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422"/>
        </a:solidFill>
      </p:bgPr>
    </p:bg>
    <p:spTree>
      <p:nvGrpSpPr>
        <p:cNvPr id="1" name=""/>
        <p:cNvGrpSpPr/>
        <p:nvPr/>
      </p:nvGrpSpPr>
      <p:grpSpPr>
        <a:xfrm>
          <a:off x="0" y="0"/>
          <a:ext cx="0" cy="0"/>
          <a:chOff x="0" y="0"/>
          <a:chExt cx="0" cy="0"/>
        </a:xfrm>
      </p:grpSpPr>
      <p:sp>
        <p:nvSpPr>
          <p:cNvPr id="2" name="Shape 0"/>
          <p:cNvSpPr/>
          <p:nvPr/>
        </p:nvSpPr>
        <p:spPr>
          <a:xfrm>
            <a:off x="640080" y="457200"/>
            <a:ext cx="310896" cy="0"/>
          </a:xfrm>
          <a:prstGeom prst="line">
            <a:avLst/>
          </a:prstGeom>
          <a:noFill/>
          <a:ln w="25400">
            <a:solidFill>
              <a:srgbClr val="3DD68C"/>
            </a:solidFill>
            <a:prstDash val="solid"/>
          </a:ln>
        </p:spPr>
      </p:sp>
      <p:sp>
        <p:nvSpPr>
          <p:cNvPr id="3" name="Shape 1"/>
          <p:cNvSpPr/>
          <p:nvPr/>
        </p:nvSpPr>
        <p:spPr>
          <a:xfrm>
            <a:off x="640080" y="457200"/>
            <a:ext cx="0" cy="310896"/>
          </a:xfrm>
          <a:prstGeom prst="line">
            <a:avLst/>
          </a:prstGeom>
          <a:noFill/>
          <a:ln w="25400">
            <a:solidFill>
              <a:srgbClr val="3DD68C"/>
            </a:solidFill>
            <a:prstDash val="solid"/>
          </a:ln>
        </p:spPr>
      </p:sp>
      <p:sp>
        <p:nvSpPr>
          <p:cNvPr id="4" name="Text 2"/>
          <p:cNvSpPr/>
          <p:nvPr/>
        </p:nvSpPr>
        <p:spPr>
          <a:xfrm>
            <a:off x="1097280" y="420624"/>
            <a:ext cx="10058400" cy="274320"/>
          </a:xfrm>
          <a:prstGeom prst="rect">
            <a:avLst/>
          </a:prstGeom>
          <a:noFill/>
          <a:ln/>
        </p:spPr>
        <p:txBody>
          <a:bodyPr wrap="square" rtlCol="0" anchor="ctr"/>
          <a:lstStyle/>
          <a:p>
            <a:pPr indent="0" marL="0">
              <a:buNone/>
            </a:pPr>
            <a:r>
              <a:rPr lang="en-US" sz="1150" b="1" spc="350" kern="0" dirty="0">
                <a:solidFill>
                  <a:srgbClr val="3DD68C"/>
                </a:solidFill>
                <a:latin typeface="Calibri" pitchFamily="34" charset="0"/>
                <a:ea typeface="Calibri" pitchFamily="34" charset="-122"/>
                <a:cs typeface="Calibri" pitchFamily="34" charset="-120"/>
              </a:rPr>
              <a:t>GTCC · THE CARD</a:t>
            </a:r>
            <a:endParaRPr lang="en-US" sz="1150" dirty="0"/>
          </a:p>
        </p:txBody>
      </p:sp>
      <p:sp>
        <p:nvSpPr>
          <p:cNvPr id="5" name="Text 3"/>
          <p:cNvSpPr/>
          <p:nvPr/>
        </p:nvSpPr>
        <p:spPr>
          <a:xfrm>
            <a:off x="640080" y="713232"/>
            <a:ext cx="10972800" cy="7772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the Travel Card Works</a:t>
            </a:r>
            <a:endParaRPr lang="en-US" sz="3000" dirty="0"/>
          </a:p>
        </p:txBody>
      </p:sp>
      <p:sp>
        <p:nvSpPr>
          <p:cNvPr id="6" name="Shape 4"/>
          <p:cNvSpPr/>
          <p:nvPr/>
        </p:nvSpPr>
        <p:spPr>
          <a:xfrm>
            <a:off x="640080" y="1572768"/>
            <a:ext cx="5532120" cy="4114800"/>
          </a:xfrm>
          <a:prstGeom prst="roundRect">
            <a:avLst>
              <a:gd name="adj" fmla="val 1778"/>
            </a:avLst>
          </a:prstGeom>
          <a:solidFill>
            <a:srgbClr val="17293F"/>
          </a:solidFill>
          <a:ln w="15875">
            <a:solidFill>
              <a:srgbClr val="3DD68C"/>
            </a:solidFill>
            <a:prstDash val="solid"/>
          </a:ln>
          <a:effectLst>
            <a:outerShdw sx="100000" sy="100000" kx="0" ky="0" algn="bl" rotWithShape="0" blurRad="101600" dist="38100" dir="5400000">
              <a:srgbClr val="000000">
                <a:alpha val="28000"/>
              </a:srgbClr>
            </a:outerShdw>
          </a:effectLst>
        </p:spPr>
      </p:sp>
      <p:sp>
        <p:nvSpPr>
          <p:cNvPr id="7" name="Shape 5"/>
          <p:cNvSpPr/>
          <p:nvPr/>
        </p:nvSpPr>
        <p:spPr>
          <a:xfrm>
            <a:off x="896112" y="1810512"/>
            <a:ext cx="457200" cy="457200"/>
          </a:xfrm>
          <a:prstGeom prst="ellipse">
            <a:avLst/>
          </a:prstGeom>
          <a:solidFill>
            <a:srgbClr val="3DD68C"/>
          </a:solidFill>
          <a:ln/>
          <a:effectLst>
            <a:outerShdw sx="100000" sy="100000" kx="0" ky="0" algn="bl" rotWithShape="0" blurRad="101600" dist="38100" dir="5400000">
              <a:srgbClr val="000000">
                <a:alpha val="28000"/>
              </a:srgbClr>
            </a:outerShdw>
          </a:effectLst>
        </p:spPr>
      </p:sp>
      <p:sp>
        <p:nvSpPr>
          <p:cNvPr id="8" name="Text 6"/>
          <p:cNvSpPr/>
          <p:nvPr/>
        </p:nvSpPr>
        <p:spPr>
          <a:xfrm>
            <a:off x="896112" y="1810512"/>
            <a:ext cx="457200" cy="457200"/>
          </a:xfrm>
          <a:prstGeom prst="rect">
            <a:avLst/>
          </a:prstGeom>
          <a:noFill/>
          <a:ln/>
        </p:spPr>
        <p:txBody>
          <a:bodyPr wrap="square" rtlCol="0" anchor="ctr"/>
          <a:lstStyle/>
          <a:p>
            <a:pPr algn="ctr" indent="0" marL="0">
              <a:buNone/>
            </a:pPr>
            <a:r>
              <a:rPr lang="en-US" sz="1100" b="1" dirty="0">
                <a:solidFill>
                  <a:srgbClr val="0A1422"/>
                </a:solidFill>
                <a:latin typeface="Cambria" pitchFamily="34" charset="0"/>
                <a:ea typeface="Cambria" pitchFamily="34" charset="-122"/>
                <a:cs typeface="Cambria" pitchFamily="34" charset="-120"/>
              </a:rPr>
              <a:t>✓</a:t>
            </a:r>
            <a:endParaRPr lang="en-US" sz="1100" dirty="0"/>
          </a:p>
        </p:txBody>
      </p:sp>
      <p:sp>
        <p:nvSpPr>
          <p:cNvPr id="9" name="Text 7"/>
          <p:cNvSpPr/>
          <p:nvPr/>
        </p:nvSpPr>
        <p:spPr>
          <a:xfrm>
            <a:off x="1554480" y="1810512"/>
            <a:ext cx="4389120" cy="457200"/>
          </a:xfrm>
          <a:prstGeom prst="rect">
            <a:avLst/>
          </a:prstGeom>
          <a:noFill/>
          <a:ln/>
        </p:spPr>
        <p:txBody>
          <a:bodyPr wrap="square" rtlCol="0" anchor="ctr"/>
          <a:lstStyle/>
          <a:p>
            <a:pPr indent="0" marL="0">
              <a:buNone/>
            </a:pPr>
            <a:r>
              <a:rPr lang="en-US" sz="1700" b="1" dirty="0">
                <a:solidFill>
                  <a:srgbClr val="3DD68C"/>
                </a:solidFill>
                <a:latin typeface="Cambria" pitchFamily="34" charset="0"/>
                <a:ea typeface="Cambria" pitchFamily="34" charset="-122"/>
                <a:cs typeface="Cambria" pitchFamily="34" charset="-120"/>
              </a:rPr>
              <a:t>The Ground Rules</a:t>
            </a:r>
            <a:endParaRPr lang="en-US" sz="1700" dirty="0"/>
          </a:p>
        </p:txBody>
      </p:sp>
      <p:sp>
        <p:nvSpPr>
          <p:cNvPr id="10" name="Text 8"/>
          <p:cNvSpPr/>
          <p:nvPr/>
        </p:nvSpPr>
        <p:spPr>
          <a:xfrm>
            <a:off x="914400" y="2395728"/>
            <a:ext cx="5029200" cy="3200400"/>
          </a:xfrm>
          <a:prstGeom prst="rect">
            <a:avLst/>
          </a:prstGeom>
          <a:noFill/>
          <a:ln/>
        </p:spPr>
        <p:txBody>
          <a:bodyPr wrap="square" rtlCol="0" anchor="t"/>
          <a:lstStyle/>
          <a:p>
            <a:pPr marL="203200" indent="-203200">
              <a:lnSpc>
                <a:spcPct val="114000"/>
              </a:lnSpc>
              <a:spcAft>
                <a:spcPts val="900"/>
              </a:spcAft>
              <a:buSzPct val="100000"/>
              <a:buChar char="•"/>
            </a:pPr>
            <a:r>
              <a:rPr lang="en-US" sz="1200" dirty="0">
                <a:solidFill>
                  <a:srgbClr val="E8EEF5"/>
                </a:solidFill>
                <a:latin typeface="Calibri" pitchFamily="34" charset="0"/>
                <a:ea typeface="Calibri" pitchFamily="34" charset="-122"/>
                <a:cs typeface="Calibri" pitchFamily="34" charset="-120"/>
              </a:rPr>
              <a:t>Mandatory use: the GTCC is the primary payment method for all official travel expenses — lodging, airfare, rental car, fuel, and meals — unless specifically exempted.</a:t>
            </a:r>
            <a:endParaRPr lang="en-US" sz="1200" dirty="0"/>
          </a:p>
          <a:p>
            <a:pPr marL="203200" indent="-203200">
              <a:lnSpc>
                <a:spcPct val="114000"/>
              </a:lnSpc>
              <a:spcAft>
                <a:spcPts val="900"/>
              </a:spcAft>
              <a:buSzPct val="100000"/>
              <a:buChar char="•"/>
            </a:pPr>
            <a:r>
              <a:rPr lang="en-US" sz="1200" dirty="0">
                <a:solidFill>
                  <a:srgbClr val="E8EEF5"/>
                </a:solidFill>
                <a:latin typeface="Calibri" pitchFamily="34" charset="0"/>
                <a:ea typeface="Calibri" pitchFamily="34" charset="-122"/>
                <a:cs typeface="Calibri" pitchFamily="34" charset="-120"/>
              </a:rPr>
              <a:t>It is an Individually Billed Account (IBA). You are liable for the full undisputed balance by the due date, regardless of whether your reimbursement has arrived.</a:t>
            </a:r>
            <a:endParaRPr lang="en-US" sz="1200" dirty="0"/>
          </a:p>
          <a:p>
            <a:pPr marL="203200" indent="-203200">
              <a:lnSpc>
                <a:spcPct val="114000"/>
              </a:lnSpc>
              <a:spcAft>
                <a:spcPts val="900"/>
              </a:spcAft>
              <a:buSzPct val="100000"/>
              <a:buChar char="•"/>
            </a:pPr>
            <a:r>
              <a:rPr lang="en-US" sz="1200" dirty="0">
                <a:solidFill>
                  <a:srgbClr val="E8EEF5"/>
                </a:solidFill>
                <a:latin typeface="Calibri" pitchFamily="34" charset="0"/>
                <a:ea typeface="Calibri" pitchFamily="34" charset="-122"/>
                <a:cs typeface="Calibri" pitchFamily="34" charset="-120"/>
              </a:rPr>
              <a:t>A standard card is issued with a FICO score above 659; otherwise a restricted card. Applying does not affect your credit.</a:t>
            </a:r>
            <a:endParaRPr lang="en-US" sz="1200" dirty="0"/>
          </a:p>
          <a:p>
            <a:pPr marL="203200" indent="-203200">
              <a:lnSpc>
                <a:spcPct val="114000"/>
              </a:lnSpc>
              <a:spcAft>
                <a:spcPts val="900"/>
              </a:spcAft>
              <a:buSzPct val="100000"/>
              <a:buChar char="•"/>
            </a:pPr>
            <a:r>
              <a:rPr lang="en-US" sz="1200" dirty="0">
                <a:solidFill>
                  <a:srgbClr val="E8EEF5"/>
                </a:solidFill>
                <a:latin typeface="Calibri" pitchFamily="34" charset="0"/>
                <a:ea typeface="Calibri" pitchFamily="34" charset="-122"/>
                <a:cs typeface="Calibri" pitchFamily="34" charset="-120"/>
              </a:rPr>
              <a:t>Activate the card and set your PIN before travel. Need a higher limit for a long or high-cost course? Ask your APC in advance.</a:t>
            </a:r>
            <a:endParaRPr lang="en-US" sz="1200" dirty="0"/>
          </a:p>
        </p:txBody>
      </p:sp>
      <p:sp>
        <p:nvSpPr>
          <p:cNvPr id="11" name="Shape 9"/>
          <p:cNvSpPr/>
          <p:nvPr/>
        </p:nvSpPr>
        <p:spPr>
          <a:xfrm>
            <a:off x="6355080" y="1572768"/>
            <a:ext cx="5193792" cy="4114800"/>
          </a:xfrm>
          <a:prstGeom prst="roundRect">
            <a:avLst>
              <a:gd name="adj" fmla="val 1778"/>
            </a:avLst>
          </a:prstGeom>
          <a:solidFill>
            <a:srgbClr val="0F1D30"/>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12" name="Text 10"/>
          <p:cNvSpPr/>
          <p:nvPr/>
        </p:nvSpPr>
        <p:spPr>
          <a:xfrm>
            <a:off x="6629400" y="1783080"/>
            <a:ext cx="4663440" cy="411480"/>
          </a:xfrm>
          <a:prstGeom prst="rect">
            <a:avLst/>
          </a:prstGeom>
          <a:noFill/>
          <a:ln/>
        </p:spPr>
        <p:txBody>
          <a:bodyPr wrap="square" rtlCol="0" anchor="ctr"/>
          <a:lstStyle/>
          <a:p>
            <a:pPr indent="0" marL="0">
              <a:buNone/>
            </a:pPr>
            <a:r>
              <a:rPr lang="en-US" sz="1600" b="1" dirty="0">
                <a:solidFill>
                  <a:srgbClr val="2DD4E0"/>
                </a:solidFill>
                <a:latin typeface="Cambria" pitchFamily="34" charset="0"/>
                <a:ea typeface="Cambria" pitchFamily="34" charset="-122"/>
                <a:cs typeface="Cambria" pitchFamily="34" charset="-120"/>
              </a:rPr>
              <a:t>Card Facts</a:t>
            </a:r>
            <a:endParaRPr lang="en-US" sz="1600" dirty="0"/>
          </a:p>
        </p:txBody>
      </p:sp>
      <p:sp>
        <p:nvSpPr>
          <p:cNvPr id="13" name="Text 11"/>
          <p:cNvSpPr/>
          <p:nvPr/>
        </p:nvSpPr>
        <p:spPr>
          <a:xfrm>
            <a:off x="6629400" y="2286000"/>
            <a:ext cx="1691640" cy="713232"/>
          </a:xfrm>
          <a:prstGeom prst="rect">
            <a:avLst/>
          </a:prstGeom>
          <a:noFill/>
          <a:ln/>
        </p:spPr>
        <p:txBody>
          <a:bodyPr wrap="square" rtlCol="0" anchor="ctr"/>
          <a:lstStyle/>
          <a:p>
            <a:pPr indent="0" marL="0">
              <a:buNone/>
            </a:pPr>
            <a:r>
              <a:rPr lang="en-US" sz="2400" b="1" dirty="0">
                <a:solidFill>
                  <a:srgbClr val="F2A900"/>
                </a:solidFill>
                <a:latin typeface="Cambria" pitchFamily="34" charset="0"/>
                <a:ea typeface="Cambria" pitchFamily="34" charset="-122"/>
                <a:cs typeface="Cambria" pitchFamily="34" charset="-120"/>
              </a:rPr>
              <a:t>60 days</a:t>
            </a:r>
            <a:endParaRPr lang="en-US" sz="2400" dirty="0"/>
          </a:p>
        </p:txBody>
      </p:sp>
      <p:sp>
        <p:nvSpPr>
          <p:cNvPr id="14" name="Text 12"/>
          <p:cNvSpPr/>
          <p:nvPr/>
        </p:nvSpPr>
        <p:spPr>
          <a:xfrm>
            <a:off x="8366760" y="2286000"/>
            <a:ext cx="3017520" cy="713232"/>
          </a:xfrm>
          <a:prstGeom prst="rect">
            <a:avLst/>
          </a:prstGeom>
          <a:noFill/>
          <a:ln/>
        </p:spPr>
        <p:txBody>
          <a:bodyPr wrap="square" rtlCol="0" anchor="ctr"/>
          <a:lstStyle/>
          <a:p>
            <a:pPr indent="0" marL="0">
              <a:lnSpc>
                <a:spcPct val="112000"/>
              </a:lnSpc>
              <a:buNone/>
            </a:pPr>
            <a:r>
              <a:rPr lang="en-US" sz="1150" dirty="0">
                <a:solidFill>
                  <a:srgbClr val="9FB3C8"/>
                </a:solidFill>
                <a:latin typeface="Calibri" pitchFamily="34" charset="0"/>
                <a:ea typeface="Calibri" pitchFamily="34" charset="-122"/>
                <a:cs typeface="Calibri" pitchFamily="34" charset="-120"/>
              </a:rPr>
              <a:t>Extended payment timeline for TDY travel (120 days for PCS).</a:t>
            </a:r>
            <a:endParaRPr lang="en-US" sz="1150" dirty="0"/>
          </a:p>
        </p:txBody>
      </p:sp>
      <p:sp>
        <p:nvSpPr>
          <p:cNvPr id="15" name="Shape 13"/>
          <p:cNvSpPr/>
          <p:nvPr/>
        </p:nvSpPr>
        <p:spPr>
          <a:xfrm>
            <a:off x="6629400" y="3054096"/>
            <a:ext cx="4663440" cy="0"/>
          </a:xfrm>
          <a:prstGeom prst="line">
            <a:avLst/>
          </a:prstGeom>
          <a:noFill/>
          <a:ln w="9525">
            <a:solidFill>
              <a:srgbClr val="24384F"/>
            </a:solidFill>
            <a:prstDash val="solid"/>
          </a:ln>
        </p:spPr>
      </p:sp>
      <p:sp>
        <p:nvSpPr>
          <p:cNvPr id="16" name="Text 14"/>
          <p:cNvSpPr/>
          <p:nvPr/>
        </p:nvSpPr>
        <p:spPr>
          <a:xfrm>
            <a:off x="6629400" y="3108960"/>
            <a:ext cx="1691640" cy="713232"/>
          </a:xfrm>
          <a:prstGeom prst="rect">
            <a:avLst/>
          </a:prstGeom>
          <a:noFill/>
          <a:ln/>
        </p:spPr>
        <p:txBody>
          <a:bodyPr wrap="square" rtlCol="0" anchor="ctr"/>
          <a:lstStyle/>
          <a:p>
            <a:pPr indent="0" marL="0">
              <a:buNone/>
            </a:pPr>
            <a:r>
              <a:rPr lang="en-US" sz="2400" b="1" dirty="0">
                <a:solidFill>
                  <a:srgbClr val="F2A900"/>
                </a:solidFill>
                <a:latin typeface="Cambria" pitchFamily="34" charset="0"/>
                <a:ea typeface="Cambria" pitchFamily="34" charset="-122"/>
                <a:cs typeface="Cambria" pitchFamily="34" charset="-120"/>
              </a:rPr>
              <a:t>5 days</a:t>
            </a:r>
            <a:endParaRPr lang="en-US" sz="2400" dirty="0"/>
          </a:p>
        </p:txBody>
      </p:sp>
      <p:sp>
        <p:nvSpPr>
          <p:cNvPr id="17" name="Text 15"/>
          <p:cNvSpPr/>
          <p:nvPr/>
        </p:nvSpPr>
        <p:spPr>
          <a:xfrm>
            <a:off x="8366760" y="3108960"/>
            <a:ext cx="3017520" cy="713232"/>
          </a:xfrm>
          <a:prstGeom prst="rect">
            <a:avLst/>
          </a:prstGeom>
          <a:noFill/>
          <a:ln/>
        </p:spPr>
        <p:txBody>
          <a:bodyPr wrap="square" rtlCol="0" anchor="ctr"/>
          <a:lstStyle/>
          <a:p>
            <a:pPr indent="0" marL="0">
              <a:lnSpc>
                <a:spcPct val="112000"/>
              </a:lnSpc>
              <a:buNone/>
            </a:pPr>
            <a:r>
              <a:rPr lang="en-US" sz="1150" dirty="0">
                <a:solidFill>
                  <a:srgbClr val="9FB3C8"/>
                </a:solidFill>
                <a:latin typeface="Calibri" pitchFamily="34" charset="0"/>
                <a:ea typeface="Calibri" pitchFamily="34" charset="-122"/>
                <a:cs typeface="Calibri" pitchFamily="34" charset="-120"/>
              </a:rPr>
              <a:t>Deadline to submit your voucher after travel ends.</a:t>
            </a:r>
            <a:endParaRPr lang="en-US" sz="1150" dirty="0"/>
          </a:p>
        </p:txBody>
      </p:sp>
      <p:sp>
        <p:nvSpPr>
          <p:cNvPr id="18" name="Shape 16"/>
          <p:cNvSpPr/>
          <p:nvPr/>
        </p:nvSpPr>
        <p:spPr>
          <a:xfrm>
            <a:off x="6629400" y="3877056"/>
            <a:ext cx="4663440" cy="0"/>
          </a:xfrm>
          <a:prstGeom prst="line">
            <a:avLst/>
          </a:prstGeom>
          <a:noFill/>
          <a:ln w="9525">
            <a:solidFill>
              <a:srgbClr val="24384F"/>
            </a:solidFill>
            <a:prstDash val="solid"/>
          </a:ln>
        </p:spPr>
      </p:sp>
      <p:sp>
        <p:nvSpPr>
          <p:cNvPr id="19" name="Text 17"/>
          <p:cNvSpPr/>
          <p:nvPr/>
        </p:nvSpPr>
        <p:spPr>
          <a:xfrm>
            <a:off x="6629400" y="3931920"/>
            <a:ext cx="1691640" cy="713232"/>
          </a:xfrm>
          <a:prstGeom prst="rect">
            <a:avLst/>
          </a:prstGeom>
          <a:noFill/>
          <a:ln/>
        </p:spPr>
        <p:txBody>
          <a:bodyPr wrap="square" rtlCol="0" anchor="ctr"/>
          <a:lstStyle/>
          <a:p>
            <a:pPr indent="0" marL="0">
              <a:buNone/>
            </a:pPr>
            <a:r>
              <a:rPr lang="en-US" sz="2400" b="1" dirty="0">
                <a:solidFill>
                  <a:srgbClr val="F2A900"/>
                </a:solidFill>
                <a:latin typeface="Cambria" pitchFamily="34" charset="0"/>
                <a:ea typeface="Cambria" pitchFamily="34" charset="-122"/>
                <a:cs typeface="Cambria" pitchFamily="34" charset="-120"/>
              </a:rPr>
              <a:t>3 years</a:t>
            </a:r>
            <a:endParaRPr lang="en-US" sz="2400" dirty="0"/>
          </a:p>
        </p:txBody>
      </p:sp>
      <p:sp>
        <p:nvSpPr>
          <p:cNvPr id="20" name="Text 18"/>
          <p:cNvSpPr/>
          <p:nvPr/>
        </p:nvSpPr>
        <p:spPr>
          <a:xfrm>
            <a:off x="8366760" y="3931920"/>
            <a:ext cx="3017520" cy="713232"/>
          </a:xfrm>
          <a:prstGeom prst="rect">
            <a:avLst/>
          </a:prstGeom>
          <a:noFill/>
          <a:ln/>
        </p:spPr>
        <p:txBody>
          <a:bodyPr wrap="square" rtlCol="0" anchor="ctr"/>
          <a:lstStyle/>
          <a:p>
            <a:pPr indent="0" marL="0">
              <a:lnSpc>
                <a:spcPct val="112000"/>
              </a:lnSpc>
              <a:buNone/>
            </a:pPr>
            <a:r>
              <a:rPr lang="en-US" sz="1150" dirty="0">
                <a:solidFill>
                  <a:srgbClr val="9FB3C8"/>
                </a:solidFill>
                <a:latin typeface="Calibri" pitchFamily="34" charset="0"/>
                <a:ea typeface="Calibri" pitchFamily="34" charset="-122"/>
                <a:cs typeface="Calibri" pitchFamily="34" charset="-120"/>
              </a:rPr>
              <a:t>How often GTCC refresher training and a signed SOU are required.</a:t>
            </a:r>
            <a:endParaRPr lang="en-US" sz="1150" dirty="0"/>
          </a:p>
        </p:txBody>
      </p:sp>
      <p:sp>
        <p:nvSpPr>
          <p:cNvPr id="21" name="Shape 19"/>
          <p:cNvSpPr/>
          <p:nvPr/>
        </p:nvSpPr>
        <p:spPr>
          <a:xfrm>
            <a:off x="6629400" y="4700016"/>
            <a:ext cx="4663440" cy="0"/>
          </a:xfrm>
          <a:prstGeom prst="line">
            <a:avLst/>
          </a:prstGeom>
          <a:noFill/>
          <a:ln w="9525">
            <a:solidFill>
              <a:srgbClr val="24384F"/>
            </a:solidFill>
            <a:prstDash val="solid"/>
          </a:ln>
        </p:spPr>
      </p:sp>
      <p:sp>
        <p:nvSpPr>
          <p:cNvPr id="22" name="Text 20"/>
          <p:cNvSpPr/>
          <p:nvPr/>
        </p:nvSpPr>
        <p:spPr>
          <a:xfrm>
            <a:off x="6629400" y="4754880"/>
            <a:ext cx="1691640" cy="713232"/>
          </a:xfrm>
          <a:prstGeom prst="rect">
            <a:avLst/>
          </a:prstGeom>
          <a:noFill/>
          <a:ln/>
        </p:spPr>
        <p:txBody>
          <a:bodyPr wrap="square" rtlCol="0" anchor="ctr"/>
          <a:lstStyle/>
          <a:p>
            <a:pPr indent="0" marL="0">
              <a:buNone/>
            </a:pPr>
            <a:r>
              <a:rPr lang="en-US" sz="2400" b="1" dirty="0">
                <a:solidFill>
                  <a:srgbClr val="F2A900"/>
                </a:solidFill>
                <a:latin typeface="Cambria" pitchFamily="34" charset="0"/>
                <a:ea typeface="Cambria" pitchFamily="34" charset="-122"/>
                <a:cs typeface="Cambria" pitchFamily="34" charset="-120"/>
              </a:rPr>
              <a:t>$0</a:t>
            </a:r>
            <a:endParaRPr lang="en-US" sz="2400" dirty="0"/>
          </a:p>
        </p:txBody>
      </p:sp>
      <p:sp>
        <p:nvSpPr>
          <p:cNvPr id="23" name="Text 21"/>
          <p:cNvSpPr/>
          <p:nvPr/>
        </p:nvSpPr>
        <p:spPr>
          <a:xfrm>
            <a:off x="8366760" y="4754880"/>
            <a:ext cx="3017520" cy="713232"/>
          </a:xfrm>
          <a:prstGeom prst="rect">
            <a:avLst/>
          </a:prstGeom>
          <a:noFill/>
          <a:ln/>
        </p:spPr>
        <p:txBody>
          <a:bodyPr wrap="square" rtlCol="0" anchor="ctr"/>
          <a:lstStyle/>
          <a:p>
            <a:pPr indent="0" marL="0">
              <a:lnSpc>
                <a:spcPct val="112000"/>
              </a:lnSpc>
              <a:buNone/>
            </a:pPr>
            <a:r>
              <a:rPr lang="en-US" sz="1150" dirty="0">
                <a:solidFill>
                  <a:srgbClr val="9FB3C8"/>
                </a:solidFill>
                <a:latin typeface="Calibri" pitchFamily="34" charset="0"/>
                <a:ea typeface="Calibri" pitchFamily="34" charset="-122"/>
                <a:cs typeface="Calibri" pitchFamily="34" charset="-120"/>
              </a:rPr>
              <a:t>Interest charged, and no credit-report hit when you apply.</a:t>
            </a:r>
            <a:endParaRPr lang="en-US" sz="1150" dirty="0"/>
          </a:p>
        </p:txBody>
      </p:sp>
      <p:sp>
        <p:nvSpPr>
          <p:cNvPr id="24" name="Shape 22"/>
          <p:cNvSpPr/>
          <p:nvPr/>
        </p:nvSpPr>
        <p:spPr>
          <a:xfrm>
            <a:off x="640080" y="6355080"/>
            <a:ext cx="10908792" cy="0"/>
          </a:xfrm>
          <a:prstGeom prst="line">
            <a:avLst/>
          </a:prstGeom>
          <a:noFill/>
          <a:ln w="9525">
            <a:solidFill>
              <a:srgbClr val="24384F"/>
            </a:solidFill>
            <a:prstDash val="solid"/>
          </a:ln>
        </p:spPr>
      </p:sp>
      <p:sp>
        <p:nvSpPr>
          <p:cNvPr id="25" name="Text 23"/>
          <p:cNvSpPr/>
          <p:nvPr/>
        </p:nvSpPr>
        <p:spPr>
          <a:xfrm>
            <a:off x="640080" y="6400800"/>
            <a:ext cx="7315200" cy="274320"/>
          </a:xfrm>
          <a:prstGeom prst="rect">
            <a:avLst/>
          </a:prstGeom>
          <a:noFill/>
          <a:ln/>
        </p:spPr>
        <p:txBody>
          <a:bodyPr wrap="square" rtlCol="0" anchor="ctr"/>
          <a:lstStyle/>
          <a:p>
            <a:pPr algn="l" indent="0" marL="0">
              <a:buNone/>
            </a:pPr>
            <a:r>
              <a:rPr lang="en-US" sz="850" dirty="0">
                <a:solidFill>
                  <a:srgbClr val="6B8299"/>
                </a:solidFill>
                <a:latin typeface="Calibri" pitchFamily="34" charset="0"/>
                <a:ea typeface="Calibri" pitchFamily="34" charset="-122"/>
                <a:cs typeface="Calibri" pitchFamily="34" charset="-120"/>
              </a:rPr>
              <a:t>112-17E10E  ·  Electronic Warfare Specialist Course</a:t>
            </a:r>
            <a:endParaRPr lang="en-US" sz="850" dirty="0"/>
          </a:p>
        </p:txBody>
      </p:sp>
      <p:sp>
        <p:nvSpPr>
          <p:cNvPr id="26" name="Text 24"/>
          <p:cNvSpPr/>
          <p:nvPr/>
        </p:nvSpPr>
        <p:spPr>
          <a:xfrm>
            <a:off x="8165592" y="6400800"/>
            <a:ext cx="2834640" cy="274320"/>
          </a:xfrm>
          <a:prstGeom prst="rect">
            <a:avLst/>
          </a:prstGeom>
          <a:noFill/>
          <a:ln/>
        </p:spPr>
        <p:txBody>
          <a:bodyPr wrap="square" rtlCol="0" anchor="ctr"/>
          <a:lstStyle/>
          <a:p>
            <a:pPr algn="r" indent="0" marL="0">
              <a:buNone/>
            </a:pPr>
            <a:r>
              <a:rPr lang="en-US" sz="850" spc="150" kern="0" dirty="0">
                <a:solidFill>
                  <a:srgbClr val="6B8299"/>
                </a:solidFill>
                <a:latin typeface="Calibri" pitchFamily="34" charset="0"/>
                <a:ea typeface="Calibri" pitchFamily="34" charset="-122"/>
                <a:cs typeface="Calibri" pitchFamily="34" charset="-120"/>
              </a:rPr>
              <a:t>U.S. ARMY CYBER SCHOOL</a:t>
            </a:r>
            <a:endParaRPr lang="en-US" sz="850" dirty="0"/>
          </a:p>
        </p:txBody>
      </p:sp>
      <p:sp>
        <p:nvSpPr>
          <p:cNvPr id="27" name="Text 25"/>
          <p:cNvSpPr/>
          <p:nvPr/>
        </p:nvSpPr>
        <p:spPr>
          <a:xfrm>
            <a:off x="11137392" y="6382512"/>
            <a:ext cx="411480" cy="292608"/>
          </a:xfrm>
          <a:prstGeom prst="rect">
            <a:avLst/>
          </a:prstGeom>
          <a:noFill/>
          <a:ln/>
        </p:spPr>
        <p:txBody>
          <a:bodyPr wrap="square" rtlCol="0" anchor="ctr"/>
          <a:lstStyle/>
          <a:p>
            <a:pPr algn="r" indent="0" marL="0">
              <a:buNone/>
            </a:pPr>
            <a:r>
              <a:rPr lang="en-US" sz="1100" b="1" dirty="0">
                <a:solidFill>
                  <a:srgbClr val="2DD4E0"/>
                </a:solidFill>
                <a:latin typeface="Cambria" pitchFamily="34" charset="0"/>
                <a:ea typeface="Cambria" pitchFamily="34" charset="-122"/>
                <a:cs typeface="Cambria"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422"/>
        </a:solidFill>
      </p:bgPr>
    </p:bg>
    <p:spTree>
      <p:nvGrpSpPr>
        <p:cNvPr id="1" name=""/>
        <p:cNvGrpSpPr/>
        <p:nvPr/>
      </p:nvGrpSpPr>
      <p:grpSpPr>
        <a:xfrm>
          <a:off x="0" y="0"/>
          <a:ext cx="0" cy="0"/>
          <a:chOff x="0" y="0"/>
          <a:chExt cx="0" cy="0"/>
        </a:xfrm>
      </p:grpSpPr>
      <p:sp>
        <p:nvSpPr>
          <p:cNvPr id="2" name="Shape 0"/>
          <p:cNvSpPr/>
          <p:nvPr/>
        </p:nvSpPr>
        <p:spPr>
          <a:xfrm>
            <a:off x="640080" y="457200"/>
            <a:ext cx="310896" cy="0"/>
          </a:xfrm>
          <a:prstGeom prst="line">
            <a:avLst/>
          </a:prstGeom>
          <a:noFill/>
          <a:ln w="25400">
            <a:solidFill>
              <a:srgbClr val="3DD68C"/>
            </a:solidFill>
            <a:prstDash val="solid"/>
          </a:ln>
        </p:spPr>
      </p:sp>
      <p:sp>
        <p:nvSpPr>
          <p:cNvPr id="3" name="Shape 1"/>
          <p:cNvSpPr/>
          <p:nvPr/>
        </p:nvSpPr>
        <p:spPr>
          <a:xfrm>
            <a:off x="640080" y="457200"/>
            <a:ext cx="0" cy="310896"/>
          </a:xfrm>
          <a:prstGeom prst="line">
            <a:avLst/>
          </a:prstGeom>
          <a:noFill/>
          <a:ln w="25400">
            <a:solidFill>
              <a:srgbClr val="3DD68C"/>
            </a:solidFill>
            <a:prstDash val="solid"/>
          </a:ln>
        </p:spPr>
      </p:sp>
      <p:sp>
        <p:nvSpPr>
          <p:cNvPr id="4" name="Text 2"/>
          <p:cNvSpPr/>
          <p:nvPr/>
        </p:nvSpPr>
        <p:spPr>
          <a:xfrm>
            <a:off x="1097280" y="420624"/>
            <a:ext cx="10058400" cy="274320"/>
          </a:xfrm>
          <a:prstGeom prst="rect">
            <a:avLst/>
          </a:prstGeom>
          <a:noFill/>
          <a:ln/>
        </p:spPr>
        <p:txBody>
          <a:bodyPr wrap="square" rtlCol="0" anchor="ctr"/>
          <a:lstStyle/>
          <a:p>
            <a:pPr indent="0" marL="0">
              <a:buNone/>
            </a:pPr>
            <a:r>
              <a:rPr lang="en-US" sz="1150" b="1" spc="350" kern="0" dirty="0">
                <a:solidFill>
                  <a:srgbClr val="3DD68C"/>
                </a:solidFill>
                <a:latin typeface="Calibri" pitchFamily="34" charset="0"/>
                <a:ea typeface="Calibri" pitchFamily="34" charset="-122"/>
                <a:cs typeface="Calibri" pitchFamily="34" charset="-120"/>
              </a:rPr>
              <a:t>GTCC · STAYING COMPLIANT</a:t>
            </a:r>
            <a:endParaRPr lang="en-US" sz="1150" dirty="0"/>
          </a:p>
        </p:txBody>
      </p:sp>
      <p:sp>
        <p:nvSpPr>
          <p:cNvPr id="5" name="Text 3"/>
          <p:cNvSpPr/>
          <p:nvPr/>
        </p:nvSpPr>
        <p:spPr>
          <a:xfrm>
            <a:off x="640080" y="713232"/>
            <a:ext cx="10972800" cy="7772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Split Disbursement &amp; Avoiding Delinquency</a:t>
            </a:r>
            <a:endParaRPr lang="en-US" sz="3000" dirty="0"/>
          </a:p>
        </p:txBody>
      </p:sp>
      <p:sp>
        <p:nvSpPr>
          <p:cNvPr id="6" name="Shape 4"/>
          <p:cNvSpPr/>
          <p:nvPr/>
        </p:nvSpPr>
        <p:spPr>
          <a:xfrm>
            <a:off x="640080" y="1572768"/>
            <a:ext cx="5532120" cy="2011680"/>
          </a:xfrm>
          <a:prstGeom prst="roundRect">
            <a:avLst>
              <a:gd name="adj" fmla="val 3636"/>
            </a:avLst>
          </a:prstGeom>
          <a:solidFill>
            <a:srgbClr val="17293F"/>
          </a:solidFill>
          <a:ln w="15875">
            <a:solidFill>
              <a:srgbClr val="3DD68C"/>
            </a:solidFill>
            <a:prstDash val="solid"/>
          </a:ln>
          <a:effectLst>
            <a:outerShdw sx="100000" sy="100000" kx="0" ky="0" algn="bl" rotWithShape="0" blurRad="101600" dist="38100" dir="5400000">
              <a:srgbClr val="000000">
                <a:alpha val="28000"/>
              </a:srgbClr>
            </a:outerShdw>
          </a:effectLst>
        </p:spPr>
      </p:sp>
      <p:sp>
        <p:nvSpPr>
          <p:cNvPr id="7" name="Text 5"/>
          <p:cNvSpPr/>
          <p:nvPr/>
        </p:nvSpPr>
        <p:spPr>
          <a:xfrm>
            <a:off x="914400" y="1737360"/>
            <a:ext cx="5029200" cy="365760"/>
          </a:xfrm>
          <a:prstGeom prst="rect">
            <a:avLst/>
          </a:prstGeom>
          <a:noFill/>
          <a:ln/>
        </p:spPr>
        <p:txBody>
          <a:bodyPr wrap="square" rtlCol="0" anchor="ctr"/>
          <a:lstStyle/>
          <a:p>
            <a:pPr indent="0" marL="0">
              <a:buNone/>
            </a:pPr>
            <a:r>
              <a:rPr lang="en-US" sz="1550" b="1" dirty="0">
                <a:solidFill>
                  <a:srgbClr val="3DD68C"/>
                </a:solidFill>
                <a:latin typeface="Cambria" pitchFamily="34" charset="0"/>
                <a:ea typeface="Cambria" pitchFamily="34" charset="-122"/>
                <a:cs typeface="Cambria" pitchFamily="34" charset="-120"/>
              </a:rPr>
              <a:t>Use split disbursement — always</a:t>
            </a:r>
            <a:endParaRPr lang="en-US" sz="1550" dirty="0"/>
          </a:p>
        </p:txBody>
      </p:sp>
      <p:sp>
        <p:nvSpPr>
          <p:cNvPr id="8" name="Text 6"/>
          <p:cNvSpPr/>
          <p:nvPr/>
        </p:nvSpPr>
        <p:spPr>
          <a:xfrm>
            <a:off x="914400" y="2157984"/>
            <a:ext cx="5029200" cy="1371600"/>
          </a:xfrm>
          <a:prstGeom prst="rect">
            <a:avLst/>
          </a:prstGeom>
          <a:noFill/>
          <a:ln/>
        </p:spPr>
        <p:txBody>
          <a:bodyPr wrap="square" rtlCol="0" anchor="t"/>
          <a:lstStyle/>
          <a:p>
            <a:pPr indent="0" marL="0">
              <a:lnSpc>
                <a:spcPct val="122000"/>
              </a:lnSpc>
              <a:buNone/>
            </a:pPr>
            <a:r>
              <a:rPr lang="en-US" sz="1200" dirty="0">
                <a:solidFill>
                  <a:srgbClr val="E8EEF5"/>
                </a:solidFill>
                <a:latin typeface="Calibri" pitchFamily="34" charset="0"/>
                <a:ea typeface="Calibri" pitchFamily="34" charset="-122"/>
                <a:cs typeface="Calibri" pitchFamily="34" charset="-120"/>
              </a:rPr>
              <a:t>Split disbursement routes your reimbursement to pay the card vendor directly, with any remainder deposited to your bank. </a:t>
            </a:r>
            <a:pPr indent="0" marL="0">
              <a:lnSpc>
                <a:spcPct val="122000"/>
              </a:lnSpc>
              <a:buNone/>
            </a:pPr>
            <a:r>
              <a:rPr lang="en-US" sz="1200" b="1" dirty="0">
                <a:solidFill>
                  <a:srgbClr val="E8EEF5"/>
                </a:solidFill>
                <a:latin typeface="Calibri" pitchFamily="34" charset="0"/>
                <a:ea typeface="Calibri" pitchFamily="34" charset="-122"/>
                <a:cs typeface="Calibri" pitchFamily="34" charset="-120"/>
              </a:rPr>
              <a:t>It is the required settlement method and the single best defense against delinquency.</a:t>
            </a:r>
            <a:endParaRPr lang="en-US" sz="1200" dirty="0"/>
          </a:p>
        </p:txBody>
      </p:sp>
      <p:sp>
        <p:nvSpPr>
          <p:cNvPr id="9" name="Shape 7"/>
          <p:cNvSpPr/>
          <p:nvPr/>
        </p:nvSpPr>
        <p:spPr>
          <a:xfrm>
            <a:off x="640080" y="3730752"/>
            <a:ext cx="5532120" cy="1938528"/>
          </a:xfrm>
          <a:prstGeom prst="roundRect">
            <a:avLst>
              <a:gd name="adj" fmla="val 3774"/>
            </a:avLst>
          </a:prstGeom>
          <a:solidFill>
            <a:srgbClr val="0F1D30"/>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10" name="Text 8"/>
          <p:cNvSpPr/>
          <p:nvPr/>
        </p:nvSpPr>
        <p:spPr>
          <a:xfrm>
            <a:off x="914400" y="3858768"/>
            <a:ext cx="4572000" cy="292608"/>
          </a:xfrm>
          <a:prstGeom prst="rect">
            <a:avLst/>
          </a:prstGeom>
          <a:noFill/>
          <a:ln/>
        </p:spPr>
        <p:txBody>
          <a:bodyPr wrap="square" rtlCol="0" anchor="ctr"/>
          <a:lstStyle/>
          <a:p>
            <a:pPr indent="0" marL="0">
              <a:buNone/>
            </a:pPr>
            <a:r>
              <a:rPr lang="en-US" sz="1000" b="1" spc="250" kern="0" dirty="0">
                <a:solidFill>
                  <a:srgbClr val="6B8299"/>
                </a:solidFill>
                <a:latin typeface="Calibri" pitchFamily="34" charset="0"/>
                <a:ea typeface="Calibri" pitchFamily="34" charset="-122"/>
                <a:cs typeface="Calibri" pitchFamily="34" charset="-120"/>
              </a:rPr>
              <a:t>MONEY FLOW</a:t>
            </a:r>
            <a:endParaRPr lang="en-US" sz="1000" dirty="0"/>
          </a:p>
        </p:txBody>
      </p:sp>
      <p:sp>
        <p:nvSpPr>
          <p:cNvPr id="11" name="Shape 9"/>
          <p:cNvSpPr/>
          <p:nvPr/>
        </p:nvSpPr>
        <p:spPr>
          <a:xfrm>
            <a:off x="914400" y="4224528"/>
            <a:ext cx="1481328" cy="1051560"/>
          </a:xfrm>
          <a:prstGeom prst="roundRect">
            <a:avLst>
              <a:gd name="adj" fmla="val 6087"/>
            </a:avLst>
          </a:prstGeom>
          <a:solidFill>
            <a:srgbClr val="17293F"/>
          </a:solidFill>
          <a:ln w="15875">
            <a:solidFill>
              <a:srgbClr val="3DD68C"/>
            </a:solidFill>
            <a:prstDash val="solid"/>
          </a:ln>
        </p:spPr>
      </p:sp>
      <p:sp>
        <p:nvSpPr>
          <p:cNvPr id="12" name="Text 10"/>
          <p:cNvSpPr/>
          <p:nvPr/>
        </p:nvSpPr>
        <p:spPr>
          <a:xfrm>
            <a:off x="914400" y="4370832"/>
            <a:ext cx="1481328" cy="457200"/>
          </a:xfrm>
          <a:prstGeom prst="rect">
            <a:avLst/>
          </a:prstGeom>
          <a:noFill/>
          <a:ln/>
        </p:spPr>
        <p:txBody>
          <a:bodyPr wrap="square" rtlCol="0" anchor="ctr"/>
          <a:lstStyle/>
          <a:p>
            <a:pPr algn="ctr" indent="0" marL="0">
              <a:buNone/>
            </a:pPr>
            <a:r>
              <a:rPr lang="en-US" sz="1350" b="1" dirty="0">
                <a:solidFill>
                  <a:srgbClr val="3DD68C"/>
                </a:solidFill>
                <a:latin typeface="Cambria" pitchFamily="34" charset="0"/>
                <a:ea typeface="Cambria" pitchFamily="34" charset="-122"/>
                <a:cs typeface="Cambria" pitchFamily="34" charset="-120"/>
              </a:rPr>
              <a:t>DFAS</a:t>
            </a:r>
            <a:endParaRPr lang="en-US" sz="1350" dirty="0"/>
          </a:p>
        </p:txBody>
      </p:sp>
      <p:sp>
        <p:nvSpPr>
          <p:cNvPr id="13" name="Text 11"/>
          <p:cNvSpPr/>
          <p:nvPr/>
        </p:nvSpPr>
        <p:spPr>
          <a:xfrm>
            <a:off x="914400" y="4791456"/>
            <a:ext cx="1481328" cy="320040"/>
          </a:xfrm>
          <a:prstGeom prst="rect">
            <a:avLst/>
          </a:prstGeom>
          <a:noFill/>
          <a:ln/>
        </p:spPr>
        <p:txBody>
          <a:bodyPr wrap="square" rtlCol="0" anchor="ctr"/>
          <a:lstStyle/>
          <a:p>
            <a:pPr algn="ctr" indent="0" marL="0">
              <a:buNone/>
            </a:pPr>
            <a:r>
              <a:rPr lang="en-US" sz="1000" dirty="0">
                <a:solidFill>
                  <a:srgbClr val="9FB3C8"/>
                </a:solidFill>
                <a:latin typeface="Calibri" pitchFamily="34" charset="0"/>
                <a:ea typeface="Calibri" pitchFamily="34" charset="-122"/>
                <a:cs typeface="Calibri" pitchFamily="34" charset="-120"/>
              </a:rPr>
              <a:t>reimburses</a:t>
            </a:r>
            <a:endParaRPr lang="en-US" sz="1000" dirty="0"/>
          </a:p>
        </p:txBody>
      </p:sp>
      <p:sp>
        <p:nvSpPr>
          <p:cNvPr id="14" name="Text 12"/>
          <p:cNvSpPr/>
          <p:nvPr/>
        </p:nvSpPr>
        <p:spPr>
          <a:xfrm>
            <a:off x="2368296" y="4224528"/>
            <a:ext cx="256032" cy="1051560"/>
          </a:xfrm>
          <a:prstGeom prst="rect">
            <a:avLst/>
          </a:prstGeom>
          <a:noFill/>
          <a:ln/>
        </p:spPr>
        <p:txBody>
          <a:bodyPr wrap="square" rtlCol="0" anchor="ctr"/>
          <a:lstStyle/>
          <a:p>
            <a:pPr algn="ctr" indent="0" marL="0">
              <a:buNone/>
            </a:pPr>
            <a:r>
              <a:rPr lang="en-US" sz="2600" b="1" dirty="0">
                <a:solidFill>
                  <a:srgbClr val="6B8299"/>
                </a:solidFill>
                <a:latin typeface="Cambria" pitchFamily="34" charset="0"/>
                <a:ea typeface="Cambria" pitchFamily="34" charset="-122"/>
                <a:cs typeface="Cambria" pitchFamily="34" charset="-120"/>
              </a:rPr>
              <a:t>›</a:t>
            </a:r>
            <a:endParaRPr lang="en-US" sz="2600" dirty="0"/>
          </a:p>
        </p:txBody>
      </p:sp>
      <p:sp>
        <p:nvSpPr>
          <p:cNvPr id="15" name="Shape 13"/>
          <p:cNvSpPr/>
          <p:nvPr/>
        </p:nvSpPr>
        <p:spPr>
          <a:xfrm>
            <a:off x="2596896" y="4224528"/>
            <a:ext cx="1481328" cy="1051560"/>
          </a:xfrm>
          <a:prstGeom prst="roundRect">
            <a:avLst>
              <a:gd name="adj" fmla="val 6087"/>
            </a:avLst>
          </a:prstGeom>
          <a:solidFill>
            <a:srgbClr val="17293F"/>
          </a:solidFill>
          <a:ln w="15875">
            <a:solidFill>
              <a:srgbClr val="F2A900"/>
            </a:solidFill>
            <a:prstDash val="solid"/>
          </a:ln>
        </p:spPr>
      </p:sp>
      <p:sp>
        <p:nvSpPr>
          <p:cNvPr id="16" name="Text 14"/>
          <p:cNvSpPr/>
          <p:nvPr/>
        </p:nvSpPr>
        <p:spPr>
          <a:xfrm>
            <a:off x="2596896" y="4370832"/>
            <a:ext cx="1481328" cy="457200"/>
          </a:xfrm>
          <a:prstGeom prst="rect">
            <a:avLst/>
          </a:prstGeom>
          <a:noFill/>
          <a:ln/>
        </p:spPr>
        <p:txBody>
          <a:bodyPr wrap="square" rtlCol="0" anchor="ctr"/>
          <a:lstStyle/>
          <a:p>
            <a:pPr algn="ctr" indent="0" marL="0">
              <a:buNone/>
            </a:pPr>
            <a:r>
              <a:rPr lang="en-US" sz="1350" b="1" dirty="0">
                <a:solidFill>
                  <a:srgbClr val="F2A900"/>
                </a:solidFill>
                <a:latin typeface="Cambria" pitchFamily="34" charset="0"/>
                <a:ea typeface="Cambria" pitchFamily="34" charset="-122"/>
                <a:cs typeface="Cambria" pitchFamily="34" charset="-120"/>
              </a:rPr>
              <a:t>Card vendor</a:t>
            </a:r>
            <a:endParaRPr lang="en-US" sz="1350" dirty="0"/>
          </a:p>
        </p:txBody>
      </p:sp>
      <p:sp>
        <p:nvSpPr>
          <p:cNvPr id="17" name="Text 15"/>
          <p:cNvSpPr/>
          <p:nvPr/>
        </p:nvSpPr>
        <p:spPr>
          <a:xfrm>
            <a:off x="2596896" y="4791456"/>
            <a:ext cx="1481328" cy="320040"/>
          </a:xfrm>
          <a:prstGeom prst="rect">
            <a:avLst/>
          </a:prstGeom>
          <a:noFill/>
          <a:ln/>
        </p:spPr>
        <p:txBody>
          <a:bodyPr wrap="square" rtlCol="0" anchor="ctr"/>
          <a:lstStyle/>
          <a:p>
            <a:pPr algn="ctr" indent="0" marL="0">
              <a:buNone/>
            </a:pPr>
            <a:r>
              <a:rPr lang="en-US" sz="1000" dirty="0">
                <a:solidFill>
                  <a:srgbClr val="9FB3C8"/>
                </a:solidFill>
                <a:latin typeface="Calibri" pitchFamily="34" charset="0"/>
                <a:ea typeface="Calibri" pitchFamily="34" charset="-122"/>
                <a:cs typeface="Calibri" pitchFamily="34" charset="-120"/>
              </a:rPr>
              <a:t>paid first</a:t>
            </a:r>
            <a:endParaRPr lang="en-US" sz="1000" dirty="0"/>
          </a:p>
        </p:txBody>
      </p:sp>
      <p:sp>
        <p:nvSpPr>
          <p:cNvPr id="18" name="Text 16"/>
          <p:cNvSpPr/>
          <p:nvPr/>
        </p:nvSpPr>
        <p:spPr>
          <a:xfrm>
            <a:off x="4050792" y="4224528"/>
            <a:ext cx="256032" cy="1051560"/>
          </a:xfrm>
          <a:prstGeom prst="rect">
            <a:avLst/>
          </a:prstGeom>
          <a:noFill/>
          <a:ln/>
        </p:spPr>
        <p:txBody>
          <a:bodyPr wrap="square" rtlCol="0" anchor="ctr"/>
          <a:lstStyle/>
          <a:p>
            <a:pPr algn="ctr" indent="0" marL="0">
              <a:buNone/>
            </a:pPr>
            <a:r>
              <a:rPr lang="en-US" sz="2600" b="1" dirty="0">
                <a:solidFill>
                  <a:srgbClr val="6B8299"/>
                </a:solidFill>
                <a:latin typeface="Cambria" pitchFamily="34" charset="0"/>
                <a:ea typeface="Cambria" pitchFamily="34" charset="-122"/>
                <a:cs typeface="Cambria" pitchFamily="34" charset="-120"/>
              </a:rPr>
              <a:t>›</a:t>
            </a:r>
            <a:endParaRPr lang="en-US" sz="2600" dirty="0"/>
          </a:p>
        </p:txBody>
      </p:sp>
      <p:sp>
        <p:nvSpPr>
          <p:cNvPr id="19" name="Shape 17"/>
          <p:cNvSpPr/>
          <p:nvPr/>
        </p:nvSpPr>
        <p:spPr>
          <a:xfrm>
            <a:off x="4279392" y="4224528"/>
            <a:ext cx="1481328" cy="1051560"/>
          </a:xfrm>
          <a:prstGeom prst="roundRect">
            <a:avLst>
              <a:gd name="adj" fmla="val 6087"/>
            </a:avLst>
          </a:prstGeom>
          <a:solidFill>
            <a:srgbClr val="17293F"/>
          </a:solidFill>
          <a:ln w="15875">
            <a:solidFill>
              <a:srgbClr val="2DD4E0"/>
            </a:solidFill>
            <a:prstDash val="solid"/>
          </a:ln>
        </p:spPr>
      </p:sp>
      <p:sp>
        <p:nvSpPr>
          <p:cNvPr id="20" name="Text 18"/>
          <p:cNvSpPr/>
          <p:nvPr/>
        </p:nvSpPr>
        <p:spPr>
          <a:xfrm>
            <a:off x="4279392" y="4370832"/>
            <a:ext cx="1481328" cy="457200"/>
          </a:xfrm>
          <a:prstGeom prst="rect">
            <a:avLst/>
          </a:prstGeom>
          <a:noFill/>
          <a:ln/>
        </p:spPr>
        <p:txBody>
          <a:bodyPr wrap="square" rtlCol="0" anchor="ctr"/>
          <a:lstStyle/>
          <a:p>
            <a:pPr algn="ctr" indent="0" marL="0">
              <a:buNone/>
            </a:pPr>
            <a:r>
              <a:rPr lang="en-US" sz="1350" b="1" dirty="0">
                <a:solidFill>
                  <a:srgbClr val="2DD4E0"/>
                </a:solidFill>
                <a:latin typeface="Cambria" pitchFamily="34" charset="0"/>
                <a:ea typeface="Cambria" pitchFamily="34" charset="-122"/>
                <a:cs typeface="Cambria" pitchFamily="34" charset="-120"/>
              </a:rPr>
              <a:t>Your bank</a:t>
            </a:r>
            <a:endParaRPr lang="en-US" sz="1350" dirty="0"/>
          </a:p>
        </p:txBody>
      </p:sp>
      <p:sp>
        <p:nvSpPr>
          <p:cNvPr id="21" name="Text 19"/>
          <p:cNvSpPr/>
          <p:nvPr/>
        </p:nvSpPr>
        <p:spPr>
          <a:xfrm>
            <a:off x="4279392" y="4791456"/>
            <a:ext cx="1481328" cy="320040"/>
          </a:xfrm>
          <a:prstGeom prst="rect">
            <a:avLst/>
          </a:prstGeom>
          <a:noFill/>
          <a:ln/>
        </p:spPr>
        <p:txBody>
          <a:bodyPr wrap="square" rtlCol="0" anchor="ctr"/>
          <a:lstStyle/>
          <a:p>
            <a:pPr algn="ctr" indent="0" marL="0">
              <a:buNone/>
            </a:pPr>
            <a:r>
              <a:rPr lang="en-US" sz="1000" dirty="0">
                <a:solidFill>
                  <a:srgbClr val="9FB3C8"/>
                </a:solidFill>
                <a:latin typeface="Calibri" pitchFamily="34" charset="0"/>
                <a:ea typeface="Calibri" pitchFamily="34" charset="-122"/>
                <a:cs typeface="Calibri" pitchFamily="34" charset="-120"/>
              </a:rPr>
              <a:t>the rest</a:t>
            </a:r>
            <a:endParaRPr lang="en-US" sz="1000" dirty="0"/>
          </a:p>
        </p:txBody>
      </p:sp>
      <p:sp>
        <p:nvSpPr>
          <p:cNvPr id="22" name="Shape 20"/>
          <p:cNvSpPr/>
          <p:nvPr/>
        </p:nvSpPr>
        <p:spPr>
          <a:xfrm>
            <a:off x="6355080" y="1572768"/>
            <a:ext cx="5193792" cy="4114800"/>
          </a:xfrm>
          <a:prstGeom prst="roundRect">
            <a:avLst>
              <a:gd name="adj" fmla="val 1778"/>
            </a:avLst>
          </a:prstGeom>
          <a:solidFill>
            <a:srgbClr val="0F1D30"/>
          </a:solidFill>
          <a:ln w="15875">
            <a:solidFill>
              <a:srgbClr val="F2685C"/>
            </a:solidFill>
            <a:prstDash val="solid"/>
          </a:ln>
          <a:effectLst>
            <a:outerShdw sx="100000" sy="100000" kx="0" ky="0" algn="bl" rotWithShape="0" blurRad="101600" dist="38100" dir="5400000">
              <a:srgbClr val="000000">
                <a:alpha val="28000"/>
              </a:srgbClr>
            </a:outerShdw>
          </a:effectLst>
        </p:spPr>
      </p:sp>
      <p:sp>
        <p:nvSpPr>
          <p:cNvPr id="23" name="Shape 21"/>
          <p:cNvSpPr/>
          <p:nvPr/>
        </p:nvSpPr>
        <p:spPr>
          <a:xfrm>
            <a:off x="6611112" y="1810512"/>
            <a:ext cx="457200" cy="457200"/>
          </a:xfrm>
          <a:prstGeom prst="ellipse">
            <a:avLst/>
          </a:prstGeom>
          <a:solidFill>
            <a:srgbClr val="F2685C"/>
          </a:solidFill>
          <a:ln/>
          <a:effectLst>
            <a:outerShdw sx="100000" sy="100000" kx="0" ky="0" algn="bl" rotWithShape="0" blurRad="101600" dist="38100" dir="5400000">
              <a:srgbClr val="000000">
                <a:alpha val="28000"/>
              </a:srgbClr>
            </a:outerShdw>
          </a:effectLst>
        </p:spPr>
      </p:sp>
      <p:sp>
        <p:nvSpPr>
          <p:cNvPr id="24" name="Text 22"/>
          <p:cNvSpPr/>
          <p:nvPr/>
        </p:nvSpPr>
        <p:spPr>
          <a:xfrm>
            <a:off x="6611112" y="1810512"/>
            <a:ext cx="457200" cy="457200"/>
          </a:xfrm>
          <a:prstGeom prst="rect">
            <a:avLst/>
          </a:prstGeom>
          <a:noFill/>
          <a:ln/>
        </p:spPr>
        <p:txBody>
          <a:bodyPr wrap="square" rtlCol="0" anchor="ctr"/>
          <a:lstStyle/>
          <a:p>
            <a:pPr algn="ctr" indent="0" marL="0">
              <a:buNone/>
            </a:pPr>
            <a:r>
              <a:rPr lang="en-US" sz="1100" b="1" dirty="0">
                <a:solidFill>
                  <a:srgbClr val="0A1422"/>
                </a:solidFill>
                <a:latin typeface="Cambria" pitchFamily="34" charset="0"/>
                <a:ea typeface="Cambria" pitchFamily="34" charset="-122"/>
                <a:cs typeface="Cambria" pitchFamily="34" charset="-120"/>
              </a:rPr>
              <a:t>✕</a:t>
            </a:r>
            <a:endParaRPr lang="en-US" sz="1100" dirty="0"/>
          </a:p>
        </p:txBody>
      </p:sp>
      <p:sp>
        <p:nvSpPr>
          <p:cNvPr id="25" name="Text 23"/>
          <p:cNvSpPr/>
          <p:nvPr/>
        </p:nvSpPr>
        <p:spPr>
          <a:xfrm>
            <a:off x="7269480" y="1810512"/>
            <a:ext cx="4206240" cy="457200"/>
          </a:xfrm>
          <a:prstGeom prst="rect">
            <a:avLst/>
          </a:prstGeom>
          <a:noFill/>
          <a:ln/>
        </p:spPr>
        <p:txBody>
          <a:bodyPr wrap="square" rtlCol="0" anchor="ctr"/>
          <a:lstStyle/>
          <a:p>
            <a:pPr indent="0" marL="0">
              <a:buNone/>
            </a:pPr>
            <a:r>
              <a:rPr lang="en-US" sz="1700" b="1" dirty="0">
                <a:solidFill>
                  <a:srgbClr val="F2685C"/>
                </a:solidFill>
                <a:latin typeface="Cambria" pitchFamily="34" charset="0"/>
                <a:ea typeface="Cambria" pitchFamily="34" charset="-122"/>
                <a:cs typeface="Cambria" pitchFamily="34" charset="-120"/>
              </a:rPr>
              <a:t>Misuse &amp; Delinquency</a:t>
            </a:r>
            <a:endParaRPr lang="en-US" sz="1700" dirty="0"/>
          </a:p>
        </p:txBody>
      </p:sp>
      <p:sp>
        <p:nvSpPr>
          <p:cNvPr id="26" name="Text 24"/>
          <p:cNvSpPr/>
          <p:nvPr/>
        </p:nvSpPr>
        <p:spPr>
          <a:xfrm>
            <a:off x="6629400" y="2395728"/>
            <a:ext cx="4754880" cy="3200400"/>
          </a:xfrm>
          <a:prstGeom prst="rect">
            <a:avLst/>
          </a:prstGeom>
          <a:noFill/>
          <a:ln/>
        </p:spPr>
        <p:txBody>
          <a:bodyPr wrap="square" rtlCol="0" anchor="t"/>
          <a:lstStyle/>
          <a:p>
            <a:pPr marL="203200" indent="-203200">
              <a:lnSpc>
                <a:spcPct val="114000"/>
              </a:lnSpc>
              <a:spcAft>
                <a:spcPts val="900"/>
              </a:spcAft>
              <a:buSzPct val="100000"/>
              <a:buChar char="•"/>
            </a:pPr>
            <a:r>
              <a:rPr lang="en-US" sz="1150" dirty="0">
                <a:solidFill>
                  <a:srgbClr val="E8EEF5"/>
                </a:solidFill>
                <a:latin typeface="Calibri" pitchFamily="34" charset="0"/>
                <a:ea typeface="Calibri" pitchFamily="34" charset="-122"/>
                <a:cs typeface="Calibri" pitchFamily="34" charset="-120"/>
              </a:rPr>
              <a:t>Official travel only. No personal purchases, and never to pay another government debt.</a:t>
            </a:r>
            <a:endParaRPr lang="en-US" sz="1150" dirty="0"/>
          </a:p>
          <a:p>
            <a:pPr marL="203200" indent="-203200">
              <a:lnSpc>
                <a:spcPct val="114000"/>
              </a:lnSpc>
              <a:spcAft>
                <a:spcPts val="900"/>
              </a:spcAft>
              <a:buSzPct val="100000"/>
              <a:buChar char="•"/>
            </a:pPr>
            <a:r>
              <a:rPr lang="en-US" sz="1150" dirty="0">
                <a:solidFill>
                  <a:srgbClr val="E8EEF5"/>
                </a:solidFill>
                <a:latin typeface="Calibri" pitchFamily="34" charset="0"/>
                <a:ea typeface="Calibri" pitchFamily="34" charset="-122"/>
                <a:cs typeface="Calibri" pitchFamily="34" charset="-120"/>
              </a:rPr>
              <a:t>You owe the undisputed balance by the due date even if DFAS has not yet reimbursed you.</a:t>
            </a:r>
            <a:endParaRPr lang="en-US" sz="1150" dirty="0"/>
          </a:p>
          <a:p>
            <a:pPr marL="203200" indent="-203200">
              <a:lnSpc>
                <a:spcPct val="114000"/>
              </a:lnSpc>
              <a:spcAft>
                <a:spcPts val="900"/>
              </a:spcAft>
              <a:buSzPct val="100000"/>
              <a:buChar char="•"/>
            </a:pPr>
            <a:r>
              <a:rPr lang="en-US" sz="1150" dirty="0">
                <a:solidFill>
                  <a:srgbClr val="E8EEF5"/>
                </a:solidFill>
                <a:latin typeface="Calibri" pitchFamily="34" charset="0"/>
                <a:ea typeface="Calibri" pitchFamily="34" charset="-122"/>
                <a:cs typeface="Calibri" pitchFamily="34" charset="-120"/>
              </a:rPr>
              <a:t>For courses over 45 days, request Scheduled Partial Payments so the card is paid every 30 days.</a:t>
            </a:r>
            <a:endParaRPr lang="en-US" sz="1150" dirty="0"/>
          </a:p>
          <a:p>
            <a:pPr marL="203200" indent="-203200">
              <a:lnSpc>
                <a:spcPct val="114000"/>
              </a:lnSpc>
              <a:spcAft>
                <a:spcPts val="900"/>
              </a:spcAft>
              <a:buSzPct val="100000"/>
              <a:buChar char="•"/>
            </a:pPr>
            <a:r>
              <a:rPr lang="en-US" sz="1150" dirty="0">
                <a:solidFill>
                  <a:srgbClr val="E8EEF5"/>
                </a:solidFill>
                <a:latin typeface="Calibri" pitchFamily="34" charset="0"/>
                <a:ea typeface="Calibri" pitchFamily="34" charset="-122"/>
                <a:cs typeface="Calibri" pitchFamily="34" charset="-120"/>
              </a:rPr>
              <a:t>Delinquency can bring a suspended card, salary offset, and adverse action through your chain of command.</a:t>
            </a:r>
            <a:endParaRPr lang="en-US" sz="1150" dirty="0"/>
          </a:p>
          <a:p>
            <a:pPr marL="203200" indent="-203200">
              <a:lnSpc>
                <a:spcPct val="114000"/>
              </a:lnSpc>
              <a:spcAft>
                <a:spcPts val="900"/>
              </a:spcAft>
              <a:buSzPct val="100000"/>
              <a:buChar char="•"/>
            </a:pPr>
            <a:r>
              <a:rPr lang="en-US" sz="1150" dirty="0">
                <a:solidFill>
                  <a:srgbClr val="E8EEF5"/>
                </a:solidFill>
                <a:latin typeface="Calibri" pitchFamily="34" charset="0"/>
                <a:ea typeface="Calibri" pitchFamily="34" charset="-122"/>
                <a:cs typeface="Calibri" pitchFamily="34" charset="-120"/>
              </a:rPr>
              <a:t>Two NSF (returned) payments within 12 months can trigger cancellation of the account.</a:t>
            </a:r>
            <a:endParaRPr lang="en-US" sz="1150" dirty="0"/>
          </a:p>
        </p:txBody>
      </p:sp>
      <p:sp>
        <p:nvSpPr>
          <p:cNvPr id="27" name="Shape 25"/>
          <p:cNvSpPr/>
          <p:nvPr/>
        </p:nvSpPr>
        <p:spPr>
          <a:xfrm>
            <a:off x="640080" y="6355080"/>
            <a:ext cx="10908792" cy="0"/>
          </a:xfrm>
          <a:prstGeom prst="line">
            <a:avLst/>
          </a:prstGeom>
          <a:noFill/>
          <a:ln w="9525">
            <a:solidFill>
              <a:srgbClr val="24384F"/>
            </a:solidFill>
            <a:prstDash val="solid"/>
          </a:ln>
        </p:spPr>
      </p:sp>
      <p:sp>
        <p:nvSpPr>
          <p:cNvPr id="28" name="Text 26"/>
          <p:cNvSpPr/>
          <p:nvPr/>
        </p:nvSpPr>
        <p:spPr>
          <a:xfrm>
            <a:off x="640080" y="6400800"/>
            <a:ext cx="7315200" cy="274320"/>
          </a:xfrm>
          <a:prstGeom prst="rect">
            <a:avLst/>
          </a:prstGeom>
          <a:noFill/>
          <a:ln/>
        </p:spPr>
        <p:txBody>
          <a:bodyPr wrap="square" rtlCol="0" anchor="ctr"/>
          <a:lstStyle/>
          <a:p>
            <a:pPr algn="l" indent="0" marL="0">
              <a:buNone/>
            </a:pPr>
            <a:r>
              <a:rPr lang="en-US" sz="850" dirty="0">
                <a:solidFill>
                  <a:srgbClr val="6B8299"/>
                </a:solidFill>
                <a:latin typeface="Calibri" pitchFamily="34" charset="0"/>
                <a:ea typeface="Calibri" pitchFamily="34" charset="-122"/>
                <a:cs typeface="Calibri" pitchFamily="34" charset="-120"/>
              </a:rPr>
              <a:t>112-17E10E  ·  Electronic Warfare Specialist Course</a:t>
            </a:r>
            <a:endParaRPr lang="en-US" sz="850" dirty="0"/>
          </a:p>
        </p:txBody>
      </p:sp>
      <p:sp>
        <p:nvSpPr>
          <p:cNvPr id="29" name="Text 27"/>
          <p:cNvSpPr/>
          <p:nvPr/>
        </p:nvSpPr>
        <p:spPr>
          <a:xfrm>
            <a:off x="8165592" y="6400800"/>
            <a:ext cx="2834640" cy="274320"/>
          </a:xfrm>
          <a:prstGeom prst="rect">
            <a:avLst/>
          </a:prstGeom>
          <a:noFill/>
          <a:ln/>
        </p:spPr>
        <p:txBody>
          <a:bodyPr wrap="square" rtlCol="0" anchor="ctr"/>
          <a:lstStyle/>
          <a:p>
            <a:pPr algn="r" indent="0" marL="0">
              <a:buNone/>
            </a:pPr>
            <a:r>
              <a:rPr lang="en-US" sz="850" spc="150" kern="0" dirty="0">
                <a:solidFill>
                  <a:srgbClr val="6B8299"/>
                </a:solidFill>
                <a:latin typeface="Calibri" pitchFamily="34" charset="0"/>
                <a:ea typeface="Calibri" pitchFamily="34" charset="-122"/>
                <a:cs typeface="Calibri" pitchFamily="34" charset="-120"/>
              </a:rPr>
              <a:t>U.S. ARMY CYBER SCHOOL</a:t>
            </a:r>
            <a:endParaRPr lang="en-US" sz="850" dirty="0"/>
          </a:p>
        </p:txBody>
      </p:sp>
      <p:sp>
        <p:nvSpPr>
          <p:cNvPr id="30" name="Text 28"/>
          <p:cNvSpPr/>
          <p:nvPr/>
        </p:nvSpPr>
        <p:spPr>
          <a:xfrm>
            <a:off x="11137392" y="6382512"/>
            <a:ext cx="411480" cy="292608"/>
          </a:xfrm>
          <a:prstGeom prst="rect">
            <a:avLst/>
          </a:prstGeom>
          <a:noFill/>
          <a:ln/>
        </p:spPr>
        <p:txBody>
          <a:bodyPr wrap="square" rtlCol="0" anchor="ctr"/>
          <a:lstStyle/>
          <a:p>
            <a:pPr algn="r" indent="0" marL="0">
              <a:buNone/>
            </a:pPr>
            <a:r>
              <a:rPr lang="en-US" sz="1100" b="1" dirty="0">
                <a:solidFill>
                  <a:srgbClr val="2DD4E0"/>
                </a:solidFill>
                <a:latin typeface="Cambria" pitchFamily="34" charset="0"/>
                <a:ea typeface="Cambria" pitchFamily="34" charset="-122"/>
                <a:cs typeface="Cambria"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422"/>
        </a:solidFill>
      </p:bgPr>
    </p:bg>
    <p:spTree>
      <p:nvGrpSpPr>
        <p:cNvPr id="1" name=""/>
        <p:cNvGrpSpPr/>
        <p:nvPr/>
      </p:nvGrpSpPr>
      <p:grpSpPr>
        <a:xfrm>
          <a:off x="0" y="0"/>
          <a:ext cx="0" cy="0"/>
          <a:chOff x="0" y="0"/>
          <a:chExt cx="0" cy="0"/>
        </a:xfrm>
      </p:grpSpPr>
      <p:sp>
        <p:nvSpPr>
          <p:cNvPr id="2" name="Shape 0"/>
          <p:cNvSpPr/>
          <p:nvPr/>
        </p:nvSpPr>
        <p:spPr>
          <a:xfrm>
            <a:off x="914400" y="0"/>
            <a:ext cx="0" cy="6858000"/>
          </a:xfrm>
          <a:prstGeom prst="line">
            <a:avLst/>
          </a:prstGeom>
          <a:noFill/>
          <a:ln w="6350">
            <a:solidFill>
              <a:srgbClr val="24384F">
                <a:alpha val="32000"/>
              </a:srgbClr>
            </a:solidFill>
            <a:prstDash val="solid"/>
          </a:ln>
        </p:spPr>
      </p:sp>
      <p:sp>
        <p:nvSpPr>
          <p:cNvPr id="3" name="Shape 1"/>
          <p:cNvSpPr/>
          <p:nvPr/>
        </p:nvSpPr>
        <p:spPr>
          <a:xfrm>
            <a:off x="1828800" y="0"/>
            <a:ext cx="0" cy="6858000"/>
          </a:xfrm>
          <a:prstGeom prst="line">
            <a:avLst/>
          </a:prstGeom>
          <a:noFill/>
          <a:ln w="6350">
            <a:solidFill>
              <a:srgbClr val="24384F">
                <a:alpha val="32000"/>
              </a:srgbClr>
            </a:solidFill>
            <a:prstDash val="solid"/>
          </a:ln>
        </p:spPr>
      </p:sp>
      <p:sp>
        <p:nvSpPr>
          <p:cNvPr id="4" name="Shape 2"/>
          <p:cNvSpPr/>
          <p:nvPr/>
        </p:nvSpPr>
        <p:spPr>
          <a:xfrm>
            <a:off x="2743200" y="0"/>
            <a:ext cx="0" cy="6858000"/>
          </a:xfrm>
          <a:prstGeom prst="line">
            <a:avLst/>
          </a:prstGeom>
          <a:noFill/>
          <a:ln w="6350">
            <a:solidFill>
              <a:srgbClr val="24384F">
                <a:alpha val="32000"/>
              </a:srgbClr>
            </a:solidFill>
            <a:prstDash val="solid"/>
          </a:ln>
        </p:spPr>
      </p:sp>
      <p:sp>
        <p:nvSpPr>
          <p:cNvPr id="5" name="Shape 3"/>
          <p:cNvSpPr/>
          <p:nvPr/>
        </p:nvSpPr>
        <p:spPr>
          <a:xfrm>
            <a:off x="3657600" y="0"/>
            <a:ext cx="0" cy="6858000"/>
          </a:xfrm>
          <a:prstGeom prst="line">
            <a:avLst/>
          </a:prstGeom>
          <a:noFill/>
          <a:ln w="6350">
            <a:solidFill>
              <a:srgbClr val="24384F">
                <a:alpha val="32000"/>
              </a:srgbClr>
            </a:solidFill>
            <a:prstDash val="solid"/>
          </a:ln>
        </p:spPr>
      </p:sp>
      <p:sp>
        <p:nvSpPr>
          <p:cNvPr id="6" name="Shape 4"/>
          <p:cNvSpPr/>
          <p:nvPr/>
        </p:nvSpPr>
        <p:spPr>
          <a:xfrm>
            <a:off x="4572000" y="0"/>
            <a:ext cx="0" cy="6858000"/>
          </a:xfrm>
          <a:prstGeom prst="line">
            <a:avLst/>
          </a:prstGeom>
          <a:noFill/>
          <a:ln w="6350">
            <a:solidFill>
              <a:srgbClr val="24384F">
                <a:alpha val="32000"/>
              </a:srgbClr>
            </a:solidFill>
            <a:prstDash val="solid"/>
          </a:ln>
        </p:spPr>
      </p:sp>
      <p:sp>
        <p:nvSpPr>
          <p:cNvPr id="7" name="Shape 5"/>
          <p:cNvSpPr/>
          <p:nvPr/>
        </p:nvSpPr>
        <p:spPr>
          <a:xfrm>
            <a:off x="5486400" y="0"/>
            <a:ext cx="0" cy="6858000"/>
          </a:xfrm>
          <a:prstGeom prst="line">
            <a:avLst/>
          </a:prstGeom>
          <a:noFill/>
          <a:ln w="6350">
            <a:solidFill>
              <a:srgbClr val="24384F">
                <a:alpha val="32000"/>
              </a:srgbClr>
            </a:solidFill>
            <a:prstDash val="solid"/>
          </a:ln>
        </p:spPr>
      </p:sp>
      <p:sp>
        <p:nvSpPr>
          <p:cNvPr id="8" name="Shape 6"/>
          <p:cNvSpPr/>
          <p:nvPr/>
        </p:nvSpPr>
        <p:spPr>
          <a:xfrm>
            <a:off x="6400800" y="0"/>
            <a:ext cx="0" cy="6858000"/>
          </a:xfrm>
          <a:prstGeom prst="line">
            <a:avLst/>
          </a:prstGeom>
          <a:noFill/>
          <a:ln w="6350">
            <a:solidFill>
              <a:srgbClr val="24384F">
                <a:alpha val="32000"/>
              </a:srgbClr>
            </a:solidFill>
            <a:prstDash val="solid"/>
          </a:ln>
        </p:spPr>
      </p:sp>
      <p:sp>
        <p:nvSpPr>
          <p:cNvPr id="9" name="Shape 7"/>
          <p:cNvSpPr/>
          <p:nvPr/>
        </p:nvSpPr>
        <p:spPr>
          <a:xfrm>
            <a:off x="7315200" y="0"/>
            <a:ext cx="0" cy="6858000"/>
          </a:xfrm>
          <a:prstGeom prst="line">
            <a:avLst/>
          </a:prstGeom>
          <a:noFill/>
          <a:ln w="6350">
            <a:solidFill>
              <a:srgbClr val="24384F">
                <a:alpha val="32000"/>
              </a:srgbClr>
            </a:solidFill>
            <a:prstDash val="solid"/>
          </a:ln>
        </p:spPr>
      </p:sp>
      <p:sp>
        <p:nvSpPr>
          <p:cNvPr id="10" name="Shape 8"/>
          <p:cNvSpPr/>
          <p:nvPr/>
        </p:nvSpPr>
        <p:spPr>
          <a:xfrm>
            <a:off x="8229600" y="0"/>
            <a:ext cx="0" cy="6858000"/>
          </a:xfrm>
          <a:prstGeom prst="line">
            <a:avLst/>
          </a:prstGeom>
          <a:noFill/>
          <a:ln w="6350">
            <a:solidFill>
              <a:srgbClr val="24384F">
                <a:alpha val="32000"/>
              </a:srgbClr>
            </a:solidFill>
            <a:prstDash val="solid"/>
          </a:ln>
        </p:spPr>
      </p:sp>
      <p:sp>
        <p:nvSpPr>
          <p:cNvPr id="11" name="Shape 9"/>
          <p:cNvSpPr/>
          <p:nvPr/>
        </p:nvSpPr>
        <p:spPr>
          <a:xfrm>
            <a:off x="9144000" y="0"/>
            <a:ext cx="0" cy="6858000"/>
          </a:xfrm>
          <a:prstGeom prst="line">
            <a:avLst/>
          </a:prstGeom>
          <a:noFill/>
          <a:ln w="6350">
            <a:solidFill>
              <a:srgbClr val="24384F">
                <a:alpha val="32000"/>
              </a:srgbClr>
            </a:solidFill>
            <a:prstDash val="solid"/>
          </a:ln>
        </p:spPr>
      </p:sp>
      <p:sp>
        <p:nvSpPr>
          <p:cNvPr id="12" name="Shape 10"/>
          <p:cNvSpPr/>
          <p:nvPr/>
        </p:nvSpPr>
        <p:spPr>
          <a:xfrm>
            <a:off x="10058400" y="0"/>
            <a:ext cx="0" cy="6858000"/>
          </a:xfrm>
          <a:prstGeom prst="line">
            <a:avLst/>
          </a:prstGeom>
          <a:noFill/>
          <a:ln w="6350">
            <a:solidFill>
              <a:srgbClr val="24384F">
                <a:alpha val="32000"/>
              </a:srgbClr>
            </a:solidFill>
            <a:prstDash val="solid"/>
          </a:ln>
        </p:spPr>
      </p:sp>
      <p:sp>
        <p:nvSpPr>
          <p:cNvPr id="13" name="Shape 11"/>
          <p:cNvSpPr/>
          <p:nvPr/>
        </p:nvSpPr>
        <p:spPr>
          <a:xfrm>
            <a:off x="10972800" y="0"/>
            <a:ext cx="0" cy="6858000"/>
          </a:xfrm>
          <a:prstGeom prst="line">
            <a:avLst/>
          </a:prstGeom>
          <a:noFill/>
          <a:ln w="6350">
            <a:solidFill>
              <a:srgbClr val="24384F">
                <a:alpha val="32000"/>
              </a:srgbClr>
            </a:solidFill>
            <a:prstDash val="solid"/>
          </a:ln>
        </p:spPr>
      </p:sp>
      <p:sp>
        <p:nvSpPr>
          <p:cNvPr id="14" name="Shape 12"/>
          <p:cNvSpPr/>
          <p:nvPr/>
        </p:nvSpPr>
        <p:spPr>
          <a:xfrm>
            <a:off x="11887200" y="0"/>
            <a:ext cx="0" cy="6858000"/>
          </a:xfrm>
          <a:prstGeom prst="line">
            <a:avLst/>
          </a:prstGeom>
          <a:noFill/>
          <a:ln w="6350">
            <a:solidFill>
              <a:srgbClr val="24384F">
                <a:alpha val="32000"/>
              </a:srgbClr>
            </a:solidFill>
            <a:prstDash val="solid"/>
          </a:ln>
        </p:spPr>
      </p:sp>
      <p:sp>
        <p:nvSpPr>
          <p:cNvPr id="15" name="Shape 13"/>
          <p:cNvSpPr/>
          <p:nvPr/>
        </p:nvSpPr>
        <p:spPr>
          <a:xfrm>
            <a:off x="0" y="914400"/>
            <a:ext cx="12188952" cy="0"/>
          </a:xfrm>
          <a:prstGeom prst="line">
            <a:avLst/>
          </a:prstGeom>
          <a:noFill/>
          <a:ln w="6350">
            <a:solidFill>
              <a:srgbClr val="24384F">
                <a:alpha val="32000"/>
              </a:srgbClr>
            </a:solidFill>
            <a:prstDash val="solid"/>
          </a:ln>
        </p:spPr>
      </p:sp>
      <p:sp>
        <p:nvSpPr>
          <p:cNvPr id="16" name="Shape 14"/>
          <p:cNvSpPr/>
          <p:nvPr/>
        </p:nvSpPr>
        <p:spPr>
          <a:xfrm>
            <a:off x="0" y="1828800"/>
            <a:ext cx="12188952" cy="0"/>
          </a:xfrm>
          <a:prstGeom prst="line">
            <a:avLst/>
          </a:prstGeom>
          <a:noFill/>
          <a:ln w="6350">
            <a:solidFill>
              <a:srgbClr val="24384F">
                <a:alpha val="32000"/>
              </a:srgbClr>
            </a:solidFill>
            <a:prstDash val="solid"/>
          </a:ln>
        </p:spPr>
      </p:sp>
      <p:sp>
        <p:nvSpPr>
          <p:cNvPr id="17" name="Shape 15"/>
          <p:cNvSpPr/>
          <p:nvPr/>
        </p:nvSpPr>
        <p:spPr>
          <a:xfrm>
            <a:off x="0" y="2743200"/>
            <a:ext cx="12188952" cy="0"/>
          </a:xfrm>
          <a:prstGeom prst="line">
            <a:avLst/>
          </a:prstGeom>
          <a:noFill/>
          <a:ln w="6350">
            <a:solidFill>
              <a:srgbClr val="24384F">
                <a:alpha val="32000"/>
              </a:srgbClr>
            </a:solidFill>
            <a:prstDash val="solid"/>
          </a:ln>
        </p:spPr>
      </p:sp>
      <p:sp>
        <p:nvSpPr>
          <p:cNvPr id="18" name="Shape 16"/>
          <p:cNvSpPr/>
          <p:nvPr/>
        </p:nvSpPr>
        <p:spPr>
          <a:xfrm>
            <a:off x="0" y="3657600"/>
            <a:ext cx="12188952" cy="0"/>
          </a:xfrm>
          <a:prstGeom prst="line">
            <a:avLst/>
          </a:prstGeom>
          <a:noFill/>
          <a:ln w="6350">
            <a:solidFill>
              <a:srgbClr val="24384F">
                <a:alpha val="32000"/>
              </a:srgbClr>
            </a:solidFill>
            <a:prstDash val="solid"/>
          </a:ln>
        </p:spPr>
      </p:sp>
      <p:sp>
        <p:nvSpPr>
          <p:cNvPr id="19" name="Shape 17"/>
          <p:cNvSpPr/>
          <p:nvPr/>
        </p:nvSpPr>
        <p:spPr>
          <a:xfrm>
            <a:off x="0" y="4572000"/>
            <a:ext cx="12188952" cy="0"/>
          </a:xfrm>
          <a:prstGeom prst="line">
            <a:avLst/>
          </a:prstGeom>
          <a:noFill/>
          <a:ln w="6350">
            <a:solidFill>
              <a:srgbClr val="24384F">
                <a:alpha val="32000"/>
              </a:srgbClr>
            </a:solidFill>
            <a:prstDash val="solid"/>
          </a:ln>
        </p:spPr>
      </p:sp>
      <p:sp>
        <p:nvSpPr>
          <p:cNvPr id="20" name="Shape 18"/>
          <p:cNvSpPr/>
          <p:nvPr/>
        </p:nvSpPr>
        <p:spPr>
          <a:xfrm>
            <a:off x="0" y="5486400"/>
            <a:ext cx="12188952" cy="0"/>
          </a:xfrm>
          <a:prstGeom prst="line">
            <a:avLst/>
          </a:prstGeom>
          <a:noFill/>
          <a:ln w="6350">
            <a:solidFill>
              <a:srgbClr val="24384F">
                <a:alpha val="32000"/>
              </a:srgbClr>
            </a:solidFill>
            <a:prstDash val="solid"/>
          </a:ln>
        </p:spPr>
      </p:sp>
      <p:sp>
        <p:nvSpPr>
          <p:cNvPr id="21" name="Shape 19"/>
          <p:cNvSpPr/>
          <p:nvPr/>
        </p:nvSpPr>
        <p:spPr>
          <a:xfrm>
            <a:off x="0" y="6400800"/>
            <a:ext cx="12188952" cy="0"/>
          </a:xfrm>
          <a:prstGeom prst="line">
            <a:avLst/>
          </a:prstGeom>
          <a:noFill/>
          <a:ln w="6350">
            <a:solidFill>
              <a:srgbClr val="24384F">
                <a:alpha val="32000"/>
              </a:srgbClr>
            </a:solidFill>
            <a:prstDash val="solid"/>
          </a:ln>
        </p:spPr>
      </p:sp>
      <p:sp>
        <p:nvSpPr>
          <p:cNvPr id="22" name="Shape 20"/>
          <p:cNvSpPr/>
          <p:nvPr/>
        </p:nvSpPr>
        <p:spPr>
          <a:xfrm>
            <a:off x="640080" y="2148840"/>
            <a:ext cx="640080" cy="0"/>
          </a:xfrm>
          <a:prstGeom prst="line">
            <a:avLst/>
          </a:prstGeom>
          <a:noFill/>
          <a:ln w="31750">
            <a:solidFill>
              <a:srgbClr val="2DD4E0"/>
            </a:solidFill>
            <a:prstDash val="solid"/>
          </a:ln>
        </p:spPr>
      </p:sp>
      <p:sp>
        <p:nvSpPr>
          <p:cNvPr id="23" name="Shape 21"/>
          <p:cNvSpPr/>
          <p:nvPr/>
        </p:nvSpPr>
        <p:spPr>
          <a:xfrm>
            <a:off x="640080" y="2148840"/>
            <a:ext cx="0" cy="640080"/>
          </a:xfrm>
          <a:prstGeom prst="line">
            <a:avLst/>
          </a:prstGeom>
          <a:noFill/>
          <a:ln w="31750">
            <a:solidFill>
              <a:srgbClr val="2DD4E0"/>
            </a:solidFill>
            <a:prstDash val="solid"/>
          </a:ln>
        </p:spPr>
      </p:sp>
      <p:sp>
        <p:nvSpPr>
          <p:cNvPr id="24" name="Shape 22"/>
          <p:cNvSpPr/>
          <p:nvPr/>
        </p:nvSpPr>
        <p:spPr>
          <a:xfrm>
            <a:off x="640080" y="2514600"/>
            <a:ext cx="1417320" cy="1417320"/>
          </a:xfrm>
          <a:prstGeom prst="roundRect">
            <a:avLst>
              <a:gd name="adj" fmla="val 9032"/>
            </a:avLst>
          </a:prstGeom>
          <a:solidFill>
            <a:srgbClr val="17293F"/>
          </a:solidFill>
          <a:ln w="19050">
            <a:solidFill>
              <a:srgbClr val="2DD4E0"/>
            </a:solidFill>
            <a:prstDash val="solid"/>
          </a:ln>
          <a:effectLst>
            <a:outerShdw sx="100000" sy="100000" kx="0" ky="0" algn="bl" rotWithShape="0" blurRad="101600" dist="38100" dir="5400000">
              <a:srgbClr val="000000">
                <a:alpha val="28000"/>
              </a:srgbClr>
            </a:outerShdw>
          </a:effectLst>
        </p:spPr>
      </p:sp>
      <p:sp>
        <p:nvSpPr>
          <p:cNvPr id="25" name="Text 23"/>
          <p:cNvSpPr/>
          <p:nvPr/>
        </p:nvSpPr>
        <p:spPr>
          <a:xfrm>
            <a:off x="640080" y="2514600"/>
            <a:ext cx="1417320" cy="1417320"/>
          </a:xfrm>
          <a:prstGeom prst="rect">
            <a:avLst/>
          </a:prstGeom>
          <a:noFill/>
          <a:ln/>
        </p:spPr>
        <p:txBody>
          <a:bodyPr wrap="square" rtlCol="0" anchor="ctr"/>
          <a:lstStyle/>
          <a:p>
            <a:pPr algn="ctr" indent="0" marL="0">
              <a:buNone/>
            </a:pPr>
            <a:r>
              <a:rPr lang="en-US" sz="3000" b="1" dirty="0">
                <a:solidFill>
                  <a:srgbClr val="2DD4E0"/>
                </a:solidFill>
                <a:latin typeface="Cambria" pitchFamily="34" charset="0"/>
                <a:ea typeface="Cambria" pitchFamily="34" charset="-122"/>
                <a:cs typeface="Cambria" pitchFamily="34" charset="-120"/>
              </a:rPr>
              <a:t>DTS</a:t>
            </a:r>
            <a:endParaRPr lang="en-US" sz="3000" dirty="0"/>
          </a:p>
        </p:txBody>
      </p:sp>
      <p:sp>
        <p:nvSpPr>
          <p:cNvPr id="26" name="Text 24"/>
          <p:cNvSpPr/>
          <p:nvPr/>
        </p:nvSpPr>
        <p:spPr>
          <a:xfrm>
            <a:off x="2468880" y="2606040"/>
            <a:ext cx="8229600" cy="365760"/>
          </a:xfrm>
          <a:prstGeom prst="rect">
            <a:avLst/>
          </a:prstGeom>
          <a:noFill/>
          <a:ln/>
        </p:spPr>
        <p:txBody>
          <a:bodyPr wrap="square" rtlCol="0" anchor="ctr"/>
          <a:lstStyle/>
          <a:p>
            <a:pPr indent="0" marL="0">
              <a:buNone/>
            </a:pPr>
            <a:r>
              <a:rPr lang="en-US" sz="1300" b="1" spc="400" kern="0" dirty="0">
                <a:solidFill>
                  <a:srgbClr val="2DD4E0"/>
                </a:solidFill>
                <a:latin typeface="Calibri" pitchFamily="34" charset="0"/>
                <a:ea typeface="Calibri" pitchFamily="34" charset="-122"/>
                <a:cs typeface="Calibri" pitchFamily="34" charset="-120"/>
              </a:rPr>
              <a:t>SECTION 02</a:t>
            </a:r>
            <a:endParaRPr lang="en-US" sz="1300" dirty="0"/>
          </a:p>
        </p:txBody>
      </p:sp>
      <p:sp>
        <p:nvSpPr>
          <p:cNvPr id="27" name="Text 25"/>
          <p:cNvSpPr/>
          <p:nvPr/>
        </p:nvSpPr>
        <p:spPr>
          <a:xfrm>
            <a:off x="2432304" y="2944368"/>
            <a:ext cx="9235440" cy="9144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Defense Travel System</a:t>
            </a:r>
            <a:endParaRPr lang="en-US" sz="3800" dirty="0"/>
          </a:p>
        </p:txBody>
      </p:sp>
      <p:sp>
        <p:nvSpPr>
          <p:cNvPr id="28" name="Text 26"/>
          <p:cNvSpPr/>
          <p:nvPr/>
        </p:nvSpPr>
        <p:spPr>
          <a:xfrm>
            <a:off x="2468880" y="3840480"/>
            <a:ext cx="8778240" cy="548640"/>
          </a:xfrm>
          <a:prstGeom prst="rect">
            <a:avLst/>
          </a:prstGeom>
          <a:noFill/>
          <a:ln/>
        </p:spPr>
        <p:txBody>
          <a:bodyPr wrap="square" rtlCol="0" anchor="ctr"/>
          <a:lstStyle/>
          <a:p>
            <a:pPr indent="0" marL="0">
              <a:buNone/>
            </a:pPr>
            <a:r>
              <a:rPr lang="en-US" sz="1450" i="1" dirty="0">
                <a:solidFill>
                  <a:srgbClr val="9FB3C8"/>
                </a:solidFill>
                <a:latin typeface="Calibri" pitchFamily="34" charset="0"/>
                <a:ea typeface="Calibri" pitchFamily="34" charset="-122"/>
                <a:cs typeface="Calibri" pitchFamily="34" charset="-120"/>
              </a:rPr>
              <a:t>The end-to-end portal for authorizations, reservations, approvals, and vouchers — where the whole trip lives.</a:t>
            </a:r>
            <a:endParaRPr lang="en-US" sz="1450" dirty="0"/>
          </a:p>
        </p:txBody>
      </p:sp>
      <p:sp>
        <p:nvSpPr>
          <p:cNvPr id="29" name="Shape 27"/>
          <p:cNvSpPr/>
          <p:nvPr/>
        </p:nvSpPr>
        <p:spPr>
          <a:xfrm>
            <a:off x="640080" y="6355080"/>
            <a:ext cx="10908792" cy="0"/>
          </a:xfrm>
          <a:prstGeom prst="line">
            <a:avLst/>
          </a:prstGeom>
          <a:noFill/>
          <a:ln w="9525">
            <a:solidFill>
              <a:srgbClr val="24384F"/>
            </a:solidFill>
            <a:prstDash val="solid"/>
          </a:ln>
        </p:spPr>
      </p:sp>
      <p:sp>
        <p:nvSpPr>
          <p:cNvPr id="30" name="Text 28"/>
          <p:cNvSpPr/>
          <p:nvPr/>
        </p:nvSpPr>
        <p:spPr>
          <a:xfrm>
            <a:off x="640080" y="6400800"/>
            <a:ext cx="7315200" cy="274320"/>
          </a:xfrm>
          <a:prstGeom prst="rect">
            <a:avLst/>
          </a:prstGeom>
          <a:noFill/>
          <a:ln/>
        </p:spPr>
        <p:txBody>
          <a:bodyPr wrap="square" rtlCol="0" anchor="ctr"/>
          <a:lstStyle/>
          <a:p>
            <a:pPr algn="l" indent="0" marL="0">
              <a:buNone/>
            </a:pPr>
            <a:r>
              <a:rPr lang="en-US" sz="850" dirty="0">
                <a:solidFill>
                  <a:srgbClr val="6B8299"/>
                </a:solidFill>
                <a:latin typeface="Calibri" pitchFamily="34" charset="0"/>
                <a:ea typeface="Calibri" pitchFamily="34" charset="-122"/>
                <a:cs typeface="Calibri" pitchFamily="34" charset="-120"/>
              </a:rPr>
              <a:t>112-17E10E  ·  Electronic Warfare Specialist Course</a:t>
            </a:r>
            <a:endParaRPr lang="en-US" sz="850" dirty="0"/>
          </a:p>
        </p:txBody>
      </p:sp>
      <p:sp>
        <p:nvSpPr>
          <p:cNvPr id="31" name="Text 29"/>
          <p:cNvSpPr/>
          <p:nvPr/>
        </p:nvSpPr>
        <p:spPr>
          <a:xfrm>
            <a:off x="8165592" y="6400800"/>
            <a:ext cx="2834640" cy="274320"/>
          </a:xfrm>
          <a:prstGeom prst="rect">
            <a:avLst/>
          </a:prstGeom>
          <a:noFill/>
          <a:ln/>
        </p:spPr>
        <p:txBody>
          <a:bodyPr wrap="square" rtlCol="0" anchor="ctr"/>
          <a:lstStyle/>
          <a:p>
            <a:pPr algn="r" indent="0" marL="0">
              <a:buNone/>
            </a:pPr>
            <a:r>
              <a:rPr lang="en-US" sz="850" spc="150" kern="0" dirty="0">
                <a:solidFill>
                  <a:srgbClr val="6B8299"/>
                </a:solidFill>
                <a:latin typeface="Calibri" pitchFamily="34" charset="0"/>
                <a:ea typeface="Calibri" pitchFamily="34" charset="-122"/>
                <a:cs typeface="Calibri" pitchFamily="34" charset="-120"/>
              </a:rPr>
              <a:t>U.S. ARMY CYBER SCHOOL</a:t>
            </a:r>
            <a:endParaRPr lang="en-US" sz="850" dirty="0"/>
          </a:p>
        </p:txBody>
      </p:sp>
      <p:sp>
        <p:nvSpPr>
          <p:cNvPr id="32" name="Text 30"/>
          <p:cNvSpPr/>
          <p:nvPr/>
        </p:nvSpPr>
        <p:spPr>
          <a:xfrm>
            <a:off x="11137392" y="6382512"/>
            <a:ext cx="411480" cy="292608"/>
          </a:xfrm>
          <a:prstGeom prst="rect">
            <a:avLst/>
          </a:prstGeom>
          <a:noFill/>
          <a:ln/>
        </p:spPr>
        <p:txBody>
          <a:bodyPr wrap="square" rtlCol="0" anchor="ctr"/>
          <a:lstStyle/>
          <a:p>
            <a:pPr algn="r" indent="0" marL="0">
              <a:buNone/>
            </a:pPr>
            <a:r>
              <a:rPr lang="en-US" sz="1100" b="1" dirty="0">
                <a:solidFill>
                  <a:srgbClr val="2DD4E0"/>
                </a:solidFill>
                <a:latin typeface="Cambria" pitchFamily="34" charset="0"/>
                <a:ea typeface="Cambria" pitchFamily="34" charset="-122"/>
                <a:cs typeface="Cambria"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422"/>
        </a:solidFill>
      </p:bgPr>
    </p:bg>
    <p:spTree>
      <p:nvGrpSpPr>
        <p:cNvPr id="1" name=""/>
        <p:cNvGrpSpPr/>
        <p:nvPr/>
      </p:nvGrpSpPr>
      <p:grpSpPr>
        <a:xfrm>
          <a:off x="0" y="0"/>
          <a:ext cx="0" cy="0"/>
          <a:chOff x="0" y="0"/>
          <a:chExt cx="0" cy="0"/>
        </a:xfrm>
      </p:grpSpPr>
      <p:sp>
        <p:nvSpPr>
          <p:cNvPr id="2" name="Shape 0"/>
          <p:cNvSpPr/>
          <p:nvPr/>
        </p:nvSpPr>
        <p:spPr>
          <a:xfrm>
            <a:off x="640080" y="457200"/>
            <a:ext cx="310896" cy="0"/>
          </a:xfrm>
          <a:prstGeom prst="line">
            <a:avLst/>
          </a:prstGeom>
          <a:noFill/>
          <a:ln w="25400">
            <a:solidFill>
              <a:srgbClr val="2DD4E0"/>
            </a:solidFill>
            <a:prstDash val="solid"/>
          </a:ln>
        </p:spPr>
      </p:sp>
      <p:sp>
        <p:nvSpPr>
          <p:cNvPr id="3" name="Shape 1"/>
          <p:cNvSpPr/>
          <p:nvPr/>
        </p:nvSpPr>
        <p:spPr>
          <a:xfrm>
            <a:off x="640080" y="457200"/>
            <a:ext cx="0" cy="310896"/>
          </a:xfrm>
          <a:prstGeom prst="line">
            <a:avLst/>
          </a:prstGeom>
          <a:noFill/>
          <a:ln w="25400">
            <a:solidFill>
              <a:srgbClr val="2DD4E0"/>
            </a:solidFill>
            <a:prstDash val="solid"/>
          </a:ln>
        </p:spPr>
      </p:sp>
      <p:sp>
        <p:nvSpPr>
          <p:cNvPr id="4" name="Text 2"/>
          <p:cNvSpPr/>
          <p:nvPr/>
        </p:nvSpPr>
        <p:spPr>
          <a:xfrm>
            <a:off x="1097280" y="420624"/>
            <a:ext cx="10058400" cy="274320"/>
          </a:xfrm>
          <a:prstGeom prst="rect">
            <a:avLst/>
          </a:prstGeom>
          <a:noFill/>
          <a:ln/>
        </p:spPr>
        <p:txBody>
          <a:bodyPr wrap="square" rtlCol="0" anchor="ctr"/>
          <a:lstStyle/>
          <a:p>
            <a:pPr indent="0" marL="0">
              <a:buNone/>
            </a:pPr>
            <a:r>
              <a:rPr lang="en-US" sz="1150" b="1" spc="350" kern="0" dirty="0">
                <a:solidFill>
                  <a:srgbClr val="2DD4E0"/>
                </a:solidFill>
                <a:latin typeface="Calibri" pitchFamily="34" charset="0"/>
                <a:ea typeface="Calibri" pitchFamily="34" charset="-122"/>
                <a:cs typeface="Calibri" pitchFamily="34" charset="-120"/>
              </a:rPr>
              <a:t>DTS · THE WORKFLOW</a:t>
            </a:r>
            <a:endParaRPr lang="en-US" sz="1150" dirty="0"/>
          </a:p>
        </p:txBody>
      </p:sp>
      <p:sp>
        <p:nvSpPr>
          <p:cNvPr id="5" name="Text 3"/>
          <p:cNvSpPr/>
          <p:nvPr/>
        </p:nvSpPr>
        <p:spPr>
          <a:xfrm>
            <a:off x="640080" y="713232"/>
            <a:ext cx="10972800" cy="7772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Authorization Before, Voucher After</a:t>
            </a:r>
            <a:endParaRPr lang="en-US" sz="3000" dirty="0"/>
          </a:p>
        </p:txBody>
      </p:sp>
      <p:sp>
        <p:nvSpPr>
          <p:cNvPr id="6" name="Text 4"/>
          <p:cNvSpPr/>
          <p:nvPr/>
        </p:nvSpPr>
        <p:spPr>
          <a:xfrm>
            <a:off x="640080" y="1517904"/>
            <a:ext cx="10972800" cy="640080"/>
          </a:xfrm>
          <a:prstGeom prst="rect">
            <a:avLst/>
          </a:prstGeom>
          <a:noFill/>
          <a:ln/>
        </p:spPr>
        <p:txBody>
          <a:bodyPr wrap="square" rtlCol="0" anchor="t"/>
          <a:lstStyle/>
          <a:p>
            <a:pPr indent="0" marL="0">
              <a:lnSpc>
                <a:spcPct val="120000"/>
              </a:lnSpc>
              <a:buNone/>
            </a:pPr>
            <a:r>
              <a:rPr lang="en-US" sz="1400" b="1" dirty="0">
                <a:solidFill>
                  <a:srgbClr val="2DD4E0"/>
                </a:solidFill>
                <a:latin typeface="Calibri" pitchFamily="34" charset="0"/>
                <a:ea typeface="Calibri" pitchFamily="34" charset="-122"/>
                <a:cs typeface="Calibri" pitchFamily="34" charset="-120"/>
              </a:rPr>
              <a:t>DTS is a two-part process. </a:t>
            </a:r>
            <a:pPr indent="0" marL="0">
              <a:lnSpc>
                <a:spcPct val="120000"/>
              </a:lnSpc>
              <a:buNone/>
            </a:pPr>
            <a:r>
              <a:rPr lang="en-US" sz="1400" dirty="0">
                <a:solidFill>
                  <a:srgbClr val="E8EEF5"/>
                </a:solidFill>
                <a:latin typeface="Calibri" pitchFamily="34" charset="0"/>
                <a:ea typeface="Calibri" pitchFamily="34" charset="-122"/>
                <a:cs typeface="Calibri" pitchFamily="34" charset="-120"/>
              </a:rPr>
              <a:t>The </a:t>
            </a:r>
            <a:pPr indent="0" marL="0">
              <a:lnSpc>
                <a:spcPct val="120000"/>
              </a:lnSpc>
              <a:buNone/>
            </a:pPr>
            <a:r>
              <a:rPr lang="en-US" sz="1400" b="1" dirty="0">
                <a:solidFill>
                  <a:srgbClr val="F2A900"/>
                </a:solidFill>
                <a:latin typeface="Calibri" pitchFamily="34" charset="0"/>
                <a:ea typeface="Calibri" pitchFamily="34" charset="-122"/>
                <a:cs typeface="Calibri" pitchFamily="34" charset="-120"/>
              </a:rPr>
              <a:t>authorization</a:t>
            </a:r>
            <a:pPr indent="0" marL="0">
              <a:lnSpc>
                <a:spcPct val="120000"/>
              </a:lnSpc>
              <a:buNone/>
            </a:pPr>
            <a:r>
              <a:rPr lang="en-US" sz="1400" dirty="0">
                <a:solidFill>
                  <a:srgbClr val="E8EEF5"/>
                </a:solidFill>
                <a:latin typeface="Calibri" pitchFamily="34" charset="0"/>
                <a:ea typeface="Calibri" pitchFamily="34" charset="-122"/>
                <a:cs typeface="Calibri" pitchFamily="34" charset="-120"/>
              </a:rPr>
              <a:t> gets you approved and funded to travel; the </a:t>
            </a:r>
            <a:pPr indent="0" marL="0">
              <a:lnSpc>
                <a:spcPct val="120000"/>
              </a:lnSpc>
              <a:buNone/>
            </a:pPr>
            <a:r>
              <a:rPr lang="en-US" sz="1400" b="1" dirty="0">
                <a:solidFill>
                  <a:srgbClr val="3DD68C"/>
                </a:solidFill>
                <a:latin typeface="Calibri" pitchFamily="34" charset="0"/>
                <a:ea typeface="Calibri" pitchFamily="34" charset="-122"/>
                <a:cs typeface="Calibri" pitchFamily="34" charset="-120"/>
              </a:rPr>
              <a:t>voucher</a:t>
            </a:r>
            <a:pPr indent="0" marL="0">
              <a:lnSpc>
                <a:spcPct val="120000"/>
              </a:lnSpc>
              <a:buNone/>
            </a:pPr>
            <a:r>
              <a:rPr lang="en-US" sz="1400" dirty="0">
                <a:solidFill>
                  <a:srgbClr val="E8EEF5"/>
                </a:solidFill>
                <a:latin typeface="Calibri" pitchFamily="34" charset="0"/>
                <a:ea typeface="Calibri" pitchFamily="34" charset="-122"/>
                <a:cs typeface="Calibri" pitchFamily="34" charset="-120"/>
              </a:rPr>
              <a:t> claims your actual costs and pays you back. Log in with your CAC and PIN.</a:t>
            </a:r>
            <a:endParaRPr lang="en-US" sz="1400" dirty="0"/>
          </a:p>
        </p:txBody>
      </p:sp>
      <p:sp>
        <p:nvSpPr>
          <p:cNvPr id="7" name="Shape 5"/>
          <p:cNvSpPr/>
          <p:nvPr/>
        </p:nvSpPr>
        <p:spPr>
          <a:xfrm>
            <a:off x="640080" y="2286000"/>
            <a:ext cx="2103120" cy="2834640"/>
          </a:xfrm>
          <a:prstGeom prst="roundRect">
            <a:avLst>
              <a:gd name="adj" fmla="val 3478"/>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8" name="Shape 6"/>
          <p:cNvSpPr/>
          <p:nvPr/>
        </p:nvSpPr>
        <p:spPr>
          <a:xfrm>
            <a:off x="841248" y="2505456"/>
            <a:ext cx="475488" cy="475488"/>
          </a:xfrm>
          <a:prstGeom prst="ellipse">
            <a:avLst/>
          </a:prstGeom>
          <a:solidFill>
            <a:srgbClr val="F2A900"/>
          </a:solidFill>
          <a:ln/>
          <a:effectLst>
            <a:outerShdw sx="100000" sy="100000" kx="0" ky="0" algn="bl" rotWithShape="0" blurRad="101600" dist="38100" dir="5400000">
              <a:srgbClr val="000000">
                <a:alpha val="28000"/>
              </a:srgbClr>
            </a:outerShdw>
          </a:effectLst>
        </p:spPr>
      </p:sp>
      <p:sp>
        <p:nvSpPr>
          <p:cNvPr id="9" name="Text 7"/>
          <p:cNvSpPr/>
          <p:nvPr/>
        </p:nvSpPr>
        <p:spPr>
          <a:xfrm>
            <a:off x="841248" y="2505456"/>
            <a:ext cx="475488" cy="475488"/>
          </a:xfrm>
          <a:prstGeom prst="rect">
            <a:avLst/>
          </a:prstGeom>
          <a:noFill/>
          <a:ln/>
        </p:spPr>
        <p:txBody>
          <a:bodyPr wrap="square" rtlCol="0" anchor="ctr"/>
          <a:lstStyle/>
          <a:p>
            <a:pPr algn="ctr" indent="0" marL="0">
              <a:buNone/>
            </a:pPr>
            <a:r>
              <a:rPr lang="en-US" sz="1144" b="1" dirty="0">
                <a:solidFill>
                  <a:srgbClr val="0A1422"/>
                </a:solidFill>
                <a:latin typeface="Cambria" pitchFamily="34" charset="0"/>
                <a:ea typeface="Cambria" pitchFamily="34" charset="-122"/>
                <a:cs typeface="Cambria" pitchFamily="34" charset="-120"/>
              </a:rPr>
              <a:t>1</a:t>
            </a:r>
            <a:endParaRPr lang="en-US" sz="1144" dirty="0"/>
          </a:p>
        </p:txBody>
      </p:sp>
      <p:sp>
        <p:nvSpPr>
          <p:cNvPr id="10" name="Text 8"/>
          <p:cNvSpPr/>
          <p:nvPr/>
        </p:nvSpPr>
        <p:spPr>
          <a:xfrm>
            <a:off x="822960" y="3127248"/>
            <a:ext cx="1737360" cy="713232"/>
          </a:xfrm>
          <a:prstGeom prst="rect">
            <a:avLst/>
          </a:prstGeom>
          <a:noFill/>
          <a:ln/>
        </p:spPr>
        <p:txBody>
          <a:bodyPr wrap="square"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Build the authorization</a:t>
            </a:r>
            <a:endParaRPr lang="en-US" sz="1400" dirty="0"/>
          </a:p>
        </p:txBody>
      </p:sp>
      <p:sp>
        <p:nvSpPr>
          <p:cNvPr id="11" name="Text 9"/>
          <p:cNvSpPr/>
          <p:nvPr/>
        </p:nvSpPr>
        <p:spPr>
          <a:xfrm>
            <a:off x="822960" y="3822192"/>
            <a:ext cx="1737360" cy="1207008"/>
          </a:xfrm>
          <a:prstGeom prst="rect">
            <a:avLst/>
          </a:prstGeom>
          <a:noFill/>
          <a:ln/>
        </p:spPr>
        <p:txBody>
          <a:bodyPr wrap="square" rtlCol="0" anchor="t"/>
          <a:lstStyle/>
          <a:p>
            <a:pPr indent="0" marL="0">
              <a:lnSpc>
                <a:spcPct val="114000"/>
              </a:lnSpc>
              <a:buNone/>
            </a:pPr>
            <a:r>
              <a:rPr lang="en-US" sz="1050" dirty="0">
                <a:solidFill>
                  <a:srgbClr val="9FB3C8"/>
                </a:solidFill>
                <a:latin typeface="Calibri" pitchFamily="34" charset="0"/>
                <a:ea typeface="Calibri" pitchFamily="34" charset="-122"/>
                <a:cs typeface="Calibri" pitchFamily="34" charset="-120"/>
              </a:rPr>
              <a:t>Create the trip, enter the itinerary, and reserve lodging, air, and rental through the DTS Travel module.</a:t>
            </a:r>
            <a:endParaRPr lang="en-US" sz="1050" dirty="0"/>
          </a:p>
        </p:txBody>
      </p:sp>
      <p:sp>
        <p:nvSpPr>
          <p:cNvPr id="12" name="Text 10"/>
          <p:cNvSpPr/>
          <p:nvPr/>
        </p:nvSpPr>
        <p:spPr>
          <a:xfrm>
            <a:off x="2724912" y="3246120"/>
            <a:ext cx="256032" cy="457200"/>
          </a:xfrm>
          <a:prstGeom prst="rect">
            <a:avLst/>
          </a:prstGeom>
          <a:noFill/>
          <a:ln/>
        </p:spPr>
        <p:txBody>
          <a:bodyPr wrap="square" rtlCol="0" anchor="ctr"/>
          <a:lstStyle/>
          <a:p>
            <a:pPr algn="ctr" indent="0" marL="0">
              <a:buNone/>
            </a:pPr>
            <a:r>
              <a:rPr lang="en-US" sz="2200" b="1" dirty="0">
                <a:solidFill>
                  <a:srgbClr val="6B8299"/>
                </a:solidFill>
                <a:latin typeface="Cambria" pitchFamily="34" charset="0"/>
                <a:ea typeface="Cambria" pitchFamily="34" charset="-122"/>
                <a:cs typeface="Cambria" pitchFamily="34" charset="-120"/>
              </a:rPr>
              <a:t>›</a:t>
            </a:r>
            <a:endParaRPr lang="en-US" sz="2200" dirty="0"/>
          </a:p>
        </p:txBody>
      </p:sp>
      <p:sp>
        <p:nvSpPr>
          <p:cNvPr id="13" name="Shape 11"/>
          <p:cNvSpPr/>
          <p:nvPr/>
        </p:nvSpPr>
        <p:spPr>
          <a:xfrm>
            <a:off x="2926080" y="2286000"/>
            <a:ext cx="2103120" cy="2834640"/>
          </a:xfrm>
          <a:prstGeom prst="roundRect">
            <a:avLst>
              <a:gd name="adj" fmla="val 3478"/>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14" name="Shape 12"/>
          <p:cNvSpPr/>
          <p:nvPr/>
        </p:nvSpPr>
        <p:spPr>
          <a:xfrm>
            <a:off x="3127248" y="2505456"/>
            <a:ext cx="475488" cy="475488"/>
          </a:xfrm>
          <a:prstGeom prst="ellipse">
            <a:avLst/>
          </a:prstGeom>
          <a:solidFill>
            <a:srgbClr val="F2A900"/>
          </a:solidFill>
          <a:ln/>
          <a:effectLst>
            <a:outerShdw sx="100000" sy="100000" kx="0" ky="0" algn="bl" rotWithShape="0" blurRad="101600" dist="38100" dir="5400000">
              <a:srgbClr val="000000">
                <a:alpha val="28000"/>
              </a:srgbClr>
            </a:outerShdw>
          </a:effectLst>
        </p:spPr>
      </p:sp>
      <p:sp>
        <p:nvSpPr>
          <p:cNvPr id="15" name="Text 13"/>
          <p:cNvSpPr/>
          <p:nvPr/>
        </p:nvSpPr>
        <p:spPr>
          <a:xfrm>
            <a:off x="3127248" y="2505456"/>
            <a:ext cx="475488" cy="475488"/>
          </a:xfrm>
          <a:prstGeom prst="rect">
            <a:avLst/>
          </a:prstGeom>
          <a:noFill/>
          <a:ln/>
        </p:spPr>
        <p:txBody>
          <a:bodyPr wrap="square" rtlCol="0" anchor="ctr"/>
          <a:lstStyle/>
          <a:p>
            <a:pPr algn="ctr" indent="0" marL="0">
              <a:buNone/>
            </a:pPr>
            <a:r>
              <a:rPr lang="en-US" sz="1144" b="1" dirty="0">
                <a:solidFill>
                  <a:srgbClr val="0A1422"/>
                </a:solidFill>
                <a:latin typeface="Cambria" pitchFamily="34" charset="0"/>
                <a:ea typeface="Cambria" pitchFamily="34" charset="-122"/>
                <a:cs typeface="Cambria" pitchFamily="34" charset="-120"/>
              </a:rPr>
              <a:t>2</a:t>
            </a:r>
            <a:endParaRPr lang="en-US" sz="1144" dirty="0"/>
          </a:p>
        </p:txBody>
      </p:sp>
      <p:sp>
        <p:nvSpPr>
          <p:cNvPr id="16" name="Text 14"/>
          <p:cNvSpPr/>
          <p:nvPr/>
        </p:nvSpPr>
        <p:spPr>
          <a:xfrm>
            <a:off x="3108960" y="3127248"/>
            <a:ext cx="1737360" cy="713232"/>
          </a:xfrm>
          <a:prstGeom prst="rect">
            <a:avLst/>
          </a:prstGeom>
          <a:noFill/>
          <a:ln/>
        </p:spPr>
        <p:txBody>
          <a:bodyPr wrap="square"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Route for approval</a:t>
            </a:r>
            <a:endParaRPr lang="en-US" sz="1400" dirty="0"/>
          </a:p>
        </p:txBody>
      </p:sp>
      <p:sp>
        <p:nvSpPr>
          <p:cNvPr id="17" name="Text 15"/>
          <p:cNvSpPr/>
          <p:nvPr/>
        </p:nvSpPr>
        <p:spPr>
          <a:xfrm>
            <a:off x="3108960" y="3822192"/>
            <a:ext cx="1737360" cy="1207008"/>
          </a:xfrm>
          <a:prstGeom prst="rect">
            <a:avLst/>
          </a:prstGeom>
          <a:noFill/>
          <a:ln/>
        </p:spPr>
        <p:txBody>
          <a:bodyPr wrap="square" rtlCol="0" anchor="t"/>
          <a:lstStyle/>
          <a:p>
            <a:pPr indent="0" marL="0">
              <a:lnSpc>
                <a:spcPct val="114000"/>
              </a:lnSpc>
              <a:buNone/>
            </a:pPr>
            <a:r>
              <a:rPr lang="en-US" sz="1050" dirty="0">
                <a:solidFill>
                  <a:srgbClr val="9FB3C8"/>
                </a:solidFill>
                <a:latin typeface="Calibri" pitchFamily="34" charset="0"/>
                <a:ea typeface="Calibri" pitchFamily="34" charset="-122"/>
                <a:cs typeface="Calibri" pitchFamily="34" charset="-120"/>
              </a:rPr>
              <a:t>Add expenses and comments, then digitally sign. It routes to your AO and any Routing Officials.</a:t>
            </a:r>
            <a:endParaRPr lang="en-US" sz="1050" dirty="0"/>
          </a:p>
        </p:txBody>
      </p:sp>
      <p:sp>
        <p:nvSpPr>
          <p:cNvPr id="18" name="Text 16"/>
          <p:cNvSpPr/>
          <p:nvPr/>
        </p:nvSpPr>
        <p:spPr>
          <a:xfrm>
            <a:off x="5010912" y="3246120"/>
            <a:ext cx="256032" cy="457200"/>
          </a:xfrm>
          <a:prstGeom prst="rect">
            <a:avLst/>
          </a:prstGeom>
          <a:noFill/>
          <a:ln/>
        </p:spPr>
        <p:txBody>
          <a:bodyPr wrap="square" rtlCol="0" anchor="ctr"/>
          <a:lstStyle/>
          <a:p>
            <a:pPr algn="ctr" indent="0" marL="0">
              <a:buNone/>
            </a:pPr>
            <a:r>
              <a:rPr lang="en-US" sz="2200" b="1" dirty="0">
                <a:solidFill>
                  <a:srgbClr val="6B8299"/>
                </a:solidFill>
                <a:latin typeface="Cambria" pitchFamily="34" charset="0"/>
                <a:ea typeface="Cambria" pitchFamily="34" charset="-122"/>
                <a:cs typeface="Cambria" pitchFamily="34" charset="-120"/>
              </a:rPr>
              <a:t>›</a:t>
            </a:r>
            <a:endParaRPr lang="en-US" sz="2200" dirty="0"/>
          </a:p>
        </p:txBody>
      </p:sp>
      <p:sp>
        <p:nvSpPr>
          <p:cNvPr id="19" name="Shape 17"/>
          <p:cNvSpPr/>
          <p:nvPr/>
        </p:nvSpPr>
        <p:spPr>
          <a:xfrm>
            <a:off x="5212080" y="2286000"/>
            <a:ext cx="2103120" cy="2834640"/>
          </a:xfrm>
          <a:prstGeom prst="roundRect">
            <a:avLst>
              <a:gd name="adj" fmla="val 3478"/>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20" name="Shape 18"/>
          <p:cNvSpPr/>
          <p:nvPr/>
        </p:nvSpPr>
        <p:spPr>
          <a:xfrm>
            <a:off x="5413248" y="2505456"/>
            <a:ext cx="475488" cy="475488"/>
          </a:xfrm>
          <a:prstGeom prst="ellipse">
            <a:avLst/>
          </a:prstGeom>
          <a:solidFill>
            <a:srgbClr val="2DD4E0"/>
          </a:solidFill>
          <a:ln/>
          <a:effectLst>
            <a:outerShdw sx="100000" sy="100000" kx="0" ky="0" algn="bl" rotWithShape="0" blurRad="101600" dist="38100" dir="5400000">
              <a:srgbClr val="000000">
                <a:alpha val="28000"/>
              </a:srgbClr>
            </a:outerShdw>
          </a:effectLst>
        </p:spPr>
      </p:sp>
      <p:sp>
        <p:nvSpPr>
          <p:cNvPr id="21" name="Text 19"/>
          <p:cNvSpPr/>
          <p:nvPr/>
        </p:nvSpPr>
        <p:spPr>
          <a:xfrm>
            <a:off x="5413248" y="2505456"/>
            <a:ext cx="475488" cy="475488"/>
          </a:xfrm>
          <a:prstGeom prst="rect">
            <a:avLst/>
          </a:prstGeom>
          <a:noFill/>
          <a:ln/>
        </p:spPr>
        <p:txBody>
          <a:bodyPr wrap="square" rtlCol="0" anchor="ctr"/>
          <a:lstStyle/>
          <a:p>
            <a:pPr algn="ctr" indent="0" marL="0">
              <a:buNone/>
            </a:pPr>
            <a:r>
              <a:rPr lang="en-US" sz="1144" b="1" dirty="0">
                <a:solidFill>
                  <a:srgbClr val="0A1422"/>
                </a:solidFill>
                <a:latin typeface="Cambria" pitchFamily="34" charset="0"/>
                <a:ea typeface="Cambria" pitchFamily="34" charset="-122"/>
                <a:cs typeface="Cambria" pitchFamily="34" charset="-120"/>
              </a:rPr>
              <a:t>3</a:t>
            </a:r>
            <a:endParaRPr lang="en-US" sz="1144" dirty="0"/>
          </a:p>
        </p:txBody>
      </p:sp>
      <p:sp>
        <p:nvSpPr>
          <p:cNvPr id="22" name="Text 20"/>
          <p:cNvSpPr/>
          <p:nvPr/>
        </p:nvSpPr>
        <p:spPr>
          <a:xfrm>
            <a:off x="5394960" y="3127248"/>
            <a:ext cx="1737360" cy="713232"/>
          </a:xfrm>
          <a:prstGeom prst="rect">
            <a:avLst/>
          </a:prstGeom>
          <a:noFill/>
          <a:ln/>
        </p:spPr>
        <p:txBody>
          <a:bodyPr wrap="square"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Travel</a:t>
            </a:r>
            <a:endParaRPr lang="en-US" sz="1400" dirty="0"/>
          </a:p>
        </p:txBody>
      </p:sp>
      <p:sp>
        <p:nvSpPr>
          <p:cNvPr id="23" name="Text 21"/>
          <p:cNvSpPr/>
          <p:nvPr/>
        </p:nvSpPr>
        <p:spPr>
          <a:xfrm>
            <a:off x="5394960" y="3822192"/>
            <a:ext cx="1737360" cy="1207008"/>
          </a:xfrm>
          <a:prstGeom prst="rect">
            <a:avLst/>
          </a:prstGeom>
          <a:noFill/>
          <a:ln/>
        </p:spPr>
        <p:txBody>
          <a:bodyPr wrap="square" rtlCol="0" anchor="t"/>
          <a:lstStyle/>
          <a:p>
            <a:pPr indent="0" marL="0">
              <a:lnSpc>
                <a:spcPct val="114000"/>
              </a:lnSpc>
              <a:buNone/>
            </a:pPr>
            <a:r>
              <a:rPr lang="en-US" sz="1050" dirty="0">
                <a:solidFill>
                  <a:srgbClr val="9FB3C8"/>
                </a:solidFill>
                <a:latin typeface="Calibri" pitchFamily="34" charset="0"/>
                <a:ea typeface="Calibri" pitchFamily="34" charset="-122"/>
                <a:cs typeface="Calibri" pitchFamily="34" charset="-120"/>
              </a:rPr>
              <a:t>Reservations ticket after approval. Keep every receipt — lodging always, plus any single expense of $75 or more.</a:t>
            </a:r>
            <a:endParaRPr lang="en-US" sz="1050" dirty="0"/>
          </a:p>
        </p:txBody>
      </p:sp>
      <p:sp>
        <p:nvSpPr>
          <p:cNvPr id="24" name="Text 22"/>
          <p:cNvSpPr/>
          <p:nvPr/>
        </p:nvSpPr>
        <p:spPr>
          <a:xfrm>
            <a:off x="7296912" y="3246120"/>
            <a:ext cx="256032" cy="457200"/>
          </a:xfrm>
          <a:prstGeom prst="rect">
            <a:avLst/>
          </a:prstGeom>
          <a:noFill/>
          <a:ln/>
        </p:spPr>
        <p:txBody>
          <a:bodyPr wrap="square" rtlCol="0" anchor="ctr"/>
          <a:lstStyle/>
          <a:p>
            <a:pPr algn="ctr" indent="0" marL="0">
              <a:buNone/>
            </a:pPr>
            <a:r>
              <a:rPr lang="en-US" sz="2200" b="1" dirty="0">
                <a:solidFill>
                  <a:srgbClr val="6B8299"/>
                </a:solidFill>
                <a:latin typeface="Cambria" pitchFamily="34" charset="0"/>
                <a:ea typeface="Cambria" pitchFamily="34" charset="-122"/>
                <a:cs typeface="Cambria" pitchFamily="34" charset="-120"/>
              </a:rPr>
              <a:t>›</a:t>
            </a:r>
            <a:endParaRPr lang="en-US" sz="2200" dirty="0"/>
          </a:p>
        </p:txBody>
      </p:sp>
      <p:sp>
        <p:nvSpPr>
          <p:cNvPr id="25" name="Shape 23"/>
          <p:cNvSpPr/>
          <p:nvPr/>
        </p:nvSpPr>
        <p:spPr>
          <a:xfrm>
            <a:off x="7498080" y="2286000"/>
            <a:ext cx="2103120" cy="2834640"/>
          </a:xfrm>
          <a:prstGeom prst="roundRect">
            <a:avLst>
              <a:gd name="adj" fmla="val 3478"/>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26" name="Shape 24"/>
          <p:cNvSpPr/>
          <p:nvPr/>
        </p:nvSpPr>
        <p:spPr>
          <a:xfrm>
            <a:off x="7699248" y="2505456"/>
            <a:ext cx="475488" cy="475488"/>
          </a:xfrm>
          <a:prstGeom prst="ellipse">
            <a:avLst/>
          </a:prstGeom>
          <a:solidFill>
            <a:srgbClr val="3DD68C"/>
          </a:solidFill>
          <a:ln/>
          <a:effectLst>
            <a:outerShdw sx="100000" sy="100000" kx="0" ky="0" algn="bl" rotWithShape="0" blurRad="101600" dist="38100" dir="5400000">
              <a:srgbClr val="000000">
                <a:alpha val="28000"/>
              </a:srgbClr>
            </a:outerShdw>
          </a:effectLst>
        </p:spPr>
      </p:sp>
      <p:sp>
        <p:nvSpPr>
          <p:cNvPr id="27" name="Text 25"/>
          <p:cNvSpPr/>
          <p:nvPr/>
        </p:nvSpPr>
        <p:spPr>
          <a:xfrm>
            <a:off x="7699248" y="2505456"/>
            <a:ext cx="475488" cy="475488"/>
          </a:xfrm>
          <a:prstGeom prst="rect">
            <a:avLst/>
          </a:prstGeom>
          <a:noFill/>
          <a:ln/>
        </p:spPr>
        <p:txBody>
          <a:bodyPr wrap="square" rtlCol="0" anchor="ctr"/>
          <a:lstStyle/>
          <a:p>
            <a:pPr algn="ctr" indent="0" marL="0">
              <a:buNone/>
            </a:pPr>
            <a:r>
              <a:rPr lang="en-US" sz="1144" b="1" dirty="0">
                <a:solidFill>
                  <a:srgbClr val="0A1422"/>
                </a:solidFill>
                <a:latin typeface="Cambria" pitchFamily="34" charset="0"/>
                <a:ea typeface="Cambria" pitchFamily="34" charset="-122"/>
                <a:cs typeface="Cambria" pitchFamily="34" charset="-120"/>
              </a:rPr>
              <a:t>4</a:t>
            </a:r>
            <a:endParaRPr lang="en-US" sz="1144" dirty="0"/>
          </a:p>
        </p:txBody>
      </p:sp>
      <p:sp>
        <p:nvSpPr>
          <p:cNvPr id="28" name="Text 26"/>
          <p:cNvSpPr/>
          <p:nvPr/>
        </p:nvSpPr>
        <p:spPr>
          <a:xfrm>
            <a:off x="7680960" y="3127248"/>
            <a:ext cx="1737360" cy="713232"/>
          </a:xfrm>
          <a:prstGeom prst="rect">
            <a:avLst/>
          </a:prstGeom>
          <a:noFill/>
          <a:ln/>
        </p:spPr>
        <p:txBody>
          <a:bodyPr wrap="square"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File the voucher</a:t>
            </a:r>
            <a:endParaRPr lang="en-US" sz="1400" dirty="0"/>
          </a:p>
        </p:txBody>
      </p:sp>
      <p:sp>
        <p:nvSpPr>
          <p:cNvPr id="29" name="Text 27"/>
          <p:cNvSpPr/>
          <p:nvPr/>
        </p:nvSpPr>
        <p:spPr>
          <a:xfrm>
            <a:off x="7680960" y="3822192"/>
            <a:ext cx="1737360" cy="1207008"/>
          </a:xfrm>
          <a:prstGeom prst="rect">
            <a:avLst/>
          </a:prstGeom>
          <a:noFill/>
          <a:ln/>
        </p:spPr>
        <p:txBody>
          <a:bodyPr wrap="square" rtlCol="0" anchor="t"/>
          <a:lstStyle/>
          <a:p>
            <a:pPr indent="0" marL="0">
              <a:lnSpc>
                <a:spcPct val="114000"/>
              </a:lnSpc>
              <a:buNone/>
            </a:pPr>
            <a:r>
              <a:rPr lang="en-US" sz="1050" dirty="0">
                <a:solidFill>
                  <a:srgbClr val="9FB3C8"/>
                </a:solidFill>
                <a:latin typeface="Calibri" pitchFamily="34" charset="0"/>
                <a:ea typeface="Calibri" pitchFamily="34" charset="-122"/>
                <a:cs typeface="Calibri" pitchFamily="34" charset="-120"/>
              </a:rPr>
              <a:t>Create the voucher FROM the approved authorization, update estimates to actuals, attach receipts, and sign — within 5 days.</a:t>
            </a:r>
            <a:endParaRPr lang="en-US" sz="1050" dirty="0"/>
          </a:p>
        </p:txBody>
      </p:sp>
      <p:sp>
        <p:nvSpPr>
          <p:cNvPr id="30" name="Text 28"/>
          <p:cNvSpPr/>
          <p:nvPr/>
        </p:nvSpPr>
        <p:spPr>
          <a:xfrm>
            <a:off x="9582912" y="3246120"/>
            <a:ext cx="256032" cy="457200"/>
          </a:xfrm>
          <a:prstGeom prst="rect">
            <a:avLst/>
          </a:prstGeom>
          <a:noFill/>
          <a:ln/>
        </p:spPr>
        <p:txBody>
          <a:bodyPr wrap="square" rtlCol="0" anchor="ctr"/>
          <a:lstStyle/>
          <a:p>
            <a:pPr algn="ctr" indent="0" marL="0">
              <a:buNone/>
            </a:pPr>
            <a:r>
              <a:rPr lang="en-US" sz="2200" b="1" dirty="0">
                <a:solidFill>
                  <a:srgbClr val="6B8299"/>
                </a:solidFill>
                <a:latin typeface="Cambria" pitchFamily="34" charset="0"/>
                <a:ea typeface="Cambria" pitchFamily="34" charset="-122"/>
                <a:cs typeface="Cambria" pitchFamily="34" charset="-120"/>
              </a:rPr>
              <a:t>›</a:t>
            </a:r>
            <a:endParaRPr lang="en-US" sz="2200" dirty="0"/>
          </a:p>
        </p:txBody>
      </p:sp>
      <p:sp>
        <p:nvSpPr>
          <p:cNvPr id="31" name="Shape 29"/>
          <p:cNvSpPr/>
          <p:nvPr/>
        </p:nvSpPr>
        <p:spPr>
          <a:xfrm>
            <a:off x="9784080" y="2286000"/>
            <a:ext cx="2103120" cy="2834640"/>
          </a:xfrm>
          <a:prstGeom prst="roundRect">
            <a:avLst>
              <a:gd name="adj" fmla="val 3478"/>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32" name="Shape 30"/>
          <p:cNvSpPr/>
          <p:nvPr/>
        </p:nvSpPr>
        <p:spPr>
          <a:xfrm>
            <a:off x="9985248" y="2505456"/>
            <a:ext cx="475488" cy="475488"/>
          </a:xfrm>
          <a:prstGeom prst="ellipse">
            <a:avLst/>
          </a:prstGeom>
          <a:solidFill>
            <a:srgbClr val="3DD68C"/>
          </a:solidFill>
          <a:ln/>
          <a:effectLst>
            <a:outerShdw sx="100000" sy="100000" kx="0" ky="0" algn="bl" rotWithShape="0" blurRad="101600" dist="38100" dir="5400000">
              <a:srgbClr val="000000">
                <a:alpha val="28000"/>
              </a:srgbClr>
            </a:outerShdw>
          </a:effectLst>
        </p:spPr>
      </p:sp>
      <p:sp>
        <p:nvSpPr>
          <p:cNvPr id="33" name="Text 31"/>
          <p:cNvSpPr/>
          <p:nvPr/>
        </p:nvSpPr>
        <p:spPr>
          <a:xfrm>
            <a:off x="9985248" y="2505456"/>
            <a:ext cx="475488" cy="475488"/>
          </a:xfrm>
          <a:prstGeom prst="rect">
            <a:avLst/>
          </a:prstGeom>
          <a:noFill/>
          <a:ln/>
        </p:spPr>
        <p:txBody>
          <a:bodyPr wrap="square" rtlCol="0" anchor="ctr"/>
          <a:lstStyle/>
          <a:p>
            <a:pPr algn="ctr" indent="0" marL="0">
              <a:buNone/>
            </a:pPr>
            <a:r>
              <a:rPr lang="en-US" sz="1144" b="1" dirty="0">
                <a:solidFill>
                  <a:srgbClr val="0A1422"/>
                </a:solidFill>
                <a:latin typeface="Cambria" pitchFamily="34" charset="0"/>
                <a:ea typeface="Cambria" pitchFamily="34" charset="-122"/>
                <a:cs typeface="Cambria" pitchFamily="34" charset="-120"/>
              </a:rPr>
              <a:t>5</a:t>
            </a:r>
            <a:endParaRPr lang="en-US" sz="1144" dirty="0"/>
          </a:p>
        </p:txBody>
      </p:sp>
      <p:sp>
        <p:nvSpPr>
          <p:cNvPr id="34" name="Text 32"/>
          <p:cNvSpPr/>
          <p:nvPr/>
        </p:nvSpPr>
        <p:spPr>
          <a:xfrm>
            <a:off x="9966960" y="3127248"/>
            <a:ext cx="1737360" cy="713232"/>
          </a:xfrm>
          <a:prstGeom prst="rect">
            <a:avLst/>
          </a:prstGeom>
          <a:noFill/>
          <a:ln/>
        </p:spPr>
        <p:txBody>
          <a:bodyPr wrap="square"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Get paid</a:t>
            </a:r>
            <a:endParaRPr lang="en-US" sz="1400" dirty="0"/>
          </a:p>
        </p:txBody>
      </p:sp>
      <p:sp>
        <p:nvSpPr>
          <p:cNvPr id="35" name="Text 33"/>
          <p:cNvSpPr/>
          <p:nvPr/>
        </p:nvSpPr>
        <p:spPr>
          <a:xfrm>
            <a:off x="9966960" y="3822192"/>
            <a:ext cx="1737360" cy="1207008"/>
          </a:xfrm>
          <a:prstGeom prst="rect">
            <a:avLst/>
          </a:prstGeom>
          <a:noFill/>
          <a:ln/>
        </p:spPr>
        <p:txBody>
          <a:bodyPr wrap="square" rtlCol="0" anchor="t"/>
          <a:lstStyle/>
          <a:p>
            <a:pPr indent="0" marL="0">
              <a:lnSpc>
                <a:spcPct val="114000"/>
              </a:lnSpc>
              <a:buNone/>
            </a:pPr>
            <a:r>
              <a:rPr lang="en-US" sz="1050" dirty="0">
                <a:solidFill>
                  <a:srgbClr val="9FB3C8"/>
                </a:solidFill>
                <a:latin typeface="Calibri" pitchFamily="34" charset="0"/>
                <a:ea typeface="Calibri" pitchFamily="34" charset="-122"/>
                <a:cs typeface="Calibri" pitchFamily="34" charset="-120"/>
              </a:rPr>
              <a:t>The AO approves and DTS routes to DFAS. Split disbursement pays the card vendor and sends the remainder to your bank.</a:t>
            </a:r>
            <a:endParaRPr lang="en-US" sz="1050" dirty="0"/>
          </a:p>
        </p:txBody>
      </p:sp>
      <p:sp>
        <p:nvSpPr>
          <p:cNvPr id="36" name="Shape 34"/>
          <p:cNvSpPr/>
          <p:nvPr/>
        </p:nvSpPr>
        <p:spPr>
          <a:xfrm>
            <a:off x="640080" y="6355080"/>
            <a:ext cx="10908792" cy="0"/>
          </a:xfrm>
          <a:prstGeom prst="line">
            <a:avLst/>
          </a:prstGeom>
          <a:noFill/>
          <a:ln w="9525">
            <a:solidFill>
              <a:srgbClr val="24384F"/>
            </a:solidFill>
            <a:prstDash val="solid"/>
          </a:ln>
        </p:spPr>
      </p:sp>
      <p:sp>
        <p:nvSpPr>
          <p:cNvPr id="37" name="Text 35"/>
          <p:cNvSpPr/>
          <p:nvPr/>
        </p:nvSpPr>
        <p:spPr>
          <a:xfrm>
            <a:off x="640080" y="6400800"/>
            <a:ext cx="7315200" cy="274320"/>
          </a:xfrm>
          <a:prstGeom prst="rect">
            <a:avLst/>
          </a:prstGeom>
          <a:noFill/>
          <a:ln/>
        </p:spPr>
        <p:txBody>
          <a:bodyPr wrap="square" rtlCol="0" anchor="ctr"/>
          <a:lstStyle/>
          <a:p>
            <a:pPr algn="l" indent="0" marL="0">
              <a:buNone/>
            </a:pPr>
            <a:r>
              <a:rPr lang="en-US" sz="850" dirty="0">
                <a:solidFill>
                  <a:srgbClr val="6B8299"/>
                </a:solidFill>
                <a:latin typeface="Calibri" pitchFamily="34" charset="0"/>
                <a:ea typeface="Calibri" pitchFamily="34" charset="-122"/>
                <a:cs typeface="Calibri" pitchFamily="34" charset="-120"/>
              </a:rPr>
              <a:t>112-17E10E  ·  Electronic Warfare Specialist Course</a:t>
            </a:r>
            <a:endParaRPr lang="en-US" sz="850" dirty="0"/>
          </a:p>
        </p:txBody>
      </p:sp>
      <p:sp>
        <p:nvSpPr>
          <p:cNvPr id="38" name="Text 36"/>
          <p:cNvSpPr/>
          <p:nvPr/>
        </p:nvSpPr>
        <p:spPr>
          <a:xfrm>
            <a:off x="8165592" y="6400800"/>
            <a:ext cx="2834640" cy="274320"/>
          </a:xfrm>
          <a:prstGeom prst="rect">
            <a:avLst/>
          </a:prstGeom>
          <a:noFill/>
          <a:ln/>
        </p:spPr>
        <p:txBody>
          <a:bodyPr wrap="square" rtlCol="0" anchor="ctr"/>
          <a:lstStyle/>
          <a:p>
            <a:pPr algn="r" indent="0" marL="0">
              <a:buNone/>
            </a:pPr>
            <a:r>
              <a:rPr lang="en-US" sz="850" spc="150" kern="0" dirty="0">
                <a:solidFill>
                  <a:srgbClr val="6B8299"/>
                </a:solidFill>
                <a:latin typeface="Calibri" pitchFamily="34" charset="0"/>
                <a:ea typeface="Calibri" pitchFamily="34" charset="-122"/>
                <a:cs typeface="Calibri" pitchFamily="34" charset="-120"/>
              </a:rPr>
              <a:t>U.S. ARMY CYBER SCHOOL</a:t>
            </a:r>
            <a:endParaRPr lang="en-US" sz="850" dirty="0"/>
          </a:p>
        </p:txBody>
      </p:sp>
      <p:sp>
        <p:nvSpPr>
          <p:cNvPr id="39" name="Text 37"/>
          <p:cNvSpPr/>
          <p:nvPr/>
        </p:nvSpPr>
        <p:spPr>
          <a:xfrm>
            <a:off x="11137392" y="6382512"/>
            <a:ext cx="411480" cy="292608"/>
          </a:xfrm>
          <a:prstGeom prst="rect">
            <a:avLst/>
          </a:prstGeom>
          <a:noFill/>
          <a:ln/>
        </p:spPr>
        <p:txBody>
          <a:bodyPr wrap="square" rtlCol="0" anchor="ctr"/>
          <a:lstStyle/>
          <a:p>
            <a:pPr algn="r" indent="0" marL="0">
              <a:buNone/>
            </a:pPr>
            <a:r>
              <a:rPr lang="en-US" sz="1100" b="1" dirty="0">
                <a:solidFill>
                  <a:srgbClr val="2DD4E0"/>
                </a:solidFill>
                <a:latin typeface="Cambria" pitchFamily="34" charset="0"/>
                <a:ea typeface="Cambria" pitchFamily="34" charset="-122"/>
                <a:cs typeface="Cambria"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422"/>
        </a:solidFill>
      </p:bgPr>
    </p:bg>
    <p:spTree>
      <p:nvGrpSpPr>
        <p:cNvPr id="1" name=""/>
        <p:cNvGrpSpPr/>
        <p:nvPr/>
      </p:nvGrpSpPr>
      <p:grpSpPr>
        <a:xfrm>
          <a:off x="0" y="0"/>
          <a:ext cx="0" cy="0"/>
          <a:chOff x="0" y="0"/>
          <a:chExt cx="0" cy="0"/>
        </a:xfrm>
      </p:grpSpPr>
      <p:sp>
        <p:nvSpPr>
          <p:cNvPr id="2" name="Shape 0"/>
          <p:cNvSpPr/>
          <p:nvPr/>
        </p:nvSpPr>
        <p:spPr>
          <a:xfrm>
            <a:off x="640080" y="457200"/>
            <a:ext cx="310896" cy="0"/>
          </a:xfrm>
          <a:prstGeom prst="line">
            <a:avLst/>
          </a:prstGeom>
          <a:noFill/>
          <a:ln w="25400">
            <a:solidFill>
              <a:srgbClr val="2DD4E0"/>
            </a:solidFill>
            <a:prstDash val="solid"/>
          </a:ln>
        </p:spPr>
      </p:sp>
      <p:sp>
        <p:nvSpPr>
          <p:cNvPr id="3" name="Shape 1"/>
          <p:cNvSpPr/>
          <p:nvPr/>
        </p:nvSpPr>
        <p:spPr>
          <a:xfrm>
            <a:off x="640080" y="457200"/>
            <a:ext cx="0" cy="310896"/>
          </a:xfrm>
          <a:prstGeom prst="line">
            <a:avLst/>
          </a:prstGeom>
          <a:noFill/>
          <a:ln w="25400">
            <a:solidFill>
              <a:srgbClr val="2DD4E0"/>
            </a:solidFill>
            <a:prstDash val="solid"/>
          </a:ln>
        </p:spPr>
      </p:sp>
      <p:sp>
        <p:nvSpPr>
          <p:cNvPr id="4" name="Text 2"/>
          <p:cNvSpPr/>
          <p:nvPr/>
        </p:nvSpPr>
        <p:spPr>
          <a:xfrm>
            <a:off x="1097280" y="420624"/>
            <a:ext cx="10058400" cy="274320"/>
          </a:xfrm>
          <a:prstGeom prst="rect">
            <a:avLst/>
          </a:prstGeom>
          <a:noFill/>
          <a:ln/>
        </p:spPr>
        <p:txBody>
          <a:bodyPr wrap="square" rtlCol="0" anchor="ctr"/>
          <a:lstStyle/>
          <a:p>
            <a:pPr indent="0" marL="0">
              <a:buNone/>
            </a:pPr>
            <a:r>
              <a:rPr lang="en-US" sz="1150" b="1" spc="350" kern="0" dirty="0">
                <a:solidFill>
                  <a:srgbClr val="2DD4E0"/>
                </a:solidFill>
                <a:latin typeface="Calibri" pitchFamily="34" charset="0"/>
                <a:ea typeface="Calibri" pitchFamily="34" charset="-122"/>
                <a:cs typeface="Calibri" pitchFamily="34" charset="-120"/>
              </a:rPr>
              <a:t>DTS · GET IT RIGHT</a:t>
            </a:r>
            <a:endParaRPr lang="en-US" sz="1150" dirty="0"/>
          </a:p>
        </p:txBody>
      </p:sp>
      <p:sp>
        <p:nvSpPr>
          <p:cNvPr id="5" name="Text 3"/>
          <p:cNvSpPr/>
          <p:nvPr/>
        </p:nvSpPr>
        <p:spPr>
          <a:xfrm>
            <a:off x="640080" y="713232"/>
            <a:ext cx="10972800" cy="7772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Voucher Tips &amp; What to Bring</a:t>
            </a:r>
            <a:endParaRPr lang="en-US" sz="3000" dirty="0"/>
          </a:p>
        </p:txBody>
      </p:sp>
      <p:sp>
        <p:nvSpPr>
          <p:cNvPr id="6" name="Shape 4"/>
          <p:cNvSpPr/>
          <p:nvPr/>
        </p:nvSpPr>
        <p:spPr>
          <a:xfrm>
            <a:off x="640080" y="1572768"/>
            <a:ext cx="5532120" cy="4114800"/>
          </a:xfrm>
          <a:prstGeom prst="roundRect">
            <a:avLst>
              <a:gd name="adj" fmla="val 1778"/>
            </a:avLst>
          </a:prstGeom>
          <a:solidFill>
            <a:srgbClr val="17293F"/>
          </a:solidFill>
          <a:ln w="15875">
            <a:solidFill>
              <a:srgbClr val="2DD4E0"/>
            </a:solidFill>
            <a:prstDash val="solid"/>
          </a:ln>
          <a:effectLst>
            <a:outerShdw sx="100000" sy="100000" kx="0" ky="0" algn="bl" rotWithShape="0" blurRad="101600" dist="38100" dir="5400000">
              <a:srgbClr val="000000">
                <a:alpha val="28000"/>
              </a:srgbClr>
            </a:outerShdw>
          </a:effectLst>
        </p:spPr>
      </p:sp>
      <p:sp>
        <p:nvSpPr>
          <p:cNvPr id="7" name="Shape 5"/>
          <p:cNvSpPr/>
          <p:nvPr/>
        </p:nvSpPr>
        <p:spPr>
          <a:xfrm>
            <a:off x="896112" y="1810512"/>
            <a:ext cx="457200" cy="457200"/>
          </a:xfrm>
          <a:prstGeom prst="ellipse">
            <a:avLst/>
          </a:prstGeom>
          <a:solidFill>
            <a:srgbClr val="2DD4E0"/>
          </a:solidFill>
          <a:ln/>
          <a:effectLst>
            <a:outerShdw sx="100000" sy="100000" kx="0" ky="0" algn="bl" rotWithShape="0" blurRad="101600" dist="38100" dir="5400000">
              <a:srgbClr val="000000">
                <a:alpha val="28000"/>
              </a:srgbClr>
            </a:outerShdw>
          </a:effectLst>
        </p:spPr>
      </p:sp>
      <p:sp>
        <p:nvSpPr>
          <p:cNvPr id="8" name="Text 6"/>
          <p:cNvSpPr/>
          <p:nvPr/>
        </p:nvSpPr>
        <p:spPr>
          <a:xfrm>
            <a:off x="896112" y="1810512"/>
            <a:ext cx="457200" cy="457200"/>
          </a:xfrm>
          <a:prstGeom prst="rect">
            <a:avLst/>
          </a:prstGeom>
          <a:noFill/>
          <a:ln/>
        </p:spPr>
        <p:txBody>
          <a:bodyPr wrap="square" rtlCol="0" anchor="ctr"/>
          <a:lstStyle/>
          <a:p>
            <a:pPr algn="ctr" indent="0" marL="0">
              <a:buNone/>
            </a:pPr>
            <a:r>
              <a:rPr lang="en-US" sz="1100" b="1" dirty="0">
                <a:solidFill>
                  <a:srgbClr val="0A1422"/>
                </a:solidFill>
                <a:latin typeface="Cambria" pitchFamily="34" charset="0"/>
                <a:ea typeface="Cambria" pitchFamily="34" charset="-122"/>
                <a:cs typeface="Cambria" pitchFamily="34" charset="-120"/>
              </a:rPr>
              <a:t>✓</a:t>
            </a:r>
            <a:endParaRPr lang="en-US" sz="1100" dirty="0"/>
          </a:p>
        </p:txBody>
      </p:sp>
      <p:sp>
        <p:nvSpPr>
          <p:cNvPr id="9" name="Text 7"/>
          <p:cNvSpPr/>
          <p:nvPr/>
        </p:nvSpPr>
        <p:spPr>
          <a:xfrm>
            <a:off x="1554480" y="1810512"/>
            <a:ext cx="4572000" cy="457200"/>
          </a:xfrm>
          <a:prstGeom prst="rect">
            <a:avLst/>
          </a:prstGeom>
          <a:noFill/>
          <a:ln/>
        </p:spPr>
        <p:txBody>
          <a:bodyPr wrap="square" rtlCol="0" anchor="ctr"/>
          <a:lstStyle/>
          <a:p>
            <a:pPr indent="0" marL="0">
              <a:buNone/>
            </a:pPr>
            <a:r>
              <a:rPr lang="en-US" sz="1700" b="1" dirty="0">
                <a:solidFill>
                  <a:srgbClr val="2DD4E0"/>
                </a:solidFill>
                <a:latin typeface="Cambria" pitchFamily="34" charset="0"/>
                <a:ea typeface="Cambria" pitchFamily="34" charset="-122"/>
                <a:cs typeface="Cambria" pitchFamily="34" charset="-120"/>
              </a:rPr>
              <a:t>DTS Voucher Tips</a:t>
            </a:r>
            <a:endParaRPr lang="en-US" sz="1700" dirty="0"/>
          </a:p>
        </p:txBody>
      </p:sp>
      <p:sp>
        <p:nvSpPr>
          <p:cNvPr id="10" name="Text 8"/>
          <p:cNvSpPr/>
          <p:nvPr/>
        </p:nvSpPr>
        <p:spPr>
          <a:xfrm>
            <a:off x="914400" y="2377440"/>
            <a:ext cx="5029200" cy="3246120"/>
          </a:xfrm>
          <a:prstGeom prst="rect">
            <a:avLst/>
          </a:prstGeom>
          <a:noFill/>
          <a:ln/>
        </p:spPr>
        <p:txBody>
          <a:bodyPr wrap="square" rtlCol="0" anchor="t"/>
          <a:lstStyle/>
          <a:p>
            <a:pPr marL="203200" indent="-203200">
              <a:lnSpc>
                <a:spcPct val="112000"/>
              </a:lnSpc>
              <a:spcAft>
                <a:spcPts val="700"/>
              </a:spcAft>
              <a:buSzPct val="100000"/>
              <a:buChar char="•"/>
            </a:pPr>
            <a:r>
              <a:rPr lang="en-US" sz="1150" dirty="0">
                <a:solidFill>
                  <a:srgbClr val="E8EEF5"/>
                </a:solidFill>
                <a:latin typeface="Calibri" pitchFamily="34" charset="0"/>
                <a:ea typeface="Calibri" pitchFamily="34" charset="-122"/>
                <a:cs typeface="Calibri" pitchFamily="34" charset="-120"/>
              </a:rPr>
              <a:t>Verify your EFT (direct deposit) and GTCC data in your profile before you sign anything.</a:t>
            </a:r>
            <a:endParaRPr lang="en-US" sz="1150" dirty="0"/>
          </a:p>
          <a:p>
            <a:pPr marL="203200" indent="-203200">
              <a:lnSpc>
                <a:spcPct val="112000"/>
              </a:lnSpc>
              <a:spcAft>
                <a:spcPts val="700"/>
              </a:spcAft>
              <a:buSzPct val="100000"/>
              <a:buChar char="•"/>
            </a:pPr>
            <a:r>
              <a:rPr lang="en-US" sz="1150" dirty="0">
                <a:solidFill>
                  <a:srgbClr val="E8EEF5"/>
                </a:solidFill>
                <a:latin typeface="Calibri" pitchFamily="34" charset="0"/>
                <a:ea typeface="Calibri" pitchFamily="34" charset="-122"/>
                <a:cs typeface="Calibri" pitchFamily="34" charset="-120"/>
              </a:rPr>
              <a:t>Create the voucher FROM the approved authorization — do not amend the authorization by mistake.</a:t>
            </a:r>
            <a:endParaRPr lang="en-US" sz="1150" dirty="0"/>
          </a:p>
          <a:p>
            <a:pPr marL="203200" indent="-203200">
              <a:lnSpc>
                <a:spcPct val="112000"/>
              </a:lnSpc>
              <a:spcAft>
                <a:spcPts val="700"/>
              </a:spcAft>
              <a:buSzPct val="100000"/>
              <a:buChar char="•"/>
            </a:pPr>
            <a:r>
              <a:rPr lang="en-US" sz="1150" dirty="0">
                <a:solidFill>
                  <a:srgbClr val="E8EEF5"/>
                </a:solidFill>
                <a:latin typeface="Calibri" pitchFamily="34" charset="0"/>
                <a:ea typeface="Calibri" pitchFamily="34" charset="-122"/>
                <a:cs typeface="Calibri" pitchFamily="34" charset="-120"/>
              </a:rPr>
              <a:t>Update every estimate to the actual amount; add expenses such as lodging tax, tolls, and baggage.</a:t>
            </a:r>
            <a:endParaRPr lang="en-US" sz="1150" dirty="0"/>
          </a:p>
          <a:p>
            <a:pPr marL="203200" indent="-203200">
              <a:lnSpc>
                <a:spcPct val="112000"/>
              </a:lnSpc>
              <a:spcAft>
                <a:spcPts val="700"/>
              </a:spcAft>
              <a:buSzPct val="100000"/>
              <a:buChar char="•"/>
            </a:pPr>
            <a:r>
              <a:rPr lang="en-US" sz="1150" dirty="0">
                <a:solidFill>
                  <a:srgbClr val="E8EEF5"/>
                </a:solidFill>
                <a:latin typeface="Calibri" pitchFamily="34" charset="0"/>
                <a:ea typeface="Calibri" pitchFamily="34" charset="-122"/>
                <a:cs typeface="Calibri" pitchFamily="34" charset="-120"/>
              </a:rPr>
              <a:t>Clear all pre-audit flags with a real justification comment on each one.</a:t>
            </a:r>
            <a:endParaRPr lang="en-US" sz="1150" dirty="0"/>
          </a:p>
          <a:p>
            <a:pPr marL="203200" indent="-203200">
              <a:lnSpc>
                <a:spcPct val="112000"/>
              </a:lnSpc>
              <a:spcAft>
                <a:spcPts val="700"/>
              </a:spcAft>
              <a:buSzPct val="100000"/>
              <a:buChar char="•"/>
            </a:pPr>
            <a:r>
              <a:rPr lang="en-US" sz="1150" dirty="0">
                <a:solidFill>
                  <a:srgbClr val="E8EEF5"/>
                </a:solidFill>
                <a:latin typeface="Calibri" pitchFamily="34" charset="0"/>
                <a:ea typeface="Calibri" pitchFamily="34" charset="-122"/>
                <a:cs typeface="Calibri" pitchFamily="34" charset="-120"/>
              </a:rPr>
              <a:t>Turn on split disbursement so the card is paid directly.</a:t>
            </a:r>
            <a:endParaRPr lang="en-US" sz="1150" dirty="0"/>
          </a:p>
          <a:p>
            <a:pPr marL="203200" indent="-203200">
              <a:lnSpc>
                <a:spcPct val="112000"/>
              </a:lnSpc>
              <a:spcAft>
                <a:spcPts val="700"/>
              </a:spcAft>
              <a:buSzPct val="100000"/>
              <a:buChar char="•"/>
            </a:pPr>
            <a:r>
              <a:rPr lang="en-US" sz="1150" dirty="0">
                <a:solidFill>
                  <a:srgbClr val="E8EEF5"/>
                </a:solidFill>
                <a:latin typeface="Calibri" pitchFamily="34" charset="0"/>
                <a:ea typeface="Calibri" pitchFamily="34" charset="-122"/>
                <a:cs typeface="Calibri" pitchFamily="34" charset="-120"/>
              </a:rPr>
              <a:t>The amend link disappears 75 days after your last travel day — do not sit on corrections.</a:t>
            </a:r>
            <a:endParaRPr lang="en-US" sz="1150" dirty="0"/>
          </a:p>
        </p:txBody>
      </p:sp>
      <p:sp>
        <p:nvSpPr>
          <p:cNvPr id="11" name="Shape 9"/>
          <p:cNvSpPr/>
          <p:nvPr/>
        </p:nvSpPr>
        <p:spPr>
          <a:xfrm>
            <a:off x="6355080" y="1572768"/>
            <a:ext cx="5193792" cy="1298448"/>
          </a:xfrm>
          <a:prstGeom prst="roundRect">
            <a:avLst>
              <a:gd name="adj" fmla="val 5634"/>
            </a:avLst>
          </a:prstGeom>
          <a:solidFill>
            <a:srgbClr val="0F1D30"/>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12" name="Text 10"/>
          <p:cNvSpPr/>
          <p:nvPr/>
        </p:nvSpPr>
        <p:spPr>
          <a:xfrm>
            <a:off x="6629400" y="1709928"/>
            <a:ext cx="4754880" cy="320040"/>
          </a:xfrm>
          <a:prstGeom prst="rect">
            <a:avLst/>
          </a:prstGeom>
          <a:noFill/>
          <a:ln/>
        </p:spPr>
        <p:txBody>
          <a:bodyPr wrap="square" rtlCol="0" anchor="ctr"/>
          <a:lstStyle/>
          <a:p>
            <a:pPr indent="0" marL="0">
              <a:buNone/>
            </a:pPr>
            <a:r>
              <a:rPr lang="en-US" sz="1150" b="1" spc="150" kern="0" dirty="0">
                <a:solidFill>
                  <a:srgbClr val="3DD68C"/>
                </a:solidFill>
                <a:latin typeface="Calibri" pitchFamily="34" charset="0"/>
                <a:ea typeface="Calibri" pitchFamily="34" charset="-122"/>
                <a:cs typeface="Calibri" pitchFamily="34" charset="-120"/>
              </a:rPr>
              <a:t>PAPERWORK</a:t>
            </a:r>
            <a:endParaRPr lang="en-US" sz="1150" dirty="0"/>
          </a:p>
        </p:txBody>
      </p:sp>
      <p:sp>
        <p:nvSpPr>
          <p:cNvPr id="13" name="Shape 11"/>
          <p:cNvSpPr/>
          <p:nvPr/>
        </p:nvSpPr>
        <p:spPr>
          <a:xfrm>
            <a:off x="6647688" y="2029968"/>
            <a:ext cx="502920" cy="0"/>
          </a:xfrm>
          <a:prstGeom prst="line">
            <a:avLst/>
          </a:prstGeom>
          <a:noFill/>
          <a:ln w="25400">
            <a:solidFill>
              <a:srgbClr val="3DD68C"/>
            </a:solidFill>
            <a:prstDash val="solid"/>
          </a:ln>
        </p:spPr>
      </p:sp>
      <p:sp>
        <p:nvSpPr>
          <p:cNvPr id="14" name="Text 12"/>
          <p:cNvSpPr/>
          <p:nvPr/>
        </p:nvSpPr>
        <p:spPr>
          <a:xfrm>
            <a:off x="6629400" y="2103120"/>
            <a:ext cx="4800600" cy="713232"/>
          </a:xfrm>
          <a:prstGeom prst="rect">
            <a:avLst/>
          </a:prstGeom>
          <a:noFill/>
          <a:ln/>
        </p:spPr>
        <p:txBody>
          <a:bodyPr wrap="square" rtlCol="0" anchor="t"/>
          <a:lstStyle/>
          <a:p>
            <a:pPr indent="0" marL="0">
              <a:lnSpc>
                <a:spcPct val="116000"/>
              </a:lnSpc>
              <a:buNone/>
            </a:pPr>
            <a:r>
              <a:rPr lang="en-US" sz="1150" dirty="0">
                <a:solidFill>
                  <a:srgbClr val="E8EEF5"/>
                </a:solidFill>
                <a:latin typeface="Calibri" pitchFamily="34" charset="0"/>
                <a:ea typeface="Calibri" pitchFamily="34" charset="-122"/>
                <a:cs typeface="Calibri" pitchFamily="34" charset="-120"/>
              </a:rPr>
              <a:t>10+ copies of orders · signed TASS checklist · CAC + GTCC + ID · prerequisite certs · finance and EFT info</a:t>
            </a:r>
            <a:endParaRPr lang="en-US" sz="1150" dirty="0"/>
          </a:p>
        </p:txBody>
      </p:sp>
      <p:sp>
        <p:nvSpPr>
          <p:cNvPr id="15" name="Shape 13"/>
          <p:cNvSpPr/>
          <p:nvPr/>
        </p:nvSpPr>
        <p:spPr>
          <a:xfrm>
            <a:off x="6355080" y="2980944"/>
            <a:ext cx="5193792" cy="1298448"/>
          </a:xfrm>
          <a:prstGeom prst="roundRect">
            <a:avLst>
              <a:gd name="adj" fmla="val 5634"/>
            </a:avLst>
          </a:prstGeom>
          <a:solidFill>
            <a:srgbClr val="0F1D30"/>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16" name="Text 14"/>
          <p:cNvSpPr/>
          <p:nvPr/>
        </p:nvSpPr>
        <p:spPr>
          <a:xfrm>
            <a:off x="6629400" y="3118104"/>
            <a:ext cx="4754880" cy="320040"/>
          </a:xfrm>
          <a:prstGeom prst="rect">
            <a:avLst/>
          </a:prstGeom>
          <a:noFill/>
          <a:ln/>
        </p:spPr>
        <p:txBody>
          <a:bodyPr wrap="square" rtlCol="0" anchor="ctr"/>
          <a:lstStyle/>
          <a:p>
            <a:pPr indent="0" marL="0">
              <a:buNone/>
            </a:pPr>
            <a:r>
              <a:rPr lang="en-US" sz="1150" b="1" spc="150" kern="0" dirty="0">
                <a:solidFill>
                  <a:srgbClr val="F2A900"/>
                </a:solidFill>
                <a:latin typeface="Calibri" pitchFamily="34" charset="0"/>
                <a:ea typeface="Calibri" pitchFamily="34" charset="-122"/>
                <a:cs typeface="Calibri" pitchFamily="34" charset="-120"/>
              </a:rPr>
              <a:t>UNIFORM &amp; GEAR</a:t>
            </a:r>
            <a:endParaRPr lang="en-US" sz="1150" dirty="0"/>
          </a:p>
        </p:txBody>
      </p:sp>
      <p:sp>
        <p:nvSpPr>
          <p:cNvPr id="17" name="Shape 15"/>
          <p:cNvSpPr/>
          <p:nvPr/>
        </p:nvSpPr>
        <p:spPr>
          <a:xfrm>
            <a:off x="6647688" y="3438144"/>
            <a:ext cx="502920" cy="0"/>
          </a:xfrm>
          <a:prstGeom prst="line">
            <a:avLst/>
          </a:prstGeom>
          <a:noFill/>
          <a:ln w="25400">
            <a:solidFill>
              <a:srgbClr val="F2A900"/>
            </a:solidFill>
            <a:prstDash val="solid"/>
          </a:ln>
        </p:spPr>
      </p:sp>
      <p:sp>
        <p:nvSpPr>
          <p:cNvPr id="18" name="Text 16"/>
          <p:cNvSpPr/>
          <p:nvPr/>
        </p:nvSpPr>
        <p:spPr>
          <a:xfrm>
            <a:off x="6629400" y="3511296"/>
            <a:ext cx="4800600" cy="713232"/>
          </a:xfrm>
          <a:prstGeom prst="rect">
            <a:avLst/>
          </a:prstGeom>
          <a:noFill/>
          <a:ln/>
        </p:spPr>
        <p:txBody>
          <a:bodyPr wrap="square" rtlCol="0" anchor="t"/>
          <a:lstStyle/>
          <a:p>
            <a:pPr indent="0" marL="0">
              <a:lnSpc>
                <a:spcPct val="116000"/>
              </a:lnSpc>
              <a:buNone/>
            </a:pPr>
            <a:r>
              <a:rPr lang="en-US" sz="1150" dirty="0">
                <a:solidFill>
                  <a:srgbClr val="E8EEF5"/>
                </a:solidFill>
                <a:latin typeface="Calibri" pitchFamily="34" charset="0"/>
                <a:ea typeface="Calibri" pitchFamily="34" charset="-122"/>
                <a:cs typeface="Calibri" pitchFamily="34" charset="-120"/>
              </a:rPr>
              <a:t>Duty uniform(s) per the welcome packet · PT uniform and shoes · spare boots · weather layers · course-specific gear</a:t>
            </a:r>
            <a:endParaRPr lang="en-US" sz="1150" dirty="0"/>
          </a:p>
        </p:txBody>
      </p:sp>
      <p:sp>
        <p:nvSpPr>
          <p:cNvPr id="19" name="Shape 17"/>
          <p:cNvSpPr/>
          <p:nvPr/>
        </p:nvSpPr>
        <p:spPr>
          <a:xfrm>
            <a:off x="6355080" y="4389120"/>
            <a:ext cx="5193792" cy="1298448"/>
          </a:xfrm>
          <a:prstGeom prst="roundRect">
            <a:avLst>
              <a:gd name="adj" fmla="val 5634"/>
            </a:avLst>
          </a:prstGeom>
          <a:solidFill>
            <a:srgbClr val="0F1D30"/>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20" name="Text 18"/>
          <p:cNvSpPr/>
          <p:nvPr/>
        </p:nvSpPr>
        <p:spPr>
          <a:xfrm>
            <a:off x="6629400" y="4526280"/>
            <a:ext cx="4754880" cy="320040"/>
          </a:xfrm>
          <a:prstGeom prst="rect">
            <a:avLst/>
          </a:prstGeom>
          <a:noFill/>
          <a:ln/>
        </p:spPr>
        <p:txBody>
          <a:bodyPr wrap="square" rtlCol="0" anchor="ctr"/>
          <a:lstStyle/>
          <a:p>
            <a:pPr indent="0" marL="0">
              <a:buNone/>
            </a:pPr>
            <a:r>
              <a:rPr lang="en-US" sz="1150" b="1" spc="150" kern="0" dirty="0">
                <a:solidFill>
                  <a:srgbClr val="2DD4E0"/>
                </a:solidFill>
                <a:latin typeface="Calibri" pitchFamily="34" charset="0"/>
                <a:ea typeface="Calibri" pitchFamily="34" charset="-122"/>
                <a:cs typeface="Calibri" pitchFamily="34" charset="-120"/>
              </a:rPr>
              <a:t>PERSONAL &amp; ADMIN</a:t>
            </a:r>
            <a:endParaRPr lang="en-US" sz="1150" dirty="0"/>
          </a:p>
        </p:txBody>
      </p:sp>
      <p:sp>
        <p:nvSpPr>
          <p:cNvPr id="21" name="Shape 19"/>
          <p:cNvSpPr/>
          <p:nvPr/>
        </p:nvSpPr>
        <p:spPr>
          <a:xfrm>
            <a:off x="6647688" y="4846320"/>
            <a:ext cx="502920" cy="0"/>
          </a:xfrm>
          <a:prstGeom prst="line">
            <a:avLst/>
          </a:prstGeom>
          <a:noFill/>
          <a:ln w="25400">
            <a:solidFill>
              <a:srgbClr val="2DD4E0"/>
            </a:solidFill>
            <a:prstDash val="solid"/>
          </a:ln>
        </p:spPr>
      </p:sp>
      <p:sp>
        <p:nvSpPr>
          <p:cNvPr id="22" name="Text 20"/>
          <p:cNvSpPr/>
          <p:nvPr/>
        </p:nvSpPr>
        <p:spPr>
          <a:xfrm>
            <a:off x="6629400" y="4919472"/>
            <a:ext cx="4800600" cy="713232"/>
          </a:xfrm>
          <a:prstGeom prst="rect">
            <a:avLst/>
          </a:prstGeom>
          <a:noFill/>
          <a:ln/>
        </p:spPr>
        <p:txBody>
          <a:bodyPr wrap="square" rtlCol="0" anchor="t"/>
          <a:lstStyle/>
          <a:p>
            <a:pPr indent="0" marL="0">
              <a:lnSpc>
                <a:spcPct val="116000"/>
              </a:lnSpc>
              <a:buNone/>
            </a:pPr>
            <a:r>
              <a:rPr lang="en-US" sz="1150" dirty="0">
                <a:solidFill>
                  <a:srgbClr val="E8EEF5"/>
                </a:solidFill>
                <a:latin typeface="Calibri" pitchFamily="34" charset="0"/>
                <a:ea typeface="Calibri" pitchFamily="34" charset="-122"/>
                <a:cs typeface="Calibri" pitchFamily="34" charset="-120"/>
              </a:rPr>
              <a:t>Toiletries and 2 weeks of medications · laptop, charger, notebook · cash for the first days · power strip · POV in good shape</a:t>
            </a:r>
            <a:endParaRPr lang="en-US" sz="1150" dirty="0"/>
          </a:p>
        </p:txBody>
      </p:sp>
      <p:sp>
        <p:nvSpPr>
          <p:cNvPr id="23" name="Shape 21"/>
          <p:cNvSpPr/>
          <p:nvPr/>
        </p:nvSpPr>
        <p:spPr>
          <a:xfrm>
            <a:off x="640080" y="6355080"/>
            <a:ext cx="10908792" cy="0"/>
          </a:xfrm>
          <a:prstGeom prst="line">
            <a:avLst/>
          </a:prstGeom>
          <a:noFill/>
          <a:ln w="9525">
            <a:solidFill>
              <a:srgbClr val="24384F"/>
            </a:solidFill>
            <a:prstDash val="solid"/>
          </a:ln>
        </p:spPr>
      </p:sp>
      <p:sp>
        <p:nvSpPr>
          <p:cNvPr id="24" name="Text 22"/>
          <p:cNvSpPr/>
          <p:nvPr/>
        </p:nvSpPr>
        <p:spPr>
          <a:xfrm>
            <a:off x="640080" y="6400800"/>
            <a:ext cx="7315200" cy="274320"/>
          </a:xfrm>
          <a:prstGeom prst="rect">
            <a:avLst/>
          </a:prstGeom>
          <a:noFill/>
          <a:ln/>
        </p:spPr>
        <p:txBody>
          <a:bodyPr wrap="square" rtlCol="0" anchor="ctr"/>
          <a:lstStyle/>
          <a:p>
            <a:pPr algn="l" indent="0" marL="0">
              <a:buNone/>
            </a:pPr>
            <a:r>
              <a:rPr lang="en-US" sz="850" dirty="0">
                <a:solidFill>
                  <a:srgbClr val="6B8299"/>
                </a:solidFill>
                <a:latin typeface="Calibri" pitchFamily="34" charset="0"/>
                <a:ea typeface="Calibri" pitchFamily="34" charset="-122"/>
                <a:cs typeface="Calibri" pitchFamily="34" charset="-120"/>
              </a:rPr>
              <a:t>112-17E10E  ·  Electronic Warfare Specialist Course</a:t>
            </a:r>
            <a:endParaRPr lang="en-US" sz="850" dirty="0"/>
          </a:p>
        </p:txBody>
      </p:sp>
      <p:sp>
        <p:nvSpPr>
          <p:cNvPr id="25" name="Text 23"/>
          <p:cNvSpPr/>
          <p:nvPr/>
        </p:nvSpPr>
        <p:spPr>
          <a:xfrm>
            <a:off x="8165592" y="6400800"/>
            <a:ext cx="2834640" cy="274320"/>
          </a:xfrm>
          <a:prstGeom prst="rect">
            <a:avLst/>
          </a:prstGeom>
          <a:noFill/>
          <a:ln/>
        </p:spPr>
        <p:txBody>
          <a:bodyPr wrap="square" rtlCol="0" anchor="ctr"/>
          <a:lstStyle/>
          <a:p>
            <a:pPr algn="r" indent="0" marL="0">
              <a:buNone/>
            </a:pPr>
            <a:r>
              <a:rPr lang="en-US" sz="850" spc="150" kern="0" dirty="0">
                <a:solidFill>
                  <a:srgbClr val="6B8299"/>
                </a:solidFill>
                <a:latin typeface="Calibri" pitchFamily="34" charset="0"/>
                <a:ea typeface="Calibri" pitchFamily="34" charset="-122"/>
                <a:cs typeface="Calibri" pitchFamily="34" charset="-120"/>
              </a:rPr>
              <a:t>U.S. ARMY CYBER SCHOOL</a:t>
            </a:r>
            <a:endParaRPr lang="en-US" sz="850" dirty="0"/>
          </a:p>
        </p:txBody>
      </p:sp>
      <p:sp>
        <p:nvSpPr>
          <p:cNvPr id="26" name="Text 24"/>
          <p:cNvSpPr/>
          <p:nvPr/>
        </p:nvSpPr>
        <p:spPr>
          <a:xfrm>
            <a:off x="11137392" y="6382512"/>
            <a:ext cx="411480" cy="292608"/>
          </a:xfrm>
          <a:prstGeom prst="rect">
            <a:avLst/>
          </a:prstGeom>
          <a:noFill/>
          <a:ln/>
        </p:spPr>
        <p:txBody>
          <a:bodyPr wrap="square" rtlCol="0" anchor="ctr"/>
          <a:lstStyle/>
          <a:p>
            <a:pPr algn="r" indent="0" marL="0">
              <a:buNone/>
            </a:pPr>
            <a:r>
              <a:rPr lang="en-US" sz="1100" b="1" dirty="0">
                <a:solidFill>
                  <a:srgbClr val="2DD4E0"/>
                </a:solidFill>
                <a:latin typeface="Cambria" pitchFamily="34" charset="0"/>
                <a:ea typeface="Cambria" pitchFamily="34" charset="-122"/>
                <a:cs typeface="Cambria"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422"/>
        </a:solidFill>
      </p:bgPr>
    </p:bg>
    <p:spTree>
      <p:nvGrpSpPr>
        <p:cNvPr id="1" name=""/>
        <p:cNvGrpSpPr/>
        <p:nvPr/>
      </p:nvGrpSpPr>
      <p:grpSpPr>
        <a:xfrm>
          <a:off x="0" y="0"/>
          <a:ext cx="0" cy="0"/>
          <a:chOff x="0" y="0"/>
          <a:chExt cx="0" cy="0"/>
        </a:xfrm>
      </p:grpSpPr>
      <p:sp>
        <p:nvSpPr>
          <p:cNvPr id="2" name="Shape 0"/>
          <p:cNvSpPr/>
          <p:nvPr/>
        </p:nvSpPr>
        <p:spPr>
          <a:xfrm>
            <a:off x="914400" y="0"/>
            <a:ext cx="0" cy="6858000"/>
          </a:xfrm>
          <a:prstGeom prst="line">
            <a:avLst/>
          </a:prstGeom>
          <a:noFill/>
          <a:ln w="6350">
            <a:solidFill>
              <a:srgbClr val="24384F">
                <a:alpha val="32000"/>
              </a:srgbClr>
            </a:solidFill>
            <a:prstDash val="solid"/>
          </a:ln>
        </p:spPr>
      </p:sp>
      <p:sp>
        <p:nvSpPr>
          <p:cNvPr id="3" name="Shape 1"/>
          <p:cNvSpPr/>
          <p:nvPr/>
        </p:nvSpPr>
        <p:spPr>
          <a:xfrm>
            <a:off x="1828800" y="0"/>
            <a:ext cx="0" cy="6858000"/>
          </a:xfrm>
          <a:prstGeom prst="line">
            <a:avLst/>
          </a:prstGeom>
          <a:noFill/>
          <a:ln w="6350">
            <a:solidFill>
              <a:srgbClr val="24384F">
                <a:alpha val="32000"/>
              </a:srgbClr>
            </a:solidFill>
            <a:prstDash val="solid"/>
          </a:ln>
        </p:spPr>
      </p:sp>
      <p:sp>
        <p:nvSpPr>
          <p:cNvPr id="4" name="Shape 2"/>
          <p:cNvSpPr/>
          <p:nvPr/>
        </p:nvSpPr>
        <p:spPr>
          <a:xfrm>
            <a:off x="2743200" y="0"/>
            <a:ext cx="0" cy="6858000"/>
          </a:xfrm>
          <a:prstGeom prst="line">
            <a:avLst/>
          </a:prstGeom>
          <a:noFill/>
          <a:ln w="6350">
            <a:solidFill>
              <a:srgbClr val="24384F">
                <a:alpha val="32000"/>
              </a:srgbClr>
            </a:solidFill>
            <a:prstDash val="solid"/>
          </a:ln>
        </p:spPr>
      </p:sp>
      <p:sp>
        <p:nvSpPr>
          <p:cNvPr id="5" name="Shape 3"/>
          <p:cNvSpPr/>
          <p:nvPr/>
        </p:nvSpPr>
        <p:spPr>
          <a:xfrm>
            <a:off x="3657600" y="0"/>
            <a:ext cx="0" cy="6858000"/>
          </a:xfrm>
          <a:prstGeom prst="line">
            <a:avLst/>
          </a:prstGeom>
          <a:noFill/>
          <a:ln w="6350">
            <a:solidFill>
              <a:srgbClr val="24384F">
                <a:alpha val="32000"/>
              </a:srgbClr>
            </a:solidFill>
            <a:prstDash val="solid"/>
          </a:ln>
        </p:spPr>
      </p:sp>
      <p:sp>
        <p:nvSpPr>
          <p:cNvPr id="6" name="Shape 4"/>
          <p:cNvSpPr/>
          <p:nvPr/>
        </p:nvSpPr>
        <p:spPr>
          <a:xfrm>
            <a:off x="4572000" y="0"/>
            <a:ext cx="0" cy="6858000"/>
          </a:xfrm>
          <a:prstGeom prst="line">
            <a:avLst/>
          </a:prstGeom>
          <a:noFill/>
          <a:ln w="6350">
            <a:solidFill>
              <a:srgbClr val="24384F">
                <a:alpha val="32000"/>
              </a:srgbClr>
            </a:solidFill>
            <a:prstDash val="solid"/>
          </a:ln>
        </p:spPr>
      </p:sp>
      <p:sp>
        <p:nvSpPr>
          <p:cNvPr id="7" name="Shape 5"/>
          <p:cNvSpPr/>
          <p:nvPr/>
        </p:nvSpPr>
        <p:spPr>
          <a:xfrm>
            <a:off x="5486400" y="0"/>
            <a:ext cx="0" cy="6858000"/>
          </a:xfrm>
          <a:prstGeom prst="line">
            <a:avLst/>
          </a:prstGeom>
          <a:noFill/>
          <a:ln w="6350">
            <a:solidFill>
              <a:srgbClr val="24384F">
                <a:alpha val="32000"/>
              </a:srgbClr>
            </a:solidFill>
            <a:prstDash val="solid"/>
          </a:ln>
        </p:spPr>
      </p:sp>
      <p:sp>
        <p:nvSpPr>
          <p:cNvPr id="8" name="Shape 6"/>
          <p:cNvSpPr/>
          <p:nvPr/>
        </p:nvSpPr>
        <p:spPr>
          <a:xfrm>
            <a:off x="6400800" y="0"/>
            <a:ext cx="0" cy="6858000"/>
          </a:xfrm>
          <a:prstGeom prst="line">
            <a:avLst/>
          </a:prstGeom>
          <a:noFill/>
          <a:ln w="6350">
            <a:solidFill>
              <a:srgbClr val="24384F">
                <a:alpha val="32000"/>
              </a:srgbClr>
            </a:solidFill>
            <a:prstDash val="solid"/>
          </a:ln>
        </p:spPr>
      </p:sp>
      <p:sp>
        <p:nvSpPr>
          <p:cNvPr id="9" name="Shape 7"/>
          <p:cNvSpPr/>
          <p:nvPr/>
        </p:nvSpPr>
        <p:spPr>
          <a:xfrm>
            <a:off x="7315200" y="0"/>
            <a:ext cx="0" cy="6858000"/>
          </a:xfrm>
          <a:prstGeom prst="line">
            <a:avLst/>
          </a:prstGeom>
          <a:noFill/>
          <a:ln w="6350">
            <a:solidFill>
              <a:srgbClr val="24384F">
                <a:alpha val="32000"/>
              </a:srgbClr>
            </a:solidFill>
            <a:prstDash val="solid"/>
          </a:ln>
        </p:spPr>
      </p:sp>
      <p:sp>
        <p:nvSpPr>
          <p:cNvPr id="10" name="Shape 8"/>
          <p:cNvSpPr/>
          <p:nvPr/>
        </p:nvSpPr>
        <p:spPr>
          <a:xfrm>
            <a:off x="8229600" y="0"/>
            <a:ext cx="0" cy="6858000"/>
          </a:xfrm>
          <a:prstGeom prst="line">
            <a:avLst/>
          </a:prstGeom>
          <a:noFill/>
          <a:ln w="6350">
            <a:solidFill>
              <a:srgbClr val="24384F">
                <a:alpha val="32000"/>
              </a:srgbClr>
            </a:solidFill>
            <a:prstDash val="solid"/>
          </a:ln>
        </p:spPr>
      </p:sp>
      <p:sp>
        <p:nvSpPr>
          <p:cNvPr id="11" name="Shape 9"/>
          <p:cNvSpPr/>
          <p:nvPr/>
        </p:nvSpPr>
        <p:spPr>
          <a:xfrm>
            <a:off x="9144000" y="0"/>
            <a:ext cx="0" cy="6858000"/>
          </a:xfrm>
          <a:prstGeom prst="line">
            <a:avLst/>
          </a:prstGeom>
          <a:noFill/>
          <a:ln w="6350">
            <a:solidFill>
              <a:srgbClr val="24384F">
                <a:alpha val="32000"/>
              </a:srgbClr>
            </a:solidFill>
            <a:prstDash val="solid"/>
          </a:ln>
        </p:spPr>
      </p:sp>
      <p:sp>
        <p:nvSpPr>
          <p:cNvPr id="12" name="Shape 10"/>
          <p:cNvSpPr/>
          <p:nvPr/>
        </p:nvSpPr>
        <p:spPr>
          <a:xfrm>
            <a:off x="10058400" y="0"/>
            <a:ext cx="0" cy="6858000"/>
          </a:xfrm>
          <a:prstGeom prst="line">
            <a:avLst/>
          </a:prstGeom>
          <a:noFill/>
          <a:ln w="6350">
            <a:solidFill>
              <a:srgbClr val="24384F">
                <a:alpha val="32000"/>
              </a:srgbClr>
            </a:solidFill>
            <a:prstDash val="solid"/>
          </a:ln>
        </p:spPr>
      </p:sp>
      <p:sp>
        <p:nvSpPr>
          <p:cNvPr id="13" name="Shape 11"/>
          <p:cNvSpPr/>
          <p:nvPr/>
        </p:nvSpPr>
        <p:spPr>
          <a:xfrm>
            <a:off x="10972800" y="0"/>
            <a:ext cx="0" cy="6858000"/>
          </a:xfrm>
          <a:prstGeom prst="line">
            <a:avLst/>
          </a:prstGeom>
          <a:noFill/>
          <a:ln w="6350">
            <a:solidFill>
              <a:srgbClr val="24384F">
                <a:alpha val="32000"/>
              </a:srgbClr>
            </a:solidFill>
            <a:prstDash val="solid"/>
          </a:ln>
        </p:spPr>
      </p:sp>
      <p:sp>
        <p:nvSpPr>
          <p:cNvPr id="14" name="Shape 12"/>
          <p:cNvSpPr/>
          <p:nvPr/>
        </p:nvSpPr>
        <p:spPr>
          <a:xfrm>
            <a:off x="11887200" y="0"/>
            <a:ext cx="0" cy="6858000"/>
          </a:xfrm>
          <a:prstGeom prst="line">
            <a:avLst/>
          </a:prstGeom>
          <a:noFill/>
          <a:ln w="6350">
            <a:solidFill>
              <a:srgbClr val="24384F">
                <a:alpha val="32000"/>
              </a:srgbClr>
            </a:solidFill>
            <a:prstDash val="solid"/>
          </a:ln>
        </p:spPr>
      </p:sp>
      <p:sp>
        <p:nvSpPr>
          <p:cNvPr id="15" name="Shape 13"/>
          <p:cNvSpPr/>
          <p:nvPr/>
        </p:nvSpPr>
        <p:spPr>
          <a:xfrm>
            <a:off x="0" y="914400"/>
            <a:ext cx="12188952" cy="0"/>
          </a:xfrm>
          <a:prstGeom prst="line">
            <a:avLst/>
          </a:prstGeom>
          <a:noFill/>
          <a:ln w="6350">
            <a:solidFill>
              <a:srgbClr val="24384F">
                <a:alpha val="32000"/>
              </a:srgbClr>
            </a:solidFill>
            <a:prstDash val="solid"/>
          </a:ln>
        </p:spPr>
      </p:sp>
      <p:sp>
        <p:nvSpPr>
          <p:cNvPr id="16" name="Shape 14"/>
          <p:cNvSpPr/>
          <p:nvPr/>
        </p:nvSpPr>
        <p:spPr>
          <a:xfrm>
            <a:off x="0" y="1828800"/>
            <a:ext cx="12188952" cy="0"/>
          </a:xfrm>
          <a:prstGeom prst="line">
            <a:avLst/>
          </a:prstGeom>
          <a:noFill/>
          <a:ln w="6350">
            <a:solidFill>
              <a:srgbClr val="24384F">
                <a:alpha val="32000"/>
              </a:srgbClr>
            </a:solidFill>
            <a:prstDash val="solid"/>
          </a:ln>
        </p:spPr>
      </p:sp>
      <p:sp>
        <p:nvSpPr>
          <p:cNvPr id="17" name="Shape 15"/>
          <p:cNvSpPr/>
          <p:nvPr/>
        </p:nvSpPr>
        <p:spPr>
          <a:xfrm>
            <a:off x="0" y="2743200"/>
            <a:ext cx="12188952" cy="0"/>
          </a:xfrm>
          <a:prstGeom prst="line">
            <a:avLst/>
          </a:prstGeom>
          <a:noFill/>
          <a:ln w="6350">
            <a:solidFill>
              <a:srgbClr val="24384F">
                <a:alpha val="32000"/>
              </a:srgbClr>
            </a:solidFill>
            <a:prstDash val="solid"/>
          </a:ln>
        </p:spPr>
      </p:sp>
      <p:sp>
        <p:nvSpPr>
          <p:cNvPr id="18" name="Shape 16"/>
          <p:cNvSpPr/>
          <p:nvPr/>
        </p:nvSpPr>
        <p:spPr>
          <a:xfrm>
            <a:off x="0" y="3657600"/>
            <a:ext cx="12188952" cy="0"/>
          </a:xfrm>
          <a:prstGeom prst="line">
            <a:avLst/>
          </a:prstGeom>
          <a:noFill/>
          <a:ln w="6350">
            <a:solidFill>
              <a:srgbClr val="24384F">
                <a:alpha val="32000"/>
              </a:srgbClr>
            </a:solidFill>
            <a:prstDash val="solid"/>
          </a:ln>
        </p:spPr>
      </p:sp>
      <p:sp>
        <p:nvSpPr>
          <p:cNvPr id="19" name="Shape 17"/>
          <p:cNvSpPr/>
          <p:nvPr/>
        </p:nvSpPr>
        <p:spPr>
          <a:xfrm>
            <a:off x="0" y="4572000"/>
            <a:ext cx="12188952" cy="0"/>
          </a:xfrm>
          <a:prstGeom prst="line">
            <a:avLst/>
          </a:prstGeom>
          <a:noFill/>
          <a:ln w="6350">
            <a:solidFill>
              <a:srgbClr val="24384F">
                <a:alpha val="32000"/>
              </a:srgbClr>
            </a:solidFill>
            <a:prstDash val="solid"/>
          </a:ln>
        </p:spPr>
      </p:sp>
      <p:sp>
        <p:nvSpPr>
          <p:cNvPr id="20" name="Shape 18"/>
          <p:cNvSpPr/>
          <p:nvPr/>
        </p:nvSpPr>
        <p:spPr>
          <a:xfrm>
            <a:off x="0" y="5486400"/>
            <a:ext cx="12188952" cy="0"/>
          </a:xfrm>
          <a:prstGeom prst="line">
            <a:avLst/>
          </a:prstGeom>
          <a:noFill/>
          <a:ln w="6350">
            <a:solidFill>
              <a:srgbClr val="24384F">
                <a:alpha val="32000"/>
              </a:srgbClr>
            </a:solidFill>
            <a:prstDash val="solid"/>
          </a:ln>
        </p:spPr>
      </p:sp>
      <p:sp>
        <p:nvSpPr>
          <p:cNvPr id="21" name="Shape 19"/>
          <p:cNvSpPr/>
          <p:nvPr/>
        </p:nvSpPr>
        <p:spPr>
          <a:xfrm>
            <a:off x="0" y="6400800"/>
            <a:ext cx="12188952" cy="0"/>
          </a:xfrm>
          <a:prstGeom prst="line">
            <a:avLst/>
          </a:prstGeom>
          <a:noFill/>
          <a:ln w="6350">
            <a:solidFill>
              <a:srgbClr val="24384F">
                <a:alpha val="32000"/>
              </a:srgbClr>
            </a:solidFill>
            <a:prstDash val="solid"/>
          </a:ln>
        </p:spPr>
      </p:sp>
      <p:sp>
        <p:nvSpPr>
          <p:cNvPr id="22" name="Shape 20"/>
          <p:cNvSpPr/>
          <p:nvPr/>
        </p:nvSpPr>
        <p:spPr>
          <a:xfrm>
            <a:off x="640080" y="457200"/>
            <a:ext cx="310896" cy="0"/>
          </a:xfrm>
          <a:prstGeom prst="line">
            <a:avLst/>
          </a:prstGeom>
          <a:noFill/>
          <a:ln w="25400">
            <a:solidFill>
              <a:srgbClr val="F2A900"/>
            </a:solidFill>
            <a:prstDash val="solid"/>
          </a:ln>
        </p:spPr>
      </p:sp>
      <p:sp>
        <p:nvSpPr>
          <p:cNvPr id="23" name="Shape 21"/>
          <p:cNvSpPr/>
          <p:nvPr/>
        </p:nvSpPr>
        <p:spPr>
          <a:xfrm>
            <a:off x="640080" y="457200"/>
            <a:ext cx="0" cy="310896"/>
          </a:xfrm>
          <a:prstGeom prst="line">
            <a:avLst/>
          </a:prstGeom>
          <a:noFill/>
          <a:ln w="25400">
            <a:solidFill>
              <a:srgbClr val="F2A900"/>
            </a:solidFill>
            <a:prstDash val="solid"/>
          </a:ln>
        </p:spPr>
      </p:sp>
      <p:sp>
        <p:nvSpPr>
          <p:cNvPr id="24" name="Text 22"/>
          <p:cNvSpPr/>
          <p:nvPr/>
        </p:nvSpPr>
        <p:spPr>
          <a:xfrm>
            <a:off x="1097280" y="420624"/>
            <a:ext cx="10058400" cy="320040"/>
          </a:xfrm>
          <a:prstGeom prst="rect">
            <a:avLst/>
          </a:prstGeom>
          <a:noFill/>
          <a:ln/>
        </p:spPr>
        <p:txBody>
          <a:bodyPr wrap="square" rtlCol="0" anchor="ctr"/>
          <a:lstStyle/>
          <a:p>
            <a:pPr indent="0" marL="0">
              <a:buNone/>
            </a:pPr>
            <a:r>
              <a:rPr lang="en-US" sz="1150" b="1" spc="350" kern="0" dirty="0">
                <a:solidFill>
                  <a:srgbClr val="F2A900"/>
                </a:solidFill>
                <a:latin typeface="Calibri" pitchFamily="34" charset="0"/>
                <a:ea typeface="Calibri" pitchFamily="34" charset="-122"/>
                <a:cs typeface="Calibri" pitchFamily="34" charset="-120"/>
              </a:rPr>
              <a:t>QUICK REFERENCE</a:t>
            </a:r>
            <a:endParaRPr lang="en-US" sz="1150" dirty="0"/>
          </a:p>
        </p:txBody>
      </p:sp>
      <p:sp>
        <p:nvSpPr>
          <p:cNvPr id="25" name="Text 23"/>
          <p:cNvSpPr/>
          <p:nvPr/>
        </p:nvSpPr>
        <p:spPr>
          <a:xfrm>
            <a:off x="640080" y="713232"/>
            <a:ext cx="109728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One-Slide Takeaway</a:t>
            </a:r>
            <a:endParaRPr lang="en-US" sz="3000" dirty="0"/>
          </a:p>
        </p:txBody>
      </p:sp>
      <p:sp>
        <p:nvSpPr>
          <p:cNvPr id="26" name="Shape 24"/>
          <p:cNvSpPr/>
          <p:nvPr/>
        </p:nvSpPr>
        <p:spPr>
          <a:xfrm>
            <a:off x="640080" y="1627632"/>
            <a:ext cx="2724912" cy="1554480"/>
          </a:xfrm>
          <a:prstGeom prst="roundRect">
            <a:avLst>
              <a:gd name="adj" fmla="val 4706"/>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27" name="Shape 25"/>
          <p:cNvSpPr/>
          <p:nvPr/>
        </p:nvSpPr>
        <p:spPr>
          <a:xfrm>
            <a:off x="640080" y="1627632"/>
            <a:ext cx="82296" cy="1554480"/>
          </a:xfrm>
          <a:prstGeom prst="roundRect">
            <a:avLst>
              <a:gd name="adj" fmla="val 44444"/>
            </a:avLst>
          </a:prstGeom>
          <a:solidFill>
            <a:srgbClr val="F2A900"/>
          </a:solidFill>
          <a:ln/>
        </p:spPr>
      </p:sp>
      <p:sp>
        <p:nvSpPr>
          <p:cNvPr id="28" name="Text 26"/>
          <p:cNvSpPr/>
          <p:nvPr/>
        </p:nvSpPr>
        <p:spPr>
          <a:xfrm>
            <a:off x="896112" y="1810512"/>
            <a:ext cx="2313432" cy="384048"/>
          </a:xfrm>
          <a:prstGeom prst="rect">
            <a:avLst/>
          </a:prstGeom>
          <a:noFill/>
          <a:ln/>
        </p:spPr>
        <p:txBody>
          <a:bodyPr wrap="square" rtlCol="0" anchor="ctr"/>
          <a:lstStyle/>
          <a:p>
            <a:pPr indent="0" marL="0">
              <a:buNone/>
            </a:pPr>
            <a:r>
              <a:rPr lang="en-US" sz="1550" b="1" dirty="0">
                <a:solidFill>
                  <a:srgbClr val="F2A900"/>
                </a:solidFill>
                <a:latin typeface="Cambria" pitchFamily="34" charset="0"/>
                <a:ea typeface="Cambria" pitchFamily="34" charset="-122"/>
                <a:cs typeface="Cambria" pitchFamily="34" charset="-120"/>
              </a:rPr>
              <a:t>SCHOOL = TDY</a:t>
            </a:r>
            <a:endParaRPr lang="en-US" sz="1550" dirty="0"/>
          </a:p>
        </p:txBody>
      </p:sp>
      <p:sp>
        <p:nvSpPr>
          <p:cNvPr id="29" name="Text 27"/>
          <p:cNvSpPr/>
          <p:nvPr/>
        </p:nvSpPr>
        <p:spPr>
          <a:xfrm>
            <a:off x="896112" y="2231136"/>
            <a:ext cx="2286000" cy="822960"/>
          </a:xfrm>
          <a:prstGeom prst="rect">
            <a:avLst/>
          </a:prstGeom>
          <a:noFill/>
          <a:ln/>
        </p:spPr>
        <p:txBody>
          <a:bodyPr wrap="square" rtlCol="0" anchor="t"/>
          <a:lstStyle/>
          <a:p>
            <a:pPr indent="0" marL="0">
              <a:lnSpc>
                <a:spcPct val="116000"/>
              </a:lnSpc>
              <a:buNone/>
            </a:pPr>
            <a:r>
              <a:rPr lang="en-US" sz="1100" dirty="0">
                <a:solidFill>
                  <a:srgbClr val="9FB3C8"/>
                </a:solidFill>
                <a:latin typeface="Calibri" pitchFamily="34" charset="0"/>
                <a:ea typeface="Calibri" pitchFamily="34" charset="-122"/>
                <a:cs typeface="Calibri" pitchFamily="34" charset="-120"/>
              </a:rPr>
              <a:t>Not PCS. You return to your PDS; your unit doesn't change.</a:t>
            </a:r>
            <a:endParaRPr lang="en-US" sz="1100" dirty="0"/>
          </a:p>
        </p:txBody>
      </p:sp>
      <p:sp>
        <p:nvSpPr>
          <p:cNvPr id="30" name="Shape 28"/>
          <p:cNvSpPr/>
          <p:nvPr/>
        </p:nvSpPr>
        <p:spPr>
          <a:xfrm>
            <a:off x="3621024" y="1627632"/>
            <a:ext cx="2724912" cy="1554480"/>
          </a:xfrm>
          <a:prstGeom prst="roundRect">
            <a:avLst>
              <a:gd name="adj" fmla="val 4706"/>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31" name="Shape 29"/>
          <p:cNvSpPr/>
          <p:nvPr/>
        </p:nvSpPr>
        <p:spPr>
          <a:xfrm>
            <a:off x="3621024" y="1627632"/>
            <a:ext cx="82296" cy="1554480"/>
          </a:xfrm>
          <a:prstGeom prst="roundRect">
            <a:avLst>
              <a:gd name="adj" fmla="val 44444"/>
            </a:avLst>
          </a:prstGeom>
          <a:solidFill>
            <a:srgbClr val="2DD4E0"/>
          </a:solidFill>
          <a:ln/>
        </p:spPr>
      </p:sp>
      <p:sp>
        <p:nvSpPr>
          <p:cNvPr id="32" name="Text 30"/>
          <p:cNvSpPr/>
          <p:nvPr/>
        </p:nvSpPr>
        <p:spPr>
          <a:xfrm>
            <a:off x="3877056" y="1810512"/>
            <a:ext cx="2313432" cy="384048"/>
          </a:xfrm>
          <a:prstGeom prst="rect">
            <a:avLst/>
          </a:prstGeom>
          <a:noFill/>
          <a:ln/>
        </p:spPr>
        <p:txBody>
          <a:bodyPr wrap="square" rtlCol="0" anchor="ctr"/>
          <a:lstStyle/>
          <a:p>
            <a:pPr indent="0" marL="0">
              <a:buNone/>
            </a:pPr>
            <a:r>
              <a:rPr lang="en-US" sz="1550" b="1" dirty="0">
                <a:solidFill>
                  <a:srgbClr val="2DD4E0"/>
                </a:solidFill>
                <a:latin typeface="Cambria" pitchFamily="34" charset="0"/>
                <a:ea typeface="Cambria" pitchFamily="34" charset="-122"/>
                <a:cs typeface="Cambria" pitchFamily="34" charset="-120"/>
              </a:rPr>
              <a:t>ORDER</a:t>
            </a:r>
            <a:endParaRPr lang="en-US" sz="1550" dirty="0"/>
          </a:p>
        </p:txBody>
      </p:sp>
      <p:sp>
        <p:nvSpPr>
          <p:cNvPr id="33" name="Text 31"/>
          <p:cNvSpPr/>
          <p:nvPr/>
        </p:nvSpPr>
        <p:spPr>
          <a:xfrm>
            <a:off x="3877056" y="2231136"/>
            <a:ext cx="2286000" cy="822960"/>
          </a:xfrm>
          <a:prstGeom prst="rect">
            <a:avLst/>
          </a:prstGeom>
          <a:noFill/>
          <a:ln/>
        </p:spPr>
        <p:txBody>
          <a:bodyPr wrap="square" rtlCol="0" anchor="t"/>
          <a:lstStyle/>
          <a:p>
            <a:pPr indent="0" marL="0">
              <a:lnSpc>
                <a:spcPct val="116000"/>
              </a:lnSpc>
              <a:buNone/>
            </a:pPr>
            <a:r>
              <a:rPr lang="en-US" sz="1100" dirty="0">
                <a:solidFill>
                  <a:srgbClr val="9FB3C8"/>
                </a:solidFill>
                <a:latin typeface="Calibri" pitchFamily="34" charset="0"/>
                <a:ea typeface="Calibri" pitchFamily="34" charset="-122"/>
                <a:cs typeface="Calibri" pitchFamily="34" charset="-120"/>
              </a:rPr>
              <a:t>No valid DTS / DD 1610 order means don't move.</a:t>
            </a:r>
            <a:endParaRPr lang="en-US" sz="1100" dirty="0"/>
          </a:p>
        </p:txBody>
      </p:sp>
      <p:sp>
        <p:nvSpPr>
          <p:cNvPr id="34" name="Shape 32"/>
          <p:cNvSpPr/>
          <p:nvPr/>
        </p:nvSpPr>
        <p:spPr>
          <a:xfrm>
            <a:off x="6601968" y="1627632"/>
            <a:ext cx="2724912" cy="1554480"/>
          </a:xfrm>
          <a:prstGeom prst="roundRect">
            <a:avLst>
              <a:gd name="adj" fmla="val 4706"/>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35" name="Shape 33"/>
          <p:cNvSpPr/>
          <p:nvPr/>
        </p:nvSpPr>
        <p:spPr>
          <a:xfrm>
            <a:off x="6601968" y="1627632"/>
            <a:ext cx="82296" cy="1554480"/>
          </a:xfrm>
          <a:prstGeom prst="roundRect">
            <a:avLst>
              <a:gd name="adj" fmla="val 44444"/>
            </a:avLst>
          </a:prstGeom>
          <a:solidFill>
            <a:srgbClr val="2DD4E0"/>
          </a:solidFill>
          <a:ln/>
        </p:spPr>
      </p:sp>
      <p:sp>
        <p:nvSpPr>
          <p:cNvPr id="36" name="Text 34"/>
          <p:cNvSpPr/>
          <p:nvPr/>
        </p:nvSpPr>
        <p:spPr>
          <a:xfrm>
            <a:off x="6858000" y="1810512"/>
            <a:ext cx="2313432" cy="384048"/>
          </a:xfrm>
          <a:prstGeom prst="rect">
            <a:avLst/>
          </a:prstGeom>
          <a:noFill/>
          <a:ln/>
        </p:spPr>
        <p:txBody>
          <a:bodyPr wrap="square" rtlCol="0" anchor="ctr"/>
          <a:lstStyle/>
          <a:p>
            <a:pPr indent="0" marL="0">
              <a:buNone/>
            </a:pPr>
            <a:r>
              <a:rPr lang="en-US" sz="1550" b="1" dirty="0">
                <a:solidFill>
                  <a:srgbClr val="2DD4E0"/>
                </a:solidFill>
                <a:latin typeface="Cambria" pitchFamily="34" charset="0"/>
                <a:ea typeface="Cambria" pitchFamily="34" charset="-122"/>
                <a:cs typeface="Cambria" pitchFamily="34" charset="-120"/>
              </a:rPr>
              <a:t>SEAT</a:t>
            </a:r>
            <a:endParaRPr lang="en-US" sz="1550" dirty="0"/>
          </a:p>
        </p:txBody>
      </p:sp>
      <p:sp>
        <p:nvSpPr>
          <p:cNvPr id="37" name="Text 35"/>
          <p:cNvSpPr/>
          <p:nvPr/>
        </p:nvSpPr>
        <p:spPr>
          <a:xfrm>
            <a:off x="6858000" y="2231136"/>
            <a:ext cx="2286000" cy="822960"/>
          </a:xfrm>
          <a:prstGeom prst="rect">
            <a:avLst/>
          </a:prstGeom>
          <a:noFill/>
          <a:ln/>
        </p:spPr>
        <p:txBody>
          <a:bodyPr wrap="square" rtlCol="0" anchor="t"/>
          <a:lstStyle/>
          <a:p>
            <a:pPr indent="0" marL="0">
              <a:lnSpc>
                <a:spcPct val="116000"/>
              </a:lnSpc>
              <a:buNone/>
            </a:pPr>
            <a:r>
              <a:rPr lang="en-US" sz="1100" dirty="0">
                <a:solidFill>
                  <a:srgbClr val="9FB3C8"/>
                </a:solidFill>
                <a:latin typeface="Calibri" pitchFamily="34" charset="0"/>
                <a:ea typeface="Calibri" pitchFamily="34" charset="-122"/>
                <a:cs typeface="Calibri" pitchFamily="34" charset="-120"/>
              </a:rPr>
              <a:t>Confirm your ATRRS reservation first.</a:t>
            </a:r>
            <a:endParaRPr lang="en-US" sz="1100" dirty="0"/>
          </a:p>
        </p:txBody>
      </p:sp>
      <p:sp>
        <p:nvSpPr>
          <p:cNvPr id="38" name="Shape 36"/>
          <p:cNvSpPr/>
          <p:nvPr/>
        </p:nvSpPr>
        <p:spPr>
          <a:xfrm>
            <a:off x="9582912" y="1627632"/>
            <a:ext cx="2724912" cy="1554480"/>
          </a:xfrm>
          <a:prstGeom prst="roundRect">
            <a:avLst>
              <a:gd name="adj" fmla="val 4706"/>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39" name="Shape 37"/>
          <p:cNvSpPr/>
          <p:nvPr/>
        </p:nvSpPr>
        <p:spPr>
          <a:xfrm>
            <a:off x="9582912" y="1627632"/>
            <a:ext cx="82296" cy="1554480"/>
          </a:xfrm>
          <a:prstGeom prst="roundRect">
            <a:avLst>
              <a:gd name="adj" fmla="val 44444"/>
            </a:avLst>
          </a:prstGeom>
          <a:solidFill>
            <a:srgbClr val="2DD4E0"/>
          </a:solidFill>
          <a:ln/>
        </p:spPr>
      </p:sp>
      <p:sp>
        <p:nvSpPr>
          <p:cNvPr id="40" name="Text 38"/>
          <p:cNvSpPr/>
          <p:nvPr/>
        </p:nvSpPr>
        <p:spPr>
          <a:xfrm>
            <a:off x="9838944" y="1810512"/>
            <a:ext cx="2313432" cy="384048"/>
          </a:xfrm>
          <a:prstGeom prst="rect">
            <a:avLst/>
          </a:prstGeom>
          <a:noFill/>
          <a:ln/>
        </p:spPr>
        <p:txBody>
          <a:bodyPr wrap="square" rtlCol="0" anchor="ctr"/>
          <a:lstStyle/>
          <a:p>
            <a:pPr indent="0" marL="0">
              <a:buNone/>
            </a:pPr>
            <a:r>
              <a:rPr lang="en-US" sz="1550" b="1" dirty="0">
                <a:solidFill>
                  <a:srgbClr val="2DD4E0"/>
                </a:solidFill>
                <a:latin typeface="Cambria" pitchFamily="34" charset="0"/>
                <a:ea typeface="Cambria" pitchFamily="34" charset="-122"/>
                <a:cs typeface="Cambria" pitchFamily="34" charset="-120"/>
              </a:rPr>
              <a:t>10 COPIES</a:t>
            </a:r>
            <a:endParaRPr lang="en-US" sz="1550" dirty="0"/>
          </a:p>
        </p:txBody>
      </p:sp>
      <p:sp>
        <p:nvSpPr>
          <p:cNvPr id="41" name="Text 39"/>
          <p:cNvSpPr/>
          <p:nvPr/>
        </p:nvSpPr>
        <p:spPr>
          <a:xfrm>
            <a:off x="9838944" y="2231136"/>
            <a:ext cx="2286000" cy="822960"/>
          </a:xfrm>
          <a:prstGeom prst="rect">
            <a:avLst/>
          </a:prstGeom>
          <a:noFill/>
          <a:ln/>
        </p:spPr>
        <p:txBody>
          <a:bodyPr wrap="square" rtlCol="0" anchor="t"/>
          <a:lstStyle/>
          <a:p>
            <a:pPr indent="0" marL="0">
              <a:lnSpc>
                <a:spcPct val="116000"/>
              </a:lnSpc>
              <a:buNone/>
            </a:pPr>
            <a:r>
              <a:rPr lang="en-US" sz="1100" dirty="0">
                <a:solidFill>
                  <a:srgbClr val="9FB3C8"/>
                </a:solidFill>
                <a:latin typeface="Calibri" pitchFamily="34" charset="0"/>
                <a:ea typeface="Calibri" pitchFamily="34" charset="-122"/>
                <a:cs typeface="Calibri" pitchFamily="34" charset="-120"/>
              </a:rPr>
              <a:t>Bring 10+ printed copies of your orders.</a:t>
            </a:r>
            <a:endParaRPr lang="en-US" sz="1100" dirty="0"/>
          </a:p>
        </p:txBody>
      </p:sp>
      <p:sp>
        <p:nvSpPr>
          <p:cNvPr id="42" name="Shape 40"/>
          <p:cNvSpPr/>
          <p:nvPr/>
        </p:nvSpPr>
        <p:spPr>
          <a:xfrm>
            <a:off x="640080" y="3419856"/>
            <a:ext cx="2724912" cy="1554480"/>
          </a:xfrm>
          <a:prstGeom prst="roundRect">
            <a:avLst>
              <a:gd name="adj" fmla="val 4706"/>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43" name="Shape 41"/>
          <p:cNvSpPr/>
          <p:nvPr/>
        </p:nvSpPr>
        <p:spPr>
          <a:xfrm>
            <a:off x="640080" y="3419856"/>
            <a:ext cx="82296" cy="1554480"/>
          </a:xfrm>
          <a:prstGeom prst="roundRect">
            <a:avLst>
              <a:gd name="adj" fmla="val 44444"/>
            </a:avLst>
          </a:prstGeom>
          <a:solidFill>
            <a:srgbClr val="2DD4E0"/>
          </a:solidFill>
          <a:ln/>
        </p:spPr>
      </p:sp>
      <p:sp>
        <p:nvSpPr>
          <p:cNvPr id="44" name="Text 42"/>
          <p:cNvSpPr/>
          <p:nvPr/>
        </p:nvSpPr>
        <p:spPr>
          <a:xfrm>
            <a:off x="896112" y="3602736"/>
            <a:ext cx="2313432" cy="384048"/>
          </a:xfrm>
          <a:prstGeom prst="rect">
            <a:avLst/>
          </a:prstGeom>
          <a:noFill/>
          <a:ln/>
        </p:spPr>
        <p:txBody>
          <a:bodyPr wrap="square" rtlCol="0" anchor="ctr"/>
          <a:lstStyle/>
          <a:p>
            <a:pPr indent="0" marL="0">
              <a:buNone/>
            </a:pPr>
            <a:r>
              <a:rPr lang="en-US" sz="1550" b="1" dirty="0">
                <a:solidFill>
                  <a:srgbClr val="2DD4E0"/>
                </a:solidFill>
                <a:latin typeface="Cambria" pitchFamily="34" charset="0"/>
                <a:ea typeface="Cambria" pitchFamily="34" charset="-122"/>
                <a:cs typeface="Cambria" pitchFamily="34" charset="-120"/>
              </a:rPr>
              <a:t>50 MILES</a:t>
            </a:r>
            <a:endParaRPr lang="en-US" sz="1550" dirty="0"/>
          </a:p>
        </p:txBody>
      </p:sp>
      <p:sp>
        <p:nvSpPr>
          <p:cNvPr id="45" name="Text 43"/>
          <p:cNvSpPr/>
          <p:nvPr/>
        </p:nvSpPr>
        <p:spPr>
          <a:xfrm>
            <a:off x="896112" y="4023360"/>
            <a:ext cx="2286000" cy="822960"/>
          </a:xfrm>
          <a:prstGeom prst="rect">
            <a:avLst/>
          </a:prstGeom>
          <a:noFill/>
          <a:ln/>
        </p:spPr>
        <p:txBody>
          <a:bodyPr wrap="square" rtlCol="0" anchor="t"/>
          <a:lstStyle/>
          <a:p>
            <a:pPr indent="0" marL="0">
              <a:lnSpc>
                <a:spcPct val="116000"/>
              </a:lnSpc>
              <a:buNone/>
            </a:pPr>
            <a:r>
              <a:rPr lang="en-US" sz="1100" dirty="0">
                <a:solidFill>
                  <a:srgbClr val="9FB3C8"/>
                </a:solidFill>
                <a:latin typeface="Calibri" pitchFamily="34" charset="0"/>
                <a:ea typeface="Calibri" pitchFamily="34" charset="-122"/>
                <a:cs typeface="Calibri" pitchFamily="34" charset="-120"/>
              </a:rPr>
              <a:t>Inside the radius? You commute — no per diem.</a:t>
            </a:r>
            <a:endParaRPr lang="en-US" sz="1100" dirty="0"/>
          </a:p>
        </p:txBody>
      </p:sp>
      <p:sp>
        <p:nvSpPr>
          <p:cNvPr id="46" name="Shape 44"/>
          <p:cNvSpPr/>
          <p:nvPr/>
        </p:nvSpPr>
        <p:spPr>
          <a:xfrm>
            <a:off x="3621024" y="3419856"/>
            <a:ext cx="2724912" cy="1554480"/>
          </a:xfrm>
          <a:prstGeom prst="roundRect">
            <a:avLst>
              <a:gd name="adj" fmla="val 4706"/>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47" name="Shape 45"/>
          <p:cNvSpPr/>
          <p:nvPr/>
        </p:nvSpPr>
        <p:spPr>
          <a:xfrm>
            <a:off x="3621024" y="3419856"/>
            <a:ext cx="82296" cy="1554480"/>
          </a:xfrm>
          <a:prstGeom prst="roundRect">
            <a:avLst>
              <a:gd name="adj" fmla="val 44444"/>
            </a:avLst>
          </a:prstGeom>
          <a:solidFill>
            <a:srgbClr val="3DD68C"/>
          </a:solidFill>
          <a:ln/>
        </p:spPr>
      </p:sp>
      <p:sp>
        <p:nvSpPr>
          <p:cNvPr id="48" name="Text 46"/>
          <p:cNvSpPr/>
          <p:nvPr/>
        </p:nvSpPr>
        <p:spPr>
          <a:xfrm>
            <a:off x="3877056" y="3602736"/>
            <a:ext cx="2313432" cy="384048"/>
          </a:xfrm>
          <a:prstGeom prst="rect">
            <a:avLst/>
          </a:prstGeom>
          <a:noFill/>
          <a:ln/>
        </p:spPr>
        <p:txBody>
          <a:bodyPr wrap="square" rtlCol="0" anchor="ctr"/>
          <a:lstStyle/>
          <a:p>
            <a:pPr indent="0" marL="0">
              <a:buNone/>
            </a:pPr>
            <a:r>
              <a:rPr lang="en-US" sz="1550" b="1" dirty="0">
                <a:solidFill>
                  <a:srgbClr val="3DD68C"/>
                </a:solidFill>
                <a:latin typeface="Cambria" pitchFamily="34" charset="0"/>
                <a:ea typeface="Cambria" pitchFamily="34" charset="-122"/>
                <a:cs typeface="Cambria" pitchFamily="34" charset="-120"/>
              </a:rPr>
              <a:t>USE THE GTCC</a:t>
            </a:r>
            <a:endParaRPr lang="en-US" sz="1550" dirty="0"/>
          </a:p>
        </p:txBody>
      </p:sp>
      <p:sp>
        <p:nvSpPr>
          <p:cNvPr id="49" name="Text 47"/>
          <p:cNvSpPr/>
          <p:nvPr/>
        </p:nvSpPr>
        <p:spPr>
          <a:xfrm>
            <a:off x="3877056" y="4023360"/>
            <a:ext cx="2286000" cy="822960"/>
          </a:xfrm>
          <a:prstGeom prst="rect">
            <a:avLst/>
          </a:prstGeom>
          <a:noFill/>
          <a:ln/>
        </p:spPr>
        <p:txBody>
          <a:bodyPr wrap="square" rtlCol="0" anchor="t"/>
          <a:lstStyle/>
          <a:p>
            <a:pPr indent="0" marL="0">
              <a:lnSpc>
                <a:spcPct val="116000"/>
              </a:lnSpc>
              <a:buNone/>
            </a:pPr>
            <a:r>
              <a:rPr lang="en-US" sz="1100" dirty="0">
                <a:solidFill>
                  <a:srgbClr val="9FB3C8"/>
                </a:solidFill>
                <a:latin typeface="Calibri" pitchFamily="34" charset="0"/>
                <a:ea typeface="Calibri" pitchFamily="34" charset="-122"/>
                <a:cs typeface="Calibri" pitchFamily="34" charset="-120"/>
              </a:rPr>
              <a:t>Mandatory for official travel; you owe the balance on time.</a:t>
            </a:r>
            <a:endParaRPr lang="en-US" sz="1100" dirty="0"/>
          </a:p>
        </p:txBody>
      </p:sp>
      <p:sp>
        <p:nvSpPr>
          <p:cNvPr id="50" name="Shape 48"/>
          <p:cNvSpPr/>
          <p:nvPr/>
        </p:nvSpPr>
        <p:spPr>
          <a:xfrm>
            <a:off x="6601968" y="3419856"/>
            <a:ext cx="2724912" cy="1554480"/>
          </a:xfrm>
          <a:prstGeom prst="roundRect">
            <a:avLst>
              <a:gd name="adj" fmla="val 4706"/>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51" name="Shape 49"/>
          <p:cNvSpPr/>
          <p:nvPr/>
        </p:nvSpPr>
        <p:spPr>
          <a:xfrm>
            <a:off x="6601968" y="3419856"/>
            <a:ext cx="82296" cy="1554480"/>
          </a:xfrm>
          <a:prstGeom prst="roundRect">
            <a:avLst>
              <a:gd name="adj" fmla="val 44444"/>
            </a:avLst>
          </a:prstGeom>
          <a:solidFill>
            <a:srgbClr val="3DD68C"/>
          </a:solidFill>
          <a:ln/>
        </p:spPr>
      </p:sp>
      <p:sp>
        <p:nvSpPr>
          <p:cNvPr id="52" name="Text 50"/>
          <p:cNvSpPr/>
          <p:nvPr/>
        </p:nvSpPr>
        <p:spPr>
          <a:xfrm>
            <a:off x="6858000" y="3602736"/>
            <a:ext cx="2313432" cy="384048"/>
          </a:xfrm>
          <a:prstGeom prst="rect">
            <a:avLst/>
          </a:prstGeom>
          <a:noFill/>
          <a:ln/>
        </p:spPr>
        <p:txBody>
          <a:bodyPr wrap="square" rtlCol="0" anchor="ctr"/>
          <a:lstStyle/>
          <a:p>
            <a:pPr indent="0" marL="0">
              <a:buNone/>
            </a:pPr>
            <a:r>
              <a:rPr lang="en-US" sz="1550" b="1" dirty="0">
                <a:solidFill>
                  <a:srgbClr val="3DD68C"/>
                </a:solidFill>
                <a:latin typeface="Cambria" pitchFamily="34" charset="0"/>
                <a:ea typeface="Cambria" pitchFamily="34" charset="-122"/>
                <a:cs typeface="Cambria" pitchFamily="34" charset="-120"/>
              </a:rPr>
              <a:t>SPLIT DISBURSE</a:t>
            </a:r>
            <a:endParaRPr lang="en-US" sz="1550" dirty="0"/>
          </a:p>
        </p:txBody>
      </p:sp>
      <p:sp>
        <p:nvSpPr>
          <p:cNvPr id="53" name="Text 51"/>
          <p:cNvSpPr/>
          <p:nvPr/>
        </p:nvSpPr>
        <p:spPr>
          <a:xfrm>
            <a:off x="6858000" y="4023360"/>
            <a:ext cx="2286000" cy="822960"/>
          </a:xfrm>
          <a:prstGeom prst="rect">
            <a:avLst/>
          </a:prstGeom>
          <a:noFill/>
          <a:ln/>
        </p:spPr>
        <p:txBody>
          <a:bodyPr wrap="square" rtlCol="0" anchor="t"/>
          <a:lstStyle/>
          <a:p>
            <a:pPr indent="0" marL="0">
              <a:lnSpc>
                <a:spcPct val="116000"/>
              </a:lnSpc>
              <a:buNone/>
            </a:pPr>
            <a:r>
              <a:rPr lang="en-US" sz="1100" dirty="0">
                <a:solidFill>
                  <a:srgbClr val="9FB3C8"/>
                </a:solidFill>
                <a:latin typeface="Calibri" pitchFamily="34" charset="0"/>
                <a:ea typeface="Calibri" pitchFamily="34" charset="-122"/>
                <a:cs typeface="Calibri" pitchFamily="34" charset="-120"/>
              </a:rPr>
              <a:t>Pay the card vendor directly; avoid delinquency.</a:t>
            </a:r>
            <a:endParaRPr lang="en-US" sz="1100" dirty="0"/>
          </a:p>
        </p:txBody>
      </p:sp>
      <p:sp>
        <p:nvSpPr>
          <p:cNvPr id="54" name="Shape 52"/>
          <p:cNvSpPr/>
          <p:nvPr/>
        </p:nvSpPr>
        <p:spPr>
          <a:xfrm>
            <a:off x="9582912" y="3419856"/>
            <a:ext cx="2724912" cy="1554480"/>
          </a:xfrm>
          <a:prstGeom prst="roundRect">
            <a:avLst>
              <a:gd name="adj" fmla="val 4706"/>
            </a:avLst>
          </a:prstGeom>
          <a:solidFill>
            <a:srgbClr val="17293F"/>
          </a:solidFill>
          <a:ln w="12700">
            <a:solidFill>
              <a:srgbClr val="24384F"/>
            </a:solidFill>
            <a:prstDash val="solid"/>
          </a:ln>
          <a:effectLst>
            <a:outerShdw sx="100000" sy="100000" kx="0" ky="0" algn="bl" rotWithShape="0" blurRad="101600" dist="38100" dir="5400000">
              <a:srgbClr val="000000">
                <a:alpha val="28000"/>
              </a:srgbClr>
            </a:outerShdw>
          </a:effectLst>
        </p:spPr>
      </p:sp>
      <p:sp>
        <p:nvSpPr>
          <p:cNvPr id="55" name="Shape 53"/>
          <p:cNvSpPr/>
          <p:nvPr/>
        </p:nvSpPr>
        <p:spPr>
          <a:xfrm>
            <a:off x="9582912" y="3419856"/>
            <a:ext cx="82296" cy="1554480"/>
          </a:xfrm>
          <a:prstGeom prst="roundRect">
            <a:avLst>
              <a:gd name="adj" fmla="val 44444"/>
            </a:avLst>
          </a:prstGeom>
          <a:solidFill>
            <a:srgbClr val="3DD68C"/>
          </a:solidFill>
          <a:ln/>
        </p:spPr>
      </p:sp>
      <p:sp>
        <p:nvSpPr>
          <p:cNvPr id="56" name="Text 54"/>
          <p:cNvSpPr/>
          <p:nvPr/>
        </p:nvSpPr>
        <p:spPr>
          <a:xfrm>
            <a:off x="9838944" y="3602736"/>
            <a:ext cx="2313432" cy="384048"/>
          </a:xfrm>
          <a:prstGeom prst="rect">
            <a:avLst/>
          </a:prstGeom>
          <a:noFill/>
          <a:ln/>
        </p:spPr>
        <p:txBody>
          <a:bodyPr wrap="square" rtlCol="0" anchor="ctr"/>
          <a:lstStyle/>
          <a:p>
            <a:pPr indent="0" marL="0">
              <a:buNone/>
            </a:pPr>
            <a:r>
              <a:rPr lang="en-US" sz="1550" b="1" dirty="0">
                <a:solidFill>
                  <a:srgbClr val="3DD68C"/>
                </a:solidFill>
                <a:latin typeface="Cambria" pitchFamily="34" charset="0"/>
                <a:ea typeface="Cambria" pitchFamily="34" charset="-122"/>
                <a:cs typeface="Cambria" pitchFamily="34" charset="-120"/>
              </a:rPr>
              <a:t>FILE FAST</a:t>
            </a:r>
            <a:endParaRPr lang="en-US" sz="1550" dirty="0"/>
          </a:p>
        </p:txBody>
      </p:sp>
      <p:sp>
        <p:nvSpPr>
          <p:cNvPr id="57" name="Text 55"/>
          <p:cNvSpPr/>
          <p:nvPr/>
        </p:nvSpPr>
        <p:spPr>
          <a:xfrm>
            <a:off x="9838944" y="4023360"/>
            <a:ext cx="2286000" cy="822960"/>
          </a:xfrm>
          <a:prstGeom prst="rect">
            <a:avLst/>
          </a:prstGeom>
          <a:noFill/>
          <a:ln/>
        </p:spPr>
        <p:txBody>
          <a:bodyPr wrap="square" rtlCol="0" anchor="t"/>
          <a:lstStyle/>
          <a:p>
            <a:pPr indent="0" marL="0">
              <a:lnSpc>
                <a:spcPct val="116000"/>
              </a:lnSpc>
              <a:buNone/>
            </a:pPr>
            <a:r>
              <a:rPr lang="en-US" sz="1100" dirty="0">
                <a:solidFill>
                  <a:srgbClr val="9FB3C8"/>
                </a:solidFill>
                <a:latin typeface="Calibri" pitchFamily="34" charset="0"/>
                <a:ea typeface="Calibri" pitchFamily="34" charset="-122"/>
                <a:cs typeface="Calibri" pitchFamily="34" charset="-120"/>
              </a:rPr>
              <a:t>Voucher within 5 days; receipts for $75+ and all lodging.</a:t>
            </a:r>
            <a:endParaRPr lang="en-US" sz="1100" dirty="0"/>
          </a:p>
        </p:txBody>
      </p:sp>
      <p:sp>
        <p:nvSpPr>
          <p:cNvPr id="58" name="Text 56"/>
          <p:cNvSpPr/>
          <p:nvPr/>
        </p:nvSpPr>
        <p:spPr>
          <a:xfrm>
            <a:off x="640080" y="5349240"/>
            <a:ext cx="10908792" cy="365760"/>
          </a:xfrm>
          <a:prstGeom prst="rect">
            <a:avLst/>
          </a:prstGeom>
          <a:noFill/>
          <a:ln/>
        </p:spPr>
        <p:txBody>
          <a:bodyPr wrap="square" rtlCol="0" anchor="ctr"/>
          <a:lstStyle/>
          <a:p>
            <a:pPr indent="0" marL="0">
              <a:buNone/>
            </a:pPr>
            <a:r>
              <a:rPr lang="en-US" sz="1250" b="1" dirty="0">
                <a:solidFill>
                  <a:srgbClr val="2DD4E0"/>
                </a:solidFill>
                <a:latin typeface="Calibri" pitchFamily="34" charset="0"/>
                <a:ea typeface="Calibri" pitchFamily="34" charset="-122"/>
                <a:cs typeface="Calibri" pitchFamily="34" charset="-120"/>
              </a:rPr>
              <a:t>Questions? Route through your training NCO, DTS Approving Official, or unit APC before you travel.</a:t>
            </a:r>
            <a:endParaRPr lang="en-US" sz="1250" dirty="0"/>
          </a:p>
        </p:txBody>
      </p:sp>
      <p:sp>
        <p:nvSpPr>
          <p:cNvPr id="59" name="Shape 57"/>
          <p:cNvSpPr/>
          <p:nvPr/>
        </p:nvSpPr>
        <p:spPr>
          <a:xfrm>
            <a:off x="640080" y="6355080"/>
            <a:ext cx="10908792" cy="0"/>
          </a:xfrm>
          <a:prstGeom prst="line">
            <a:avLst/>
          </a:prstGeom>
          <a:noFill/>
          <a:ln w="9525">
            <a:solidFill>
              <a:srgbClr val="24384F"/>
            </a:solidFill>
            <a:prstDash val="solid"/>
          </a:ln>
        </p:spPr>
      </p:sp>
      <p:sp>
        <p:nvSpPr>
          <p:cNvPr id="60" name="Text 58"/>
          <p:cNvSpPr/>
          <p:nvPr/>
        </p:nvSpPr>
        <p:spPr>
          <a:xfrm>
            <a:off x="640080" y="6400800"/>
            <a:ext cx="7315200" cy="274320"/>
          </a:xfrm>
          <a:prstGeom prst="rect">
            <a:avLst/>
          </a:prstGeom>
          <a:noFill/>
          <a:ln/>
        </p:spPr>
        <p:txBody>
          <a:bodyPr wrap="square" rtlCol="0" anchor="ctr"/>
          <a:lstStyle/>
          <a:p>
            <a:pPr algn="l" indent="0" marL="0">
              <a:buNone/>
            </a:pPr>
            <a:r>
              <a:rPr lang="en-US" sz="850" dirty="0">
                <a:solidFill>
                  <a:srgbClr val="6B8299"/>
                </a:solidFill>
                <a:latin typeface="Calibri" pitchFamily="34" charset="0"/>
                <a:ea typeface="Calibri" pitchFamily="34" charset="-122"/>
                <a:cs typeface="Calibri" pitchFamily="34" charset="-120"/>
              </a:rPr>
              <a:t>112-17E10E  ·  Electronic Warfare Specialist Course</a:t>
            </a:r>
            <a:endParaRPr lang="en-US" sz="850" dirty="0"/>
          </a:p>
        </p:txBody>
      </p:sp>
      <p:sp>
        <p:nvSpPr>
          <p:cNvPr id="61" name="Text 59"/>
          <p:cNvSpPr/>
          <p:nvPr/>
        </p:nvSpPr>
        <p:spPr>
          <a:xfrm>
            <a:off x="8165592" y="6400800"/>
            <a:ext cx="2834640" cy="274320"/>
          </a:xfrm>
          <a:prstGeom prst="rect">
            <a:avLst/>
          </a:prstGeom>
          <a:noFill/>
          <a:ln/>
        </p:spPr>
        <p:txBody>
          <a:bodyPr wrap="square" rtlCol="0" anchor="ctr"/>
          <a:lstStyle/>
          <a:p>
            <a:pPr algn="r" indent="0" marL="0">
              <a:buNone/>
            </a:pPr>
            <a:r>
              <a:rPr lang="en-US" sz="850" spc="150" kern="0" dirty="0">
                <a:solidFill>
                  <a:srgbClr val="6B8299"/>
                </a:solidFill>
                <a:latin typeface="Calibri" pitchFamily="34" charset="0"/>
                <a:ea typeface="Calibri" pitchFamily="34" charset="-122"/>
                <a:cs typeface="Calibri" pitchFamily="34" charset="-120"/>
              </a:rPr>
              <a:t>U.S. ARMY CYBER SCHOOL</a:t>
            </a:r>
            <a:endParaRPr lang="en-US" sz="850" dirty="0"/>
          </a:p>
        </p:txBody>
      </p:sp>
      <p:sp>
        <p:nvSpPr>
          <p:cNvPr id="62" name="Text 60"/>
          <p:cNvSpPr/>
          <p:nvPr/>
        </p:nvSpPr>
        <p:spPr>
          <a:xfrm>
            <a:off x="11137392" y="6382512"/>
            <a:ext cx="411480" cy="292608"/>
          </a:xfrm>
          <a:prstGeom prst="rect">
            <a:avLst/>
          </a:prstGeom>
          <a:noFill/>
          <a:ln/>
        </p:spPr>
        <p:txBody>
          <a:bodyPr wrap="square" rtlCol="0" anchor="ctr"/>
          <a:lstStyle/>
          <a:p>
            <a:pPr algn="r" indent="0" marL="0">
              <a:buNone/>
            </a:pPr>
            <a:r>
              <a:rPr lang="en-US" sz="1100" b="1" dirty="0">
                <a:solidFill>
                  <a:srgbClr val="2DD4E0"/>
                </a:solidFill>
                <a:latin typeface="Cambria" pitchFamily="34" charset="0"/>
                <a:ea typeface="Cambria" pitchFamily="34" charset="-122"/>
                <a:cs typeface="Cambria"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422"/>
        </a:solidFill>
      </p:bgPr>
    </p:bg>
    <p:spTree>
      <p:nvGrpSpPr>
        <p:cNvPr id="1" name=""/>
        <p:cNvGrpSpPr/>
        <p:nvPr/>
      </p:nvGrpSpPr>
      <p:grpSpPr>
        <a:xfrm>
          <a:off x="0" y="0"/>
          <a:ext cx="0" cy="0"/>
          <a:chOff x="0" y="0"/>
          <a:chExt cx="0" cy="0"/>
        </a:xfrm>
      </p:grpSpPr>
      <p:sp>
        <p:nvSpPr>
          <p:cNvPr id="2" name="Shape 0"/>
          <p:cNvSpPr/>
          <p:nvPr/>
        </p:nvSpPr>
        <p:spPr>
          <a:xfrm>
            <a:off x="640080" y="457200"/>
            <a:ext cx="310896" cy="0"/>
          </a:xfrm>
          <a:prstGeom prst="line">
            <a:avLst/>
          </a:prstGeom>
          <a:noFill/>
          <a:ln w="25400">
            <a:solidFill>
              <a:srgbClr val="2DD4E0"/>
            </a:solidFill>
            <a:prstDash val="solid"/>
          </a:ln>
        </p:spPr>
      </p:sp>
      <p:sp>
        <p:nvSpPr>
          <p:cNvPr id="3" name="Shape 1"/>
          <p:cNvSpPr/>
          <p:nvPr/>
        </p:nvSpPr>
        <p:spPr>
          <a:xfrm>
            <a:off x="640080" y="457200"/>
            <a:ext cx="0" cy="310896"/>
          </a:xfrm>
          <a:prstGeom prst="line">
            <a:avLst/>
          </a:prstGeom>
          <a:noFill/>
          <a:ln w="25400">
            <a:solidFill>
              <a:srgbClr val="2DD4E0"/>
            </a:solidFill>
            <a:prstDash val="solid"/>
          </a:ln>
        </p:spPr>
      </p:sp>
      <p:sp>
        <p:nvSpPr>
          <p:cNvPr id="4" name="Text 2"/>
          <p:cNvSpPr/>
          <p:nvPr/>
        </p:nvSpPr>
        <p:spPr>
          <a:xfrm>
            <a:off x="1097280" y="420624"/>
            <a:ext cx="10058400" cy="274320"/>
          </a:xfrm>
          <a:prstGeom prst="rect">
            <a:avLst/>
          </a:prstGeom>
          <a:noFill/>
          <a:ln/>
        </p:spPr>
        <p:txBody>
          <a:bodyPr wrap="square" rtlCol="0" anchor="ctr"/>
          <a:lstStyle/>
          <a:p>
            <a:pPr indent="0" marL="0">
              <a:buNone/>
            </a:pPr>
            <a:r>
              <a:rPr lang="en-US" sz="1150" b="1" spc="350" kern="0" dirty="0">
                <a:solidFill>
                  <a:srgbClr val="2DD4E0"/>
                </a:solidFill>
                <a:latin typeface="Calibri" pitchFamily="34" charset="0"/>
                <a:ea typeface="Calibri" pitchFamily="34" charset="-122"/>
                <a:cs typeface="Calibri" pitchFamily="34" charset="-120"/>
              </a:rPr>
              <a:t>SOURCES &amp; CURRENCY</a:t>
            </a:r>
            <a:endParaRPr lang="en-US" sz="1150" dirty="0"/>
          </a:p>
        </p:txBody>
      </p:sp>
      <p:sp>
        <p:nvSpPr>
          <p:cNvPr id="5" name="Text 3"/>
          <p:cNvSpPr/>
          <p:nvPr/>
        </p:nvSpPr>
        <p:spPr>
          <a:xfrm>
            <a:off x="640080" y="713232"/>
            <a:ext cx="10972800" cy="7772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References</a:t>
            </a:r>
            <a:endParaRPr lang="en-US" sz="3000" dirty="0"/>
          </a:p>
        </p:txBody>
      </p:sp>
      <p:sp>
        <p:nvSpPr>
          <p:cNvPr id="6" name="Shape 4"/>
          <p:cNvSpPr/>
          <p:nvPr/>
        </p:nvSpPr>
        <p:spPr>
          <a:xfrm>
            <a:off x="640080" y="1517904"/>
            <a:ext cx="5349240" cy="914400"/>
          </a:xfrm>
          <a:prstGeom prst="roundRect">
            <a:avLst>
              <a:gd name="adj" fmla="val 8000"/>
            </a:avLst>
          </a:prstGeom>
          <a:solidFill>
            <a:srgbClr val="0F1D30"/>
          </a:solidFill>
          <a:ln w="12700">
            <a:solidFill>
              <a:srgbClr val="24384F"/>
            </a:solidFill>
            <a:prstDash val="solid"/>
          </a:ln>
        </p:spPr>
      </p:sp>
      <p:sp>
        <p:nvSpPr>
          <p:cNvPr id="7" name="Text 5"/>
          <p:cNvSpPr/>
          <p:nvPr/>
        </p:nvSpPr>
        <p:spPr>
          <a:xfrm>
            <a:off x="859536" y="1627632"/>
            <a:ext cx="3794760" cy="274320"/>
          </a:xfrm>
          <a:prstGeom prst="rect">
            <a:avLst/>
          </a:prstGeom>
          <a:noFill/>
          <a:ln/>
        </p:spPr>
        <p:txBody>
          <a:bodyPr wrap="square" rtlCol="0" anchor="ctr"/>
          <a:lstStyle/>
          <a:p>
            <a:pPr indent="0" marL="0">
              <a:buNone/>
            </a:pPr>
            <a:r>
              <a:rPr lang="en-US" sz="1250" b="1" dirty="0">
                <a:solidFill>
                  <a:srgbClr val="2DD4E0"/>
                </a:solidFill>
                <a:latin typeface="Cambria" pitchFamily="34" charset="0"/>
                <a:ea typeface="Cambria" pitchFamily="34" charset="-122"/>
                <a:cs typeface="Cambria" pitchFamily="34" charset="-120"/>
              </a:rPr>
              <a:t>Joint Travel Regulations (JTR)</a:t>
            </a:r>
            <a:endParaRPr lang="en-US" sz="1250" dirty="0"/>
          </a:p>
        </p:txBody>
      </p:sp>
      <p:sp>
        <p:nvSpPr>
          <p:cNvPr id="8" name="Text 6"/>
          <p:cNvSpPr/>
          <p:nvPr/>
        </p:nvSpPr>
        <p:spPr>
          <a:xfrm>
            <a:off x="4526280" y="1627632"/>
            <a:ext cx="1280160" cy="274320"/>
          </a:xfrm>
          <a:prstGeom prst="rect">
            <a:avLst/>
          </a:prstGeom>
          <a:noFill/>
          <a:ln/>
        </p:spPr>
        <p:txBody>
          <a:bodyPr wrap="square" rtlCol="0" anchor="ctr"/>
          <a:lstStyle/>
          <a:p>
            <a:pPr algn="r" indent="0" marL="0">
              <a:buNone/>
            </a:pPr>
            <a:r>
              <a:rPr lang="en-US" sz="900" i="1" dirty="0">
                <a:solidFill>
                  <a:srgbClr val="6B8299"/>
                </a:solidFill>
                <a:latin typeface="Calibri" pitchFamily="34" charset="0"/>
                <a:ea typeface="Calibri" pitchFamily="34" charset="-122"/>
                <a:cs typeface="Calibri" pitchFamily="34" charset="-120"/>
              </a:rPr>
              <a:t>travel.dod.mil</a:t>
            </a:r>
            <a:endParaRPr lang="en-US" sz="900" dirty="0"/>
          </a:p>
        </p:txBody>
      </p:sp>
      <p:sp>
        <p:nvSpPr>
          <p:cNvPr id="9" name="Text 7"/>
          <p:cNvSpPr/>
          <p:nvPr/>
        </p:nvSpPr>
        <p:spPr>
          <a:xfrm>
            <a:off x="859536" y="1901952"/>
            <a:ext cx="4965192" cy="475488"/>
          </a:xfrm>
          <a:prstGeom prst="rect">
            <a:avLst/>
          </a:prstGeom>
          <a:noFill/>
          <a:ln/>
        </p:spPr>
        <p:txBody>
          <a:bodyPr wrap="square" rtlCol="0" anchor="t"/>
          <a:lstStyle/>
          <a:p>
            <a:pPr indent="0" marL="0">
              <a:lnSpc>
                <a:spcPct val="110000"/>
              </a:lnSpc>
              <a:buNone/>
            </a:pPr>
            <a:r>
              <a:rPr lang="en-US" sz="1000" dirty="0">
                <a:solidFill>
                  <a:srgbClr val="9FB3C8"/>
                </a:solidFill>
                <a:latin typeface="Calibri" pitchFamily="34" charset="0"/>
                <a:ea typeface="Calibri" pitchFamily="34" charset="-122"/>
                <a:cs typeface="Calibri" pitchFamily="34" charset="-120"/>
              </a:rPr>
              <a:t>May 2026 change. TDY entitlements, per diem, the 180-day rule, government quarters. Chapters 2–3.</a:t>
            </a:r>
            <a:endParaRPr lang="en-US" sz="1000" dirty="0"/>
          </a:p>
        </p:txBody>
      </p:sp>
      <p:sp>
        <p:nvSpPr>
          <p:cNvPr id="10" name="Shape 8"/>
          <p:cNvSpPr/>
          <p:nvPr/>
        </p:nvSpPr>
        <p:spPr>
          <a:xfrm>
            <a:off x="6281928" y="1517904"/>
            <a:ext cx="5349240" cy="914400"/>
          </a:xfrm>
          <a:prstGeom prst="roundRect">
            <a:avLst>
              <a:gd name="adj" fmla="val 8000"/>
            </a:avLst>
          </a:prstGeom>
          <a:solidFill>
            <a:srgbClr val="0F1D30"/>
          </a:solidFill>
          <a:ln w="12700">
            <a:solidFill>
              <a:srgbClr val="24384F"/>
            </a:solidFill>
            <a:prstDash val="solid"/>
          </a:ln>
        </p:spPr>
      </p:sp>
      <p:sp>
        <p:nvSpPr>
          <p:cNvPr id="11" name="Text 9"/>
          <p:cNvSpPr/>
          <p:nvPr/>
        </p:nvSpPr>
        <p:spPr>
          <a:xfrm>
            <a:off x="6501384" y="1627632"/>
            <a:ext cx="3794760" cy="274320"/>
          </a:xfrm>
          <a:prstGeom prst="rect">
            <a:avLst/>
          </a:prstGeom>
          <a:noFill/>
          <a:ln/>
        </p:spPr>
        <p:txBody>
          <a:bodyPr wrap="square" rtlCol="0" anchor="ctr"/>
          <a:lstStyle/>
          <a:p>
            <a:pPr indent="0" marL="0">
              <a:buNone/>
            </a:pPr>
            <a:r>
              <a:rPr lang="en-US" sz="1250" b="1" dirty="0">
                <a:solidFill>
                  <a:srgbClr val="2DD4E0"/>
                </a:solidFill>
                <a:latin typeface="Cambria" pitchFamily="34" charset="0"/>
                <a:ea typeface="Cambria" pitchFamily="34" charset="-122"/>
                <a:cs typeface="Cambria" pitchFamily="34" charset="-120"/>
              </a:rPr>
              <a:t>DoD GTCC Regulations</a:t>
            </a:r>
            <a:endParaRPr lang="en-US" sz="1250" dirty="0"/>
          </a:p>
        </p:txBody>
      </p:sp>
      <p:sp>
        <p:nvSpPr>
          <p:cNvPr id="12" name="Text 10"/>
          <p:cNvSpPr/>
          <p:nvPr/>
        </p:nvSpPr>
        <p:spPr>
          <a:xfrm>
            <a:off x="10168128" y="1627632"/>
            <a:ext cx="1280160" cy="274320"/>
          </a:xfrm>
          <a:prstGeom prst="rect">
            <a:avLst/>
          </a:prstGeom>
          <a:noFill/>
          <a:ln/>
        </p:spPr>
        <p:txBody>
          <a:bodyPr wrap="square" rtlCol="0" anchor="ctr"/>
          <a:lstStyle/>
          <a:p>
            <a:pPr algn="r" indent="0" marL="0">
              <a:buNone/>
            </a:pPr>
            <a:r>
              <a:rPr lang="en-US" sz="900" i="1" dirty="0">
                <a:solidFill>
                  <a:srgbClr val="6B8299"/>
                </a:solidFill>
                <a:latin typeface="Calibri" pitchFamily="34" charset="0"/>
                <a:ea typeface="Calibri" pitchFamily="34" charset="-122"/>
                <a:cs typeface="Calibri" pitchFamily="34" charset="-120"/>
              </a:rPr>
              <a:t>travel.dod.mil</a:t>
            </a:r>
            <a:endParaRPr lang="en-US" sz="900" dirty="0"/>
          </a:p>
        </p:txBody>
      </p:sp>
      <p:sp>
        <p:nvSpPr>
          <p:cNvPr id="13" name="Text 11"/>
          <p:cNvSpPr/>
          <p:nvPr/>
        </p:nvSpPr>
        <p:spPr>
          <a:xfrm>
            <a:off x="6501384" y="1901952"/>
            <a:ext cx="4965192" cy="475488"/>
          </a:xfrm>
          <a:prstGeom prst="rect">
            <a:avLst/>
          </a:prstGeom>
          <a:noFill/>
          <a:ln/>
        </p:spPr>
        <p:txBody>
          <a:bodyPr wrap="square" rtlCol="0" anchor="t"/>
          <a:lstStyle/>
          <a:p>
            <a:pPr indent="0" marL="0">
              <a:lnSpc>
                <a:spcPct val="110000"/>
              </a:lnSpc>
              <a:buNone/>
            </a:pPr>
            <a:r>
              <a:rPr lang="en-US" sz="1000" dirty="0">
                <a:solidFill>
                  <a:srgbClr val="9FB3C8"/>
                </a:solidFill>
                <a:latin typeface="Calibri" pitchFamily="34" charset="0"/>
                <a:ea typeface="Calibri" pitchFamily="34" charset="-122"/>
                <a:cs typeface="Calibri" pitchFamily="34" charset="-120"/>
              </a:rPr>
              <a:t>Revised 29 May 2026 (auth. DoDI 5154.31, Vol. 4). Mandatory use, split disbursement, delinquency, SOU / DD 3120.</a:t>
            </a:r>
            <a:endParaRPr lang="en-US" sz="1000" dirty="0"/>
          </a:p>
        </p:txBody>
      </p:sp>
      <p:sp>
        <p:nvSpPr>
          <p:cNvPr id="14" name="Shape 12"/>
          <p:cNvSpPr/>
          <p:nvPr/>
        </p:nvSpPr>
        <p:spPr>
          <a:xfrm>
            <a:off x="640080" y="2578608"/>
            <a:ext cx="5349240" cy="914400"/>
          </a:xfrm>
          <a:prstGeom prst="roundRect">
            <a:avLst>
              <a:gd name="adj" fmla="val 8000"/>
            </a:avLst>
          </a:prstGeom>
          <a:solidFill>
            <a:srgbClr val="0F1D30"/>
          </a:solidFill>
          <a:ln w="12700">
            <a:solidFill>
              <a:srgbClr val="24384F"/>
            </a:solidFill>
            <a:prstDash val="solid"/>
          </a:ln>
        </p:spPr>
      </p:sp>
      <p:sp>
        <p:nvSpPr>
          <p:cNvPr id="15" name="Text 13"/>
          <p:cNvSpPr/>
          <p:nvPr/>
        </p:nvSpPr>
        <p:spPr>
          <a:xfrm>
            <a:off x="859536" y="2688336"/>
            <a:ext cx="3794760" cy="274320"/>
          </a:xfrm>
          <a:prstGeom prst="rect">
            <a:avLst/>
          </a:prstGeom>
          <a:noFill/>
          <a:ln/>
        </p:spPr>
        <p:txBody>
          <a:bodyPr wrap="square" rtlCol="0" anchor="ctr"/>
          <a:lstStyle/>
          <a:p>
            <a:pPr indent="0" marL="0">
              <a:buNone/>
            </a:pPr>
            <a:r>
              <a:rPr lang="en-US" sz="1250" b="1" dirty="0">
                <a:solidFill>
                  <a:srgbClr val="2DD4E0"/>
                </a:solidFill>
                <a:latin typeface="Cambria" pitchFamily="34" charset="0"/>
                <a:ea typeface="Cambria" pitchFamily="34" charset="-122"/>
                <a:cs typeface="Cambria" pitchFamily="34" charset="-120"/>
              </a:rPr>
              <a:t>DTS Regulations</a:t>
            </a:r>
            <a:endParaRPr lang="en-US" sz="1250" dirty="0"/>
          </a:p>
        </p:txBody>
      </p:sp>
      <p:sp>
        <p:nvSpPr>
          <p:cNvPr id="16" name="Text 14"/>
          <p:cNvSpPr/>
          <p:nvPr/>
        </p:nvSpPr>
        <p:spPr>
          <a:xfrm>
            <a:off x="4526280" y="2688336"/>
            <a:ext cx="1280160" cy="274320"/>
          </a:xfrm>
          <a:prstGeom prst="rect">
            <a:avLst/>
          </a:prstGeom>
          <a:noFill/>
          <a:ln/>
        </p:spPr>
        <p:txBody>
          <a:bodyPr wrap="square" rtlCol="0" anchor="ctr"/>
          <a:lstStyle/>
          <a:p>
            <a:pPr algn="r" indent="0" marL="0">
              <a:buNone/>
            </a:pPr>
            <a:r>
              <a:rPr lang="en-US" sz="900" i="1" dirty="0">
                <a:solidFill>
                  <a:srgbClr val="6B8299"/>
                </a:solidFill>
                <a:latin typeface="Calibri" pitchFamily="34" charset="0"/>
                <a:ea typeface="Calibri" pitchFamily="34" charset="-122"/>
                <a:cs typeface="Calibri" pitchFamily="34" charset="-120"/>
              </a:rPr>
              <a:t>travel.dod.mil</a:t>
            </a:r>
            <a:endParaRPr lang="en-US" sz="900" dirty="0"/>
          </a:p>
        </p:txBody>
      </p:sp>
      <p:sp>
        <p:nvSpPr>
          <p:cNvPr id="17" name="Text 15"/>
          <p:cNvSpPr/>
          <p:nvPr/>
        </p:nvSpPr>
        <p:spPr>
          <a:xfrm>
            <a:off x="859536" y="2962656"/>
            <a:ext cx="4965192" cy="475488"/>
          </a:xfrm>
          <a:prstGeom prst="rect">
            <a:avLst/>
          </a:prstGeom>
          <a:noFill/>
          <a:ln/>
        </p:spPr>
        <p:txBody>
          <a:bodyPr wrap="square" rtlCol="0" anchor="t"/>
          <a:lstStyle/>
          <a:p>
            <a:pPr indent="0" marL="0">
              <a:lnSpc>
                <a:spcPct val="110000"/>
              </a:lnSpc>
              <a:buNone/>
            </a:pPr>
            <a:r>
              <a:rPr lang="en-US" sz="1000" dirty="0">
                <a:solidFill>
                  <a:srgbClr val="9FB3C8"/>
                </a:solidFill>
                <a:latin typeface="Calibri" pitchFamily="34" charset="0"/>
                <a:ea typeface="Calibri" pitchFamily="34" charset="-122"/>
                <a:cs typeface="Calibri" pitchFamily="34" charset="-120"/>
              </a:rPr>
              <a:t>DoDI 5154.31, Vol. 3. Authorization and voucher process, Scheduled Partial Payments, split disbursement.</a:t>
            </a:r>
            <a:endParaRPr lang="en-US" sz="1000" dirty="0"/>
          </a:p>
        </p:txBody>
      </p:sp>
      <p:sp>
        <p:nvSpPr>
          <p:cNvPr id="18" name="Shape 16"/>
          <p:cNvSpPr/>
          <p:nvPr/>
        </p:nvSpPr>
        <p:spPr>
          <a:xfrm>
            <a:off x="6281928" y="2578608"/>
            <a:ext cx="5349240" cy="914400"/>
          </a:xfrm>
          <a:prstGeom prst="roundRect">
            <a:avLst>
              <a:gd name="adj" fmla="val 8000"/>
            </a:avLst>
          </a:prstGeom>
          <a:solidFill>
            <a:srgbClr val="0F1D30"/>
          </a:solidFill>
          <a:ln w="12700">
            <a:solidFill>
              <a:srgbClr val="24384F"/>
            </a:solidFill>
            <a:prstDash val="solid"/>
          </a:ln>
        </p:spPr>
      </p:sp>
      <p:sp>
        <p:nvSpPr>
          <p:cNvPr id="19" name="Text 17"/>
          <p:cNvSpPr/>
          <p:nvPr/>
        </p:nvSpPr>
        <p:spPr>
          <a:xfrm>
            <a:off x="6501384" y="2688336"/>
            <a:ext cx="3794760" cy="274320"/>
          </a:xfrm>
          <a:prstGeom prst="rect">
            <a:avLst/>
          </a:prstGeom>
          <a:noFill/>
          <a:ln/>
        </p:spPr>
        <p:txBody>
          <a:bodyPr wrap="square" rtlCol="0" anchor="ctr"/>
          <a:lstStyle/>
          <a:p>
            <a:pPr indent="0" marL="0">
              <a:buNone/>
            </a:pPr>
            <a:r>
              <a:rPr lang="en-US" sz="1250" b="1" dirty="0">
                <a:solidFill>
                  <a:srgbClr val="2DD4E0"/>
                </a:solidFill>
                <a:latin typeface="Cambria" pitchFamily="34" charset="0"/>
                <a:ea typeface="Cambria" pitchFamily="34" charset="-122"/>
                <a:cs typeface="Cambria" pitchFamily="34" charset="-120"/>
              </a:rPr>
              <a:t>DD Form 1610</a:t>
            </a:r>
            <a:endParaRPr lang="en-US" sz="1250" dirty="0"/>
          </a:p>
        </p:txBody>
      </p:sp>
      <p:sp>
        <p:nvSpPr>
          <p:cNvPr id="20" name="Text 18"/>
          <p:cNvSpPr/>
          <p:nvPr/>
        </p:nvSpPr>
        <p:spPr>
          <a:xfrm>
            <a:off x="10168128" y="2688336"/>
            <a:ext cx="1280160" cy="274320"/>
          </a:xfrm>
          <a:prstGeom prst="rect">
            <a:avLst/>
          </a:prstGeom>
          <a:noFill/>
          <a:ln/>
        </p:spPr>
        <p:txBody>
          <a:bodyPr wrap="square" rtlCol="0" anchor="ctr"/>
          <a:lstStyle/>
          <a:p>
            <a:pPr algn="r" indent="0" marL="0">
              <a:buNone/>
            </a:pPr>
            <a:r>
              <a:rPr lang="en-US" sz="900" i="1" dirty="0">
                <a:solidFill>
                  <a:srgbClr val="6B8299"/>
                </a:solidFill>
                <a:latin typeface="Calibri" pitchFamily="34" charset="0"/>
                <a:ea typeface="Calibri" pitchFamily="34" charset="-122"/>
                <a:cs typeface="Calibri" pitchFamily="34" charset="-120"/>
              </a:rPr>
              <a:t>esd.whs.mil</a:t>
            </a:r>
            <a:endParaRPr lang="en-US" sz="900" dirty="0"/>
          </a:p>
        </p:txBody>
      </p:sp>
      <p:sp>
        <p:nvSpPr>
          <p:cNvPr id="21" name="Text 19"/>
          <p:cNvSpPr/>
          <p:nvPr/>
        </p:nvSpPr>
        <p:spPr>
          <a:xfrm>
            <a:off x="6501384" y="2962656"/>
            <a:ext cx="4965192" cy="475488"/>
          </a:xfrm>
          <a:prstGeom prst="rect">
            <a:avLst/>
          </a:prstGeom>
          <a:noFill/>
          <a:ln/>
        </p:spPr>
        <p:txBody>
          <a:bodyPr wrap="square" rtlCol="0" anchor="t"/>
          <a:lstStyle/>
          <a:p>
            <a:pPr indent="0" marL="0">
              <a:lnSpc>
                <a:spcPct val="110000"/>
              </a:lnSpc>
              <a:buNone/>
            </a:pPr>
            <a:r>
              <a:rPr lang="en-US" sz="1000" dirty="0">
                <a:solidFill>
                  <a:srgbClr val="9FB3C8"/>
                </a:solidFill>
                <a:latin typeface="Calibri" pitchFamily="34" charset="0"/>
                <a:ea typeface="Calibri" pitchFamily="34" charset="-122"/>
                <a:cs typeface="Calibri" pitchFamily="34" charset="-120"/>
              </a:rPr>
              <a:t>APR 2026. Request and Authorization for TDY Travel of DoD Personnel.</a:t>
            </a:r>
            <a:endParaRPr lang="en-US" sz="1000" dirty="0"/>
          </a:p>
        </p:txBody>
      </p:sp>
      <p:sp>
        <p:nvSpPr>
          <p:cNvPr id="22" name="Shape 20"/>
          <p:cNvSpPr/>
          <p:nvPr/>
        </p:nvSpPr>
        <p:spPr>
          <a:xfrm>
            <a:off x="640080" y="3639312"/>
            <a:ext cx="5349240" cy="914400"/>
          </a:xfrm>
          <a:prstGeom prst="roundRect">
            <a:avLst>
              <a:gd name="adj" fmla="val 8000"/>
            </a:avLst>
          </a:prstGeom>
          <a:solidFill>
            <a:srgbClr val="0F1D30"/>
          </a:solidFill>
          <a:ln w="12700">
            <a:solidFill>
              <a:srgbClr val="24384F"/>
            </a:solidFill>
            <a:prstDash val="solid"/>
          </a:ln>
        </p:spPr>
      </p:sp>
      <p:sp>
        <p:nvSpPr>
          <p:cNvPr id="23" name="Text 21"/>
          <p:cNvSpPr/>
          <p:nvPr/>
        </p:nvSpPr>
        <p:spPr>
          <a:xfrm>
            <a:off x="859536" y="3749040"/>
            <a:ext cx="3794760" cy="274320"/>
          </a:xfrm>
          <a:prstGeom prst="rect">
            <a:avLst/>
          </a:prstGeom>
          <a:noFill/>
          <a:ln/>
        </p:spPr>
        <p:txBody>
          <a:bodyPr wrap="square" rtlCol="0" anchor="ctr"/>
          <a:lstStyle/>
          <a:p>
            <a:pPr indent="0" marL="0">
              <a:buNone/>
            </a:pPr>
            <a:r>
              <a:rPr lang="en-US" sz="1250" b="1" dirty="0">
                <a:solidFill>
                  <a:srgbClr val="2DD4E0"/>
                </a:solidFill>
                <a:latin typeface="Cambria" pitchFamily="34" charset="0"/>
                <a:ea typeface="Cambria" pitchFamily="34" charset="-122"/>
                <a:cs typeface="Cambria" pitchFamily="34" charset="-120"/>
              </a:rPr>
              <a:t>DD Form 1614</a:t>
            </a:r>
            <a:endParaRPr lang="en-US" sz="1250" dirty="0"/>
          </a:p>
        </p:txBody>
      </p:sp>
      <p:sp>
        <p:nvSpPr>
          <p:cNvPr id="24" name="Text 22"/>
          <p:cNvSpPr/>
          <p:nvPr/>
        </p:nvSpPr>
        <p:spPr>
          <a:xfrm>
            <a:off x="4526280" y="3749040"/>
            <a:ext cx="1280160" cy="274320"/>
          </a:xfrm>
          <a:prstGeom prst="rect">
            <a:avLst/>
          </a:prstGeom>
          <a:noFill/>
          <a:ln/>
        </p:spPr>
        <p:txBody>
          <a:bodyPr wrap="square" rtlCol="0" anchor="ctr"/>
          <a:lstStyle/>
          <a:p>
            <a:pPr algn="r" indent="0" marL="0">
              <a:buNone/>
            </a:pPr>
            <a:r>
              <a:rPr lang="en-US" sz="900" i="1" dirty="0">
                <a:solidFill>
                  <a:srgbClr val="6B8299"/>
                </a:solidFill>
                <a:latin typeface="Calibri" pitchFamily="34" charset="0"/>
                <a:ea typeface="Calibri" pitchFamily="34" charset="-122"/>
                <a:cs typeface="Calibri" pitchFamily="34" charset="-120"/>
              </a:rPr>
              <a:t>travel.dod.mil</a:t>
            </a:r>
            <a:endParaRPr lang="en-US" sz="900" dirty="0"/>
          </a:p>
        </p:txBody>
      </p:sp>
      <p:sp>
        <p:nvSpPr>
          <p:cNvPr id="25" name="Text 23"/>
          <p:cNvSpPr/>
          <p:nvPr/>
        </p:nvSpPr>
        <p:spPr>
          <a:xfrm>
            <a:off x="859536" y="4023360"/>
            <a:ext cx="4965192" cy="475488"/>
          </a:xfrm>
          <a:prstGeom prst="rect">
            <a:avLst/>
          </a:prstGeom>
          <a:noFill/>
          <a:ln/>
        </p:spPr>
        <p:txBody>
          <a:bodyPr wrap="square" rtlCol="0" anchor="t"/>
          <a:lstStyle/>
          <a:p>
            <a:pPr indent="0" marL="0">
              <a:lnSpc>
                <a:spcPct val="110000"/>
              </a:lnSpc>
              <a:buNone/>
            </a:pPr>
            <a:r>
              <a:rPr lang="en-US" sz="1000" dirty="0">
                <a:solidFill>
                  <a:srgbClr val="9FB3C8"/>
                </a:solidFill>
                <a:latin typeface="Calibri" pitchFamily="34" charset="0"/>
                <a:ea typeface="Calibri" pitchFamily="34" charset="-122"/>
                <a:cs typeface="Calibri" pitchFamily="34" charset="-120"/>
              </a:rPr>
              <a:t>Request/Authorization for DoD Civilian Permanent Duty or TCS (PCS) Travel. Cited for TDY-vs-PCS.</a:t>
            </a:r>
            <a:endParaRPr lang="en-US" sz="1000" dirty="0"/>
          </a:p>
        </p:txBody>
      </p:sp>
      <p:sp>
        <p:nvSpPr>
          <p:cNvPr id="26" name="Shape 24"/>
          <p:cNvSpPr/>
          <p:nvPr/>
        </p:nvSpPr>
        <p:spPr>
          <a:xfrm>
            <a:off x="6281928" y="3639312"/>
            <a:ext cx="5349240" cy="914400"/>
          </a:xfrm>
          <a:prstGeom prst="roundRect">
            <a:avLst>
              <a:gd name="adj" fmla="val 8000"/>
            </a:avLst>
          </a:prstGeom>
          <a:solidFill>
            <a:srgbClr val="0F1D30"/>
          </a:solidFill>
          <a:ln w="12700">
            <a:solidFill>
              <a:srgbClr val="24384F"/>
            </a:solidFill>
            <a:prstDash val="solid"/>
          </a:ln>
        </p:spPr>
      </p:sp>
      <p:sp>
        <p:nvSpPr>
          <p:cNvPr id="27" name="Text 25"/>
          <p:cNvSpPr/>
          <p:nvPr/>
        </p:nvSpPr>
        <p:spPr>
          <a:xfrm>
            <a:off x="6501384" y="3749040"/>
            <a:ext cx="3794760" cy="274320"/>
          </a:xfrm>
          <a:prstGeom prst="rect">
            <a:avLst/>
          </a:prstGeom>
          <a:noFill/>
          <a:ln/>
        </p:spPr>
        <p:txBody>
          <a:bodyPr wrap="square" rtlCol="0" anchor="ctr"/>
          <a:lstStyle/>
          <a:p>
            <a:pPr indent="0" marL="0">
              <a:buNone/>
            </a:pPr>
            <a:r>
              <a:rPr lang="en-US" sz="1250" b="1" dirty="0">
                <a:solidFill>
                  <a:srgbClr val="2DD4E0"/>
                </a:solidFill>
                <a:latin typeface="Cambria" pitchFamily="34" charset="0"/>
                <a:ea typeface="Cambria" pitchFamily="34" charset="-122"/>
                <a:cs typeface="Cambria" pitchFamily="34" charset="-120"/>
              </a:rPr>
              <a:t>DTMO Travel Orders (AP-TO-01)</a:t>
            </a:r>
            <a:endParaRPr lang="en-US" sz="1250" dirty="0"/>
          </a:p>
        </p:txBody>
      </p:sp>
      <p:sp>
        <p:nvSpPr>
          <p:cNvPr id="28" name="Text 26"/>
          <p:cNvSpPr/>
          <p:nvPr/>
        </p:nvSpPr>
        <p:spPr>
          <a:xfrm>
            <a:off x="10168128" y="3749040"/>
            <a:ext cx="1280160" cy="274320"/>
          </a:xfrm>
          <a:prstGeom prst="rect">
            <a:avLst/>
          </a:prstGeom>
          <a:noFill/>
          <a:ln/>
        </p:spPr>
        <p:txBody>
          <a:bodyPr wrap="square" rtlCol="0" anchor="ctr"/>
          <a:lstStyle/>
          <a:p>
            <a:pPr algn="r" indent="0" marL="0">
              <a:buNone/>
            </a:pPr>
            <a:r>
              <a:rPr lang="en-US" sz="900" i="1" dirty="0">
                <a:solidFill>
                  <a:srgbClr val="6B8299"/>
                </a:solidFill>
                <a:latin typeface="Calibri" pitchFamily="34" charset="0"/>
                <a:ea typeface="Calibri" pitchFamily="34" charset="-122"/>
                <a:cs typeface="Calibri" pitchFamily="34" charset="-120"/>
              </a:rPr>
              <a:t>travel.dod.mil</a:t>
            </a:r>
            <a:endParaRPr lang="en-US" sz="900" dirty="0"/>
          </a:p>
        </p:txBody>
      </p:sp>
      <p:sp>
        <p:nvSpPr>
          <p:cNvPr id="29" name="Text 27"/>
          <p:cNvSpPr/>
          <p:nvPr/>
        </p:nvSpPr>
        <p:spPr>
          <a:xfrm>
            <a:off x="6501384" y="4023360"/>
            <a:ext cx="4965192" cy="475488"/>
          </a:xfrm>
          <a:prstGeom prst="rect">
            <a:avLst/>
          </a:prstGeom>
          <a:noFill/>
          <a:ln/>
        </p:spPr>
        <p:txBody>
          <a:bodyPr wrap="square" rtlCol="0" anchor="t"/>
          <a:lstStyle/>
          <a:p>
            <a:pPr indent="0" marL="0">
              <a:lnSpc>
                <a:spcPct val="110000"/>
              </a:lnSpc>
              <a:buNone/>
            </a:pPr>
            <a:r>
              <a:rPr lang="en-US" sz="1000" dirty="0">
                <a:solidFill>
                  <a:srgbClr val="9FB3C8"/>
                </a:solidFill>
                <a:latin typeface="Calibri" pitchFamily="34" charset="0"/>
                <a:ea typeface="Calibri" pitchFamily="34" charset="-122"/>
                <a:cs typeface="Calibri" pitchFamily="34" charset="-120"/>
              </a:rPr>
              <a:t>Mar 2026 supplement. Which form authorizes which move; amendments.</a:t>
            </a:r>
            <a:endParaRPr lang="en-US" sz="1000" dirty="0"/>
          </a:p>
        </p:txBody>
      </p:sp>
      <p:sp>
        <p:nvSpPr>
          <p:cNvPr id="30" name="Shape 28"/>
          <p:cNvSpPr/>
          <p:nvPr/>
        </p:nvSpPr>
        <p:spPr>
          <a:xfrm>
            <a:off x="640080" y="4700016"/>
            <a:ext cx="5349240" cy="914400"/>
          </a:xfrm>
          <a:prstGeom prst="roundRect">
            <a:avLst>
              <a:gd name="adj" fmla="val 8000"/>
            </a:avLst>
          </a:prstGeom>
          <a:solidFill>
            <a:srgbClr val="0F1D30"/>
          </a:solidFill>
          <a:ln w="12700">
            <a:solidFill>
              <a:srgbClr val="24384F"/>
            </a:solidFill>
            <a:prstDash val="solid"/>
          </a:ln>
        </p:spPr>
      </p:sp>
      <p:sp>
        <p:nvSpPr>
          <p:cNvPr id="31" name="Text 29"/>
          <p:cNvSpPr/>
          <p:nvPr/>
        </p:nvSpPr>
        <p:spPr>
          <a:xfrm>
            <a:off x="859536" y="4809744"/>
            <a:ext cx="3794760" cy="274320"/>
          </a:xfrm>
          <a:prstGeom prst="rect">
            <a:avLst/>
          </a:prstGeom>
          <a:noFill/>
          <a:ln/>
        </p:spPr>
        <p:txBody>
          <a:bodyPr wrap="square" rtlCol="0" anchor="ctr"/>
          <a:lstStyle/>
          <a:p>
            <a:pPr indent="0" marL="0">
              <a:buNone/>
            </a:pPr>
            <a:r>
              <a:rPr lang="en-US" sz="1250" b="1" dirty="0">
                <a:solidFill>
                  <a:srgbClr val="2DD4E0"/>
                </a:solidFill>
                <a:latin typeface="Cambria" pitchFamily="34" charset="0"/>
                <a:ea typeface="Cambria" pitchFamily="34" charset="-122"/>
                <a:cs typeface="Cambria" pitchFamily="34" charset="-120"/>
              </a:rPr>
              <a:t>TRADOC Reg 350-18</a:t>
            </a:r>
            <a:endParaRPr lang="en-US" sz="1250" dirty="0"/>
          </a:p>
        </p:txBody>
      </p:sp>
      <p:sp>
        <p:nvSpPr>
          <p:cNvPr id="32" name="Text 30"/>
          <p:cNvSpPr/>
          <p:nvPr/>
        </p:nvSpPr>
        <p:spPr>
          <a:xfrm>
            <a:off x="4526280" y="4809744"/>
            <a:ext cx="1280160" cy="274320"/>
          </a:xfrm>
          <a:prstGeom prst="rect">
            <a:avLst/>
          </a:prstGeom>
          <a:noFill/>
          <a:ln/>
        </p:spPr>
        <p:txBody>
          <a:bodyPr wrap="square" rtlCol="0" anchor="ctr"/>
          <a:lstStyle/>
          <a:p>
            <a:pPr algn="r" indent="0" marL="0">
              <a:buNone/>
            </a:pPr>
            <a:r>
              <a:rPr lang="en-US" sz="900" i="1" dirty="0">
                <a:solidFill>
                  <a:srgbClr val="6B8299"/>
                </a:solidFill>
                <a:latin typeface="Calibri" pitchFamily="34" charset="0"/>
                <a:ea typeface="Calibri" pitchFamily="34" charset="-122"/>
                <a:cs typeface="Calibri" pitchFamily="34" charset="-120"/>
              </a:rPr>
              <a:t>tradoc.army.mil</a:t>
            </a:r>
            <a:endParaRPr lang="en-US" sz="900" dirty="0"/>
          </a:p>
        </p:txBody>
      </p:sp>
      <p:sp>
        <p:nvSpPr>
          <p:cNvPr id="33" name="Text 31"/>
          <p:cNvSpPr/>
          <p:nvPr/>
        </p:nvSpPr>
        <p:spPr>
          <a:xfrm>
            <a:off x="859536" y="5084064"/>
            <a:ext cx="4965192" cy="475488"/>
          </a:xfrm>
          <a:prstGeom prst="rect">
            <a:avLst/>
          </a:prstGeom>
          <a:noFill/>
          <a:ln/>
        </p:spPr>
        <p:txBody>
          <a:bodyPr wrap="square" rtlCol="0" anchor="t"/>
          <a:lstStyle/>
          <a:p>
            <a:pPr indent="0" marL="0">
              <a:lnSpc>
                <a:spcPct val="110000"/>
              </a:lnSpc>
              <a:buNone/>
            </a:pPr>
            <a:r>
              <a:rPr lang="en-US" sz="1000" dirty="0">
                <a:solidFill>
                  <a:srgbClr val="9FB3C8"/>
                </a:solidFill>
                <a:latin typeface="Calibri" pitchFamily="34" charset="0"/>
                <a:ea typeface="Calibri" pitchFamily="34" charset="-122"/>
                <a:cs typeface="Calibri" pitchFamily="34" charset="-120"/>
              </a:rPr>
              <a:t>The Army School System (TASS) pre-execution checklist, TRADOC Form 350-18-2R-E.</a:t>
            </a:r>
            <a:endParaRPr lang="en-US" sz="1000" dirty="0"/>
          </a:p>
        </p:txBody>
      </p:sp>
      <p:sp>
        <p:nvSpPr>
          <p:cNvPr id="34" name="Shape 32"/>
          <p:cNvSpPr/>
          <p:nvPr/>
        </p:nvSpPr>
        <p:spPr>
          <a:xfrm>
            <a:off x="6281928" y="4700016"/>
            <a:ext cx="5349240" cy="914400"/>
          </a:xfrm>
          <a:prstGeom prst="roundRect">
            <a:avLst>
              <a:gd name="adj" fmla="val 8000"/>
            </a:avLst>
          </a:prstGeom>
          <a:solidFill>
            <a:srgbClr val="0F1D30"/>
          </a:solidFill>
          <a:ln w="12700">
            <a:solidFill>
              <a:srgbClr val="24384F"/>
            </a:solidFill>
            <a:prstDash val="solid"/>
          </a:ln>
        </p:spPr>
      </p:sp>
      <p:sp>
        <p:nvSpPr>
          <p:cNvPr id="35" name="Text 33"/>
          <p:cNvSpPr/>
          <p:nvPr/>
        </p:nvSpPr>
        <p:spPr>
          <a:xfrm>
            <a:off x="6501384" y="4809744"/>
            <a:ext cx="3794760" cy="274320"/>
          </a:xfrm>
          <a:prstGeom prst="rect">
            <a:avLst/>
          </a:prstGeom>
          <a:noFill/>
          <a:ln/>
        </p:spPr>
        <p:txBody>
          <a:bodyPr wrap="square" rtlCol="0" anchor="ctr"/>
          <a:lstStyle/>
          <a:p>
            <a:pPr indent="0" marL="0">
              <a:buNone/>
            </a:pPr>
            <a:r>
              <a:rPr lang="en-US" sz="1250" b="1" dirty="0">
                <a:solidFill>
                  <a:srgbClr val="2DD4E0"/>
                </a:solidFill>
                <a:latin typeface="Cambria" pitchFamily="34" charset="0"/>
                <a:ea typeface="Cambria" pitchFamily="34" charset="-122"/>
                <a:cs typeface="Cambria" pitchFamily="34" charset="-120"/>
              </a:rPr>
              <a:t>ATRRS</a:t>
            </a:r>
            <a:endParaRPr lang="en-US" sz="1250" dirty="0"/>
          </a:p>
        </p:txBody>
      </p:sp>
      <p:sp>
        <p:nvSpPr>
          <p:cNvPr id="36" name="Text 34"/>
          <p:cNvSpPr/>
          <p:nvPr/>
        </p:nvSpPr>
        <p:spPr>
          <a:xfrm>
            <a:off x="10168128" y="4809744"/>
            <a:ext cx="1280160" cy="274320"/>
          </a:xfrm>
          <a:prstGeom prst="rect">
            <a:avLst/>
          </a:prstGeom>
          <a:noFill/>
          <a:ln/>
        </p:spPr>
        <p:txBody>
          <a:bodyPr wrap="square" rtlCol="0" anchor="ctr"/>
          <a:lstStyle/>
          <a:p>
            <a:pPr algn="r" indent="0" marL="0">
              <a:buNone/>
            </a:pPr>
            <a:r>
              <a:rPr lang="en-US" sz="900" i="1" dirty="0">
                <a:solidFill>
                  <a:srgbClr val="6B8299"/>
                </a:solidFill>
                <a:latin typeface="Calibri" pitchFamily="34" charset="0"/>
                <a:ea typeface="Calibri" pitchFamily="34" charset="-122"/>
                <a:cs typeface="Calibri" pitchFamily="34" charset="-120"/>
              </a:rPr>
              <a:t>atrrs.army.mil</a:t>
            </a:r>
            <a:endParaRPr lang="en-US" sz="900" dirty="0"/>
          </a:p>
        </p:txBody>
      </p:sp>
      <p:sp>
        <p:nvSpPr>
          <p:cNvPr id="37" name="Text 35"/>
          <p:cNvSpPr/>
          <p:nvPr/>
        </p:nvSpPr>
        <p:spPr>
          <a:xfrm>
            <a:off x="6501384" y="5084064"/>
            <a:ext cx="4965192" cy="475488"/>
          </a:xfrm>
          <a:prstGeom prst="rect">
            <a:avLst/>
          </a:prstGeom>
          <a:noFill/>
          <a:ln/>
        </p:spPr>
        <p:txBody>
          <a:bodyPr wrap="square" rtlCol="0" anchor="t"/>
          <a:lstStyle/>
          <a:p>
            <a:pPr indent="0" marL="0">
              <a:lnSpc>
                <a:spcPct val="110000"/>
              </a:lnSpc>
              <a:buNone/>
            </a:pPr>
            <a:r>
              <a:rPr lang="en-US" sz="1000" dirty="0">
                <a:solidFill>
                  <a:srgbClr val="9FB3C8"/>
                </a:solidFill>
                <a:latin typeface="Calibri" pitchFamily="34" charset="0"/>
                <a:ea typeface="Calibri" pitchFamily="34" charset="-122"/>
                <a:cs typeface="Calibri" pitchFamily="34" charset="-120"/>
              </a:rPr>
              <a:t>Army Training Requirements and Resources System — seat reservations and course welcome packets.</a:t>
            </a:r>
            <a:endParaRPr lang="en-US" sz="1000" dirty="0"/>
          </a:p>
        </p:txBody>
      </p:sp>
      <p:sp>
        <p:nvSpPr>
          <p:cNvPr id="38" name="Text 36"/>
          <p:cNvSpPr/>
          <p:nvPr/>
        </p:nvSpPr>
        <p:spPr>
          <a:xfrm>
            <a:off x="640080" y="5623560"/>
            <a:ext cx="10908792" cy="365760"/>
          </a:xfrm>
          <a:prstGeom prst="rect">
            <a:avLst/>
          </a:prstGeom>
          <a:noFill/>
          <a:ln/>
        </p:spPr>
        <p:txBody>
          <a:bodyPr wrap="square" rtlCol="0" anchor="t"/>
          <a:lstStyle/>
          <a:p>
            <a:pPr indent="0" marL="0">
              <a:buNone/>
            </a:pPr>
            <a:r>
              <a:rPr lang="en-US" sz="1000" i="1" dirty="0">
                <a:solidFill>
                  <a:srgbClr val="6B8299"/>
                </a:solidFill>
                <a:latin typeface="Calibri" pitchFamily="34" charset="0"/>
                <a:ea typeface="Calibri" pitchFamily="34" charset="-122"/>
                <a:cs typeface="Calibri" pitchFamily="34" charset="-120"/>
              </a:rPr>
              <a:t>Per diem dollar rates are locality-based and change annually — verify current rates in DTS or on the DTMO per diem site. Always confirm course-specific rules in your ATRRS welcome packet.</a:t>
            </a:r>
            <a:endParaRPr lang="en-US" sz="1000" dirty="0"/>
          </a:p>
        </p:txBody>
      </p:sp>
      <p:sp>
        <p:nvSpPr>
          <p:cNvPr id="39" name="Shape 37"/>
          <p:cNvSpPr/>
          <p:nvPr/>
        </p:nvSpPr>
        <p:spPr>
          <a:xfrm>
            <a:off x="640080" y="6355080"/>
            <a:ext cx="10908792" cy="0"/>
          </a:xfrm>
          <a:prstGeom prst="line">
            <a:avLst/>
          </a:prstGeom>
          <a:noFill/>
          <a:ln w="9525">
            <a:solidFill>
              <a:srgbClr val="24384F"/>
            </a:solidFill>
            <a:prstDash val="solid"/>
          </a:ln>
        </p:spPr>
      </p:sp>
      <p:sp>
        <p:nvSpPr>
          <p:cNvPr id="40" name="Text 38"/>
          <p:cNvSpPr/>
          <p:nvPr/>
        </p:nvSpPr>
        <p:spPr>
          <a:xfrm>
            <a:off x="640080" y="6400800"/>
            <a:ext cx="7315200" cy="274320"/>
          </a:xfrm>
          <a:prstGeom prst="rect">
            <a:avLst/>
          </a:prstGeom>
          <a:noFill/>
          <a:ln/>
        </p:spPr>
        <p:txBody>
          <a:bodyPr wrap="square" rtlCol="0" anchor="ctr"/>
          <a:lstStyle/>
          <a:p>
            <a:pPr algn="l" indent="0" marL="0">
              <a:buNone/>
            </a:pPr>
            <a:r>
              <a:rPr lang="en-US" sz="850" dirty="0">
                <a:solidFill>
                  <a:srgbClr val="6B8299"/>
                </a:solidFill>
                <a:latin typeface="Calibri" pitchFamily="34" charset="0"/>
                <a:ea typeface="Calibri" pitchFamily="34" charset="-122"/>
                <a:cs typeface="Calibri" pitchFamily="34" charset="-120"/>
              </a:rPr>
              <a:t>112-17E10E  ·  Electronic Warfare Specialist Course</a:t>
            </a:r>
            <a:endParaRPr lang="en-US" sz="850" dirty="0"/>
          </a:p>
        </p:txBody>
      </p:sp>
      <p:sp>
        <p:nvSpPr>
          <p:cNvPr id="41" name="Text 39"/>
          <p:cNvSpPr/>
          <p:nvPr/>
        </p:nvSpPr>
        <p:spPr>
          <a:xfrm>
            <a:off x="8165592" y="6400800"/>
            <a:ext cx="2834640" cy="274320"/>
          </a:xfrm>
          <a:prstGeom prst="rect">
            <a:avLst/>
          </a:prstGeom>
          <a:noFill/>
          <a:ln/>
        </p:spPr>
        <p:txBody>
          <a:bodyPr wrap="square" rtlCol="0" anchor="ctr"/>
          <a:lstStyle/>
          <a:p>
            <a:pPr algn="r" indent="0" marL="0">
              <a:buNone/>
            </a:pPr>
            <a:r>
              <a:rPr lang="en-US" sz="850" spc="150" kern="0" dirty="0">
                <a:solidFill>
                  <a:srgbClr val="6B8299"/>
                </a:solidFill>
                <a:latin typeface="Calibri" pitchFamily="34" charset="0"/>
                <a:ea typeface="Calibri" pitchFamily="34" charset="-122"/>
                <a:cs typeface="Calibri" pitchFamily="34" charset="-120"/>
              </a:rPr>
              <a:t>U.S. ARMY CYBER SCHOOL</a:t>
            </a:r>
            <a:endParaRPr lang="en-US" sz="850" dirty="0"/>
          </a:p>
        </p:txBody>
      </p:sp>
      <p:sp>
        <p:nvSpPr>
          <p:cNvPr id="42" name="Text 40"/>
          <p:cNvSpPr/>
          <p:nvPr/>
        </p:nvSpPr>
        <p:spPr>
          <a:xfrm>
            <a:off x="11137392" y="6382512"/>
            <a:ext cx="411480" cy="292608"/>
          </a:xfrm>
          <a:prstGeom prst="rect">
            <a:avLst/>
          </a:prstGeom>
          <a:noFill/>
          <a:ln/>
        </p:spPr>
        <p:txBody>
          <a:bodyPr wrap="square" rtlCol="0" anchor="ctr"/>
          <a:lstStyle/>
          <a:p>
            <a:pPr algn="r" indent="0" marL="0">
              <a:buNone/>
            </a:pPr>
            <a:r>
              <a:rPr lang="en-US" sz="1100" b="1" dirty="0">
                <a:solidFill>
                  <a:srgbClr val="2DD4E0"/>
                </a:solidFill>
                <a:latin typeface="Cambria" pitchFamily="34" charset="0"/>
                <a:ea typeface="Cambria" pitchFamily="34" charset="-122"/>
                <a:cs typeface="Cambria" pitchFamily="34" charset="-120"/>
              </a:rPr>
              <a:t>13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112-17E10E Electronic Warfare Specialist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TDY for Schools</dc:subject>
  <dc:creator>US Army Cyber School</dc:creator>
  <cp:lastModifiedBy>US Army Cyber School</cp:lastModifiedBy>
  <cp:revision>1</cp:revision>
  <dcterms:created xsi:type="dcterms:W3CDTF">2026-07-10T16:11:35Z</dcterms:created>
  <dcterms:modified xsi:type="dcterms:W3CDTF">2026-07-10T16:11:35Z</dcterms:modified>
</cp:coreProperties>
</file>