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charts/chart1.xml" ContentType="application/vnd.openxmlformats-officedocument.drawingml.chart+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3C3F2C"/>
                </a:solidFill>
                <a:latin typeface="Arial"/>
              </a:defRPr>
            </a:pPr>
            <a:r>
              <a:rPr sz="1300" b="0" i="0" u="none" strike="noStrike">
                <a:solidFill>
                  <a:srgbClr val="3C3F2C"/>
                </a:solidFill>
                <a:latin typeface="Arial"/>
              </a:rPr>
              <a:t>Same $200/mo — Different Start Age</a:t>
            </a:r>
          </a:p>
        </c:rich>
      </c:tx>
      <c:layout/>
      <c:overlay val="0"/>
    </c:title>
    <c:autoTitleDeleted val="0"/>
    <c:plotArea>
      <c:layout/>
      <c:barChart>
        <c:barDir val="col"/>
        <c:grouping val="clustered"/>
        <c:varyColors val="0"/>
        <c:ser>
          <c:idx val="0"/>
          <c:order val="0"/>
          <c:tx>
            <c:strRef>
              <c:f>Sheet1!$B$1</c:f>
              <c:strCache>
                <c:ptCount val="1"/>
                <c:pt idx="0">
                  <c:v>Account Value ($)</c:v>
                </c:pt>
              </c:strCache>
            </c:strRef>
          </c:tx>
          <c:spPr>
            <a:solidFill>
              <a:srgbClr val="C9A227"/>
            </a:solidFill>
            <a:effectLst/>
          </c:spPr>
          <c:invertIfNegative val="0"/>
          <c:dLbls>
            <c:numFmt formatCode="$#,##0,K" sourceLinked="0"/>
            <c:txPr>
              <a:bodyPr/>
              <a:lstStyle/>
              <a:p>
                <a:pPr>
                  <a:defRPr b="0" i="0" strike="noStrike" sz="1200" u="none">
                    <a:solidFill>
                      <a:srgbClr val="2B2B25"/>
                    </a:solidFill>
                    <a:latin typeface="Arial"/>
                  </a:defRPr>
                </a:pPr>
              </a:p>
            </c:txPr>
            <c:showLegendKey val="0"/>
            <c:showVal val="1"/>
            <c:showCatName val="0"/>
            <c:showSerName val="0"/>
            <c:showPercent val="0"/>
            <c:showBubbleSize val="0"/>
            <c:showLeaderLines val="0"/>
          </c:dLbls>
          <c:cat>
            <c:multiLvlStrRef>
              <c:f>Sheet1!$A$2:$A$4</c:f>
              <c:multiLvlStrCache>
                <c:ptCount val="3"/>
                <c:lvl>
                  <c:pt idx="0">
                    <c:v>Start at 19</c:v>
                  </c:pt>
                  <c:pt idx="1">
                    <c:v>Start at 29</c:v>
                  </c:pt>
                  <c:pt idx="2">
                    <c:v>Start at 39</c:v>
                  </c:pt>
                </c:lvl>
              </c:multiLvlStrCache>
            </c:multiLvlStrRef>
          </c:cat>
          <c:val>
            <c:numRef>
              <c:f>Sheet1!$B$2:$B$4</c:f>
              <c:numCache>
                <c:formatCode>General</c:formatCode>
                <c:ptCount val="3"/>
                <c:pt idx="0">
                  <c:v>600000</c:v>
                </c:pt>
                <c:pt idx="1">
                  <c:v>300000</c:v>
                </c:pt>
                <c:pt idx="2">
                  <c:v>140000</c:v>
                </c:pt>
              </c:numCache>
            </c:numRef>
          </c:val>
        </c:ser>
        <c:dLbls>
          <c:numFmt formatCode="$#,##0,K" sourceLinked="0"/>
          <c:txPr>
            <a:bodyPr/>
            <a:lstStyle/>
            <a:p>
              <a:pPr>
                <a:defRPr b="0" i="0" strike="noStrike" sz="1200" u="none">
                  <a:solidFill>
                    <a:srgbClr val="2B2B25"/>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2B2B25"/>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2E8F0"/>
              </a:solidFill>
              <a:prstDash val="solid"/>
              <a:round/>
            </a:ln>
          </c:spPr>
        </c:majorGridlines>
        <c:numFmt formatCode="$#,##0,K"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2B2B25"/>
                </a:solidFill>
                <a:latin typeface="Arial"/>
              </a:defRPr>
            </a:pPr>
            <a:endParaRPr lang="en-US"/>
          </a:p>
        </c:txPr>
        <c:crossAx val="2094734554"/>
        <c:crosses val="autoZero"/>
        <c:crossBetween val="between"/>
      </c:valAx>
      <c:spPr>
        <a:noFill/>
        <a:ln>
          <a:noFill/>
        </a:ln>
        <a:effectLst/>
      </c:spPr>
    </c:plotArea>
    <c:plotVisOnly val="1"/>
    <c:dispBlanksAs val="span"/>
  </c:chart>
  <c:spPr>
    <a:solidFill>
      <a:srgbClr val="FFFFFF"/>
    </a:solid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CHECK: 0:00-1:00. Welcome the class. Introduce yourself and explain that this is a 30-minute briefing on the Thrift Savings Plan (TSP) - their retirement account. Tell them: no finance background needed, we will build this up from the ground floor. Ask a show of hands: 'Who already has TSP contributions coming out of their pay?' This gets a read on the room's baseline knowledge.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CHECK: 1:00-2:00. Walk through the agenda quickly - don't linger. Tell them the goal is that by the end of 30 minutes, everyone knows exactly what percentage to contribute and why. Set expectation: hold questions for natural pause points, called out during the brief.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CHECK: 2:00-5:00. This is the most important slide of the brief - slow down here. Explain compound interest with the snowball analogy: rolling a snowball downhill, it picks up more snow the longer/farther it rolls. Walk through the chart bar by bar. Emphasize: the DOLLAR AMOUNT they contribute each month is the same in all three bars - the only thing that changed is WHEN they started. Point out this is why we're having this conversation now, at the start of their career, instead of later. Note the numbers are illustrative estimates based on historical average market returns, not guaranteed.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CHECK: 5:00-7:30. Analogy: TSP is like a 401(k) at a civilian job, but for service members and federal employees. Reassure them it is separate from their regular paycheck and separate from their pension/retirement pay if they stay 20 years - this is an additional, personal account that belongs to them and moves with them even if they leave the Army.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CHECK: 7:30-11:00. Go row by row on the table slowly - this is the core action item of the whole brief. Point out the jump from 4% to 5%: that's where the match maxes out at 4%, so going from 4% to 5% is the last 'free' percentage point they should grab. Walk through the dollar example on the right using their own base pay if you know it, or use the $2,000 example. Ask: 'If someone offered to match your money dollar for dollar, would you take it?' Pause for reactions.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CHECK: 11:00-14:00. Use a simple analogy: 'Would you rather pay tax on the seed, or on the harvest?' Traditional pays tax on the harvest (bigger amount, later). Roth pays tax on the seed (smaller amount, now). Since junior Soldiers usually have low taxable income right now, Roth is often recommended for the E1-E4 crowd, but both are valid and they can split contributions between the two. Ask if anyone knows what tax bracket they're currently in - most won't, and that's fine, it's just meant to get them thinking.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CHECK: 14:00-17:00. Use a simple spectrum analogy: G Fund is a savings account, C/S/I Funds are like owning small pieces of companies that can go up or down in value. F Fund is in between. Emphasize this is a SPECTRUM from safest/slowest to riskiest/highest-potential - there's no single right answer, it depends on how long until they need the money (time horizon) and how they feel about seeing the balance go up and down.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CHECK: 17:00-19:30. Reassure the class - if everything on the last slide felt overwhelming, this is the 'if you do nothing else' safety net. Most of them are probably already in an L Fund by default and don't even know it. Encourage them to log into tsp.gov after this brief just to see what fund they're currently 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CHECK: 19:30-23:00. This is the slide they should photograph with their phones. Walk through all four steps as the actionable summary. On step 4, explain simply: this cap is very high and most new Soldiers will never come close to hitting it - it mainly matters for context, not something they need to worry about at this stage of their career.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CHECK: 23:00-26:00. Ask the class if anyone has heard of a friend or family member making one of these mistakes - this usually gets people talking. Spend extra time on the last one (cashing out on separation) since it's the most costly and most tempting when someone gets a lump sum and separates from service.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CHECK: 26:00-30:00. Recap the four takeaways out loud. Then open the floor with the discussion prompt on screen - ask a few Soldiers directly what percentage they plan to set. Close by pointing them to tsp.gov and their installation's Personal Financial Readiness/Army Community Service office for one-on-one help, and confirm myPay is where they actually go to change their contribution percentage.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2" Type="http://schemas.openxmlformats.org/officeDocument/2006/relationships/chart" Target="/ppt/charts/chart1.xml"/><Relationship Id="rId1" Type="http://schemas.openxmlformats.org/officeDocument/2006/relationships/image" Target="../media/image-3-1.png"/><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slideLayout" Target="../slideLayouts/slideLayout1.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1.png"/><Relationship Id="rId3" Type="http://schemas.openxmlformats.org/officeDocument/2006/relationships/image" Target="../media/image-10-1.png"/><Relationship Id="rId4" Type="http://schemas.openxmlformats.org/officeDocument/2006/relationships/image" Target="../media/image-10-1.png"/><Relationship Id="rId5" Type="http://schemas.openxmlformats.org/officeDocument/2006/relationships/slideLayout" Target="../slideLayouts/slideLayout1.xml"/><Relationship Id="rId6"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image" Target="../media/image-11-5.png"/><Relationship Id="rId6" Type="http://schemas.openxmlformats.org/officeDocument/2006/relationships/slideLayout" Target="../slideLayouts/slideLayout1.xml"/><Relationship Id="rId7"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4261A"/>
        </a:solidFill>
      </p:bgPr>
    </p:bg>
    <p:spTree>
      <p:nvGrpSpPr>
        <p:cNvPr id="1" name=""/>
        <p:cNvGrpSpPr/>
        <p:nvPr/>
      </p:nvGrpSpPr>
      <p:grpSpPr>
        <a:xfrm>
          <a:off x="0" y="0"/>
          <a:ext cx="0" cy="0"/>
          <a:chOff x="0" y="0"/>
          <a:chExt cx="0" cy="0"/>
        </a:xfrm>
      </p:grpSpPr>
      <p:sp>
        <p:nvSpPr>
          <p:cNvPr id="2" name="Shape 0"/>
          <p:cNvSpPr/>
          <p:nvPr/>
        </p:nvSpPr>
        <p:spPr>
          <a:xfrm>
            <a:off x="9692640" y="-1463040"/>
            <a:ext cx="4572000" cy="4572000"/>
          </a:xfrm>
          <a:prstGeom prst="ellipse">
            <a:avLst/>
          </a:prstGeom>
          <a:solidFill>
            <a:srgbClr val="3C3F2C">
              <a:alpha val="60000"/>
            </a:srgbClr>
          </a:solidFill>
          <a:ln/>
        </p:spPr>
      </p:sp>
      <p:sp>
        <p:nvSpPr>
          <p:cNvPr id="3" name="Shape 1"/>
          <p:cNvSpPr/>
          <p:nvPr/>
        </p:nvSpPr>
        <p:spPr>
          <a:xfrm>
            <a:off x="-1828800" y="4572000"/>
            <a:ext cx="4114800" cy="4114800"/>
          </a:xfrm>
          <a:prstGeom prst="ellipse">
            <a:avLst/>
          </a:prstGeom>
          <a:solidFill>
            <a:srgbClr val="3C3F2C">
              <a:alpha val="60000"/>
            </a:srgbClr>
          </a:solidFill>
          <a:ln/>
        </p:spPr>
      </p:sp>
      <p:pic>
        <p:nvPicPr>
          <p:cNvPr id="4" name="Image 0" descr="icon_piggy.png">    </p:cNvPr>
          <p:cNvPicPr>
            <a:picLocks noChangeAspect="1"/>
          </p:cNvPicPr>
          <p:nvPr/>
        </p:nvPicPr>
        <p:blipFill>
          <a:blip r:embed="rId1"/>
          <a:stretch>
            <a:fillRect/>
          </a:stretch>
        </p:blipFill>
        <p:spPr>
          <a:xfrm>
            <a:off x="822960" y="1280160"/>
            <a:ext cx="1005840" cy="1005840"/>
          </a:xfrm>
          <a:prstGeom prst="rect">
            <a:avLst/>
          </a:prstGeom>
        </p:spPr>
      </p:pic>
      <p:sp>
        <p:nvSpPr>
          <p:cNvPr id="5" name="Text 2"/>
          <p:cNvSpPr/>
          <p:nvPr/>
        </p:nvSpPr>
        <p:spPr>
          <a:xfrm>
            <a:off x="822960" y="2560320"/>
            <a:ext cx="9601200" cy="914400"/>
          </a:xfrm>
          <a:prstGeom prst="rect">
            <a:avLst/>
          </a:prstGeom>
          <a:noFill/>
          <a:ln/>
        </p:spPr>
        <p:txBody>
          <a:bodyPr wrap="square" lIns="0" tIns="0" rIns="0" bIns="0" rtlCol="0" anchor="ctr"/>
          <a:lstStyle/>
          <a:p>
            <a:pPr indent="0" marL="0">
              <a:buNone/>
            </a:pPr>
            <a:r>
              <a:rPr lang="en-US" sz="4400" b="1" dirty="0">
                <a:solidFill>
                  <a:srgbClr val="FFFFFF"/>
                </a:solidFill>
                <a:latin typeface="Cambria" pitchFamily="34" charset="0"/>
                <a:ea typeface="Cambria" pitchFamily="34" charset="-122"/>
                <a:cs typeface="Cambria" pitchFamily="34" charset="-120"/>
              </a:rPr>
              <a:t>THRIFT SAVINGS PLAN</a:t>
            </a:r>
            <a:endParaRPr lang="en-US" sz="4400" dirty="0"/>
          </a:p>
        </p:txBody>
      </p:sp>
      <p:sp>
        <p:nvSpPr>
          <p:cNvPr id="6" name="Text 3"/>
          <p:cNvSpPr/>
          <p:nvPr/>
        </p:nvSpPr>
        <p:spPr>
          <a:xfrm>
            <a:off x="822960" y="3429000"/>
            <a:ext cx="9144000" cy="548640"/>
          </a:xfrm>
          <a:prstGeom prst="rect">
            <a:avLst/>
          </a:prstGeom>
          <a:noFill/>
          <a:ln/>
        </p:spPr>
        <p:txBody>
          <a:bodyPr wrap="square" lIns="0" tIns="0" rIns="0" bIns="0" rtlCol="0" anchor="ctr"/>
          <a:lstStyle/>
          <a:p>
            <a:pPr indent="0" marL="0">
              <a:buNone/>
            </a:pPr>
            <a:r>
              <a:rPr lang="en-US" sz="2000" i="1" dirty="0">
                <a:solidFill>
                  <a:srgbClr val="C9A227"/>
                </a:solidFill>
                <a:latin typeface="Calibri" pitchFamily="34" charset="0"/>
                <a:ea typeface="Calibri" pitchFamily="34" charset="-122"/>
                <a:cs typeface="Calibri" pitchFamily="34" charset="-120"/>
              </a:rPr>
              <a:t>Building Your Financial Mission Readiness</a:t>
            </a:r>
            <a:endParaRPr lang="en-US" sz="2000" dirty="0"/>
          </a:p>
        </p:txBody>
      </p:sp>
      <p:sp>
        <p:nvSpPr>
          <p:cNvPr id="7" name="Text 4"/>
          <p:cNvSpPr/>
          <p:nvPr/>
        </p:nvSpPr>
        <p:spPr>
          <a:xfrm>
            <a:off x="822960" y="5943600"/>
            <a:ext cx="9144000" cy="365760"/>
          </a:xfrm>
          <a:prstGeom prst="rect">
            <a:avLst/>
          </a:prstGeom>
          <a:noFill/>
          <a:ln/>
        </p:spPr>
        <p:txBody>
          <a:bodyPr wrap="square" lIns="0" tIns="0" rIns="0" bIns="0" rtlCol="0" anchor="ctr"/>
          <a:lstStyle/>
          <a:p>
            <a:pPr indent="0" marL="0">
              <a:buNone/>
            </a:pPr>
            <a:r>
              <a:rPr lang="en-US" sz="1400" dirty="0">
                <a:solidFill>
                  <a:srgbClr val="C9B896"/>
                </a:solidFill>
                <a:latin typeface="Calibri" pitchFamily="34" charset="0"/>
                <a:ea typeface="Calibri" pitchFamily="34" charset="-122"/>
                <a:cs typeface="Calibri" pitchFamily="34" charset="-120"/>
              </a:rPr>
              <a:t>A 30-Minute Briefing for New Soldiers  |  U.S. Army Cyber School</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51560"/>
          </a:xfrm>
          <a:prstGeom prst="rect">
            <a:avLst/>
          </a:prstGeom>
          <a:solidFill>
            <a:srgbClr val="3C3F2C"/>
          </a:solidFill>
          <a:ln/>
        </p:spPr>
      </p:sp>
      <p:sp>
        <p:nvSpPr>
          <p:cNvPr id="3" name="Text 1"/>
          <p:cNvSpPr/>
          <p:nvPr/>
        </p:nvSpPr>
        <p:spPr>
          <a:xfrm>
            <a:off x="548640" y="256032"/>
            <a:ext cx="11155680" cy="54864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WHAT WE'LL COVER TODAY</a:t>
            </a:r>
            <a:endParaRPr lang="en-US" sz="3000" dirty="0"/>
          </a:p>
        </p:txBody>
      </p:sp>
      <p:sp>
        <p:nvSpPr>
          <p:cNvPr id="4" name="Shape 2"/>
          <p:cNvSpPr/>
          <p:nvPr/>
        </p:nvSpPr>
        <p:spPr>
          <a:xfrm>
            <a:off x="548640" y="1463040"/>
            <a:ext cx="457200" cy="457200"/>
          </a:xfrm>
          <a:prstGeom prst="ellipse">
            <a:avLst/>
          </a:prstGeom>
          <a:solidFill>
            <a:srgbClr val="C9A227"/>
          </a:solidFill>
          <a:ln/>
        </p:spPr>
      </p:sp>
      <p:sp>
        <p:nvSpPr>
          <p:cNvPr id="5" name="Text 3"/>
          <p:cNvSpPr/>
          <p:nvPr/>
        </p:nvSpPr>
        <p:spPr>
          <a:xfrm>
            <a:off x="548640" y="1463040"/>
            <a:ext cx="457200" cy="457200"/>
          </a:xfrm>
          <a:prstGeom prst="rect">
            <a:avLst/>
          </a:prstGeom>
          <a:noFill/>
          <a:ln/>
        </p:spPr>
        <p:txBody>
          <a:bodyPr wrap="square" lIns="0" tIns="0" rIns="0" bIns="0" rtlCol="0" anchor="ctr"/>
          <a:lstStyle/>
          <a:p>
            <a:pPr algn="ctr" indent="0" marL="0">
              <a:buNone/>
            </a:pPr>
            <a:r>
              <a:rPr lang="en-US" sz="1800" b="1" dirty="0">
                <a:solidFill>
                  <a:srgbClr val="24261A"/>
                </a:solidFill>
                <a:latin typeface="Cambria" pitchFamily="34" charset="0"/>
                <a:ea typeface="Cambria" pitchFamily="34" charset="-122"/>
                <a:cs typeface="Cambria" pitchFamily="34" charset="-120"/>
              </a:rPr>
              <a:t>1</a:t>
            </a:r>
            <a:endParaRPr lang="en-US" sz="1800" dirty="0"/>
          </a:p>
        </p:txBody>
      </p:sp>
      <p:sp>
        <p:nvSpPr>
          <p:cNvPr id="6" name="Text 4"/>
          <p:cNvSpPr/>
          <p:nvPr/>
        </p:nvSpPr>
        <p:spPr>
          <a:xfrm>
            <a:off x="1143000" y="1417320"/>
            <a:ext cx="4800600" cy="548640"/>
          </a:xfrm>
          <a:prstGeom prst="rect">
            <a:avLst/>
          </a:prstGeom>
          <a:noFill/>
          <a:ln/>
        </p:spPr>
        <p:txBody>
          <a:bodyPr wrap="square" lIns="0" tIns="0" rIns="0" bIns="0" rtlCol="0" anchor="ctr"/>
          <a:lstStyle/>
          <a:p>
            <a:pPr indent="0" marL="0">
              <a:buNone/>
            </a:pPr>
            <a:r>
              <a:rPr lang="en-US" sz="1500" dirty="0">
                <a:solidFill>
                  <a:srgbClr val="2B2B25"/>
                </a:solidFill>
                <a:latin typeface="Calibri" pitchFamily="34" charset="0"/>
                <a:ea typeface="Calibri" pitchFamily="34" charset="-122"/>
                <a:cs typeface="Calibri" pitchFamily="34" charset="-120"/>
              </a:rPr>
              <a:t>Why saving early matters (even a little)</a:t>
            </a:r>
            <a:endParaRPr lang="en-US" sz="1500" dirty="0"/>
          </a:p>
        </p:txBody>
      </p:sp>
      <p:sp>
        <p:nvSpPr>
          <p:cNvPr id="7" name="Shape 5"/>
          <p:cNvSpPr/>
          <p:nvPr/>
        </p:nvSpPr>
        <p:spPr>
          <a:xfrm>
            <a:off x="6263640" y="1463040"/>
            <a:ext cx="457200" cy="457200"/>
          </a:xfrm>
          <a:prstGeom prst="ellipse">
            <a:avLst/>
          </a:prstGeom>
          <a:solidFill>
            <a:srgbClr val="C9A227"/>
          </a:solidFill>
          <a:ln/>
        </p:spPr>
      </p:sp>
      <p:sp>
        <p:nvSpPr>
          <p:cNvPr id="8" name="Text 6"/>
          <p:cNvSpPr/>
          <p:nvPr/>
        </p:nvSpPr>
        <p:spPr>
          <a:xfrm>
            <a:off x="6263640" y="1463040"/>
            <a:ext cx="457200" cy="457200"/>
          </a:xfrm>
          <a:prstGeom prst="rect">
            <a:avLst/>
          </a:prstGeom>
          <a:noFill/>
          <a:ln/>
        </p:spPr>
        <p:txBody>
          <a:bodyPr wrap="square" lIns="0" tIns="0" rIns="0" bIns="0" rtlCol="0" anchor="ctr"/>
          <a:lstStyle/>
          <a:p>
            <a:pPr algn="ctr" indent="0" marL="0">
              <a:buNone/>
            </a:pPr>
            <a:r>
              <a:rPr lang="en-US" sz="1800" b="1" dirty="0">
                <a:solidFill>
                  <a:srgbClr val="24261A"/>
                </a:solidFill>
                <a:latin typeface="Cambria" pitchFamily="34" charset="0"/>
                <a:ea typeface="Cambria" pitchFamily="34" charset="-122"/>
                <a:cs typeface="Cambria" pitchFamily="34" charset="-120"/>
              </a:rPr>
              <a:t>2</a:t>
            </a:r>
            <a:endParaRPr lang="en-US" sz="1800" dirty="0"/>
          </a:p>
        </p:txBody>
      </p:sp>
      <p:sp>
        <p:nvSpPr>
          <p:cNvPr id="9" name="Text 7"/>
          <p:cNvSpPr/>
          <p:nvPr/>
        </p:nvSpPr>
        <p:spPr>
          <a:xfrm>
            <a:off x="6858000" y="1417320"/>
            <a:ext cx="4800600" cy="548640"/>
          </a:xfrm>
          <a:prstGeom prst="rect">
            <a:avLst/>
          </a:prstGeom>
          <a:noFill/>
          <a:ln/>
        </p:spPr>
        <p:txBody>
          <a:bodyPr wrap="square" lIns="0" tIns="0" rIns="0" bIns="0" rtlCol="0" anchor="ctr"/>
          <a:lstStyle/>
          <a:p>
            <a:pPr indent="0" marL="0">
              <a:buNone/>
            </a:pPr>
            <a:r>
              <a:rPr lang="en-US" sz="1500" dirty="0">
                <a:solidFill>
                  <a:srgbClr val="2B2B25"/>
                </a:solidFill>
                <a:latin typeface="Calibri" pitchFamily="34" charset="0"/>
                <a:ea typeface="Calibri" pitchFamily="34" charset="-122"/>
                <a:cs typeface="Calibri" pitchFamily="34" charset="-120"/>
              </a:rPr>
              <a:t>What TSP actually is, in plain English</a:t>
            </a:r>
            <a:endParaRPr lang="en-US" sz="1500" dirty="0"/>
          </a:p>
        </p:txBody>
      </p:sp>
      <p:sp>
        <p:nvSpPr>
          <p:cNvPr id="10" name="Shape 8"/>
          <p:cNvSpPr/>
          <p:nvPr/>
        </p:nvSpPr>
        <p:spPr>
          <a:xfrm>
            <a:off x="548640" y="2468880"/>
            <a:ext cx="457200" cy="457200"/>
          </a:xfrm>
          <a:prstGeom prst="ellipse">
            <a:avLst/>
          </a:prstGeom>
          <a:solidFill>
            <a:srgbClr val="C9A227"/>
          </a:solidFill>
          <a:ln/>
        </p:spPr>
      </p:sp>
      <p:sp>
        <p:nvSpPr>
          <p:cNvPr id="11" name="Text 9"/>
          <p:cNvSpPr/>
          <p:nvPr/>
        </p:nvSpPr>
        <p:spPr>
          <a:xfrm>
            <a:off x="548640" y="2468880"/>
            <a:ext cx="457200" cy="457200"/>
          </a:xfrm>
          <a:prstGeom prst="rect">
            <a:avLst/>
          </a:prstGeom>
          <a:noFill/>
          <a:ln/>
        </p:spPr>
        <p:txBody>
          <a:bodyPr wrap="square" lIns="0" tIns="0" rIns="0" bIns="0" rtlCol="0" anchor="ctr"/>
          <a:lstStyle/>
          <a:p>
            <a:pPr algn="ctr" indent="0" marL="0">
              <a:buNone/>
            </a:pPr>
            <a:r>
              <a:rPr lang="en-US" sz="1800" b="1" dirty="0">
                <a:solidFill>
                  <a:srgbClr val="24261A"/>
                </a:solidFill>
                <a:latin typeface="Cambria" pitchFamily="34" charset="0"/>
                <a:ea typeface="Cambria" pitchFamily="34" charset="-122"/>
                <a:cs typeface="Cambria" pitchFamily="34" charset="-120"/>
              </a:rPr>
              <a:t>3</a:t>
            </a:r>
            <a:endParaRPr lang="en-US" sz="1800" dirty="0"/>
          </a:p>
        </p:txBody>
      </p:sp>
      <p:sp>
        <p:nvSpPr>
          <p:cNvPr id="12" name="Text 10"/>
          <p:cNvSpPr/>
          <p:nvPr/>
        </p:nvSpPr>
        <p:spPr>
          <a:xfrm>
            <a:off x="1143000" y="2423160"/>
            <a:ext cx="4800600" cy="548640"/>
          </a:xfrm>
          <a:prstGeom prst="rect">
            <a:avLst/>
          </a:prstGeom>
          <a:noFill/>
          <a:ln/>
        </p:spPr>
        <p:txBody>
          <a:bodyPr wrap="square" lIns="0" tIns="0" rIns="0" bIns="0" rtlCol="0" anchor="ctr"/>
          <a:lstStyle/>
          <a:p>
            <a:pPr indent="0" marL="0">
              <a:buNone/>
            </a:pPr>
            <a:r>
              <a:rPr lang="en-US" sz="1500" dirty="0">
                <a:solidFill>
                  <a:srgbClr val="2B2B25"/>
                </a:solidFill>
                <a:latin typeface="Calibri" pitchFamily="34" charset="0"/>
                <a:ea typeface="Calibri" pitchFamily="34" charset="-122"/>
                <a:cs typeface="Calibri" pitchFamily="34" charset="-120"/>
              </a:rPr>
              <a:t>The Army's free match — and how to get all of it</a:t>
            </a:r>
            <a:endParaRPr lang="en-US" sz="1500" dirty="0"/>
          </a:p>
        </p:txBody>
      </p:sp>
      <p:sp>
        <p:nvSpPr>
          <p:cNvPr id="13" name="Shape 11"/>
          <p:cNvSpPr/>
          <p:nvPr/>
        </p:nvSpPr>
        <p:spPr>
          <a:xfrm>
            <a:off x="6263640" y="2468880"/>
            <a:ext cx="457200" cy="457200"/>
          </a:xfrm>
          <a:prstGeom prst="ellipse">
            <a:avLst/>
          </a:prstGeom>
          <a:solidFill>
            <a:srgbClr val="C9A227"/>
          </a:solidFill>
          <a:ln/>
        </p:spPr>
      </p:sp>
      <p:sp>
        <p:nvSpPr>
          <p:cNvPr id="14" name="Text 12"/>
          <p:cNvSpPr/>
          <p:nvPr/>
        </p:nvSpPr>
        <p:spPr>
          <a:xfrm>
            <a:off x="6263640" y="2468880"/>
            <a:ext cx="457200" cy="457200"/>
          </a:xfrm>
          <a:prstGeom prst="rect">
            <a:avLst/>
          </a:prstGeom>
          <a:noFill/>
          <a:ln/>
        </p:spPr>
        <p:txBody>
          <a:bodyPr wrap="square" lIns="0" tIns="0" rIns="0" bIns="0" rtlCol="0" anchor="ctr"/>
          <a:lstStyle/>
          <a:p>
            <a:pPr algn="ctr" indent="0" marL="0">
              <a:buNone/>
            </a:pPr>
            <a:r>
              <a:rPr lang="en-US" sz="1800" b="1" dirty="0">
                <a:solidFill>
                  <a:srgbClr val="24261A"/>
                </a:solidFill>
                <a:latin typeface="Cambria" pitchFamily="34" charset="0"/>
                <a:ea typeface="Cambria" pitchFamily="34" charset="-122"/>
                <a:cs typeface="Cambria" pitchFamily="34" charset="-120"/>
              </a:rPr>
              <a:t>4</a:t>
            </a:r>
            <a:endParaRPr lang="en-US" sz="1800" dirty="0"/>
          </a:p>
        </p:txBody>
      </p:sp>
      <p:sp>
        <p:nvSpPr>
          <p:cNvPr id="15" name="Text 13"/>
          <p:cNvSpPr/>
          <p:nvPr/>
        </p:nvSpPr>
        <p:spPr>
          <a:xfrm>
            <a:off x="6858000" y="2423160"/>
            <a:ext cx="4800600" cy="548640"/>
          </a:xfrm>
          <a:prstGeom prst="rect">
            <a:avLst/>
          </a:prstGeom>
          <a:noFill/>
          <a:ln/>
        </p:spPr>
        <p:txBody>
          <a:bodyPr wrap="square" lIns="0" tIns="0" rIns="0" bIns="0" rtlCol="0" anchor="ctr"/>
          <a:lstStyle/>
          <a:p>
            <a:pPr indent="0" marL="0">
              <a:buNone/>
            </a:pPr>
            <a:r>
              <a:rPr lang="en-US" sz="1500" dirty="0">
                <a:solidFill>
                  <a:srgbClr val="2B2B25"/>
                </a:solidFill>
                <a:latin typeface="Calibri" pitchFamily="34" charset="0"/>
                <a:ea typeface="Calibri" pitchFamily="34" charset="-122"/>
                <a:cs typeface="Calibri" pitchFamily="34" charset="-120"/>
              </a:rPr>
              <a:t>Traditional vs. Roth (pre-tax vs. after-tax)</a:t>
            </a:r>
            <a:endParaRPr lang="en-US" sz="1500" dirty="0"/>
          </a:p>
        </p:txBody>
      </p:sp>
      <p:sp>
        <p:nvSpPr>
          <p:cNvPr id="16" name="Shape 14"/>
          <p:cNvSpPr/>
          <p:nvPr/>
        </p:nvSpPr>
        <p:spPr>
          <a:xfrm>
            <a:off x="548640" y="3474720"/>
            <a:ext cx="457200" cy="457200"/>
          </a:xfrm>
          <a:prstGeom prst="ellipse">
            <a:avLst/>
          </a:prstGeom>
          <a:solidFill>
            <a:srgbClr val="C9A227"/>
          </a:solidFill>
          <a:ln/>
        </p:spPr>
      </p:sp>
      <p:sp>
        <p:nvSpPr>
          <p:cNvPr id="17" name="Text 15"/>
          <p:cNvSpPr/>
          <p:nvPr/>
        </p:nvSpPr>
        <p:spPr>
          <a:xfrm>
            <a:off x="548640" y="3474720"/>
            <a:ext cx="457200" cy="457200"/>
          </a:xfrm>
          <a:prstGeom prst="rect">
            <a:avLst/>
          </a:prstGeom>
          <a:noFill/>
          <a:ln/>
        </p:spPr>
        <p:txBody>
          <a:bodyPr wrap="square" lIns="0" tIns="0" rIns="0" bIns="0" rtlCol="0" anchor="ctr"/>
          <a:lstStyle/>
          <a:p>
            <a:pPr algn="ctr" indent="0" marL="0">
              <a:buNone/>
            </a:pPr>
            <a:r>
              <a:rPr lang="en-US" sz="1800" b="1" dirty="0">
                <a:solidFill>
                  <a:srgbClr val="24261A"/>
                </a:solidFill>
                <a:latin typeface="Cambria" pitchFamily="34" charset="0"/>
                <a:ea typeface="Cambria" pitchFamily="34" charset="-122"/>
                <a:cs typeface="Cambria" pitchFamily="34" charset="-120"/>
              </a:rPr>
              <a:t>5</a:t>
            </a:r>
            <a:endParaRPr lang="en-US" sz="1800" dirty="0"/>
          </a:p>
        </p:txBody>
      </p:sp>
      <p:sp>
        <p:nvSpPr>
          <p:cNvPr id="18" name="Text 16"/>
          <p:cNvSpPr/>
          <p:nvPr/>
        </p:nvSpPr>
        <p:spPr>
          <a:xfrm>
            <a:off x="1143000" y="3429000"/>
            <a:ext cx="4800600" cy="548640"/>
          </a:xfrm>
          <a:prstGeom prst="rect">
            <a:avLst/>
          </a:prstGeom>
          <a:noFill/>
          <a:ln/>
        </p:spPr>
        <p:txBody>
          <a:bodyPr wrap="square" lIns="0" tIns="0" rIns="0" bIns="0" rtlCol="0" anchor="ctr"/>
          <a:lstStyle/>
          <a:p>
            <a:pPr indent="0" marL="0">
              <a:buNone/>
            </a:pPr>
            <a:r>
              <a:rPr lang="en-US" sz="1500" dirty="0">
                <a:solidFill>
                  <a:srgbClr val="2B2B25"/>
                </a:solidFill>
                <a:latin typeface="Calibri" pitchFamily="34" charset="0"/>
                <a:ea typeface="Calibri" pitchFamily="34" charset="-122"/>
                <a:cs typeface="Calibri" pitchFamily="34" charset="-120"/>
              </a:rPr>
              <a:t>The 5 investment funds, explained simply</a:t>
            </a:r>
            <a:endParaRPr lang="en-US" sz="1500" dirty="0"/>
          </a:p>
        </p:txBody>
      </p:sp>
      <p:sp>
        <p:nvSpPr>
          <p:cNvPr id="19" name="Shape 17"/>
          <p:cNvSpPr/>
          <p:nvPr/>
        </p:nvSpPr>
        <p:spPr>
          <a:xfrm>
            <a:off x="6263640" y="3474720"/>
            <a:ext cx="457200" cy="457200"/>
          </a:xfrm>
          <a:prstGeom prst="ellipse">
            <a:avLst/>
          </a:prstGeom>
          <a:solidFill>
            <a:srgbClr val="C9A227"/>
          </a:solidFill>
          <a:ln/>
        </p:spPr>
      </p:sp>
      <p:sp>
        <p:nvSpPr>
          <p:cNvPr id="20" name="Text 18"/>
          <p:cNvSpPr/>
          <p:nvPr/>
        </p:nvSpPr>
        <p:spPr>
          <a:xfrm>
            <a:off x="6263640" y="3474720"/>
            <a:ext cx="457200" cy="457200"/>
          </a:xfrm>
          <a:prstGeom prst="rect">
            <a:avLst/>
          </a:prstGeom>
          <a:noFill/>
          <a:ln/>
        </p:spPr>
        <p:txBody>
          <a:bodyPr wrap="square" lIns="0" tIns="0" rIns="0" bIns="0" rtlCol="0" anchor="ctr"/>
          <a:lstStyle/>
          <a:p>
            <a:pPr algn="ctr" indent="0" marL="0">
              <a:buNone/>
            </a:pPr>
            <a:r>
              <a:rPr lang="en-US" sz="1800" b="1" dirty="0">
                <a:solidFill>
                  <a:srgbClr val="24261A"/>
                </a:solidFill>
                <a:latin typeface="Cambria" pitchFamily="34" charset="0"/>
                <a:ea typeface="Cambria" pitchFamily="34" charset="-122"/>
                <a:cs typeface="Cambria" pitchFamily="34" charset="-120"/>
              </a:rPr>
              <a:t>6</a:t>
            </a:r>
            <a:endParaRPr lang="en-US" sz="1800" dirty="0"/>
          </a:p>
        </p:txBody>
      </p:sp>
      <p:sp>
        <p:nvSpPr>
          <p:cNvPr id="21" name="Text 19"/>
          <p:cNvSpPr/>
          <p:nvPr/>
        </p:nvSpPr>
        <p:spPr>
          <a:xfrm>
            <a:off x="6858000" y="3429000"/>
            <a:ext cx="4800600" cy="548640"/>
          </a:xfrm>
          <a:prstGeom prst="rect">
            <a:avLst/>
          </a:prstGeom>
          <a:noFill/>
          <a:ln/>
        </p:spPr>
        <p:txBody>
          <a:bodyPr wrap="square" lIns="0" tIns="0" rIns="0" bIns="0" rtlCol="0" anchor="ctr"/>
          <a:lstStyle/>
          <a:p>
            <a:pPr indent="0" marL="0">
              <a:buNone/>
            </a:pPr>
            <a:r>
              <a:rPr lang="en-US" sz="1500" dirty="0">
                <a:solidFill>
                  <a:srgbClr val="2B2B25"/>
                </a:solidFill>
                <a:latin typeface="Calibri" pitchFamily="34" charset="0"/>
                <a:ea typeface="Calibri" pitchFamily="34" charset="-122"/>
                <a:cs typeface="Calibri" pitchFamily="34" charset="-120"/>
              </a:rPr>
              <a:t>A simple game plan you can start this week</a:t>
            </a:r>
            <a:endParaRPr lang="en-US" sz="1500" dirty="0"/>
          </a:p>
        </p:txBody>
      </p:sp>
      <p:sp>
        <p:nvSpPr>
          <p:cNvPr id="22" name="Text 20"/>
          <p:cNvSpPr/>
          <p:nvPr/>
        </p:nvSpPr>
        <p:spPr>
          <a:xfrm>
            <a:off x="548640" y="6035040"/>
            <a:ext cx="9144000" cy="365760"/>
          </a:xfrm>
          <a:prstGeom prst="rect">
            <a:avLst/>
          </a:prstGeom>
          <a:noFill/>
          <a:ln/>
        </p:spPr>
        <p:txBody>
          <a:bodyPr wrap="square" lIns="0" tIns="0" rIns="0" bIns="0" rtlCol="0" anchor="ctr"/>
          <a:lstStyle/>
          <a:p>
            <a:pPr indent="0" marL="0">
              <a:buNone/>
            </a:pPr>
            <a:r>
              <a:rPr lang="en-US" sz="1250" i="1" dirty="0">
                <a:solidFill>
                  <a:srgbClr val="5B7553"/>
                </a:solidFill>
                <a:latin typeface="Calibri" pitchFamily="34" charset="0"/>
                <a:ea typeface="Calibri" pitchFamily="34" charset="-122"/>
                <a:cs typeface="Calibri" pitchFamily="34" charset="-120"/>
              </a:rPr>
              <a:t>Total time: about 30 minutes, including questions</a:t>
            </a:r>
            <a:endParaRPr lang="en-US" sz="1250" dirty="0"/>
          </a:p>
        </p:txBody>
      </p:sp>
      <p:sp>
        <p:nvSpPr>
          <p:cNvPr id="23" name="Text 21"/>
          <p:cNvSpPr/>
          <p:nvPr/>
        </p:nvSpPr>
        <p:spPr>
          <a:xfrm>
            <a:off x="0" y="6492240"/>
            <a:ext cx="12191695" cy="274320"/>
          </a:xfrm>
          <a:prstGeom prst="rect">
            <a:avLst/>
          </a:prstGeom>
          <a:noFill/>
          <a:ln/>
        </p:spPr>
        <p:txBody>
          <a:bodyPr wrap="square" rtlCol="0" anchor="ctr"/>
          <a:lstStyle/>
          <a:p>
            <a:pPr algn="ctr" indent="0" marL="0">
              <a:buNone/>
            </a:pPr>
            <a:r>
              <a:rPr lang="en-US" sz="900" dirty="0">
                <a:solidFill>
                  <a:srgbClr val="9C9C90"/>
                </a:solidFill>
                <a:latin typeface="Calibri" pitchFamily="34" charset="0"/>
                <a:ea typeface="Calibri" pitchFamily="34" charset="-122"/>
                <a:cs typeface="Calibri" pitchFamily="34" charset="-120"/>
              </a:rPr>
              <a:t>TSP BRIEFING  |  1</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51560"/>
          </a:xfrm>
          <a:prstGeom prst="rect">
            <a:avLst/>
          </a:prstGeom>
          <a:solidFill>
            <a:srgbClr val="3C3F2C"/>
          </a:solidFill>
          <a:ln/>
        </p:spPr>
      </p:sp>
      <p:sp>
        <p:nvSpPr>
          <p:cNvPr id="3" name="Text 1"/>
          <p:cNvSpPr/>
          <p:nvPr/>
        </p:nvSpPr>
        <p:spPr>
          <a:xfrm>
            <a:off x="548640" y="256032"/>
            <a:ext cx="11155680" cy="548640"/>
          </a:xfrm>
          <a:prstGeom prst="rect">
            <a:avLst/>
          </a:prstGeom>
          <a:noFill/>
          <a:ln/>
        </p:spPr>
        <p:txBody>
          <a:bodyPr wrap="square" lIns="0" tIns="0" rIns="0" bIns="0" rtlCol="0" anchor="ctr"/>
          <a:lstStyle/>
          <a:p>
            <a:pPr indent="0" marL="0">
              <a:buNone/>
            </a:pPr>
            <a:r>
              <a:rPr lang="en-US" sz="2600" b="1" dirty="0">
                <a:solidFill>
                  <a:srgbClr val="FFFFFF"/>
                </a:solidFill>
                <a:latin typeface="Cambria" pitchFamily="34" charset="0"/>
                <a:ea typeface="Cambria" pitchFamily="34" charset="-122"/>
                <a:cs typeface="Cambria" pitchFamily="34" charset="-120"/>
              </a:rPr>
              <a:t>WHY STARTING NOW IS YOUR BIGGEST ADVANTAGE</a:t>
            </a:r>
            <a:endParaRPr lang="en-US" sz="2600" dirty="0"/>
          </a:p>
        </p:txBody>
      </p:sp>
      <p:sp>
        <p:nvSpPr>
          <p:cNvPr id="4" name="Text 2"/>
          <p:cNvSpPr/>
          <p:nvPr/>
        </p:nvSpPr>
        <p:spPr>
          <a:xfrm>
            <a:off x="548640" y="1234440"/>
            <a:ext cx="6766560" cy="1463040"/>
          </a:xfrm>
          <a:prstGeom prst="rect">
            <a:avLst/>
          </a:prstGeom>
          <a:noFill/>
          <a:ln/>
        </p:spPr>
        <p:txBody>
          <a:bodyPr wrap="square" lIns="0" tIns="0" rIns="0" bIns="0" rtlCol="0" anchor="t"/>
          <a:lstStyle/>
          <a:p>
            <a:pPr indent="0" marL="0">
              <a:buNone/>
            </a:pPr>
            <a:r>
              <a:rPr lang="en-US" sz="1450" dirty="0">
                <a:solidFill>
                  <a:srgbClr val="2B2B25"/>
                </a:solidFill>
                <a:latin typeface="Calibri" pitchFamily="34" charset="0"/>
                <a:ea typeface="Calibri" pitchFamily="34" charset="-122"/>
                <a:cs typeface="Calibri" pitchFamily="34" charset="-120"/>
              </a:rPr>
              <a:t>Here's the one idea that matters more than anything else in this brief: money you invest today has decades to grow. That growth is called compound interest — you earn money on your money, and then you earn money on THAT money too.</a:t>
            </a:r>
            <a:endParaRPr lang="en-US" sz="1450" dirty="0"/>
          </a:p>
        </p:txBody>
      </p:sp>
      <p:sp>
        <p:nvSpPr>
          <p:cNvPr id="5" name="Shape 3"/>
          <p:cNvSpPr/>
          <p:nvPr/>
        </p:nvSpPr>
        <p:spPr>
          <a:xfrm>
            <a:off x="548640" y="2788920"/>
            <a:ext cx="6766560" cy="3291840"/>
          </a:xfrm>
          <a:prstGeom prst="roundRect">
            <a:avLst>
              <a:gd name="adj" fmla="val 2222"/>
            </a:avLst>
          </a:prstGeom>
          <a:solidFill>
            <a:srgbClr val="F1EDE3"/>
          </a:solidFill>
          <a:ln/>
          <a:effectLst>
            <a:outerShdw sx="100000" sy="100000" kx="0" ky="0" algn="bl" rotWithShape="0" blurRad="76200" dist="25400" dir="2700000">
              <a:srgbClr val="000000">
                <a:alpha val="10000"/>
              </a:srgbClr>
            </a:outerShdw>
          </a:effectLst>
        </p:spPr>
      </p:sp>
      <p:pic>
        <p:nvPicPr>
          <p:cNvPr id="6" name="Image 0" descr="icon_bulb.png">    </p:cNvPr>
          <p:cNvPicPr>
            <a:picLocks noChangeAspect="1"/>
          </p:cNvPicPr>
          <p:nvPr/>
        </p:nvPicPr>
        <p:blipFill>
          <a:blip r:embed="rId1"/>
          <a:stretch>
            <a:fillRect/>
          </a:stretch>
        </p:blipFill>
        <p:spPr>
          <a:xfrm>
            <a:off x="822960" y="3017520"/>
            <a:ext cx="457200" cy="457200"/>
          </a:xfrm>
          <a:prstGeom prst="rect">
            <a:avLst/>
          </a:prstGeom>
        </p:spPr>
      </p:pic>
      <p:sp>
        <p:nvSpPr>
          <p:cNvPr id="7" name="Text 4"/>
          <p:cNvSpPr/>
          <p:nvPr/>
        </p:nvSpPr>
        <p:spPr>
          <a:xfrm>
            <a:off x="1417320" y="3063240"/>
            <a:ext cx="4572000" cy="365760"/>
          </a:xfrm>
          <a:prstGeom prst="rect">
            <a:avLst/>
          </a:prstGeom>
          <a:noFill/>
          <a:ln/>
        </p:spPr>
        <p:txBody>
          <a:bodyPr wrap="square" lIns="0" tIns="0" rIns="0" bIns="0" rtlCol="0" anchor="ctr"/>
          <a:lstStyle/>
          <a:p>
            <a:pPr indent="0" marL="0">
              <a:buNone/>
            </a:pPr>
            <a:r>
              <a:rPr lang="en-US" sz="1500" b="1" dirty="0">
                <a:solidFill>
                  <a:srgbClr val="3C3F2C"/>
                </a:solidFill>
                <a:latin typeface="Calibri" pitchFamily="34" charset="0"/>
                <a:ea typeface="Calibri" pitchFamily="34" charset="-122"/>
                <a:cs typeface="Calibri" pitchFamily="34" charset="-120"/>
              </a:rPr>
              <a:t>Simple Example</a:t>
            </a:r>
            <a:endParaRPr lang="en-US" sz="1500" dirty="0"/>
          </a:p>
        </p:txBody>
      </p:sp>
      <p:sp>
        <p:nvSpPr>
          <p:cNvPr id="8" name="Text 5"/>
          <p:cNvSpPr/>
          <p:nvPr/>
        </p:nvSpPr>
        <p:spPr>
          <a:xfrm>
            <a:off x="822960" y="3611880"/>
            <a:ext cx="6217920" cy="2286000"/>
          </a:xfrm>
          <a:prstGeom prst="rect">
            <a:avLst/>
          </a:prstGeom>
          <a:noFill/>
          <a:ln/>
        </p:spPr>
        <p:txBody>
          <a:bodyPr wrap="square" lIns="0" tIns="0" rIns="0" bIns="0" rtlCol="0" anchor="t"/>
          <a:lstStyle/>
          <a:p>
            <a:pPr indent="0" marL="0">
              <a:spcAft>
                <a:spcPts val="800"/>
              </a:spcAft>
              <a:buNone/>
            </a:pPr>
            <a:r>
              <a:rPr lang="en-US" sz="1350" dirty="0">
                <a:solidFill>
                  <a:srgbClr val="2B2B25"/>
                </a:solidFill>
                <a:latin typeface="Calibri" pitchFamily="34" charset="0"/>
                <a:ea typeface="Calibri" pitchFamily="34" charset="-122"/>
                <a:cs typeface="Calibri" pitchFamily="34" charset="-120"/>
              </a:rPr>
              <a:t>Private (E-2), age 19, invests $200/month starting today. </a:t>
            </a:r>
            <a:endParaRPr lang="en-US" sz="1350" dirty="0"/>
          </a:p>
          <a:p>
            <a:pPr indent="0" marL="0">
              <a:spcAft>
                <a:spcPts val="800"/>
              </a:spcAft>
              <a:buNone/>
            </a:pPr>
            <a:r>
              <a:rPr lang="en-US" sz="1350" dirty="0">
                <a:solidFill>
                  <a:srgbClr val="2B2B25"/>
                </a:solidFill>
                <a:latin typeface="Calibri" pitchFamily="34" charset="0"/>
                <a:ea typeface="Calibri" pitchFamily="34" charset="-122"/>
                <a:cs typeface="Calibri" pitchFamily="34" charset="-120"/>
              </a:rPr>
              <a:t>By age 60, assuming average stock market growth, that adds up to roughly $600,000 — most of it from growth, not what was actually put in.</a:t>
            </a:r>
            <a:endParaRPr lang="en-US" sz="1350" dirty="0"/>
          </a:p>
          <a:p>
            <a:pPr indent="0" marL="0">
              <a:buNone/>
            </a:pPr>
            <a:r>
              <a:rPr lang="en-US" sz="1350" b="1" dirty="0">
                <a:solidFill>
                  <a:srgbClr val="2B2B25"/>
                </a:solidFill>
                <a:latin typeface="Calibri" pitchFamily="34" charset="0"/>
                <a:ea typeface="Calibri" pitchFamily="34" charset="-122"/>
                <a:cs typeface="Calibri" pitchFamily="34" charset="-120"/>
              </a:rPr>
              <a:t>Wait 10 years to start (age 29) and that number is roughly cut in half.</a:t>
            </a:r>
            <a:endParaRPr lang="en-US" sz="1350" dirty="0"/>
          </a:p>
        </p:txBody>
      </p:sp>
      <p:graphicFrame>
        <p:nvGraphicFramePr>
          <p:cNvPr id="9" name="Chart 0" descr=""/>
          <p:cNvGraphicFramePr/>
          <p:nvPr/>
        </p:nvGraphicFramePr>
        <p:xfrm>
          <a:off x="7589520" y="1371600"/>
          <a:ext cx="4023360" cy="4754880"/>
        </p:xfrm>
        <a:graphic xmlns:a="http://schemas.openxmlformats.org/drawingml/2006/main">
          <a:graphicData uri="http://schemas.openxmlformats.org/drawingml/2006/chart">
            <c:chart xmlns:c="http://schemas.openxmlformats.org/drawingml/2006/chart" r:id="rId2"/>
          </a:graphicData>
        </a:graphic>
      </p:graphicFrame>
      <p:sp>
        <p:nvSpPr>
          <p:cNvPr id="10" name="Text 6"/>
          <p:cNvSpPr/>
          <p:nvPr/>
        </p:nvSpPr>
        <p:spPr>
          <a:xfrm>
            <a:off x="0" y="6492240"/>
            <a:ext cx="12191695" cy="274320"/>
          </a:xfrm>
          <a:prstGeom prst="rect">
            <a:avLst/>
          </a:prstGeom>
          <a:noFill/>
          <a:ln/>
        </p:spPr>
        <p:txBody>
          <a:bodyPr wrap="square" rtlCol="0" anchor="ctr"/>
          <a:lstStyle/>
          <a:p>
            <a:pPr algn="ctr" indent="0" marL="0">
              <a:buNone/>
            </a:pPr>
            <a:r>
              <a:rPr lang="en-US" sz="900" dirty="0">
                <a:solidFill>
                  <a:srgbClr val="9C9C90"/>
                </a:solidFill>
                <a:latin typeface="Calibri" pitchFamily="34" charset="0"/>
                <a:ea typeface="Calibri" pitchFamily="34" charset="-122"/>
                <a:cs typeface="Calibri" pitchFamily="34" charset="-120"/>
              </a:rPr>
              <a:t>TSP BRIEFING  |  2</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51560"/>
          </a:xfrm>
          <a:prstGeom prst="rect">
            <a:avLst/>
          </a:prstGeom>
          <a:solidFill>
            <a:srgbClr val="3C3F2C"/>
          </a:solidFill>
          <a:ln/>
        </p:spPr>
      </p:sp>
      <p:sp>
        <p:nvSpPr>
          <p:cNvPr id="3" name="Text 1"/>
          <p:cNvSpPr/>
          <p:nvPr/>
        </p:nvSpPr>
        <p:spPr>
          <a:xfrm>
            <a:off x="548640" y="256032"/>
            <a:ext cx="11155680" cy="54864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WHAT IS THE TSP?</a:t>
            </a:r>
            <a:endParaRPr lang="en-US" sz="3000" dirty="0"/>
          </a:p>
        </p:txBody>
      </p:sp>
      <p:sp>
        <p:nvSpPr>
          <p:cNvPr id="4" name="Text 2"/>
          <p:cNvSpPr/>
          <p:nvPr/>
        </p:nvSpPr>
        <p:spPr>
          <a:xfrm>
            <a:off x="548640" y="1234440"/>
            <a:ext cx="11064240" cy="777240"/>
          </a:xfrm>
          <a:prstGeom prst="rect">
            <a:avLst/>
          </a:prstGeom>
          <a:noFill/>
          <a:ln/>
        </p:spPr>
        <p:txBody>
          <a:bodyPr wrap="square" lIns="0" tIns="0" rIns="0" bIns="0" rtlCol="0" anchor="t"/>
          <a:lstStyle/>
          <a:p>
            <a:pPr indent="0" marL="0">
              <a:buNone/>
            </a:pPr>
            <a:r>
              <a:rPr lang="en-US" sz="1500" dirty="0">
                <a:solidFill>
                  <a:srgbClr val="2B2B25"/>
                </a:solidFill>
                <a:latin typeface="Calibri" pitchFamily="34" charset="0"/>
                <a:ea typeface="Calibri" pitchFamily="34" charset="-122"/>
                <a:cs typeface="Calibri" pitchFamily="34" charset="-120"/>
              </a:rPr>
              <a:t>Every paycheck, a small slice of your base pay can go into a personal investment account called the TSP. That money is invested and grows over your career, so it's there for you when you eventually retire.</a:t>
            </a:r>
            <a:endParaRPr lang="en-US" sz="1500" dirty="0"/>
          </a:p>
        </p:txBody>
      </p:sp>
      <p:sp>
        <p:nvSpPr>
          <p:cNvPr id="5" name="Shape 3"/>
          <p:cNvSpPr/>
          <p:nvPr/>
        </p:nvSpPr>
        <p:spPr>
          <a:xfrm>
            <a:off x="548640" y="2240280"/>
            <a:ext cx="2651760" cy="3840480"/>
          </a:xfrm>
          <a:prstGeom prst="roundRect">
            <a:avLst>
              <a:gd name="adj" fmla="val 2759"/>
            </a:avLst>
          </a:prstGeom>
          <a:solidFill>
            <a:srgbClr val="F1EDE3"/>
          </a:solidFill>
          <a:ln/>
          <a:effectLst>
            <a:outerShdw sx="100000" sy="100000" kx="0" ky="0" algn="bl" rotWithShape="0" blurRad="76200" dist="25400" dir="2700000">
              <a:srgbClr val="000000">
                <a:alpha val="12000"/>
              </a:srgbClr>
            </a:outerShdw>
          </a:effectLst>
        </p:spPr>
      </p:sp>
      <p:pic>
        <p:nvPicPr>
          <p:cNvPr id="6" name="Image 0" descr="icon_shield.png">    </p:cNvPr>
          <p:cNvPicPr>
            <a:picLocks noChangeAspect="1"/>
          </p:cNvPicPr>
          <p:nvPr/>
        </p:nvPicPr>
        <p:blipFill>
          <a:blip r:embed="rId1"/>
          <a:stretch>
            <a:fillRect/>
          </a:stretch>
        </p:blipFill>
        <p:spPr>
          <a:xfrm>
            <a:off x="731520" y="2514600"/>
            <a:ext cx="502920" cy="502920"/>
          </a:xfrm>
          <a:prstGeom prst="rect">
            <a:avLst/>
          </a:prstGeom>
        </p:spPr>
      </p:pic>
      <p:sp>
        <p:nvSpPr>
          <p:cNvPr id="7" name="Text 4"/>
          <p:cNvSpPr/>
          <p:nvPr/>
        </p:nvSpPr>
        <p:spPr>
          <a:xfrm>
            <a:off x="731520" y="3154680"/>
            <a:ext cx="2286000" cy="548640"/>
          </a:xfrm>
          <a:prstGeom prst="rect">
            <a:avLst/>
          </a:prstGeom>
          <a:noFill/>
          <a:ln/>
        </p:spPr>
        <p:txBody>
          <a:bodyPr wrap="square" lIns="0" tIns="0" rIns="0" bIns="0" rtlCol="0" anchor="t"/>
          <a:lstStyle/>
          <a:p>
            <a:pPr indent="0" marL="0">
              <a:buNone/>
            </a:pPr>
            <a:r>
              <a:rPr lang="en-US" sz="1500" b="1" dirty="0">
                <a:solidFill>
                  <a:srgbClr val="3C3F2C"/>
                </a:solidFill>
                <a:latin typeface="Calibri" pitchFamily="34" charset="0"/>
                <a:ea typeface="Calibri" pitchFamily="34" charset="-122"/>
                <a:cs typeface="Calibri" pitchFamily="34" charset="-120"/>
              </a:rPr>
              <a:t>It's Automatic</a:t>
            </a:r>
            <a:endParaRPr lang="en-US" sz="1500" dirty="0"/>
          </a:p>
        </p:txBody>
      </p:sp>
      <p:sp>
        <p:nvSpPr>
          <p:cNvPr id="8" name="Text 5"/>
          <p:cNvSpPr/>
          <p:nvPr/>
        </p:nvSpPr>
        <p:spPr>
          <a:xfrm>
            <a:off x="731520" y="3749040"/>
            <a:ext cx="2286000" cy="2148840"/>
          </a:xfrm>
          <a:prstGeom prst="rect">
            <a:avLst/>
          </a:prstGeom>
          <a:noFill/>
          <a:ln/>
        </p:spPr>
        <p:txBody>
          <a:bodyPr wrap="square" lIns="0" tIns="0" rIns="0" bIns="0" rtlCol="0" anchor="t"/>
          <a:lstStyle/>
          <a:p>
            <a:pPr indent="0" marL="0">
              <a:buNone/>
            </a:pPr>
            <a:r>
              <a:rPr lang="en-US" sz="1200" dirty="0">
                <a:solidFill>
                  <a:srgbClr val="2B2B25"/>
                </a:solidFill>
                <a:latin typeface="Calibri" pitchFamily="34" charset="0"/>
                <a:ea typeface="Calibri" pitchFamily="34" charset="-122"/>
                <a:cs typeface="Calibri" pitchFamily="34" charset="-120"/>
              </a:rPr>
              <a:t>The Army already puts in 1% of your base pay for free, whether or not you contribute anything yourself.</a:t>
            </a:r>
            <a:endParaRPr lang="en-US" sz="1200" dirty="0"/>
          </a:p>
        </p:txBody>
      </p:sp>
      <p:sp>
        <p:nvSpPr>
          <p:cNvPr id="9" name="Shape 6"/>
          <p:cNvSpPr/>
          <p:nvPr/>
        </p:nvSpPr>
        <p:spPr>
          <a:xfrm>
            <a:off x="3429000" y="2240280"/>
            <a:ext cx="2651760" cy="3840480"/>
          </a:xfrm>
          <a:prstGeom prst="roundRect">
            <a:avLst>
              <a:gd name="adj" fmla="val 2759"/>
            </a:avLst>
          </a:prstGeom>
          <a:solidFill>
            <a:srgbClr val="F1EDE3"/>
          </a:solidFill>
          <a:ln/>
          <a:effectLst>
            <a:outerShdw sx="100000" sy="100000" kx="0" ky="0" algn="bl" rotWithShape="0" blurRad="76200" dist="25400" dir="2700000">
              <a:srgbClr val="000000">
                <a:alpha val="12000"/>
              </a:srgbClr>
            </a:outerShdw>
          </a:effectLst>
        </p:spPr>
      </p:sp>
      <p:pic>
        <p:nvPicPr>
          <p:cNvPr id="10" name="Image 1" descr="icon_coins.png">    </p:cNvPr>
          <p:cNvPicPr>
            <a:picLocks noChangeAspect="1"/>
          </p:cNvPicPr>
          <p:nvPr/>
        </p:nvPicPr>
        <p:blipFill>
          <a:blip r:embed="rId2"/>
          <a:stretch>
            <a:fillRect/>
          </a:stretch>
        </p:blipFill>
        <p:spPr>
          <a:xfrm>
            <a:off x="3611880" y="2514600"/>
            <a:ext cx="502920" cy="502920"/>
          </a:xfrm>
          <a:prstGeom prst="rect">
            <a:avLst/>
          </a:prstGeom>
        </p:spPr>
      </p:pic>
      <p:sp>
        <p:nvSpPr>
          <p:cNvPr id="11" name="Text 7"/>
          <p:cNvSpPr/>
          <p:nvPr/>
        </p:nvSpPr>
        <p:spPr>
          <a:xfrm>
            <a:off x="3611880" y="3154680"/>
            <a:ext cx="2286000" cy="548640"/>
          </a:xfrm>
          <a:prstGeom prst="rect">
            <a:avLst/>
          </a:prstGeom>
          <a:noFill/>
          <a:ln/>
        </p:spPr>
        <p:txBody>
          <a:bodyPr wrap="square" lIns="0" tIns="0" rIns="0" bIns="0" rtlCol="0" anchor="t"/>
          <a:lstStyle/>
          <a:p>
            <a:pPr indent="0" marL="0">
              <a:buNone/>
            </a:pPr>
            <a:r>
              <a:rPr lang="en-US" sz="1500" b="1" dirty="0">
                <a:solidFill>
                  <a:srgbClr val="3C3F2C"/>
                </a:solidFill>
                <a:latin typeface="Calibri" pitchFamily="34" charset="0"/>
                <a:ea typeface="Calibri" pitchFamily="34" charset="-122"/>
                <a:cs typeface="Calibri" pitchFamily="34" charset="-120"/>
              </a:rPr>
              <a:t>The Army Adds More</a:t>
            </a:r>
            <a:endParaRPr lang="en-US" sz="1500" dirty="0"/>
          </a:p>
        </p:txBody>
      </p:sp>
      <p:sp>
        <p:nvSpPr>
          <p:cNvPr id="12" name="Text 8"/>
          <p:cNvSpPr/>
          <p:nvPr/>
        </p:nvSpPr>
        <p:spPr>
          <a:xfrm>
            <a:off x="3611880" y="3749040"/>
            <a:ext cx="2286000" cy="2148840"/>
          </a:xfrm>
          <a:prstGeom prst="rect">
            <a:avLst/>
          </a:prstGeom>
          <a:noFill/>
          <a:ln/>
        </p:spPr>
        <p:txBody>
          <a:bodyPr wrap="square" lIns="0" tIns="0" rIns="0" bIns="0" rtlCol="0" anchor="t"/>
          <a:lstStyle/>
          <a:p>
            <a:pPr indent="0" marL="0">
              <a:buNone/>
            </a:pPr>
            <a:r>
              <a:rPr lang="en-US" sz="1200" dirty="0">
                <a:solidFill>
                  <a:srgbClr val="2B2B25"/>
                </a:solidFill>
                <a:latin typeface="Calibri" pitchFamily="34" charset="0"/>
                <a:ea typeface="Calibri" pitchFamily="34" charset="-122"/>
                <a:cs typeface="Calibri" pitchFamily="34" charset="-120"/>
              </a:rPr>
              <a:t>If you also contribute, the Army matches part of it — turning your dollar into more than a dollar.</a:t>
            </a:r>
            <a:endParaRPr lang="en-US" sz="1200" dirty="0"/>
          </a:p>
        </p:txBody>
      </p:sp>
      <p:sp>
        <p:nvSpPr>
          <p:cNvPr id="13" name="Shape 9"/>
          <p:cNvSpPr/>
          <p:nvPr/>
        </p:nvSpPr>
        <p:spPr>
          <a:xfrm>
            <a:off x="6309360" y="2240280"/>
            <a:ext cx="2651760" cy="3840480"/>
          </a:xfrm>
          <a:prstGeom prst="roundRect">
            <a:avLst>
              <a:gd name="adj" fmla="val 2759"/>
            </a:avLst>
          </a:prstGeom>
          <a:solidFill>
            <a:srgbClr val="F1EDE3"/>
          </a:solidFill>
          <a:ln/>
          <a:effectLst>
            <a:outerShdw sx="100000" sy="100000" kx="0" ky="0" algn="bl" rotWithShape="0" blurRad="76200" dist="25400" dir="2700000">
              <a:srgbClr val="000000">
                <a:alpha val="12000"/>
              </a:srgbClr>
            </a:outerShdw>
          </a:effectLst>
        </p:spPr>
      </p:sp>
      <p:pic>
        <p:nvPicPr>
          <p:cNvPr id="14" name="Image 2" descr="icon_chart.png">    </p:cNvPr>
          <p:cNvPicPr>
            <a:picLocks noChangeAspect="1"/>
          </p:cNvPicPr>
          <p:nvPr/>
        </p:nvPicPr>
        <p:blipFill>
          <a:blip r:embed="rId3"/>
          <a:stretch>
            <a:fillRect/>
          </a:stretch>
        </p:blipFill>
        <p:spPr>
          <a:xfrm>
            <a:off x="6492240" y="2514600"/>
            <a:ext cx="502920" cy="502920"/>
          </a:xfrm>
          <a:prstGeom prst="rect">
            <a:avLst/>
          </a:prstGeom>
        </p:spPr>
      </p:pic>
      <p:sp>
        <p:nvSpPr>
          <p:cNvPr id="15" name="Text 10"/>
          <p:cNvSpPr/>
          <p:nvPr/>
        </p:nvSpPr>
        <p:spPr>
          <a:xfrm>
            <a:off x="6492240" y="3154680"/>
            <a:ext cx="2286000" cy="548640"/>
          </a:xfrm>
          <a:prstGeom prst="rect">
            <a:avLst/>
          </a:prstGeom>
          <a:noFill/>
          <a:ln/>
        </p:spPr>
        <p:txBody>
          <a:bodyPr wrap="square" lIns="0" tIns="0" rIns="0" bIns="0" rtlCol="0" anchor="t"/>
          <a:lstStyle/>
          <a:p>
            <a:pPr indent="0" marL="0">
              <a:buNone/>
            </a:pPr>
            <a:r>
              <a:rPr lang="en-US" sz="1500" b="1" dirty="0">
                <a:solidFill>
                  <a:srgbClr val="3C3F2C"/>
                </a:solidFill>
                <a:latin typeface="Calibri" pitchFamily="34" charset="0"/>
                <a:ea typeface="Calibri" pitchFamily="34" charset="-122"/>
                <a:cs typeface="Calibri" pitchFamily="34" charset="-120"/>
              </a:rPr>
              <a:t>It's Invested, Not Just Saved</a:t>
            </a:r>
            <a:endParaRPr lang="en-US" sz="1500" dirty="0"/>
          </a:p>
        </p:txBody>
      </p:sp>
      <p:sp>
        <p:nvSpPr>
          <p:cNvPr id="16" name="Text 11"/>
          <p:cNvSpPr/>
          <p:nvPr/>
        </p:nvSpPr>
        <p:spPr>
          <a:xfrm>
            <a:off x="6492240" y="3749040"/>
            <a:ext cx="2286000" cy="2148840"/>
          </a:xfrm>
          <a:prstGeom prst="rect">
            <a:avLst/>
          </a:prstGeom>
          <a:noFill/>
          <a:ln/>
        </p:spPr>
        <p:txBody>
          <a:bodyPr wrap="square" lIns="0" tIns="0" rIns="0" bIns="0" rtlCol="0" anchor="t"/>
          <a:lstStyle/>
          <a:p>
            <a:pPr indent="0" marL="0">
              <a:buNone/>
            </a:pPr>
            <a:r>
              <a:rPr lang="en-US" sz="1200" dirty="0">
                <a:solidFill>
                  <a:srgbClr val="2B2B25"/>
                </a:solidFill>
                <a:latin typeface="Calibri" pitchFamily="34" charset="0"/>
                <a:ea typeface="Calibri" pitchFamily="34" charset="-122"/>
                <a:cs typeface="Calibri" pitchFamily="34" charset="-120"/>
              </a:rPr>
              <a:t>Your money isn't sitting still — it's placed into funds that aim to grow over the long run.</a:t>
            </a:r>
            <a:endParaRPr lang="en-US" sz="1200" dirty="0"/>
          </a:p>
        </p:txBody>
      </p:sp>
      <p:sp>
        <p:nvSpPr>
          <p:cNvPr id="17" name="Shape 12"/>
          <p:cNvSpPr/>
          <p:nvPr/>
        </p:nvSpPr>
        <p:spPr>
          <a:xfrm>
            <a:off x="9189720" y="2240280"/>
            <a:ext cx="2651760" cy="3840480"/>
          </a:xfrm>
          <a:prstGeom prst="roundRect">
            <a:avLst>
              <a:gd name="adj" fmla="val 2759"/>
            </a:avLst>
          </a:prstGeom>
          <a:solidFill>
            <a:srgbClr val="F1EDE3"/>
          </a:solidFill>
          <a:ln/>
          <a:effectLst>
            <a:outerShdw sx="100000" sy="100000" kx="0" ky="0" algn="bl" rotWithShape="0" blurRad="76200" dist="25400" dir="2700000">
              <a:srgbClr val="000000">
                <a:alpha val="12000"/>
              </a:srgbClr>
            </a:outerShdw>
          </a:effectLst>
        </p:spPr>
      </p:sp>
      <p:pic>
        <p:nvPicPr>
          <p:cNvPr id="18" name="Image 3" descr="icon_balance.png">    </p:cNvPr>
          <p:cNvPicPr>
            <a:picLocks noChangeAspect="1"/>
          </p:cNvPicPr>
          <p:nvPr/>
        </p:nvPicPr>
        <p:blipFill>
          <a:blip r:embed="rId4"/>
          <a:stretch>
            <a:fillRect/>
          </a:stretch>
        </p:blipFill>
        <p:spPr>
          <a:xfrm>
            <a:off x="9372600" y="2514600"/>
            <a:ext cx="502920" cy="502920"/>
          </a:xfrm>
          <a:prstGeom prst="rect">
            <a:avLst/>
          </a:prstGeom>
        </p:spPr>
      </p:pic>
      <p:sp>
        <p:nvSpPr>
          <p:cNvPr id="19" name="Text 13"/>
          <p:cNvSpPr/>
          <p:nvPr/>
        </p:nvSpPr>
        <p:spPr>
          <a:xfrm>
            <a:off x="9372600" y="3154680"/>
            <a:ext cx="2286000" cy="548640"/>
          </a:xfrm>
          <a:prstGeom prst="rect">
            <a:avLst/>
          </a:prstGeom>
          <a:noFill/>
          <a:ln/>
        </p:spPr>
        <p:txBody>
          <a:bodyPr wrap="square" lIns="0" tIns="0" rIns="0" bIns="0" rtlCol="0" anchor="t"/>
          <a:lstStyle/>
          <a:p>
            <a:pPr indent="0" marL="0">
              <a:buNone/>
            </a:pPr>
            <a:r>
              <a:rPr lang="en-US" sz="1500" b="1" dirty="0">
                <a:solidFill>
                  <a:srgbClr val="3C3F2C"/>
                </a:solidFill>
                <a:latin typeface="Calibri" pitchFamily="34" charset="0"/>
                <a:ea typeface="Calibri" pitchFamily="34" charset="-122"/>
                <a:cs typeface="Calibri" pitchFamily="34" charset="-120"/>
              </a:rPr>
              <a:t>You Control the Tax Side</a:t>
            </a:r>
            <a:endParaRPr lang="en-US" sz="1500" dirty="0"/>
          </a:p>
        </p:txBody>
      </p:sp>
      <p:sp>
        <p:nvSpPr>
          <p:cNvPr id="20" name="Text 14"/>
          <p:cNvSpPr/>
          <p:nvPr/>
        </p:nvSpPr>
        <p:spPr>
          <a:xfrm>
            <a:off x="9372600" y="3749040"/>
            <a:ext cx="2286000" cy="2148840"/>
          </a:xfrm>
          <a:prstGeom prst="rect">
            <a:avLst/>
          </a:prstGeom>
          <a:noFill/>
          <a:ln/>
        </p:spPr>
        <p:txBody>
          <a:bodyPr wrap="square" lIns="0" tIns="0" rIns="0" bIns="0" rtlCol="0" anchor="t"/>
          <a:lstStyle/>
          <a:p>
            <a:pPr indent="0" marL="0">
              <a:buNone/>
            </a:pPr>
            <a:r>
              <a:rPr lang="en-US" sz="1200" dirty="0">
                <a:solidFill>
                  <a:srgbClr val="2B2B25"/>
                </a:solidFill>
                <a:latin typeface="Calibri" pitchFamily="34" charset="0"/>
                <a:ea typeface="Calibri" pitchFamily="34" charset="-122"/>
                <a:cs typeface="Calibri" pitchFamily="34" charset="-120"/>
              </a:rPr>
              <a:t>You choose whether your contributions are taxed now (Roth) or later (Traditional).</a:t>
            </a:r>
            <a:endParaRPr lang="en-US" sz="1200" dirty="0"/>
          </a:p>
        </p:txBody>
      </p:sp>
      <p:sp>
        <p:nvSpPr>
          <p:cNvPr id="21" name="Text 15"/>
          <p:cNvSpPr/>
          <p:nvPr/>
        </p:nvSpPr>
        <p:spPr>
          <a:xfrm>
            <a:off x="0" y="6492240"/>
            <a:ext cx="12191695" cy="274320"/>
          </a:xfrm>
          <a:prstGeom prst="rect">
            <a:avLst/>
          </a:prstGeom>
          <a:noFill/>
          <a:ln/>
        </p:spPr>
        <p:txBody>
          <a:bodyPr wrap="square" rtlCol="0" anchor="ctr"/>
          <a:lstStyle/>
          <a:p>
            <a:pPr algn="ctr" indent="0" marL="0">
              <a:buNone/>
            </a:pPr>
            <a:r>
              <a:rPr lang="en-US" sz="900" dirty="0">
                <a:solidFill>
                  <a:srgbClr val="9C9C90"/>
                </a:solidFill>
                <a:latin typeface="Calibri" pitchFamily="34" charset="0"/>
                <a:ea typeface="Calibri" pitchFamily="34" charset="-122"/>
                <a:cs typeface="Calibri" pitchFamily="34" charset="-120"/>
              </a:rPr>
              <a:t>TSP BRIEFING  |  3</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51560"/>
          </a:xfrm>
          <a:prstGeom prst="rect">
            <a:avLst/>
          </a:prstGeom>
          <a:solidFill>
            <a:srgbClr val="3C3F2C"/>
          </a:solidFill>
          <a:ln/>
        </p:spPr>
      </p:sp>
      <p:sp>
        <p:nvSpPr>
          <p:cNvPr id="3" name="Text 1"/>
          <p:cNvSpPr/>
          <p:nvPr/>
        </p:nvSpPr>
        <p:spPr>
          <a:xfrm>
            <a:off x="548640" y="256032"/>
            <a:ext cx="11155680" cy="548640"/>
          </a:xfrm>
          <a:prstGeom prst="rect">
            <a:avLst/>
          </a:prstGeom>
          <a:noFill/>
          <a:ln/>
        </p:spPr>
        <p:txBody>
          <a:bodyPr wrap="square" lIns="0" tIns="0" rIns="0" bIns="0" rtlCol="0" anchor="ctr"/>
          <a:lstStyle/>
          <a:p>
            <a:pPr indent="0" marL="0">
              <a:buNone/>
            </a:pPr>
            <a:r>
              <a:rPr lang="en-US" sz="2600" b="1" dirty="0">
                <a:solidFill>
                  <a:srgbClr val="FFFFFF"/>
                </a:solidFill>
                <a:latin typeface="Cambria" pitchFamily="34" charset="0"/>
                <a:ea typeface="Cambria" pitchFamily="34" charset="-122"/>
                <a:cs typeface="Cambria" pitchFamily="34" charset="-120"/>
              </a:rPr>
              <a:t>THE ARMY MATCH: FREE MONEY EXPLAINED</a:t>
            </a:r>
            <a:endParaRPr lang="en-US" sz="2600" dirty="0"/>
          </a:p>
        </p:txBody>
      </p:sp>
      <p:sp>
        <p:nvSpPr>
          <p:cNvPr id="4" name="Text 2"/>
          <p:cNvSpPr/>
          <p:nvPr/>
        </p:nvSpPr>
        <p:spPr>
          <a:xfrm>
            <a:off x="548640" y="1234440"/>
            <a:ext cx="11064240" cy="640080"/>
          </a:xfrm>
          <a:prstGeom prst="rect">
            <a:avLst/>
          </a:prstGeom>
          <a:noFill/>
          <a:ln/>
        </p:spPr>
        <p:txBody>
          <a:bodyPr wrap="square" lIns="0" tIns="0" rIns="0" bIns="0" rtlCol="0" anchor="t"/>
          <a:lstStyle/>
          <a:p>
            <a:pPr indent="0" marL="0">
              <a:buNone/>
            </a:pPr>
            <a:r>
              <a:rPr lang="en-US" sz="1450" dirty="0">
                <a:solidFill>
                  <a:srgbClr val="2B2B25"/>
                </a:solidFill>
                <a:latin typeface="Calibri" pitchFamily="34" charset="0"/>
                <a:ea typeface="Calibri" pitchFamily="34" charset="-122"/>
                <a:cs typeface="Calibri" pitchFamily="34" charset="-120"/>
              </a:rPr>
              <a:t>If you joined after Jan 1, 2018, you're under the Blended Retirement System (BRS). Under BRS, the more of your own pay you contribute, the more free money the Army adds — up to a point.</a:t>
            </a:r>
            <a:endParaRPr lang="en-US" sz="145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48640" y="2057400"/>
          <a:ext cx="7315200" cy="3017520"/>
        </p:xfrm>
        <a:graphic>
          <a:graphicData uri="http://schemas.openxmlformats.org/drawingml/2006/table">
            <a:tbl>
              <a:tblPr/>
              <a:tblGrid>
                <a:gridCol w="1828800"/>
                <a:gridCol w="1828800"/>
                <a:gridCol w="1828800"/>
                <a:gridCol w="1828800"/>
              </a:tblGrid>
              <a:tr h="429768">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Your Contribution</a:t>
                      </a:r>
                      <a:endParaRPr lang="en-US" sz="1300" dirty="0">
                        <a:latin typeface="Calibri" charset="0"/>
                        <a:ea typeface="Calibri" charset="0"/>
                        <a:cs typeface="Calibri" charset="0"/>
                      </a:endParaRPr>
                    </a:p>
                  </a:txBody>
                  <a:tcPr marL="91440" marR="91440" marT="45720" marB="45720" anchor="ctr">
                    <a:lnL w="9525" cap="flat" cmpd="sng" algn="ctr">
                      <a:solidFill>
                        <a:srgbClr val="D8D2BE"/>
                      </a:solidFill>
                      <a:prstDash val="solid"/>
                      <a:round/>
                      <a:headEnd type="none" w="med" len="med"/>
                      <a:tailEnd type="none" w="med" len="med"/>
                    </a:lnL>
                    <a:lnR w="9525" cap="flat" cmpd="sng" algn="ctr">
                      <a:solidFill>
                        <a:srgbClr val="D8D2BE"/>
                      </a:solidFill>
                      <a:prstDash val="solid"/>
                      <a:round/>
                      <a:headEnd type="none" w="med" len="med"/>
                      <a:tailEnd type="none" w="med" len="med"/>
                    </a:lnR>
                    <a:lnT w="9525" cap="flat" cmpd="sng" algn="ctr">
                      <a:solidFill>
                        <a:srgbClr val="D8D2BE"/>
                      </a:solidFill>
                      <a:prstDash val="solid"/>
                      <a:round/>
                      <a:headEnd type="none" w="med" len="med"/>
                      <a:tailEnd type="none" w="med" len="med"/>
                    </a:lnT>
                    <a:lnB w="9525" cap="flat" cmpd="sng" algn="ctr">
                      <a:solidFill>
                        <a:srgbClr val="D8D2BE"/>
                      </a:solidFill>
                      <a:prstDash val="solid"/>
                      <a:round/>
                      <a:headEnd type="none" w="med" len="med"/>
                      <a:tailEnd type="none" w="med" len="med"/>
                    </a:lnB>
                    <a:solidFill>
                      <a:srgbClr val="3C3F2C"/>
                    </a:solidFill>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Automatic (1%)</a:t>
                      </a:r>
                      <a:endParaRPr lang="en-US" sz="1300" dirty="0">
                        <a:latin typeface="Calibri" charset="0"/>
                        <a:ea typeface="Calibri" charset="0"/>
                        <a:cs typeface="Calibri" charset="0"/>
                      </a:endParaRPr>
                    </a:p>
                  </a:txBody>
                  <a:tcPr marL="91440" marR="91440" marT="45720" marB="45720" anchor="ctr">
                    <a:lnL w="9525" cap="flat" cmpd="sng" algn="ctr">
                      <a:solidFill>
                        <a:srgbClr val="D8D2BE"/>
                      </a:solidFill>
                      <a:prstDash val="solid"/>
                      <a:round/>
                      <a:headEnd type="none" w="med" len="med"/>
                      <a:tailEnd type="none" w="med" len="med"/>
                    </a:lnL>
                    <a:lnR w="9525" cap="flat" cmpd="sng" algn="ctr">
                      <a:solidFill>
                        <a:srgbClr val="D8D2BE"/>
                      </a:solidFill>
                      <a:prstDash val="solid"/>
                      <a:round/>
                      <a:headEnd type="none" w="med" len="med"/>
                      <a:tailEnd type="none" w="med" len="med"/>
                    </a:lnR>
                    <a:lnT w="9525" cap="flat" cmpd="sng" algn="ctr">
                      <a:solidFill>
                        <a:srgbClr val="D8D2BE"/>
                      </a:solidFill>
                      <a:prstDash val="solid"/>
                      <a:round/>
                      <a:headEnd type="none" w="med" len="med"/>
                      <a:tailEnd type="none" w="med" len="med"/>
                    </a:lnT>
                    <a:lnB w="9525" cap="flat" cmpd="sng" algn="ctr">
                      <a:solidFill>
                        <a:srgbClr val="D8D2BE"/>
                      </a:solidFill>
                      <a:prstDash val="solid"/>
                      <a:round/>
                      <a:headEnd type="none" w="med" len="med"/>
                      <a:tailEnd type="none" w="med" len="med"/>
                    </a:lnB>
                    <a:solidFill>
                      <a:srgbClr val="3C3F2C"/>
                    </a:solidFill>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Army Match</a:t>
                      </a:r>
                      <a:endParaRPr lang="en-US" sz="1300" dirty="0">
                        <a:latin typeface="Calibri" charset="0"/>
                        <a:ea typeface="Calibri" charset="0"/>
                        <a:cs typeface="Calibri" charset="0"/>
                      </a:endParaRPr>
                    </a:p>
                  </a:txBody>
                  <a:tcPr marL="91440" marR="91440" marT="45720" marB="45720" anchor="ctr">
                    <a:lnL w="9525" cap="flat" cmpd="sng" algn="ctr">
                      <a:solidFill>
                        <a:srgbClr val="D8D2BE"/>
                      </a:solidFill>
                      <a:prstDash val="solid"/>
                      <a:round/>
                      <a:headEnd type="none" w="med" len="med"/>
                      <a:tailEnd type="none" w="med" len="med"/>
                    </a:lnL>
                    <a:lnR w="9525" cap="flat" cmpd="sng" algn="ctr">
                      <a:solidFill>
                        <a:srgbClr val="D8D2BE"/>
                      </a:solidFill>
                      <a:prstDash val="solid"/>
                      <a:round/>
                      <a:headEnd type="none" w="med" len="med"/>
                      <a:tailEnd type="none" w="med" len="med"/>
                    </a:lnR>
                    <a:lnT w="9525" cap="flat" cmpd="sng" algn="ctr">
                      <a:solidFill>
                        <a:srgbClr val="D8D2BE"/>
                      </a:solidFill>
                      <a:prstDash val="solid"/>
                      <a:round/>
                      <a:headEnd type="none" w="med" len="med"/>
                      <a:tailEnd type="none" w="med" len="med"/>
                    </a:lnT>
                    <a:lnB w="9525" cap="flat" cmpd="sng" algn="ctr">
                      <a:solidFill>
                        <a:srgbClr val="D8D2BE"/>
                      </a:solidFill>
                      <a:prstDash val="solid"/>
                      <a:round/>
                      <a:headEnd type="none" w="med" len="med"/>
                      <a:tailEnd type="none" w="med" len="med"/>
                    </a:lnB>
                    <a:solidFill>
                      <a:srgbClr val="3C3F2C"/>
                    </a:solidFill>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Total Going In</a:t>
                      </a:r>
                      <a:endParaRPr lang="en-US" sz="1300" dirty="0">
                        <a:latin typeface="Calibri" charset="0"/>
                        <a:ea typeface="Calibri" charset="0"/>
                        <a:cs typeface="Calibri" charset="0"/>
                      </a:endParaRPr>
                    </a:p>
                  </a:txBody>
                  <a:tcPr marL="91440" marR="91440" marT="45720" marB="45720" anchor="ctr">
                    <a:lnL w="9525" cap="flat" cmpd="sng" algn="ctr">
                      <a:solidFill>
                        <a:srgbClr val="D8D2BE"/>
                      </a:solidFill>
                      <a:prstDash val="solid"/>
                      <a:round/>
                      <a:headEnd type="none" w="med" len="med"/>
                      <a:tailEnd type="none" w="med" len="med"/>
                    </a:lnL>
                    <a:lnR w="9525" cap="flat" cmpd="sng" algn="ctr">
                      <a:solidFill>
                        <a:srgbClr val="D8D2BE"/>
                      </a:solidFill>
                      <a:prstDash val="solid"/>
                      <a:round/>
                      <a:headEnd type="none" w="med" len="med"/>
                      <a:tailEnd type="none" w="med" len="med"/>
                    </a:lnR>
                    <a:lnT w="9525" cap="flat" cmpd="sng" algn="ctr">
                      <a:solidFill>
                        <a:srgbClr val="D8D2BE"/>
                      </a:solidFill>
                      <a:prstDash val="solid"/>
                      <a:round/>
                      <a:headEnd type="none" w="med" len="med"/>
                      <a:tailEnd type="none" w="med" len="med"/>
                    </a:lnT>
                    <a:lnB w="9525" cap="flat" cmpd="sng" algn="ctr">
                      <a:solidFill>
                        <a:srgbClr val="D8D2BE"/>
                      </a:solidFill>
                      <a:prstDash val="solid"/>
                      <a:round/>
                      <a:headEnd type="none" w="med" len="med"/>
                      <a:tailEnd type="none" w="med" len="med"/>
                    </a:lnB>
                    <a:solidFill>
                      <a:srgbClr val="3C3F2C"/>
                    </a:solidFill>
                  </a:tcPr>
                </a:tc>
              </a:tr>
              <a:tr h="429768">
                <a:tc>
                  <a:txBody>
                    <a:bodyPr/>
                    <a:lstStyle/>
                    <a:p>
                      <a:pPr algn="ctr" indent="0" marL="0">
                        <a:buNone/>
                      </a:pPr>
                      <a:r>
                        <a:rPr lang="en-US" sz="1300" dirty="0">
                          <a:solidFill>
                            <a:srgbClr val="2B2B25"/>
                          </a:solidFill>
                          <a:latin typeface="Calibri" pitchFamily="34" charset="0"/>
                          <a:ea typeface="Calibri" pitchFamily="34" charset="-122"/>
                          <a:cs typeface="Calibri" pitchFamily="34" charset="-120"/>
                        </a:rPr>
                        <a:t>0%</a:t>
                      </a:r>
                      <a:endParaRPr lang="en-US" sz="1300" dirty="0">
                        <a:latin typeface="Calibri" charset="0"/>
                        <a:ea typeface="Calibri" charset="0"/>
                        <a:cs typeface="Calibri" charset="0"/>
                      </a:endParaRPr>
                    </a:p>
                  </a:txBody>
                  <a:tcPr marL="91440" marR="91440" marT="45720" marB="45720" anchor="ctr">
                    <a:lnL w="9525" cap="flat" cmpd="sng" algn="ctr">
                      <a:solidFill>
                        <a:srgbClr val="D8D2BE"/>
                      </a:solidFill>
                      <a:prstDash val="solid"/>
                      <a:round/>
                      <a:headEnd type="none" w="med" len="med"/>
                      <a:tailEnd type="none" w="med" len="med"/>
                    </a:lnL>
                    <a:lnR w="9525" cap="flat" cmpd="sng" algn="ctr">
                      <a:solidFill>
                        <a:srgbClr val="D8D2BE"/>
                      </a:solidFill>
                      <a:prstDash val="solid"/>
                      <a:round/>
                      <a:headEnd type="none" w="med" len="med"/>
                      <a:tailEnd type="none" w="med" len="med"/>
                    </a:lnR>
                    <a:lnT w="9525" cap="flat" cmpd="sng" algn="ctr">
                      <a:solidFill>
                        <a:srgbClr val="D8D2BE"/>
                      </a:solidFill>
                      <a:prstDash val="solid"/>
                      <a:round/>
                      <a:headEnd type="none" w="med" len="med"/>
                      <a:tailEnd type="none" w="med" len="med"/>
                    </a:lnT>
                    <a:lnB w="9525" cap="flat" cmpd="sng" algn="ctr">
                      <a:solidFill>
                        <a:srgbClr val="D8D2BE"/>
                      </a:solidFill>
                      <a:prstDash val="solid"/>
                      <a:round/>
                      <a:headEnd type="none" w="med" len="med"/>
                      <a:tailEnd type="none" w="med" len="med"/>
                    </a:lnB>
                  </a:tcPr>
                </a:tc>
                <a:tc>
                  <a:txBody>
                    <a:bodyPr/>
                    <a:lstStyle/>
                    <a:p>
                      <a:pPr algn="ctr" indent="0" marL="0">
                        <a:buNone/>
                      </a:pPr>
                      <a:r>
                        <a:rPr lang="en-US" sz="1300" dirty="0">
                          <a:solidFill>
                            <a:srgbClr val="2B2B25"/>
                          </a:solidFill>
                          <a:latin typeface="Calibri" pitchFamily="34" charset="0"/>
                          <a:ea typeface="Calibri" pitchFamily="34" charset="-122"/>
                          <a:cs typeface="Calibri" pitchFamily="34" charset="-120"/>
                        </a:rPr>
                        <a:t>1%</a:t>
                      </a:r>
                      <a:endParaRPr lang="en-US" sz="1300" dirty="0">
                        <a:latin typeface="Calibri" charset="0"/>
                        <a:ea typeface="Calibri" charset="0"/>
                        <a:cs typeface="Calibri" charset="0"/>
                      </a:endParaRPr>
                    </a:p>
                  </a:txBody>
                  <a:tcPr marL="91440" marR="91440" marT="45720" marB="45720" anchor="ctr">
                    <a:lnL w="9525" cap="flat" cmpd="sng" algn="ctr">
                      <a:solidFill>
                        <a:srgbClr val="D8D2BE"/>
                      </a:solidFill>
                      <a:prstDash val="solid"/>
                      <a:round/>
                      <a:headEnd type="none" w="med" len="med"/>
                      <a:tailEnd type="none" w="med" len="med"/>
                    </a:lnL>
                    <a:lnR w="9525" cap="flat" cmpd="sng" algn="ctr">
                      <a:solidFill>
                        <a:srgbClr val="D8D2BE"/>
                      </a:solidFill>
                      <a:prstDash val="solid"/>
                      <a:round/>
                      <a:headEnd type="none" w="med" len="med"/>
                      <a:tailEnd type="none" w="med" len="med"/>
                    </a:lnR>
                    <a:lnT w="9525" cap="flat" cmpd="sng" algn="ctr">
                      <a:solidFill>
                        <a:srgbClr val="D8D2BE"/>
                      </a:solidFill>
                      <a:prstDash val="solid"/>
                      <a:round/>
                      <a:headEnd type="none" w="med" len="med"/>
                      <a:tailEnd type="none" w="med" len="med"/>
                    </a:lnT>
                    <a:lnB w="9525" cap="flat" cmpd="sng" algn="ctr">
                      <a:solidFill>
                        <a:srgbClr val="D8D2BE"/>
                      </a:solidFill>
                      <a:prstDash val="solid"/>
                      <a:round/>
                      <a:headEnd type="none" w="med" len="med"/>
                      <a:tailEnd type="none" w="med" len="med"/>
                    </a:lnB>
                  </a:tcPr>
                </a:tc>
                <a:tc>
                  <a:txBody>
                    <a:bodyPr/>
                    <a:lstStyle/>
                    <a:p>
                      <a:pPr algn="ctr" indent="0" marL="0">
                        <a:buNone/>
                      </a:pPr>
                      <a:r>
                        <a:rPr lang="en-US" sz="1300" dirty="0">
                          <a:solidFill>
                            <a:srgbClr val="2B2B25"/>
                          </a:solidFill>
                          <a:latin typeface="Calibri" pitchFamily="34" charset="0"/>
                          <a:ea typeface="Calibri" pitchFamily="34" charset="-122"/>
                          <a:cs typeface="Calibri" pitchFamily="34" charset="-120"/>
                        </a:rPr>
                        <a:t>0%</a:t>
                      </a:r>
                      <a:endParaRPr lang="en-US" sz="1300" dirty="0">
                        <a:latin typeface="Calibri" charset="0"/>
                        <a:ea typeface="Calibri" charset="0"/>
                        <a:cs typeface="Calibri" charset="0"/>
                      </a:endParaRPr>
                    </a:p>
                  </a:txBody>
                  <a:tcPr marL="91440" marR="91440" marT="45720" marB="45720" anchor="ctr">
                    <a:lnL w="9525" cap="flat" cmpd="sng" algn="ctr">
                      <a:solidFill>
                        <a:srgbClr val="D8D2BE"/>
                      </a:solidFill>
                      <a:prstDash val="solid"/>
                      <a:round/>
                      <a:headEnd type="none" w="med" len="med"/>
                      <a:tailEnd type="none" w="med" len="med"/>
                    </a:lnL>
                    <a:lnR w="9525" cap="flat" cmpd="sng" algn="ctr">
                      <a:solidFill>
                        <a:srgbClr val="D8D2BE"/>
                      </a:solidFill>
                      <a:prstDash val="solid"/>
                      <a:round/>
                      <a:headEnd type="none" w="med" len="med"/>
                      <a:tailEnd type="none" w="med" len="med"/>
                    </a:lnR>
                    <a:lnT w="9525" cap="flat" cmpd="sng" algn="ctr">
                      <a:solidFill>
                        <a:srgbClr val="D8D2BE"/>
                      </a:solidFill>
                      <a:prstDash val="solid"/>
                      <a:round/>
                      <a:headEnd type="none" w="med" len="med"/>
                      <a:tailEnd type="none" w="med" len="med"/>
                    </a:lnT>
                    <a:lnB w="9525" cap="flat" cmpd="sng" algn="ctr">
                      <a:solidFill>
                        <a:srgbClr val="D8D2BE"/>
                      </a:solidFill>
                      <a:prstDash val="solid"/>
                      <a:round/>
                      <a:headEnd type="none" w="med" len="med"/>
                      <a:tailEnd type="none" w="med" len="med"/>
                    </a:lnB>
                  </a:tcPr>
                </a:tc>
                <a:tc>
                  <a:txBody>
                    <a:bodyPr/>
                    <a:lstStyle/>
                    <a:p>
                      <a:pPr algn="ctr" indent="0" marL="0">
                        <a:buNone/>
                      </a:pPr>
                      <a:r>
                        <a:rPr lang="en-US" sz="1300" dirty="0">
                          <a:solidFill>
                            <a:srgbClr val="2B2B25"/>
                          </a:solidFill>
                          <a:latin typeface="Calibri" pitchFamily="34" charset="0"/>
                          <a:ea typeface="Calibri" pitchFamily="34" charset="-122"/>
                          <a:cs typeface="Calibri" pitchFamily="34" charset="-120"/>
                        </a:rPr>
                        <a:t>1%</a:t>
                      </a:r>
                      <a:endParaRPr lang="en-US" sz="1300" dirty="0">
                        <a:latin typeface="Calibri" charset="0"/>
                        <a:ea typeface="Calibri" charset="0"/>
                        <a:cs typeface="Calibri" charset="0"/>
                      </a:endParaRPr>
                    </a:p>
                  </a:txBody>
                  <a:tcPr marL="91440" marR="91440" marT="45720" marB="45720" anchor="ctr">
                    <a:lnL w="9525" cap="flat" cmpd="sng" algn="ctr">
                      <a:solidFill>
                        <a:srgbClr val="D8D2BE"/>
                      </a:solidFill>
                      <a:prstDash val="solid"/>
                      <a:round/>
                      <a:headEnd type="none" w="med" len="med"/>
                      <a:tailEnd type="none" w="med" len="med"/>
                    </a:lnL>
                    <a:lnR w="9525" cap="flat" cmpd="sng" algn="ctr">
                      <a:solidFill>
                        <a:srgbClr val="D8D2BE"/>
                      </a:solidFill>
                      <a:prstDash val="solid"/>
                      <a:round/>
                      <a:headEnd type="none" w="med" len="med"/>
                      <a:tailEnd type="none" w="med" len="med"/>
                    </a:lnR>
                    <a:lnT w="9525" cap="flat" cmpd="sng" algn="ctr">
                      <a:solidFill>
                        <a:srgbClr val="D8D2BE"/>
                      </a:solidFill>
                      <a:prstDash val="solid"/>
                      <a:round/>
                      <a:headEnd type="none" w="med" len="med"/>
                      <a:tailEnd type="none" w="med" len="med"/>
                    </a:lnT>
                    <a:lnB w="9525" cap="flat" cmpd="sng" algn="ctr">
                      <a:solidFill>
                        <a:srgbClr val="D8D2BE"/>
                      </a:solidFill>
                      <a:prstDash val="solid"/>
                      <a:round/>
                      <a:headEnd type="none" w="med" len="med"/>
                      <a:tailEnd type="none" w="med" len="med"/>
                    </a:lnB>
                  </a:tcPr>
                </a:tc>
              </a:tr>
              <a:tr h="429768">
                <a:tc>
                  <a:txBody>
                    <a:bodyPr/>
                    <a:lstStyle/>
                    <a:p>
                      <a:pPr algn="ctr" indent="0" marL="0">
                        <a:buNone/>
                      </a:pPr>
                      <a:r>
                        <a:rPr lang="en-US" sz="1300" dirty="0">
                          <a:solidFill>
                            <a:srgbClr val="2B2B25"/>
                          </a:solidFill>
                          <a:latin typeface="Calibri" pitchFamily="34" charset="0"/>
                          <a:ea typeface="Calibri" pitchFamily="34" charset="-122"/>
                          <a:cs typeface="Calibri" pitchFamily="34" charset="-120"/>
                        </a:rPr>
                        <a:t>1%</a:t>
                      </a:r>
                      <a:endParaRPr lang="en-US" sz="1300" dirty="0">
                        <a:latin typeface="Calibri" charset="0"/>
                        <a:ea typeface="Calibri" charset="0"/>
                        <a:cs typeface="Calibri" charset="0"/>
                      </a:endParaRPr>
                    </a:p>
                  </a:txBody>
                  <a:tcPr marL="91440" marR="91440" marT="45720" marB="45720" anchor="ctr">
                    <a:lnL w="9525" cap="flat" cmpd="sng" algn="ctr">
                      <a:solidFill>
                        <a:srgbClr val="D8D2BE"/>
                      </a:solidFill>
                      <a:prstDash val="solid"/>
                      <a:round/>
                      <a:headEnd type="none" w="med" len="med"/>
                      <a:tailEnd type="none" w="med" len="med"/>
                    </a:lnL>
                    <a:lnR w="9525" cap="flat" cmpd="sng" algn="ctr">
                      <a:solidFill>
                        <a:srgbClr val="D8D2BE"/>
                      </a:solidFill>
                      <a:prstDash val="solid"/>
                      <a:round/>
                      <a:headEnd type="none" w="med" len="med"/>
                      <a:tailEnd type="none" w="med" len="med"/>
                    </a:lnR>
                    <a:lnT w="9525" cap="flat" cmpd="sng" algn="ctr">
                      <a:solidFill>
                        <a:srgbClr val="D8D2BE"/>
                      </a:solidFill>
                      <a:prstDash val="solid"/>
                      <a:round/>
                      <a:headEnd type="none" w="med" len="med"/>
                      <a:tailEnd type="none" w="med" len="med"/>
                    </a:lnT>
                    <a:lnB w="9525" cap="flat" cmpd="sng" algn="ctr">
                      <a:solidFill>
                        <a:srgbClr val="D8D2BE"/>
                      </a:solidFill>
                      <a:prstDash val="solid"/>
                      <a:round/>
                      <a:headEnd type="none" w="med" len="med"/>
                      <a:tailEnd type="none" w="med" len="med"/>
                    </a:lnB>
                  </a:tcPr>
                </a:tc>
                <a:tc>
                  <a:txBody>
                    <a:bodyPr/>
                    <a:lstStyle/>
                    <a:p>
                      <a:pPr algn="ctr" indent="0" marL="0">
                        <a:buNone/>
                      </a:pPr>
                      <a:r>
                        <a:rPr lang="en-US" sz="1300" dirty="0">
                          <a:solidFill>
                            <a:srgbClr val="2B2B25"/>
                          </a:solidFill>
                          <a:latin typeface="Calibri" pitchFamily="34" charset="0"/>
                          <a:ea typeface="Calibri" pitchFamily="34" charset="-122"/>
                          <a:cs typeface="Calibri" pitchFamily="34" charset="-120"/>
                        </a:rPr>
                        <a:t>1%</a:t>
                      </a:r>
                      <a:endParaRPr lang="en-US" sz="1300" dirty="0">
                        <a:latin typeface="Calibri" charset="0"/>
                        <a:ea typeface="Calibri" charset="0"/>
                        <a:cs typeface="Calibri" charset="0"/>
                      </a:endParaRPr>
                    </a:p>
                  </a:txBody>
                  <a:tcPr marL="91440" marR="91440" marT="45720" marB="45720" anchor="ctr">
                    <a:lnL w="9525" cap="flat" cmpd="sng" algn="ctr">
                      <a:solidFill>
                        <a:srgbClr val="D8D2BE"/>
                      </a:solidFill>
                      <a:prstDash val="solid"/>
                      <a:round/>
                      <a:headEnd type="none" w="med" len="med"/>
                      <a:tailEnd type="none" w="med" len="med"/>
                    </a:lnL>
                    <a:lnR w="9525" cap="flat" cmpd="sng" algn="ctr">
                      <a:solidFill>
                        <a:srgbClr val="D8D2BE"/>
                      </a:solidFill>
                      <a:prstDash val="solid"/>
                      <a:round/>
                      <a:headEnd type="none" w="med" len="med"/>
                      <a:tailEnd type="none" w="med" len="med"/>
                    </a:lnR>
                    <a:lnT w="9525" cap="flat" cmpd="sng" algn="ctr">
                      <a:solidFill>
                        <a:srgbClr val="D8D2BE"/>
                      </a:solidFill>
                      <a:prstDash val="solid"/>
                      <a:round/>
                      <a:headEnd type="none" w="med" len="med"/>
                      <a:tailEnd type="none" w="med" len="med"/>
                    </a:lnT>
                    <a:lnB w="9525" cap="flat" cmpd="sng" algn="ctr">
                      <a:solidFill>
                        <a:srgbClr val="D8D2BE"/>
                      </a:solidFill>
                      <a:prstDash val="solid"/>
                      <a:round/>
                      <a:headEnd type="none" w="med" len="med"/>
                      <a:tailEnd type="none" w="med" len="med"/>
                    </a:lnB>
                  </a:tcPr>
                </a:tc>
                <a:tc>
                  <a:txBody>
                    <a:bodyPr/>
                    <a:lstStyle/>
                    <a:p>
                      <a:pPr algn="ctr" indent="0" marL="0">
                        <a:buNone/>
                      </a:pPr>
                      <a:r>
                        <a:rPr lang="en-US" sz="1300" dirty="0">
                          <a:solidFill>
                            <a:srgbClr val="2B2B25"/>
                          </a:solidFill>
                          <a:latin typeface="Calibri" pitchFamily="34" charset="0"/>
                          <a:ea typeface="Calibri" pitchFamily="34" charset="-122"/>
                          <a:cs typeface="Calibri" pitchFamily="34" charset="-120"/>
                        </a:rPr>
                        <a:t>1%</a:t>
                      </a:r>
                      <a:endParaRPr lang="en-US" sz="1300" dirty="0">
                        <a:latin typeface="Calibri" charset="0"/>
                        <a:ea typeface="Calibri" charset="0"/>
                        <a:cs typeface="Calibri" charset="0"/>
                      </a:endParaRPr>
                    </a:p>
                  </a:txBody>
                  <a:tcPr marL="91440" marR="91440" marT="45720" marB="45720" anchor="ctr">
                    <a:lnL w="9525" cap="flat" cmpd="sng" algn="ctr">
                      <a:solidFill>
                        <a:srgbClr val="D8D2BE"/>
                      </a:solidFill>
                      <a:prstDash val="solid"/>
                      <a:round/>
                      <a:headEnd type="none" w="med" len="med"/>
                      <a:tailEnd type="none" w="med" len="med"/>
                    </a:lnL>
                    <a:lnR w="9525" cap="flat" cmpd="sng" algn="ctr">
                      <a:solidFill>
                        <a:srgbClr val="D8D2BE"/>
                      </a:solidFill>
                      <a:prstDash val="solid"/>
                      <a:round/>
                      <a:headEnd type="none" w="med" len="med"/>
                      <a:tailEnd type="none" w="med" len="med"/>
                    </a:lnR>
                    <a:lnT w="9525" cap="flat" cmpd="sng" algn="ctr">
                      <a:solidFill>
                        <a:srgbClr val="D8D2BE"/>
                      </a:solidFill>
                      <a:prstDash val="solid"/>
                      <a:round/>
                      <a:headEnd type="none" w="med" len="med"/>
                      <a:tailEnd type="none" w="med" len="med"/>
                    </a:lnT>
                    <a:lnB w="9525" cap="flat" cmpd="sng" algn="ctr">
                      <a:solidFill>
                        <a:srgbClr val="D8D2BE"/>
                      </a:solidFill>
                      <a:prstDash val="solid"/>
                      <a:round/>
                      <a:headEnd type="none" w="med" len="med"/>
                      <a:tailEnd type="none" w="med" len="med"/>
                    </a:lnB>
                  </a:tcPr>
                </a:tc>
                <a:tc>
                  <a:txBody>
                    <a:bodyPr/>
                    <a:lstStyle/>
                    <a:p>
                      <a:pPr algn="ctr" indent="0" marL="0">
                        <a:buNone/>
                      </a:pPr>
                      <a:r>
                        <a:rPr lang="en-US" sz="1300" dirty="0">
                          <a:solidFill>
                            <a:srgbClr val="2B2B25"/>
                          </a:solidFill>
                          <a:latin typeface="Calibri" pitchFamily="34" charset="0"/>
                          <a:ea typeface="Calibri" pitchFamily="34" charset="-122"/>
                          <a:cs typeface="Calibri" pitchFamily="34" charset="-120"/>
                        </a:rPr>
                        <a:t>3%</a:t>
                      </a:r>
                      <a:endParaRPr lang="en-US" sz="1300" dirty="0">
                        <a:latin typeface="Calibri" charset="0"/>
                        <a:ea typeface="Calibri" charset="0"/>
                        <a:cs typeface="Calibri" charset="0"/>
                      </a:endParaRPr>
                    </a:p>
                  </a:txBody>
                  <a:tcPr marL="91440" marR="91440" marT="45720" marB="45720" anchor="ctr">
                    <a:lnL w="9525" cap="flat" cmpd="sng" algn="ctr">
                      <a:solidFill>
                        <a:srgbClr val="D8D2BE"/>
                      </a:solidFill>
                      <a:prstDash val="solid"/>
                      <a:round/>
                      <a:headEnd type="none" w="med" len="med"/>
                      <a:tailEnd type="none" w="med" len="med"/>
                    </a:lnL>
                    <a:lnR w="9525" cap="flat" cmpd="sng" algn="ctr">
                      <a:solidFill>
                        <a:srgbClr val="D8D2BE"/>
                      </a:solidFill>
                      <a:prstDash val="solid"/>
                      <a:round/>
                      <a:headEnd type="none" w="med" len="med"/>
                      <a:tailEnd type="none" w="med" len="med"/>
                    </a:lnR>
                    <a:lnT w="9525" cap="flat" cmpd="sng" algn="ctr">
                      <a:solidFill>
                        <a:srgbClr val="D8D2BE"/>
                      </a:solidFill>
                      <a:prstDash val="solid"/>
                      <a:round/>
                      <a:headEnd type="none" w="med" len="med"/>
                      <a:tailEnd type="none" w="med" len="med"/>
                    </a:lnT>
                    <a:lnB w="9525" cap="flat" cmpd="sng" algn="ctr">
                      <a:solidFill>
                        <a:srgbClr val="D8D2BE"/>
                      </a:solidFill>
                      <a:prstDash val="solid"/>
                      <a:round/>
                      <a:headEnd type="none" w="med" len="med"/>
                      <a:tailEnd type="none" w="med" len="med"/>
                    </a:lnB>
                  </a:tcPr>
                </a:tc>
              </a:tr>
              <a:tr h="429768">
                <a:tc>
                  <a:txBody>
                    <a:bodyPr/>
                    <a:lstStyle/>
                    <a:p>
                      <a:pPr algn="ctr" indent="0" marL="0">
                        <a:buNone/>
                      </a:pPr>
                      <a:r>
                        <a:rPr lang="en-US" sz="1300" dirty="0">
                          <a:solidFill>
                            <a:srgbClr val="2B2B25"/>
                          </a:solidFill>
                          <a:latin typeface="Calibri" pitchFamily="34" charset="0"/>
                          <a:ea typeface="Calibri" pitchFamily="34" charset="-122"/>
                          <a:cs typeface="Calibri" pitchFamily="34" charset="-120"/>
                        </a:rPr>
                        <a:t>2%</a:t>
                      </a:r>
                      <a:endParaRPr lang="en-US" sz="1300" dirty="0">
                        <a:latin typeface="Calibri" charset="0"/>
                        <a:ea typeface="Calibri" charset="0"/>
                        <a:cs typeface="Calibri" charset="0"/>
                      </a:endParaRPr>
                    </a:p>
                  </a:txBody>
                  <a:tcPr marL="91440" marR="91440" marT="45720" marB="45720" anchor="ctr">
                    <a:lnL w="9525" cap="flat" cmpd="sng" algn="ctr">
                      <a:solidFill>
                        <a:srgbClr val="D8D2BE"/>
                      </a:solidFill>
                      <a:prstDash val="solid"/>
                      <a:round/>
                      <a:headEnd type="none" w="med" len="med"/>
                      <a:tailEnd type="none" w="med" len="med"/>
                    </a:lnL>
                    <a:lnR w="9525" cap="flat" cmpd="sng" algn="ctr">
                      <a:solidFill>
                        <a:srgbClr val="D8D2BE"/>
                      </a:solidFill>
                      <a:prstDash val="solid"/>
                      <a:round/>
                      <a:headEnd type="none" w="med" len="med"/>
                      <a:tailEnd type="none" w="med" len="med"/>
                    </a:lnR>
                    <a:lnT w="9525" cap="flat" cmpd="sng" algn="ctr">
                      <a:solidFill>
                        <a:srgbClr val="D8D2BE"/>
                      </a:solidFill>
                      <a:prstDash val="solid"/>
                      <a:round/>
                      <a:headEnd type="none" w="med" len="med"/>
                      <a:tailEnd type="none" w="med" len="med"/>
                    </a:lnT>
                    <a:lnB w="9525" cap="flat" cmpd="sng" algn="ctr">
                      <a:solidFill>
                        <a:srgbClr val="D8D2BE"/>
                      </a:solidFill>
                      <a:prstDash val="solid"/>
                      <a:round/>
                      <a:headEnd type="none" w="med" len="med"/>
                      <a:tailEnd type="none" w="med" len="med"/>
                    </a:lnB>
                  </a:tcPr>
                </a:tc>
                <a:tc>
                  <a:txBody>
                    <a:bodyPr/>
                    <a:lstStyle/>
                    <a:p>
                      <a:pPr algn="ctr" indent="0" marL="0">
                        <a:buNone/>
                      </a:pPr>
                      <a:r>
                        <a:rPr lang="en-US" sz="1300" dirty="0">
                          <a:solidFill>
                            <a:srgbClr val="2B2B25"/>
                          </a:solidFill>
                          <a:latin typeface="Calibri" pitchFamily="34" charset="0"/>
                          <a:ea typeface="Calibri" pitchFamily="34" charset="-122"/>
                          <a:cs typeface="Calibri" pitchFamily="34" charset="-120"/>
                        </a:rPr>
                        <a:t>1%</a:t>
                      </a:r>
                      <a:endParaRPr lang="en-US" sz="1300" dirty="0">
                        <a:latin typeface="Calibri" charset="0"/>
                        <a:ea typeface="Calibri" charset="0"/>
                        <a:cs typeface="Calibri" charset="0"/>
                      </a:endParaRPr>
                    </a:p>
                  </a:txBody>
                  <a:tcPr marL="91440" marR="91440" marT="45720" marB="45720" anchor="ctr">
                    <a:lnL w="9525" cap="flat" cmpd="sng" algn="ctr">
                      <a:solidFill>
                        <a:srgbClr val="D8D2BE"/>
                      </a:solidFill>
                      <a:prstDash val="solid"/>
                      <a:round/>
                      <a:headEnd type="none" w="med" len="med"/>
                      <a:tailEnd type="none" w="med" len="med"/>
                    </a:lnL>
                    <a:lnR w="9525" cap="flat" cmpd="sng" algn="ctr">
                      <a:solidFill>
                        <a:srgbClr val="D8D2BE"/>
                      </a:solidFill>
                      <a:prstDash val="solid"/>
                      <a:round/>
                      <a:headEnd type="none" w="med" len="med"/>
                      <a:tailEnd type="none" w="med" len="med"/>
                    </a:lnR>
                    <a:lnT w="9525" cap="flat" cmpd="sng" algn="ctr">
                      <a:solidFill>
                        <a:srgbClr val="D8D2BE"/>
                      </a:solidFill>
                      <a:prstDash val="solid"/>
                      <a:round/>
                      <a:headEnd type="none" w="med" len="med"/>
                      <a:tailEnd type="none" w="med" len="med"/>
                    </a:lnT>
                    <a:lnB w="9525" cap="flat" cmpd="sng" algn="ctr">
                      <a:solidFill>
                        <a:srgbClr val="D8D2BE"/>
                      </a:solidFill>
                      <a:prstDash val="solid"/>
                      <a:round/>
                      <a:headEnd type="none" w="med" len="med"/>
                      <a:tailEnd type="none" w="med" len="med"/>
                    </a:lnB>
                  </a:tcPr>
                </a:tc>
                <a:tc>
                  <a:txBody>
                    <a:bodyPr/>
                    <a:lstStyle/>
                    <a:p>
                      <a:pPr algn="ctr" indent="0" marL="0">
                        <a:buNone/>
                      </a:pPr>
                      <a:r>
                        <a:rPr lang="en-US" sz="1300" dirty="0">
                          <a:solidFill>
                            <a:srgbClr val="2B2B25"/>
                          </a:solidFill>
                          <a:latin typeface="Calibri" pitchFamily="34" charset="0"/>
                          <a:ea typeface="Calibri" pitchFamily="34" charset="-122"/>
                          <a:cs typeface="Calibri" pitchFamily="34" charset="-120"/>
                        </a:rPr>
                        <a:t>2%</a:t>
                      </a:r>
                      <a:endParaRPr lang="en-US" sz="1300" dirty="0">
                        <a:latin typeface="Calibri" charset="0"/>
                        <a:ea typeface="Calibri" charset="0"/>
                        <a:cs typeface="Calibri" charset="0"/>
                      </a:endParaRPr>
                    </a:p>
                  </a:txBody>
                  <a:tcPr marL="91440" marR="91440" marT="45720" marB="45720" anchor="ctr">
                    <a:lnL w="9525" cap="flat" cmpd="sng" algn="ctr">
                      <a:solidFill>
                        <a:srgbClr val="D8D2BE"/>
                      </a:solidFill>
                      <a:prstDash val="solid"/>
                      <a:round/>
                      <a:headEnd type="none" w="med" len="med"/>
                      <a:tailEnd type="none" w="med" len="med"/>
                    </a:lnL>
                    <a:lnR w="9525" cap="flat" cmpd="sng" algn="ctr">
                      <a:solidFill>
                        <a:srgbClr val="D8D2BE"/>
                      </a:solidFill>
                      <a:prstDash val="solid"/>
                      <a:round/>
                      <a:headEnd type="none" w="med" len="med"/>
                      <a:tailEnd type="none" w="med" len="med"/>
                    </a:lnR>
                    <a:lnT w="9525" cap="flat" cmpd="sng" algn="ctr">
                      <a:solidFill>
                        <a:srgbClr val="D8D2BE"/>
                      </a:solidFill>
                      <a:prstDash val="solid"/>
                      <a:round/>
                      <a:headEnd type="none" w="med" len="med"/>
                      <a:tailEnd type="none" w="med" len="med"/>
                    </a:lnT>
                    <a:lnB w="9525" cap="flat" cmpd="sng" algn="ctr">
                      <a:solidFill>
                        <a:srgbClr val="D8D2BE"/>
                      </a:solidFill>
                      <a:prstDash val="solid"/>
                      <a:round/>
                      <a:headEnd type="none" w="med" len="med"/>
                      <a:tailEnd type="none" w="med" len="med"/>
                    </a:lnB>
                  </a:tcPr>
                </a:tc>
                <a:tc>
                  <a:txBody>
                    <a:bodyPr/>
                    <a:lstStyle/>
                    <a:p>
                      <a:pPr algn="ctr" indent="0" marL="0">
                        <a:buNone/>
                      </a:pPr>
                      <a:r>
                        <a:rPr lang="en-US" sz="1300" dirty="0">
                          <a:solidFill>
                            <a:srgbClr val="2B2B25"/>
                          </a:solidFill>
                          <a:latin typeface="Calibri" pitchFamily="34" charset="0"/>
                          <a:ea typeface="Calibri" pitchFamily="34" charset="-122"/>
                          <a:cs typeface="Calibri" pitchFamily="34" charset="-120"/>
                        </a:rPr>
                        <a:t>5%</a:t>
                      </a:r>
                      <a:endParaRPr lang="en-US" sz="1300" dirty="0">
                        <a:latin typeface="Calibri" charset="0"/>
                        <a:ea typeface="Calibri" charset="0"/>
                        <a:cs typeface="Calibri" charset="0"/>
                      </a:endParaRPr>
                    </a:p>
                  </a:txBody>
                  <a:tcPr marL="91440" marR="91440" marT="45720" marB="45720" anchor="ctr">
                    <a:lnL w="9525" cap="flat" cmpd="sng" algn="ctr">
                      <a:solidFill>
                        <a:srgbClr val="D8D2BE"/>
                      </a:solidFill>
                      <a:prstDash val="solid"/>
                      <a:round/>
                      <a:headEnd type="none" w="med" len="med"/>
                      <a:tailEnd type="none" w="med" len="med"/>
                    </a:lnL>
                    <a:lnR w="9525" cap="flat" cmpd="sng" algn="ctr">
                      <a:solidFill>
                        <a:srgbClr val="D8D2BE"/>
                      </a:solidFill>
                      <a:prstDash val="solid"/>
                      <a:round/>
                      <a:headEnd type="none" w="med" len="med"/>
                      <a:tailEnd type="none" w="med" len="med"/>
                    </a:lnR>
                    <a:lnT w="9525" cap="flat" cmpd="sng" algn="ctr">
                      <a:solidFill>
                        <a:srgbClr val="D8D2BE"/>
                      </a:solidFill>
                      <a:prstDash val="solid"/>
                      <a:round/>
                      <a:headEnd type="none" w="med" len="med"/>
                      <a:tailEnd type="none" w="med" len="med"/>
                    </a:lnT>
                    <a:lnB w="9525" cap="flat" cmpd="sng" algn="ctr">
                      <a:solidFill>
                        <a:srgbClr val="D8D2BE"/>
                      </a:solidFill>
                      <a:prstDash val="solid"/>
                      <a:round/>
                      <a:headEnd type="none" w="med" len="med"/>
                      <a:tailEnd type="none" w="med" len="med"/>
                    </a:lnB>
                  </a:tcPr>
                </a:tc>
              </a:tr>
              <a:tr h="429768">
                <a:tc>
                  <a:txBody>
                    <a:bodyPr/>
                    <a:lstStyle/>
                    <a:p>
                      <a:pPr algn="ctr" indent="0" marL="0">
                        <a:buNone/>
                      </a:pPr>
                      <a:r>
                        <a:rPr lang="en-US" sz="1300" dirty="0">
                          <a:solidFill>
                            <a:srgbClr val="2B2B25"/>
                          </a:solidFill>
                          <a:latin typeface="Calibri" pitchFamily="34" charset="0"/>
                          <a:ea typeface="Calibri" pitchFamily="34" charset="-122"/>
                          <a:cs typeface="Calibri" pitchFamily="34" charset="-120"/>
                        </a:rPr>
                        <a:t>3%</a:t>
                      </a:r>
                      <a:endParaRPr lang="en-US" sz="1300" dirty="0">
                        <a:latin typeface="Calibri" charset="0"/>
                        <a:ea typeface="Calibri" charset="0"/>
                        <a:cs typeface="Calibri" charset="0"/>
                      </a:endParaRPr>
                    </a:p>
                  </a:txBody>
                  <a:tcPr marL="91440" marR="91440" marT="45720" marB="45720" anchor="ctr">
                    <a:lnL w="9525" cap="flat" cmpd="sng" algn="ctr">
                      <a:solidFill>
                        <a:srgbClr val="D8D2BE"/>
                      </a:solidFill>
                      <a:prstDash val="solid"/>
                      <a:round/>
                      <a:headEnd type="none" w="med" len="med"/>
                      <a:tailEnd type="none" w="med" len="med"/>
                    </a:lnL>
                    <a:lnR w="9525" cap="flat" cmpd="sng" algn="ctr">
                      <a:solidFill>
                        <a:srgbClr val="D8D2BE"/>
                      </a:solidFill>
                      <a:prstDash val="solid"/>
                      <a:round/>
                      <a:headEnd type="none" w="med" len="med"/>
                      <a:tailEnd type="none" w="med" len="med"/>
                    </a:lnR>
                    <a:lnT w="9525" cap="flat" cmpd="sng" algn="ctr">
                      <a:solidFill>
                        <a:srgbClr val="D8D2BE"/>
                      </a:solidFill>
                      <a:prstDash val="solid"/>
                      <a:round/>
                      <a:headEnd type="none" w="med" len="med"/>
                      <a:tailEnd type="none" w="med" len="med"/>
                    </a:lnT>
                    <a:lnB w="9525" cap="flat" cmpd="sng" algn="ctr">
                      <a:solidFill>
                        <a:srgbClr val="D8D2BE"/>
                      </a:solidFill>
                      <a:prstDash val="solid"/>
                      <a:round/>
                      <a:headEnd type="none" w="med" len="med"/>
                      <a:tailEnd type="none" w="med" len="med"/>
                    </a:lnB>
                  </a:tcPr>
                </a:tc>
                <a:tc>
                  <a:txBody>
                    <a:bodyPr/>
                    <a:lstStyle/>
                    <a:p>
                      <a:pPr algn="ctr" indent="0" marL="0">
                        <a:buNone/>
                      </a:pPr>
                      <a:r>
                        <a:rPr lang="en-US" sz="1300" dirty="0">
                          <a:solidFill>
                            <a:srgbClr val="2B2B25"/>
                          </a:solidFill>
                          <a:latin typeface="Calibri" pitchFamily="34" charset="0"/>
                          <a:ea typeface="Calibri" pitchFamily="34" charset="-122"/>
                          <a:cs typeface="Calibri" pitchFamily="34" charset="-120"/>
                        </a:rPr>
                        <a:t>1%</a:t>
                      </a:r>
                      <a:endParaRPr lang="en-US" sz="1300" dirty="0">
                        <a:latin typeface="Calibri" charset="0"/>
                        <a:ea typeface="Calibri" charset="0"/>
                        <a:cs typeface="Calibri" charset="0"/>
                      </a:endParaRPr>
                    </a:p>
                  </a:txBody>
                  <a:tcPr marL="91440" marR="91440" marT="45720" marB="45720" anchor="ctr">
                    <a:lnL w="9525" cap="flat" cmpd="sng" algn="ctr">
                      <a:solidFill>
                        <a:srgbClr val="D8D2BE"/>
                      </a:solidFill>
                      <a:prstDash val="solid"/>
                      <a:round/>
                      <a:headEnd type="none" w="med" len="med"/>
                      <a:tailEnd type="none" w="med" len="med"/>
                    </a:lnL>
                    <a:lnR w="9525" cap="flat" cmpd="sng" algn="ctr">
                      <a:solidFill>
                        <a:srgbClr val="D8D2BE"/>
                      </a:solidFill>
                      <a:prstDash val="solid"/>
                      <a:round/>
                      <a:headEnd type="none" w="med" len="med"/>
                      <a:tailEnd type="none" w="med" len="med"/>
                    </a:lnR>
                    <a:lnT w="9525" cap="flat" cmpd="sng" algn="ctr">
                      <a:solidFill>
                        <a:srgbClr val="D8D2BE"/>
                      </a:solidFill>
                      <a:prstDash val="solid"/>
                      <a:round/>
                      <a:headEnd type="none" w="med" len="med"/>
                      <a:tailEnd type="none" w="med" len="med"/>
                    </a:lnT>
                    <a:lnB w="9525" cap="flat" cmpd="sng" algn="ctr">
                      <a:solidFill>
                        <a:srgbClr val="D8D2BE"/>
                      </a:solidFill>
                      <a:prstDash val="solid"/>
                      <a:round/>
                      <a:headEnd type="none" w="med" len="med"/>
                      <a:tailEnd type="none" w="med" len="med"/>
                    </a:lnB>
                  </a:tcPr>
                </a:tc>
                <a:tc>
                  <a:txBody>
                    <a:bodyPr/>
                    <a:lstStyle/>
                    <a:p>
                      <a:pPr algn="ctr" indent="0" marL="0">
                        <a:buNone/>
                      </a:pPr>
                      <a:r>
                        <a:rPr lang="en-US" sz="1300" dirty="0">
                          <a:solidFill>
                            <a:srgbClr val="2B2B25"/>
                          </a:solidFill>
                          <a:latin typeface="Calibri" pitchFamily="34" charset="0"/>
                          <a:ea typeface="Calibri" pitchFamily="34" charset="-122"/>
                          <a:cs typeface="Calibri" pitchFamily="34" charset="-120"/>
                        </a:rPr>
                        <a:t>3%</a:t>
                      </a:r>
                      <a:endParaRPr lang="en-US" sz="1300" dirty="0">
                        <a:latin typeface="Calibri" charset="0"/>
                        <a:ea typeface="Calibri" charset="0"/>
                        <a:cs typeface="Calibri" charset="0"/>
                      </a:endParaRPr>
                    </a:p>
                  </a:txBody>
                  <a:tcPr marL="91440" marR="91440" marT="45720" marB="45720" anchor="ctr">
                    <a:lnL w="9525" cap="flat" cmpd="sng" algn="ctr">
                      <a:solidFill>
                        <a:srgbClr val="D8D2BE"/>
                      </a:solidFill>
                      <a:prstDash val="solid"/>
                      <a:round/>
                      <a:headEnd type="none" w="med" len="med"/>
                      <a:tailEnd type="none" w="med" len="med"/>
                    </a:lnL>
                    <a:lnR w="9525" cap="flat" cmpd="sng" algn="ctr">
                      <a:solidFill>
                        <a:srgbClr val="D8D2BE"/>
                      </a:solidFill>
                      <a:prstDash val="solid"/>
                      <a:round/>
                      <a:headEnd type="none" w="med" len="med"/>
                      <a:tailEnd type="none" w="med" len="med"/>
                    </a:lnR>
                    <a:lnT w="9525" cap="flat" cmpd="sng" algn="ctr">
                      <a:solidFill>
                        <a:srgbClr val="D8D2BE"/>
                      </a:solidFill>
                      <a:prstDash val="solid"/>
                      <a:round/>
                      <a:headEnd type="none" w="med" len="med"/>
                      <a:tailEnd type="none" w="med" len="med"/>
                    </a:lnT>
                    <a:lnB w="9525" cap="flat" cmpd="sng" algn="ctr">
                      <a:solidFill>
                        <a:srgbClr val="D8D2BE"/>
                      </a:solidFill>
                      <a:prstDash val="solid"/>
                      <a:round/>
                      <a:headEnd type="none" w="med" len="med"/>
                      <a:tailEnd type="none" w="med" len="med"/>
                    </a:lnB>
                  </a:tcPr>
                </a:tc>
                <a:tc>
                  <a:txBody>
                    <a:bodyPr/>
                    <a:lstStyle/>
                    <a:p>
                      <a:pPr algn="ctr" indent="0" marL="0">
                        <a:buNone/>
                      </a:pPr>
                      <a:r>
                        <a:rPr lang="en-US" sz="1300" dirty="0">
                          <a:solidFill>
                            <a:srgbClr val="2B2B25"/>
                          </a:solidFill>
                          <a:latin typeface="Calibri" pitchFamily="34" charset="0"/>
                          <a:ea typeface="Calibri" pitchFamily="34" charset="-122"/>
                          <a:cs typeface="Calibri" pitchFamily="34" charset="-120"/>
                        </a:rPr>
                        <a:t>7%</a:t>
                      </a:r>
                      <a:endParaRPr lang="en-US" sz="1300" dirty="0">
                        <a:latin typeface="Calibri" charset="0"/>
                        <a:ea typeface="Calibri" charset="0"/>
                        <a:cs typeface="Calibri" charset="0"/>
                      </a:endParaRPr>
                    </a:p>
                  </a:txBody>
                  <a:tcPr marL="91440" marR="91440" marT="45720" marB="45720" anchor="ctr">
                    <a:lnL w="9525" cap="flat" cmpd="sng" algn="ctr">
                      <a:solidFill>
                        <a:srgbClr val="D8D2BE"/>
                      </a:solidFill>
                      <a:prstDash val="solid"/>
                      <a:round/>
                      <a:headEnd type="none" w="med" len="med"/>
                      <a:tailEnd type="none" w="med" len="med"/>
                    </a:lnL>
                    <a:lnR w="9525" cap="flat" cmpd="sng" algn="ctr">
                      <a:solidFill>
                        <a:srgbClr val="D8D2BE"/>
                      </a:solidFill>
                      <a:prstDash val="solid"/>
                      <a:round/>
                      <a:headEnd type="none" w="med" len="med"/>
                      <a:tailEnd type="none" w="med" len="med"/>
                    </a:lnR>
                    <a:lnT w="9525" cap="flat" cmpd="sng" algn="ctr">
                      <a:solidFill>
                        <a:srgbClr val="D8D2BE"/>
                      </a:solidFill>
                      <a:prstDash val="solid"/>
                      <a:round/>
                      <a:headEnd type="none" w="med" len="med"/>
                      <a:tailEnd type="none" w="med" len="med"/>
                    </a:lnT>
                    <a:lnB w="9525" cap="flat" cmpd="sng" algn="ctr">
                      <a:solidFill>
                        <a:srgbClr val="D8D2BE"/>
                      </a:solidFill>
                      <a:prstDash val="solid"/>
                      <a:round/>
                      <a:headEnd type="none" w="med" len="med"/>
                      <a:tailEnd type="none" w="med" len="med"/>
                    </a:lnB>
                  </a:tcPr>
                </a:tc>
              </a:tr>
              <a:tr h="429768">
                <a:tc>
                  <a:txBody>
                    <a:bodyPr/>
                    <a:lstStyle/>
                    <a:p>
                      <a:pPr algn="ctr" indent="0" marL="0">
                        <a:buNone/>
                      </a:pPr>
                      <a:r>
                        <a:rPr lang="en-US" sz="1300" b="1" dirty="0">
                          <a:solidFill>
                            <a:srgbClr val="2B2B25"/>
                          </a:solidFill>
                          <a:latin typeface="Calibri" pitchFamily="34" charset="0"/>
                          <a:ea typeface="Calibri" pitchFamily="34" charset="-122"/>
                          <a:cs typeface="Calibri" pitchFamily="34" charset="-120"/>
                        </a:rPr>
                        <a:t>4%</a:t>
                      </a:r>
                      <a:endParaRPr lang="en-US" sz="1300" dirty="0">
                        <a:latin typeface="Calibri" charset="0"/>
                        <a:ea typeface="Calibri" charset="0"/>
                        <a:cs typeface="Calibri" charset="0"/>
                      </a:endParaRPr>
                    </a:p>
                  </a:txBody>
                  <a:tcPr marL="91440" marR="91440" marT="45720" marB="45720" anchor="ctr">
                    <a:lnL w="9525" cap="flat" cmpd="sng" algn="ctr">
                      <a:solidFill>
                        <a:srgbClr val="D8D2BE"/>
                      </a:solidFill>
                      <a:prstDash val="solid"/>
                      <a:round/>
                      <a:headEnd type="none" w="med" len="med"/>
                      <a:tailEnd type="none" w="med" len="med"/>
                    </a:lnL>
                    <a:lnR w="9525" cap="flat" cmpd="sng" algn="ctr">
                      <a:solidFill>
                        <a:srgbClr val="D8D2BE"/>
                      </a:solidFill>
                      <a:prstDash val="solid"/>
                      <a:round/>
                      <a:headEnd type="none" w="med" len="med"/>
                      <a:tailEnd type="none" w="med" len="med"/>
                    </a:lnR>
                    <a:lnT w="9525" cap="flat" cmpd="sng" algn="ctr">
                      <a:solidFill>
                        <a:srgbClr val="D8D2BE"/>
                      </a:solidFill>
                      <a:prstDash val="solid"/>
                      <a:round/>
                      <a:headEnd type="none" w="med" len="med"/>
                      <a:tailEnd type="none" w="med" len="med"/>
                    </a:lnT>
                    <a:lnB w="9525" cap="flat" cmpd="sng" algn="ctr">
                      <a:solidFill>
                        <a:srgbClr val="D8D2BE"/>
                      </a:solidFill>
                      <a:prstDash val="solid"/>
                      <a:round/>
                      <a:headEnd type="none" w="med" len="med"/>
                      <a:tailEnd type="none" w="med" len="med"/>
                    </a:lnB>
                  </a:tcPr>
                </a:tc>
                <a:tc>
                  <a:txBody>
                    <a:bodyPr/>
                    <a:lstStyle/>
                    <a:p>
                      <a:pPr algn="ctr" indent="0" marL="0">
                        <a:buNone/>
                      </a:pPr>
                      <a:r>
                        <a:rPr lang="en-US" sz="1300" dirty="0">
                          <a:solidFill>
                            <a:srgbClr val="2B2B25"/>
                          </a:solidFill>
                          <a:latin typeface="Calibri" pitchFamily="34" charset="0"/>
                          <a:ea typeface="Calibri" pitchFamily="34" charset="-122"/>
                          <a:cs typeface="Calibri" pitchFamily="34" charset="-120"/>
                        </a:rPr>
                        <a:t>1%</a:t>
                      </a:r>
                      <a:endParaRPr lang="en-US" sz="1300" dirty="0">
                        <a:latin typeface="Calibri" charset="0"/>
                        <a:ea typeface="Calibri" charset="0"/>
                        <a:cs typeface="Calibri" charset="0"/>
                      </a:endParaRPr>
                    </a:p>
                  </a:txBody>
                  <a:tcPr marL="91440" marR="91440" marT="45720" marB="45720" anchor="ctr">
                    <a:lnL w="9525" cap="flat" cmpd="sng" algn="ctr">
                      <a:solidFill>
                        <a:srgbClr val="D8D2BE"/>
                      </a:solidFill>
                      <a:prstDash val="solid"/>
                      <a:round/>
                      <a:headEnd type="none" w="med" len="med"/>
                      <a:tailEnd type="none" w="med" len="med"/>
                    </a:lnL>
                    <a:lnR w="9525" cap="flat" cmpd="sng" algn="ctr">
                      <a:solidFill>
                        <a:srgbClr val="D8D2BE"/>
                      </a:solidFill>
                      <a:prstDash val="solid"/>
                      <a:round/>
                      <a:headEnd type="none" w="med" len="med"/>
                      <a:tailEnd type="none" w="med" len="med"/>
                    </a:lnR>
                    <a:lnT w="9525" cap="flat" cmpd="sng" algn="ctr">
                      <a:solidFill>
                        <a:srgbClr val="D8D2BE"/>
                      </a:solidFill>
                      <a:prstDash val="solid"/>
                      <a:round/>
                      <a:headEnd type="none" w="med" len="med"/>
                      <a:tailEnd type="none" w="med" len="med"/>
                    </a:lnT>
                    <a:lnB w="9525" cap="flat" cmpd="sng" algn="ctr">
                      <a:solidFill>
                        <a:srgbClr val="D8D2BE"/>
                      </a:solidFill>
                      <a:prstDash val="solid"/>
                      <a:round/>
                      <a:headEnd type="none" w="med" len="med"/>
                      <a:tailEnd type="none" w="med" len="med"/>
                    </a:lnB>
                  </a:tcPr>
                </a:tc>
                <a:tc>
                  <a:txBody>
                    <a:bodyPr/>
                    <a:lstStyle/>
                    <a:p>
                      <a:pPr algn="ctr" indent="0" marL="0">
                        <a:buNone/>
                      </a:pPr>
                      <a:r>
                        <a:rPr lang="en-US" sz="1300" b="1" dirty="0">
                          <a:solidFill>
                            <a:srgbClr val="2B2B25"/>
                          </a:solidFill>
                          <a:latin typeface="Calibri" pitchFamily="34" charset="0"/>
                          <a:ea typeface="Calibri" pitchFamily="34" charset="-122"/>
                          <a:cs typeface="Calibri" pitchFamily="34" charset="-120"/>
                        </a:rPr>
                        <a:t>3.5%</a:t>
                      </a:r>
                      <a:endParaRPr lang="en-US" sz="1300" dirty="0">
                        <a:latin typeface="Calibri" charset="0"/>
                        <a:ea typeface="Calibri" charset="0"/>
                        <a:cs typeface="Calibri" charset="0"/>
                      </a:endParaRPr>
                    </a:p>
                  </a:txBody>
                  <a:tcPr marL="91440" marR="91440" marT="45720" marB="45720" anchor="ctr">
                    <a:lnL w="9525" cap="flat" cmpd="sng" algn="ctr">
                      <a:solidFill>
                        <a:srgbClr val="D8D2BE"/>
                      </a:solidFill>
                      <a:prstDash val="solid"/>
                      <a:round/>
                      <a:headEnd type="none" w="med" len="med"/>
                      <a:tailEnd type="none" w="med" len="med"/>
                    </a:lnL>
                    <a:lnR w="9525" cap="flat" cmpd="sng" algn="ctr">
                      <a:solidFill>
                        <a:srgbClr val="D8D2BE"/>
                      </a:solidFill>
                      <a:prstDash val="solid"/>
                      <a:round/>
                      <a:headEnd type="none" w="med" len="med"/>
                      <a:tailEnd type="none" w="med" len="med"/>
                    </a:lnR>
                    <a:lnT w="9525" cap="flat" cmpd="sng" algn="ctr">
                      <a:solidFill>
                        <a:srgbClr val="D8D2BE"/>
                      </a:solidFill>
                      <a:prstDash val="solid"/>
                      <a:round/>
                      <a:headEnd type="none" w="med" len="med"/>
                      <a:tailEnd type="none" w="med" len="med"/>
                    </a:lnT>
                    <a:lnB w="9525" cap="flat" cmpd="sng" algn="ctr">
                      <a:solidFill>
                        <a:srgbClr val="D8D2BE"/>
                      </a:solidFill>
                      <a:prstDash val="solid"/>
                      <a:round/>
                      <a:headEnd type="none" w="med" len="med"/>
                      <a:tailEnd type="none" w="med" len="med"/>
                    </a:lnB>
                  </a:tcPr>
                </a:tc>
                <a:tc>
                  <a:txBody>
                    <a:bodyPr/>
                    <a:lstStyle/>
                    <a:p>
                      <a:pPr algn="ctr" indent="0" marL="0">
                        <a:buNone/>
                      </a:pPr>
                      <a:r>
                        <a:rPr lang="en-US" sz="1300" b="1" dirty="0">
                          <a:solidFill>
                            <a:srgbClr val="2B2B25"/>
                          </a:solidFill>
                          <a:latin typeface="Calibri" pitchFamily="34" charset="0"/>
                          <a:ea typeface="Calibri" pitchFamily="34" charset="-122"/>
                          <a:cs typeface="Calibri" pitchFamily="34" charset="-120"/>
                        </a:rPr>
                        <a:t>8.5%</a:t>
                      </a:r>
                      <a:endParaRPr lang="en-US" sz="1300" dirty="0">
                        <a:latin typeface="Calibri" charset="0"/>
                        <a:ea typeface="Calibri" charset="0"/>
                        <a:cs typeface="Calibri" charset="0"/>
                      </a:endParaRPr>
                    </a:p>
                  </a:txBody>
                  <a:tcPr marL="91440" marR="91440" marT="45720" marB="45720" anchor="ctr">
                    <a:lnL w="9525" cap="flat" cmpd="sng" algn="ctr">
                      <a:solidFill>
                        <a:srgbClr val="D8D2BE"/>
                      </a:solidFill>
                      <a:prstDash val="solid"/>
                      <a:round/>
                      <a:headEnd type="none" w="med" len="med"/>
                      <a:tailEnd type="none" w="med" len="med"/>
                    </a:lnL>
                    <a:lnR w="9525" cap="flat" cmpd="sng" algn="ctr">
                      <a:solidFill>
                        <a:srgbClr val="D8D2BE"/>
                      </a:solidFill>
                      <a:prstDash val="solid"/>
                      <a:round/>
                      <a:headEnd type="none" w="med" len="med"/>
                      <a:tailEnd type="none" w="med" len="med"/>
                    </a:lnR>
                    <a:lnT w="9525" cap="flat" cmpd="sng" algn="ctr">
                      <a:solidFill>
                        <a:srgbClr val="D8D2BE"/>
                      </a:solidFill>
                      <a:prstDash val="solid"/>
                      <a:round/>
                      <a:headEnd type="none" w="med" len="med"/>
                      <a:tailEnd type="none" w="med" len="med"/>
                    </a:lnT>
                    <a:lnB w="9525" cap="flat" cmpd="sng" algn="ctr">
                      <a:solidFill>
                        <a:srgbClr val="D8D2BE"/>
                      </a:solidFill>
                      <a:prstDash val="solid"/>
                      <a:round/>
                      <a:headEnd type="none" w="med" len="med"/>
                      <a:tailEnd type="none" w="med" len="med"/>
                    </a:lnB>
                  </a:tcPr>
                </a:tc>
              </a:tr>
              <a:tr h="429768">
                <a:tc>
                  <a:txBody>
                    <a:bodyPr/>
                    <a:lstStyle/>
                    <a:p>
                      <a:pPr algn="ctr" indent="0" marL="0">
                        <a:buNone/>
                      </a:pPr>
                      <a:r>
                        <a:rPr lang="en-US" sz="1300" b="1" dirty="0">
                          <a:solidFill>
                            <a:srgbClr val="3C3F2C"/>
                          </a:solidFill>
                          <a:latin typeface="Calibri" pitchFamily="34" charset="0"/>
                          <a:ea typeface="Calibri" pitchFamily="34" charset="-122"/>
                          <a:cs typeface="Calibri" pitchFamily="34" charset="-120"/>
                        </a:rPr>
                        <a:t>5% or more</a:t>
                      </a:r>
                      <a:endParaRPr lang="en-US" sz="1300" dirty="0">
                        <a:latin typeface="Calibri" charset="0"/>
                        <a:ea typeface="Calibri" charset="0"/>
                        <a:cs typeface="Calibri" charset="0"/>
                      </a:endParaRPr>
                    </a:p>
                  </a:txBody>
                  <a:tcPr marL="91440" marR="91440" marT="45720" marB="45720" anchor="ctr">
                    <a:lnL w="9525" cap="flat" cmpd="sng" algn="ctr">
                      <a:solidFill>
                        <a:srgbClr val="D8D2BE"/>
                      </a:solidFill>
                      <a:prstDash val="solid"/>
                      <a:round/>
                      <a:headEnd type="none" w="med" len="med"/>
                      <a:tailEnd type="none" w="med" len="med"/>
                    </a:lnL>
                    <a:lnR w="9525" cap="flat" cmpd="sng" algn="ctr">
                      <a:solidFill>
                        <a:srgbClr val="D8D2BE"/>
                      </a:solidFill>
                      <a:prstDash val="solid"/>
                      <a:round/>
                      <a:headEnd type="none" w="med" len="med"/>
                      <a:tailEnd type="none" w="med" len="med"/>
                    </a:lnR>
                    <a:lnT w="9525" cap="flat" cmpd="sng" algn="ctr">
                      <a:solidFill>
                        <a:srgbClr val="D8D2BE"/>
                      </a:solidFill>
                      <a:prstDash val="solid"/>
                      <a:round/>
                      <a:headEnd type="none" w="med" len="med"/>
                      <a:tailEnd type="none" w="med" len="med"/>
                    </a:lnT>
                    <a:lnB w="9525" cap="flat" cmpd="sng" algn="ctr">
                      <a:solidFill>
                        <a:srgbClr val="D8D2BE"/>
                      </a:solidFill>
                      <a:prstDash val="solid"/>
                      <a:round/>
                      <a:headEnd type="none" w="med" len="med"/>
                      <a:tailEnd type="none" w="med" len="med"/>
                    </a:lnB>
                  </a:tcPr>
                </a:tc>
                <a:tc>
                  <a:txBody>
                    <a:bodyPr/>
                    <a:lstStyle/>
                    <a:p>
                      <a:pPr algn="ctr" indent="0" marL="0">
                        <a:buNone/>
                      </a:pPr>
                      <a:r>
                        <a:rPr lang="en-US" sz="1300" dirty="0">
                          <a:solidFill>
                            <a:srgbClr val="2B2B25"/>
                          </a:solidFill>
                          <a:latin typeface="Calibri" pitchFamily="34" charset="0"/>
                          <a:ea typeface="Calibri" pitchFamily="34" charset="-122"/>
                          <a:cs typeface="Calibri" pitchFamily="34" charset="-120"/>
                        </a:rPr>
                        <a:t>1%</a:t>
                      </a:r>
                      <a:endParaRPr lang="en-US" sz="1300" dirty="0">
                        <a:latin typeface="Calibri" charset="0"/>
                        <a:ea typeface="Calibri" charset="0"/>
                        <a:cs typeface="Calibri" charset="0"/>
                      </a:endParaRPr>
                    </a:p>
                  </a:txBody>
                  <a:tcPr marL="91440" marR="91440" marT="45720" marB="45720" anchor="ctr">
                    <a:lnL w="9525" cap="flat" cmpd="sng" algn="ctr">
                      <a:solidFill>
                        <a:srgbClr val="D8D2BE"/>
                      </a:solidFill>
                      <a:prstDash val="solid"/>
                      <a:round/>
                      <a:headEnd type="none" w="med" len="med"/>
                      <a:tailEnd type="none" w="med" len="med"/>
                    </a:lnL>
                    <a:lnR w="9525" cap="flat" cmpd="sng" algn="ctr">
                      <a:solidFill>
                        <a:srgbClr val="D8D2BE"/>
                      </a:solidFill>
                      <a:prstDash val="solid"/>
                      <a:round/>
                      <a:headEnd type="none" w="med" len="med"/>
                      <a:tailEnd type="none" w="med" len="med"/>
                    </a:lnR>
                    <a:lnT w="9525" cap="flat" cmpd="sng" algn="ctr">
                      <a:solidFill>
                        <a:srgbClr val="D8D2BE"/>
                      </a:solidFill>
                      <a:prstDash val="solid"/>
                      <a:round/>
                      <a:headEnd type="none" w="med" len="med"/>
                      <a:tailEnd type="none" w="med" len="med"/>
                    </a:lnT>
                    <a:lnB w="9525" cap="flat" cmpd="sng" algn="ctr">
                      <a:solidFill>
                        <a:srgbClr val="D8D2BE"/>
                      </a:solidFill>
                      <a:prstDash val="solid"/>
                      <a:round/>
                      <a:headEnd type="none" w="med" len="med"/>
                      <a:tailEnd type="none" w="med" len="med"/>
                    </a:lnB>
                  </a:tcPr>
                </a:tc>
                <a:tc>
                  <a:txBody>
                    <a:bodyPr/>
                    <a:lstStyle/>
                    <a:p>
                      <a:pPr algn="ctr" indent="0" marL="0">
                        <a:buNone/>
                      </a:pPr>
                      <a:r>
                        <a:rPr lang="en-US" sz="1300" b="1" dirty="0">
                          <a:solidFill>
                            <a:srgbClr val="3C3F2C"/>
                          </a:solidFill>
                          <a:latin typeface="Calibri" pitchFamily="34" charset="0"/>
                          <a:ea typeface="Calibri" pitchFamily="34" charset="-122"/>
                          <a:cs typeface="Calibri" pitchFamily="34" charset="-120"/>
                        </a:rPr>
                        <a:t>4% (max)</a:t>
                      </a:r>
                      <a:endParaRPr lang="en-US" sz="1300" dirty="0">
                        <a:latin typeface="Calibri" charset="0"/>
                        <a:ea typeface="Calibri" charset="0"/>
                        <a:cs typeface="Calibri" charset="0"/>
                      </a:endParaRPr>
                    </a:p>
                  </a:txBody>
                  <a:tcPr marL="91440" marR="91440" marT="45720" marB="45720" anchor="ctr">
                    <a:lnL w="9525" cap="flat" cmpd="sng" algn="ctr">
                      <a:solidFill>
                        <a:srgbClr val="D8D2BE"/>
                      </a:solidFill>
                      <a:prstDash val="solid"/>
                      <a:round/>
                      <a:headEnd type="none" w="med" len="med"/>
                      <a:tailEnd type="none" w="med" len="med"/>
                    </a:lnL>
                    <a:lnR w="9525" cap="flat" cmpd="sng" algn="ctr">
                      <a:solidFill>
                        <a:srgbClr val="D8D2BE"/>
                      </a:solidFill>
                      <a:prstDash val="solid"/>
                      <a:round/>
                      <a:headEnd type="none" w="med" len="med"/>
                      <a:tailEnd type="none" w="med" len="med"/>
                    </a:lnR>
                    <a:lnT w="9525" cap="flat" cmpd="sng" algn="ctr">
                      <a:solidFill>
                        <a:srgbClr val="D8D2BE"/>
                      </a:solidFill>
                      <a:prstDash val="solid"/>
                      <a:round/>
                      <a:headEnd type="none" w="med" len="med"/>
                      <a:tailEnd type="none" w="med" len="med"/>
                    </a:lnT>
                    <a:lnB w="9525" cap="flat" cmpd="sng" algn="ctr">
                      <a:solidFill>
                        <a:srgbClr val="D8D2BE"/>
                      </a:solidFill>
                      <a:prstDash val="solid"/>
                      <a:round/>
                      <a:headEnd type="none" w="med" len="med"/>
                      <a:tailEnd type="none" w="med" len="med"/>
                    </a:lnB>
                  </a:tcPr>
                </a:tc>
                <a:tc>
                  <a:txBody>
                    <a:bodyPr/>
                    <a:lstStyle/>
                    <a:p>
                      <a:pPr algn="ctr" indent="0" marL="0">
                        <a:buNone/>
                      </a:pPr>
                      <a:r>
                        <a:rPr lang="en-US" sz="1300" b="1" dirty="0">
                          <a:solidFill>
                            <a:srgbClr val="3C3F2C"/>
                          </a:solidFill>
                          <a:latin typeface="Calibri" pitchFamily="34" charset="0"/>
                          <a:ea typeface="Calibri" pitchFamily="34" charset="-122"/>
                          <a:cs typeface="Calibri" pitchFamily="34" charset="-120"/>
                        </a:rPr>
                        <a:t>10%</a:t>
                      </a:r>
                      <a:endParaRPr lang="en-US" sz="1300" dirty="0">
                        <a:latin typeface="Calibri" charset="0"/>
                        <a:ea typeface="Calibri" charset="0"/>
                        <a:cs typeface="Calibri" charset="0"/>
                      </a:endParaRPr>
                    </a:p>
                  </a:txBody>
                  <a:tcPr marL="91440" marR="91440" marT="45720" marB="45720" anchor="ctr">
                    <a:lnL w="9525" cap="flat" cmpd="sng" algn="ctr">
                      <a:solidFill>
                        <a:srgbClr val="D8D2BE"/>
                      </a:solidFill>
                      <a:prstDash val="solid"/>
                      <a:round/>
                      <a:headEnd type="none" w="med" len="med"/>
                      <a:tailEnd type="none" w="med" len="med"/>
                    </a:lnL>
                    <a:lnR w="9525" cap="flat" cmpd="sng" algn="ctr">
                      <a:solidFill>
                        <a:srgbClr val="D8D2BE"/>
                      </a:solidFill>
                      <a:prstDash val="solid"/>
                      <a:round/>
                      <a:headEnd type="none" w="med" len="med"/>
                      <a:tailEnd type="none" w="med" len="med"/>
                    </a:lnR>
                    <a:lnT w="9525" cap="flat" cmpd="sng" algn="ctr">
                      <a:solidFill>
                        <a:srgbClr val="D8D2BE"/>
                      </a:solidFill>
                      <a:prstDash val="solid"/>
                      <a:round/>
                      <a:headEnd type="none" w="med" len="med"/>
                      <a:tailEnd type="none" w="med" len="med"/>
                    </a:lnT>
                    <a:lnB w="9525" cap="flat" cmpd="sng" algn="ctr">
                      <a:solidFill>
                        <a:srgbClr val="D8D2BE"/>
                      </a:solidFill>
                      <a:prstDash val="solid"/>
                      <a:round/>
                      <a:headEnd type="none" w="med" len="med"/>
                      <a:tailEnd type="none" w="med" len="med"/>
                    </a:lnB>
                  </a:tcPr>
                </a:tc>
              </a:tr>
            </a:tbl>
          </a:graphicData>
        </a:graphic>
      </p:graphicFrame>
      <p:sp>
        <p:nvSpPr>
          <p:cNvPr id="6" name="Shape 3"/>
          <p:cNvSpPr/>
          <p:nvPr/>
        </p:nvSpPr>
        <p:spPr>
          <a:xfrm>
            <a:off x="8229600" y="2057400"/>
            <a:ext cx="3383280" cy="4206240"/>
          </a:xfrm>
          <a:prstGeom prst="roundRect">
            <a:avLst>
              <a:gd name="adj" fmla="val 2162"/>
            </a:avLst>
          </a:prstGeom>
          <a:solidFill>
            <a:srgbClr val="24261A"/>
          </a:solidFill>
          <a:ln/>
          <a:effectLst>
            <a:outerShdw sx="100000" sy="100000" kx="0" ky="0" algn="bl" rotWithShape="0" blurRad="76200" dist="25400" dir="2700000">
              <a:srgbClr val="000000">
                <a:alpha val="15000"/>
              </a:srgbClr>
            </a:outerShdw>
          </a:effectLst>
        </p:spPr>
      </p:sp>
      <p:pic>
        <p:nvPicPr>
          <p:cNvPr id="7" name="Image 0" descr="icon_check.png">    </p:cNvPr>
          <p:cNvPicPr>
            <a:picLocks noChangeAspect="1"/>
          </p:cNvPicPr>
          <p:nvPr/>
        </p:nvPicPr>
        <p:blipFill>
          <a:blip r:embed="rId1"/>
          <a:stretch>
            <a:fillRect/>
          </a:stretch>
        </p:blipFill>
        <p:spPr>
          <a:xfrm>
            <a:off x="8503920" y="2286000"/>
            <a:ext cx="457200" cy="457200"/>
          </a:xfrm>
          <a:prstGeom prst="rect">
            <a:avLst/>
          </a:prstGeom>
        </p:spPr>
      </p:pic>
      <p:sp>
        <p:nvSpPr>
          <p:cNvPr id="8" name="Text 4"/>
          <p:cNvSpPr/>
          <p:nvPr/>
        </p:nvSpPr>
        <p:spPr>
          <a:xfrm>
            <a:off x="8503920" y="2834640"/>
            <a:ext cx="2926080" cy="365760"/>
          </a:xfrm>
          <a:prstGeom prst="rect">
            <a:avLst/>
          </a:prstGeom>
          <a:noFill/>
          <a:ln/>
        </p:spPr>
        <p:txBody>
          <a:bodyPr wrap="square" lIns="0" tIns="0" rIns="0" bIns="0" rtlCol="0" anchor="ctr"/>
          <a:lstStyle/>
          <a:p>
            <a:pPr indent="0" marL="0">
              <a:buNone/>
            </a:pPr>
            <a:r>
              <a:rPr lang="en-US" sz="1500" b="1" dirty="0">
                <a:solidFill>
                  <a:srgbClr val="C9A227"/>
                </a:solidFill>
                <a:latin typeface="Calibri" pitchFamily="34" charset="0"/>
                <a:ea typeface="Calibri" pitchFamily="34" charset="-122"/>
                <a:cs typeface="Calibri" pitchFamily="34" charset="-120"/>
              </a:rPr>
              <a:t>In Real Dollars</a:t>
            </a:r>
            <a:endParaRPr lang="en-US" sz="1500" dirty="0"/>
          </a:p>
        </p:txBody>
      </p:sp>
      <p:sp>
        <p:nvSpPr>
          <p:cNvPr id="9" name="Text 5"/>
          <p:cNvSpPr/>
          <p:nvPr/>
        </p:nvSpPr>
        <p:spPr>
          <a:xfrm>
            <a:off x="8503920" y="3246120"/>
            <a:ext cx="2880360" cy="2880360"/>
          </a:xfrm>
          <a:prstGeom prst="rect">
            <a:avLst/>
          </a:prstGeom>
          <a:noFill/>
          <a:ln/>
        </p:spPr>
        <p:txBody>
          <a:bodyPr wrap="square" lIns="0" tIns="0" rIns="0" bIns="0" rtlCol="0" anchor="t"/>
          <a:lstStyle/>
          <a:p>
            <a:pPr indent="0" marL="0">
              <a:spcAft>
                <a:spcPts val="800"/>
              </a:spcAft>
              <a:buNone/>
            </a:pPr>
            <a:r>
              <a:rPr lang="en-US" sz="1200" dirty="0">
                <a:solidFill>
                  <a:srgbClr val="FFFFFF"/>
                </a:solidFill>
                <a:latin typeface="Calibri" pitchFamily="34" charset="0"/>
                <a:ea typeface="Calibri" pitchFamily="34" charset="-122"/>
                <a:cs typeface="Calibri" pitchFamily="34" charset="-120"/>
              </a:rPr>
              <a:t>Say your base pay is $2,000/month.</a:t>
            </a:r>
            <a:endParaRPr lang="en-US" sz="1200" dirty="0"/>
          </a:p>
          <a:p>
            <a:pPr indent="0" marL="0">
              <a:spcAft>
                <a:spcPts val="800"/>
              </a:spcAft>
              <a:buNone/>
            </a:pPr>
            <a:r>
              <a:rPr lang="en-US" sz="1200" dirty="0">
                <a:solidFill>
                  <a:srgbClr val="FFFFFF"/>
                </a:solidFill>
                <a:latin typeface="Calibri" pitchFamily="34" charset="0"/>
                <a:ea typeface="Calibri" pitchFamily="34" charset="-122"/>
                <a:cs typeface="Calibri" pitchFamily="34" charset="-120"/>
              </a:rPr>
              <a:t>Contribute 5% ($100/mo) and the Army adds another $100/mo on top — for free.</a:t>
            </a:r>
            <a:endParaRPr lang="en-US" sz="1200" dirty="0"/>
          </a:p>
          <a:p>
            <a:pPr indent="0" marL="0">
              <a:buNone/>
            </a:pPr>
            <a:r>
              <a:rPr lang="en-US" sz="1200" b="1" dirty="0">
                <a:solidFill>
                  <a:srgbClr val="FFFFFF"/>
                </a:solidFill>
                <a:latin typeface="Calibri" pitchFamily="34" charset="0"/>
                <a:ea typeface="Calibri" pitchFamily="34" charset="-122"/>
                <a:cs typeface="Calibri" pitchFamily="34" charset="-120"/>
              </a:rPr>
              <a:t>Contribute 0% and you leave that $100/mo on the table every single month.</a:t>
            </a:r>
            <a:endParaRPr lang="en-US" sz="1200" dirty="0"/>
          </a:p>
        </p:txBody>
      </p:sp>
      <p:sp>
        <p:nvSpPr>
          <p:cNvPr id="10" name="Text 6"/>
          <p:cNvSpPr/>
          <p:nvPr/>
        </p:nvSpPr>
        <p:spPr>
          <a:xfrm>
            <a:off x="0" y="6492240"/>
            <a:ext cx="12191695" cy="274320"/>
          </a:xfrm>
          <a:prstGeom prst="rect">
            <a:avLst/>
          </a:prstGeom>
          <a:noFill/>
          <a:ln/>
        </p:spPr>
        <p:txBody>
          <a:bodyPr wrap="square" rtlCol="0" anchor="ctr"/>
          <a:lstStyle/>
          <a:p>
            <a:pPr algn="ctr" indent="0" marL="0">
              <a:buNone/>
            </a:pPr>
            <a:r>
              <a:rPr lang="en-US" sz="900" dirty="0">
                <a:solidFill>
                  <a:srgbClr val="9C9C90"/>
                </a:solidFill>
                <a:latin typeface="Calibri" pitchFamily="34" charset="0"/>
                <a:ea typeface="Calibri" pitchFamily="34" charset="-122"/>
                <a:cs typeface="Calibri" pitchFamily="34" charset="-120"/>
              </a:rPr>
              <a:t>TSP BRIEFING  |  4</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51560"/>
          </a:xfrm>
          <a:prstGeom prst="rect">
            <a:avLst/>
          </a:prstGeom>
          <a:solidFill>
            <a:srgbClr val="3C3F2C"/>
          </a:solidFill>
          <a:ln/>
        </p:spPr>
      </p:sp>
      <p:sp>
        <p:nvSpPr>
          <p:cNvPr id="3" name="Text 1"/>
          <p:cNvSpPr/>
          <p:nvPr/>
        </p:nvSpPr>
        <p:spPr>
          <a:xfrm>
            <a:off x="548640" y="256032"/>
            <a:ext cx="11155680" cy="548640"/>
          </a:xfrm>
          <a:prstGeom prst="rect">
            <a:avLst/>
          </a:prstGeom>
          <a:noFill/>
          <a:ln/>
        </p:spPr>
        <p:txBody>
          <a:bodyPr wrap="square" lIns="0" tIns="0" rIns="0" bIns="0" rtlCol="0" anchor="ctr"/>
          <a:lstStyle/>
          <a:p>
            <a:pPr indent="0" marL="0">
              <a:buNone/>
            </a:pPr>
            <a:r>
              <a:rPr lang="en-US" sz="2600" b="1" dirty="0">
                <a:solidFill>
                  <a:srgbClr val="FFFFFF"/>
                </a:solidFill>
                <a:latin typeface="Cambria" pitchFamily="34" charset="0"/>
                <a:ea typeface="Cambria" pitchFamily="34" charset="-122"/>
                <a:cs typeface="Cambria" pitchFamily="34" charset="-120"/>
              </a:rPr>
              <a:t>TRADITIONAL vs. ROTH: WHEN DO YOU PAY TAX?</a:t>
            </a:r>
            <a:endParaRPr lang="en-US" sz="2600" dirty="0"/>
          </a:p>
        </p:txBody>
      </p:sp>
      <p:sp>
        <p:nvSpPr>
          <p:cNvPr id="4" name="Text 2"/>
          <p:cNvSpPr/>
          <p:nvPr/>
        </p:nvSpPr>
        <p:spPr>
          <a:xfrm>
            <a:off x="548640" y="1188720"/>
            <a:ext cx="11064240" cy="457200"/>
          </a:xfrm>
          <a:prstGeom prst="rect">
            <a:avLst/>
          </a:prstGeom>
          <a:noFill/>
          <a:ln/>
        </p:spPr>
        <p:txBody>
          <a:bodyPr wrap="square" lIns="0" tIns="0" rIns="0" bIns="0" rtlCol="0" anchor="ctr"/>
          <a:lstStyle/>
          <a:p>
            <a:pPr indent="0" marL="0">
              <a:buNone/>
            </a:pPr>
            <a:r>
              <a:rPr lang="en-US" sz="1400" i="1" dirty="0">
                <a:solidFill>
                  <a:srgbClr val="5B7553"/>
                </a:solidFill>
                <a:latin typeface="Calibri" pitchFamily="34" charset="0"/>
                <a:ea typeface="Calibri" pitchFamily="34" charset="-122"/>
                <a:cs typeface="Calibri" pitchFamily="34" charset="-120"/>
              </a:rPr>
              <a:t>Both options put your money into the same funds. The only difference is WHEN the government takes its cut in taxes.</a:t>
            </a:r>
            <a:endParaRPr lang="en-US" sz="1400" dirty="0"/>
          </a:p>
        </p:txBody>
      </p:sp>
      <p:sp>
        <p:nvSpPr>
          <p:cNvPr id="5" name="Shape 3"/>
          <p:cNvSpPr/>
          <p:nvPr/>
        </p:nvSpPr>
        <p:spPr>
          <a:xfrm>
            <a:off x="548640" y="1783080"/>
            <a:ext cx="5394960" cy="4297680"/>
          </a:xfrm>
          <a:prstGeom prst="roundRect">
            <a:avLst>
              <a:gd name="adj" fmla="val 1702"/>
            </a:avLst>
          </a:prstGeom>
          <a:solidFill>
            <a:srgbClr val="F1EDE3"/>
          </a:solidFill>
          <a:ln/>
          <a:effectLst>
            <a:outerShdw sx="100000" sy="100000" kx="0" ky="0" algn="bl" rotWithShape="0" blurRad="76200" dist="25400" dir="2700000">
              <a:srgbClr val="000000">
                <a:alpha val="10000"/>
              </a:srgbClr>
            </a:outerShdw>
          </a:effectLst>
        </p:spPr>
      </p:sp>
      <p:sp>
        <p:nvSpPr>
          <p:cNvPr id="6" name="Text 4"/>
          <p:cNvSpPr/>
          <p:nvPr/>
        </p:nvSpPr>
        <p:spPr>
          <a:xfrm>
            <a:off x="868680" y="2011680"/>
            <a:ext cx="4754880" cy="457200"/>
          </a:xfrm>
          <a:prstGeom prst="rect">
            <a:avLst/>
          </a:prstGeom>
          <a:noFill/>
          <a:ln/>
        </p:spPr>
        <p:txBody>
          <a:bodyPr wrap="square" lIns="0" tIns="0" rIns="0" bIns="0" rtlCol="0" anchor="ctr"/>
          <a:lstStyle/>
          <a:p>
            <a:pPr indent="0" marL="0">
              <a:buNone/>
            </a:pPr>
            <a:r>
              <a:rPr lang="en-US" sz="2200" b="1" dirty="0">
                <a:solidFill>
                  <a:srgbClr val="3C3F2C"/>
                </a:solidFill>
                <a:latin typeface="Cambria" pitchFamily="34" charset="0"/>
                <a:ea typeface="Cambria" pitchFamily="34" charset="-122"/>
                <a:cs typeface="Cambria" pitchFamily="34" charset="-120"/>
              </a:rPr>
              <a:t>TRADITIONAL</a:t>
            </a:r>
            <a:endParaRPr lang="en-US" sz="2200" dirty="0"/>
          </a:p>
        </p:txBody>
      </p:sp>
      <p:sp>
        <p:nvSpPr>
          <p:cNvPr id="7" name="Text 5"/>
          <p:cNvSpPr/>
          <p:nvPr/>
        </p:nvSpPr>
        <p:spPr>
          <a:xfrm>
            <a:off x="868680" y="2441448"/>
            <a:ext cx="4754880" cy="320040"/>
          </a:xfrm>
          <a:prstGeom prst="rect">
            <a:avLst/>
          </a:prstGeom>
          <a:noFill/>
          <a:ln/>
        </p:spPr>
        <p:txBody>
          <a:bodyPr wrap="square" lIns="0" tIns="0" rIns="0" bIns="0" rtlCol="0" anchor="ctr"/>
          <a:lstStyle/>
          <a:p>
            <a:pPr indent="0" marL="0">
              <a:buNone/>
            </a:pPr>
            <a:r>
              <a:rPr lang="en-US" sz="1300" i="1" dirty="0">
                <a:solidFill>
                  <a:srgbClr val="5B7553"/>
                </a:solidFill>
                <a:latin typeface="Calibri" pitchFamily="34" charset="0"/>
                <a:ea typeface="Calibri" pitchFamily="34" charset="-122"/>
                <a:cs typeface="Calibri" pitchFamily="34" charset="-120"/>
              </a:rPr>
              <a:t>Pay tax later</a:t>
            </a:r>
            <a:endParaRPr lang="en-US" sz="1300" dirty="0"/>
          </a:p>
        </p:txBody>
      </p:sp>
      <p:sp>
        <p:nvSpPr>
          <p:cNvPr id="8" name="Text 6"/>
          <p:cNvSpPr/>
          <p:nvPr/>
        </p:nvSpPr>
        <p:spPr>
          <a:xfrm>
            <a:off x="868680" y="2926080"/>
            <a:ext cx="4754880" cy="2926080"/>
          </a:xfrm>
          <a:prstGeom prst="rect">
            <a:avLst/>
          </a:prstGeom>
          <a:noFill/>
          <a:ln/>
        </p:spPr>
        <p:txBody>
          <a:bodyPr wrap="square" lIns="0" tIns="0" rIns="0" bIns="0" rtlCol="0" anchor="t"/>
          <a:lstStyle/>
          <a:p>
            <a:pPr marL="228600" indent="-228600">
              <a:spcAft>
                <a:spcPts val="1200"/>
              </a:spcAft>
              <a:buSzPct val="100000"/>
              <a:buChar char="•"/>
            </a:pPr>
            <a:r>
              <a:rPr lang="en-US" sz="1250" dirty="0">
                <a:solidFill>
                  <a:srgbClr val="2B2B25"/>
                </a:solidFill>
                <a:latin typeface="Calibri" pitchFamily="34" charset="0"/>
                <a:ea typeface="Calibri" pitchFamily="34" charset="-122"/>
                <a:cs typeface="Calibri" pitchFamily="34" charset="-120"/>
              </a:rPr>
              <a:t>Money comes out of your check before taxes — you pay less tax today</a:t>
            </a:r>
            <a:endParaRPr lang="en-US" sz="1250" dirty="0"/>
          </a:p>
          <a:p>
            <a:pPr marL="228600" indent="-228600">
              <a:spcAft>
                <a:spcPts val="1200"/>
              </a:spcAft>
              <a:buSzPct val="100000"/>
              <a:buChar char="•"/>
            </a:pPr>
            <a:r>
              <a:rPr lang="en-US" sz="1250" dirty="0">
                <a:solidFill>
                  <a:srgbClr val="2B2B25"/>
                </a:solidFill>
                <a:latin typeface="Calibri" pitchFamily="34" charset="0"/>
                <a:ea typeface="Calibri" pitchFamily="34" charset="-122"/>
                <a:cs typeface="Calibri" pitchFamily="34" charset="-120"/>
              </a:rPr>
              <a:t>It grows for years without being taxed along the way</a:t>
            </a:r>
            <a:endParaRPr lang="en-US" sz="1250" dirty="0"/>
          </a:p>
          <a:p>
            <a:pPr marL="228600" indent="-228600">
              <a:spcAft>
                <a:spcPts val="1200"/>
              </a:spcAft>
              <a:buSzPct val="100000"/>
              <a:buChar char="•"/>
            </a:pPr>
            <a:r>
              <a:rPr lang="en-US" sz="1250" dirty="0">
                <a:solidFill>
                  <a:srgbClr val="2B2B25"/>
                </a:solidFill>
                <a:latin typeface="Calibri" pitchFamily="34" charset="0"/>
                <a:ea typeface="Calibri" pitchFamily="34" charset="-122"/>
                <a:cs typeface="Calibri" pitchFamily="34" charset="-120"/>
              </a:rPr>
              <a:t>When you withdraw it in retirement, THAT'S when you pay income tax</a:t>
            </a:r>
            <a:endParaRPr lang="en-US" sz="1250" dirty="0"/>
          </a:p>
          <a:p>
            <a:pPr marL="228600" indent="-228600">
              <a:spcAft>
                <a:spcPts val="1200"/>
              </a:spcAft>
              <a:buSzPct val="100000"/>
              <a:buChar char="•"/>
            </a:pPr>
            <a:r>
              <a:rPr lang="en-US" sz="1250" dirty="0">
                <a:solidFill>
                  <a:srgbClr val="2B2B25"/>
                </a:solidFill>
                <a:latin typeface="Calibri" pitchFamily="34" charset="0"/>
                <a:ea typeface="Calibri" pitchFamily="34" charset="-122"/>
                <a:cs typeface="Calibri" pitchFamily="34" charset="-120"/>
              </a:rPr>
              <a:t>Good fit if you think you'll be in a lower tax bracket once retired</a:t>
            </a:r>
            <a:endParaRPr lang="en-US" sz="1250" dirty="0"/>
          </a:p>
        </p:txBody>
      </p:sp>
      <p:sp>
        <p:nvSpPr>
          <p:cNvPr id="9" name="Shape 7"/>
          <p:cNvSpPr/>
          <p:nvPr/>
        </p:nvSpPr>
        <p:spPr>
          <a:xfrm>
            <a:off x="6217920" y="1783080"/>
            <a:ext cx="5394960" cy="4297680"/>
          </a:xfrm>
          <a:prstGeom prst="roundRect">
            <a:avLst>
              <a:gd name="adj" fmla="val 1702"/>
            </a:avLst>
          </a:prstGeom>
          <a:solidFill>
            <a:srgbClr val="EFEBDD"/>
          </a:solidFill>
          <a:ln/>
          <a:effectLst>
            <a:outerShdw sx="100000" sy="100000" kx="0" ky="0" algn="bl" rotWithShape="0" blurRad="76200" dist="25400" dir="2700000">
              <a:srgbClr val="000000">
                <a:alpha val="10000"/>
              </a:srgbClr>
            </a:outerShdw>
          </a:effectLst>
        </p:spPr>
      </p:sp>
      <p:sp>
        <p:nvSpPr>
          <p:cNvPr id="10" name="Text 8"/>
          <p:cNvSpPr/>
          <p:nvPr/>
        </p:nvSpPr>
        <p:spPr>
          <a:xfrm>
            <a:off x="6537960" y="2011680"/>
            <a:ext cx="4754880" cy="457200"/>
          </a:xfrm>
          <a:prstGeom prst="rect">
            <a:avLst/>
          </a:prstGeom>
          <a:noFill/>
          <a:ln/>
        </p:spPr>
        <p:txBody>
          <a:bodyPr wrap="square" lIns="0" tIns="0" rIns="0" bIns="0" rtlCol="0" anchor="ctr"/>
          <a:lstStyle/>
          <a:p>
            <a:pPr indent="0" marL="0">
              <a:buNone/>
            </a:pPr>
            <a:r>
              <a:rPr lang="en-US" sz="2200" b="1" dirty="0">
                <a:solidFill>
                  <a:srgbClr val="3C3F2C"/>
                </a:solidFill>
                <a:latin typeface="Cambria" pitchFamily="34" charset="0"/>
                <a:ea typeface="Cambria" pitchFamily="34" charset="-122"/>
                <a:cs typeface="Cambria" pitchFamily="34" charset="-120"/>
              </a:rPr>
              <a:t>ROTH</a:t>
            </a:r>
            <a:endParaRPr lang="en-US" sz="2200" dirty="0"/>
          </a:p>
        </p:txBody>
      </p:sp>
      <p:sp>
        <p:nvSpPr>
          <p:cNvPr id="11" name="Text 9"/>
          <p:cNvSpPr/>
          <p:nvPr/>
        </p:nvSpPr>
        <p:spPr>
          <a:xfrm>
            <a:off x="6537960" y="2441448"/>
            <a:ext cx="4754880" cy="320040"/>
          </a:xfrm>
          <a:prstGeom prst="rect">
            <a:avLst/>
          </a:prstGeom>
          <a:noFill/>
          <a:ln/>
        </p:spPr>
        <p:txBody>
          <a:bodyPr wrap="square" lIns="0" tIns="0" rIns="0" bIns="0" rtlCol="0" anchor="ctr"/>
          <a:lstStyle/>
          <a:p>
            <a:pPr indent="0" marL="0">
              <a:buNone/>
            </a:pPr>
            <a:r>
              <a:rPr lang="en-US" sz="1300" i="1" dirty="0">
                <a:solidFill>
                  <a:srgbClr val="5B7553"/>
                </a:solidFill>
                <a:latin typeface="Calibri" pitchFamily="34" charset="0"/>
                <a:ea typeface="Calibri" pitchFamily="34" charset="-122"/>
                <a:cs typeface="Calibri" pitchFamily="34" charset="-120"/>
              </a:rPr>
              <a:t>Pay tax now</a:t>
            </a:r>
            <a:endParaRPr lang="en-US" sz="1300" dirty="0"/>
          </a:p>
        </p:txBody>
      </p:sp>
      <p:sp>
        <p:nvSpPr>
          <p:cNvPr id="12" name="Text 10"/>
          <p:cNvSpPr/>
          <p:nvPr/>
        </p:nvSpPr>
        <p:spPr>
          <a:xfrm>
            <a:off x="6537960" y="2926080"/>
            <a:ext cx="4754880" cy="2926080"/>
          </a:xfrm>
          <a:prstGeom prst="rect">
            <a:avLst/>
          </a:prstGeom>
          <a:noFill/>
          <a:ln/>
        </p:spPr>
        <p:txBody>
          <a:bodyPr wrap="square" lIns="0" tIns="0" rIns="0" bIns="0" rtlCol="0" anchor="t"/>
          <a:lstStyle/>
          <a:p>
            <a:pPr marL="228600" indent="-228600">
              <a:spcAft>
                <a:spcPts val="1200"/>
              </a:spcAft>
              <a:buSzPct val="100000"/>
              <a:buChar char="•"/>
            </a:pPr>
            <a:r>
              <a:rPr lang="en-US" sz="1250" dirty="0">
                <a:solidFill>
                  <a:srgbClr val="2B2B25"/>
                </a:solidFill>
                <a:latin typeface="Calibri" pitchFamily="34" charset="0"/>
                <a:ea typeface="Calibri" pitchFamily="34" charset="-122"/>
                <a:cs typeface="Calibri" pitchFamily="34" charset="-120"/>
              </a:rPr>
              <a:t>Money comes out of your check after taxes — you pay tax on it today</a:t>
            </a:r>
            <a:endParaRPr lang="en-US" sz="1250" dirty="0"/>
          </a:p>
          <a:p>
            <a:pPr marL="228600" indent="-228600">
              <a:spcAft>
                <a:spcPts val="1200"/>
              </a:spcAft>
              <a:buSzPct val="100000"/>
              <a:buChar char="•"/>
            </a:pPr>
            <a:r>
              <a:rPr lang="en-US" sz="1250" dirty="0">
                <a:solidFill>
                  <a:srgbClr val="2B2B25"/>
                </a:solidFill>
                <a:latin typeface="Calibri" pitchFamily="34" charset="0"/>
                <a:ea typeface="Calibri" pitchFamily="34" charset="-122"/>
                <a:cs typeface="Calibri" pitchFamily="34" charset="-120"/>
              </a:rPr>
              <a:t>It grows for years completely tax-free</a:t>
            </a:r>
            <a:endParaRPr lang="en-US" sz="1250" dirty="0"/>
          </a:p>
          <a:p>
            <a:pPr marL="228600" indent="-228600">
              <a:spcAft>
                <a:spcPts val="1200"/>
              </a:spcAft>
              <a:buSzPct val="100000"/>
              <a:buChar char="•"/>
            </a:pPr>
            <a:r>
              <a:rPr lang="en-US" sz="1250" dirty="0">
                <a:solidFill>
                  <a:srgbClr val="2B2B25"/>
                </a:solidFill>
                <a:latin typeface="Calibri" pitchFamily="34" charset="0"/>
                <a:ea typeface="Calibri" pitchFamily="34" charset="-122"/>
                <a:cs typeface="Calibri" pitchFamily="34" charset="-120"/>
              </a:rPr>
              <a:t>When you withdraw it in retirement, you owe nothing — it's already been taxed</a:t>
            </a:r>
            <a:endParaRPr lang="en-US" sz="1250" dirty="0"/>
          </a:p>
          <a:p>
            <a:pPr marL="228600" indent="-228600">
              <a:spcAft>
                <a:spcPts val="1200"/>
              </a:spcAft>
              <a:buSzPct val="100000"/>
              <a:buChar char="•"/>
            </a:pPr>
            <a:r>
              <a:rPr lang="en-US" sz="1250" dirty="0">
                <a:solidFill>
                  <a:srgbClr val="2B2B25"/>
                </a:solidFill>
                <a:latin typeface="Calibri" pitchFamily="34" charset="0"/>
                <a:ea typeface="Calibri" pitchFamily="34" charset="-122"/>
                <a:cs typeface="Calibri" pitchFamily="34" charset="-120"/>
              </a:rPr>
              <a:t>Great fit right now, since junior enlisted are usually in the lowest tax bracket they'll ever be in</a:t>
            </a:r>
            <a:endParaRPr lang="en-US" sz="1250" dirty="0"/>
          </a:p>
        </p:txBody>
      </p:sp>
      <p:sp>
        <p:nvSpPr>
          <p:cNvPr id="13" name="Text 11"/>
          <p:cNvSpPr/>
          <p:nvPr/>
        </p:nvSpPr>
        <p:spPr>
          <a:xfrm>
            <a:off x="0" y="6492240"/>
            <a:ext cx="12191695" cy="274320"/>
          </a:xfrm>
          <a:prstGeom prst="rect">
            <a:avLst/>
          </a:prstGeom>
          <a:noFill/>
          <a:ln/>
        </p:spPr>
        <p:txBody>
          <a:bodyPr wrap="square" rtlCol="0" anchor="ctr"/>
          <a:lstStyle/>
          <a:p>
            <a:pPr algn="ctr" indent="0" marL="0">
              <a:buNone/>
            </a:pPr>
            <a:r>
              <a:rPr lang="en-US" sz="900" dirty="0">
                <a:solidFill>
                  <a:srgbClr val="9C9C90"/>
                </a:solidFill>
                <a:latin typeface="Calibri" pitchFamily="34" charset="0"/>
                <a:ea typeface="Calibri" pitchFamily="34" charset="-122"/>
                <a:cs typeface="Calibri" pitchFamily="34" charset="-120"/>
              </a:rPr>
              <a:t>TSP BRIEFING  |  5</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51560"/>
          </a:xfrm>
          <a:prstGeom prst="rect">
            <a:avLst/>
          </a:prstGeom>
          <a:solidFill>
            <a:srgbClr val="3C3F2C"/>
          </a:solidFill>
          <a:ln/>
        </p:spPr>
      </p:sp>
      <p:sp>
        <p:nvSpPr>
          <p:cNvPr id="3" name="Text 1"/>
          <p:cNvSpPr/>
          <p:nvPr/>
        </p:nvSpPr>
        <p:spPr>
          <a:xfrm>
            <a:off x="548640" y="256032"/>
            <a:ext cx="11155680" cy="54864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THE FIVE INVESTMENT FUNDS</a:t>
            </a:r>
            <a:endParaRPr lang="en-US" sz="3000" dirty="0"/>
          </a:p>
        </p:txBody>
      </p:sp>
      <p:sp>
        <p:nvSpPr>
          <p:cNvPr id="4" name="Shape 2"/>
          <p:cNvSpPr/>
          <p:nvPr/>
        </p:nvSpPr>
        <p:spPr>
          <a:xfrm>
            <a:off x="548640" y="1417320"/>
            <a:ext cx="2121408" cy="4892040"/>
          </a:xfrm>
          <a:prstGeom prst="roundRect">
            <a:avLst>
              <a:gd name="adj" fmla="val 3448"/>
            </a:avLst>
          </a:prstGeom>
          <a:solidFill>
            <a:srgbClr val="F1EDE3"/>
          </a:solidFill>
          <a:ln/>
          <a:effectLst>
            <a:outerShdw sx="100000" sy="100000" kx="0" ky="0" algn="bl" rotWithShape="0" blurRad="76200" dist="25400" dir="2700000">
              <a:srgbClr val="000000">
                <a:alpha val="12000"/>
              </a:srgbClr>
            </a:outerShdw>
          </a:effectLst>
        </p:spPr>
      </p:sp>
      <p:sp>
        <p:nvSpPr>
          <p:cNvPr id="5" name="Shape 3"/>
          <p:cNvSpPr/>
          <p:nvPr/>
        </p:nvSpPr>
        <p:spPr>
          <a:xfrm>
            <a:off x="1243584" y="1645920"/>
            <a:ext cx="731520" cy="731520"/>
          </a:xfrm>
          <a:prstGeom prst="ellipse">
            <a:avLst/>
          </a:prstGeom>
          <a:solidFill>
            <a:srgbClr val="3C3F2C"/>
          </a:solidFill>
          <a:ln/>
        </p:spPr>
      </p:sp>
      <p:sp>
        <p:nvSpPr>
          <p:cNvPr id="6" name="Text 4"/>
          <p:cNvSpPr/>
          <p:nvPr/>
        </p:nvSpPr>
        <p:spPr>
          <a:xfrm>
            <a:off x="1243584" y="1645920"/>
            <a:ext cx="731520" cy="731520"/>
          </a:xfrm>
          <a:prstGeom prst="rect">
            <a:avLst/>
          </a:prstGeom>
          <a:noFill/>
          <a:ln/>
        </p:spPr>
        <p:txBody>
          <a:bodyPr wrap="square" lIns="0" tIns="0" rIns="0" bIns="0" rtlCol="0" anchor="ctr"/>
          <a:lstStyle/>
          <a:p>
            <a:pPr algn="ctr" indent="0" marL="0">
              <a:buNone/>
            </a:pPr>
            <a:r>
              <a:rPr lang="en-US" sz="2800" b="1" dirty="0">
                <a:solidFill>
                  <a:srgbClr val="C9A227"/>
                </a:solidFill>
                <a:latin typeface="Cambria" pitchFamily="34" charset="0"/>
                <a:ea typeface="Cambria" pitchFamily="34" charset="-122"/>
                <a:cs typeface="Cambria" pitchFamily="34" charset="-120"/>
              </a:rPr>
              <a:t>G</a:t>
            </a:r>
            <a:endParaRPr lang="en-US" sz="2800" dirty="0"/>
          </a:p>
        </p:txBody>
      </p:sp>
      <p:sp>
        <p:nvSpPr>
          <p:cNvPr id="7" name="Text 5"/>
          <p:cNvSpPr/>
          <p:nvPr/>
        </p:nvSpPr>
        <p:spPr>
          <a:xfrm>
            <a:off x="685800" y="2560320"/>
            <a:ext cx="1847088" cy="685800"/>
          </a:xfrm>
          <a:prstGeom prst="rect">
            <a:avLst/>
          </a:prstGeom>
          <a:noFill/>
          <a:ln/>
        </p:spPr>
        <p:txBody>
          <a:bodyPr wrap="square" lIns="0" tIns="0" rIns="0" bIns="0" rtlCol="0" anchor="t"/>
          <a:lstStyle/>
          <a:p>
            <a:pPr algn="ctr" indent="0" marL="0">
              <a:buNone/>
            </a:pPr>
            <a:r>
              <a:rPr lang="en-US" sz="1300" b="1" dirty="0">
                <a:solidFill>
                  <a:srgbClr val="3C3F2C"/>
                </a:solidFill>
                <a:latin typeface="Calibri" pitchFamily="34" charset="0"/>
                <a:ea typeface="Calibri" pitchFamily="34" charset="-122"/>
                <a:cs typeface="Calibri" pitchFamily="34" charset="-120"/>
              </a:rPr>
              <a:t>Government Securities</a:t>
            </a:r>
            <a:endParaRPr lang="en-US" sz="1300" dirty="0"/>
          </a:p>
        </p:txBody>
      </p:sp>
      <p:sp>
        <p:nvSpPr>
          <p:cNvPr id="8" name="Text 6"/>
          <p:cNvSpPr/>
          <p:nvPr/>
        </p:nvSpPr>
        <p:spPr>
          <a:xfrm>
            <a:off x="685800" y="3291840"/>
            <a:ext cx="1847088" cy="320040"/>
          </a:xfrm>
          <a:prstGeom prst="rect">
            <a:avLst/>
          </a:prstGeom>
          <a:noFill/>
          <a:ln/>
        </p:spPr>
        <p:txBody>
          <a:bodyPr wrap="square" lIns="0" tIns="0" rIns="0" bIns="0" rtlCol="0" anchor="ctr"/>
          <a:lstStyle/>
          <a:p>
            <a:pPr algn="ctr" indent="0" marL="0">
              <a:buNone/>
            </a:pPr>
            <a:r>
              <a:rPr lang="en-US" sz="1100" i="1" dirty="0">
                <a:solidFill>
                  <a:srgbClr val="5B7553"/>
                </a:solidFill>
                <a:latin typeface="Calibri" pitchFamily="34" charset="0"/>
                <a:ea typeface="Calibri" pitchFamily="34" charset="-122"/>
                <a:cs typeface="Calibri" pitchFamily="34" charset="-120"/>
              </a:rPr>
              <a:t>Safest</a:t>
            </a:r>
            <a:endParaRPr lang="en-US" sz="1100" dirty="0"/>
          </a:p>
        </p:txBody>
      </p:sp>
      <p:sp>
        <p:nvSpPr>
          <p:cNvPr id="9" name="Text 7"/>
          <p:cNvSpPr/>
          <p:nvPr/>
        </p:nvSpPr>
        <p:spPr>
          <a:xfrm>
            <a:off x="685800" y="3703320"/>
            <a:ext cx="1847088" cy="2423160"/>
          </a:xfrm>
          <a:prstGeom prst="rect">
            <a:avLst/>
          </a:prstGeom>
          <a:noFill/>
          <a:ln/>
        </p:spPr>
        <p:txBody>
          <a:bodyPr wrap="square" lIns="0" tIns="0" rIns="0" bIns="0" rtlCol="0" anchor="t"/>
          <a:lstStyle/>
          <a:p>
            <a:pPr algn="ctr" indent="0" marL="0">
              <a:buNone/>
            </a:pPr>
            <a:r>
              <a:rPr lang="en-US" sz="1050" dirty="0">
                <a:solidFill>
                  <a:srgbClr val="2B2B25"/>
                </a:solidFill>
                <a:latin typeface="Calibri" pitchFamily="34" charset="0"/>
                <a:ea typeface="Calibri" pitchFamily="34" charset="-122"/>
                <a:cs typeface="Calibri" pitchFamily="34" charset="-120"/>
              </a:rPr>
              <a:t>Your money is loaned to the U.S. government. It never loses value, but it grows the slowest.</a:t>
            </a:r>
            <a:endParaRPr lang="en-US" sz="1050" dirty="0"/>
          </a:p>
        </p:txBody>
      </p:sp>
      <p:sp>
        <p:nvSpPr>
          <p:cNvPr id="10" name="Shape 8"/>
          <p:cNvSpPr/>
          <p:nvPr/>
        </p:nvSpPr>
        <p:spPr>
          <a:xfrm>
            <a:off x="2852928" y="1417320"/>
            <a:ext cx="2121408" cy="4892040"/>
          </a:xfrm>
          <a:prstGeom prst="roundRect">
            <a:avLst>
              <a:gd name="adj" fmla="val 3448"/>
            </a:avLst>
          </a:prstGeom>
          <a:solidFill>
            <a:srgbClr val="F1EDE3"/>
          </a:solidFill>
          <a:ln/>
          <a:effectLst>
            <a:outerShdw sx="100000" sy="100000" kx="0" ky="0" algn="bl" rotWithShape="0" blurRad="76200" dist="25400" dir="2700000">
              <a:srgbClr val="000000">
                <a:alpha val="12000"/>
              </a:srgbClr>
            </a:outerShdw>
          </a:effectLst>
        </p:spPr>
      </p:sp>
      <p:sp>
        <p:nvSpPr>
          <p:cNvPr id="11" name="Shape 9"/>
          <p:cNvSpPr/>
          <p:nvPr/>
        </p:nvSpPr>
        <p:spPr>
          <a:xfrm>
            <a:off x="3547872" y="1645920"/>
            <a:ext cx="731520" cy="731520"/>
          </a:xfrm>
          <a:prstGeom prst="ellipse">
            <a:avLst/>
          </a:prstGeom>
          <a:solidFill>
            <a:srgbClr val="3C3F2C"/>
          </a:solidFill>
          <a:ln/>
        </p:spPr>
      </p:sp>
      <p:sp>
        <p:nvSpPr>
          <p:cNvPr id="12" name="Text 10"/>
          <p:cNvSpPr/>
          <p:nvPr/>
        </p:nvSpPr>
        <p:spPr>
          <a:xfrm>
            <a:off x="3547872" y="1645920"/>
            <a:ext cx="731520" cy="731520"/>
          </a:xfrm>
          <a:prstGeom prst="rect">
            <a:avLst/>
          </a:prstGeom>
          <a:noFill/>
          <a:ln/>
        </p:spPr>
        <p:txBody>
          <a:bodyPr wrap="square" lIns="0" tIns="0" rIns="0" bIns="0" rtlCol="0" anchor="ctr"/>
          <a:lstStyle/>
          <a:p>
            <a:pPr algn="ctr" indent="0" marL="0">
              <a:buNone/>
            </a:pPr>
            <a:r>
              <a:rPr lang="en-US" sz="2800" b="1" dirty="0">
                <a:solidFill>
                  <a:srgbClr val="C9A227"/>
                </a:solidFill>
                <a:latin typeface="Cambria" pitchFamily="34" charset="0"/>
                <a:ea typeface="Cambria" pitchFamily="34" charset="-122"/>
                <a:cs typeface="Cambria" pitchFamily="34" charset="-120"/>
              </a:rPr>
              <a:t>F</a:t>
            </a:r>
            <a:endParaRPr lang="en-US" sz="2800" dirty="0"/>
          </a:p>
        </p:txBody>
      </p:sp>
      <p:sp>
        <p:nvSpPr>
          <p:cNvPr id="13" name="Text 11"/>
          <p:cNvSpPr/>
          <p:nvPr/>
        </p:nvSpPr>
        <p:spPr>
          <a:xfrm>
            <a:off x="2990088" y="2560320"/>
            <a:ext cx="1847088" cy="685800"/>
          </a:xfrm>
          <a:prstGeom prst="rect">
            <a:avLst/>
          </a:prstGeom>
          <a:noFill/>
          <a:ln/>
        </p:spPr>
        <p:txBody>
          <a:bodyPr wrap="square" lIns="0" tIns="0" rIns="0" bIns="0" rtlCol="0" anchor="t"/>
          <a:lstStyle/>
          <a:p>
            <a:pPr algn="ctr" indent="0" marL="0">
              <a:buNone/>
            </a:pPr>
            <a:r>
              <a:rPr lang="en-US" sz="1300" b="1" dirty="0">
                <a:solidFill>
                  <a:srgbClr val="3C3F2C"/>
                </a:solidFill>
                <a:latin typeface="Calibri" pitchFamily="34" charset="0"/>
                <a:ea typeface="Calibri" pitchFamily="34" charset="-122"/>
                <a:cs typeface="Calibri" pitchFamily="34" charset="-120"/>
              </a:rPr>
              <a:t>Bonds</a:t>
            </a:r>
            <a:endParaRPr lang="en-US" sz="1300" dirty="0"/>
          </a:p>
        </p:txBody>
      </p:sp>
      <p:sp>
        <p:nvSpPr>
          <p:cNvPr id="14" name="Text 12"/>
          <p:cNvSpPr/>
          <p:nvPr/>
        </p:nvSpPr>
        <p:spPr>
          <a:xfrm>
            <a:off x="2990088" y="3291840"/>
            <a:ext cx="1847088" cy="320040"/>
          </a:xfrm>
          <a:prstGeom prst="rect">
            <a:avLst/>
          </a:prstGeom>
          <a:noFill/>
          <a:ln/>
        </p:spPr>
        <p:txBody>
          <a:bodyPr wrap="square" lIns="0" tIns="0" rIns="0" bIns="0" rtlCol="0" anchor="ctr"/>
          <a:lstStyle/>
          <a:p>
            <a:pPr algn="ctr" indent="0" marL="0">
              <a:buNone/>
            </a:pPr>
            <a:r>
              <a:rPr lang="en-US" sz="1100" i="1" dirty="0">
                <a:solidFill>
                  <a:srgbClr val="5B7553"/>
                </a:solidFill>
                <a:latin typeface="Calibri" pitchFamily="34" charset="0"/>
                <a:ea typeface="Calibri" pitchFamily="34" charset="-122"/>
                <a:cs typeface="Calibri" pitchFamily="34" charset="-120"/>
              </a:rPr>
              <a:t>Low Risk</a:t>
            </a:r>
            <a:endParaRPr lang="en-US" sz="1100" dirty="0"/>
          </a:p>
        </p:txBody>
      </p:sp>
      <p:sp>
        <p:nvSpPr>
          <p:cNvPr id="15" name="Text 13"/>
          <p:cNvSpPr/>
          <p:nvPr/>
        </p:nvSpPr>
        <p:spPr>
          <a:xfrm>
            <a:off x="2990088" y="3703320"/>
            <a:ext cx="1847088" cy="2423160"/>
          </a:xfrm>
          <a:prstGeom prst="rect">
            <a:avLst/>
          </a:prstGeom>
          <a:noFill/>
          <a:ln/>
        </p:spPr>
        <p:txBody>
          <a:bodyPr wrap="square" lIns="0" tIns="0" rIns="0" bIns="0" rtlCol="0" anchor="t"/>
          <a:lstStyle/>
          <a:p>
            <a:pPr algn="ctr" indent="0" marL="0">
              <a:buNone/>
            </a:pPr>
            <a:r>
              <a:rPr lang="en-US" sz="1050" dirty="0">
                <a:solidFill>
                  <a:srgbClr val="2B2B25"/>
                </a:solidFill>
                <a:latin typeface="Calibri" pitchFamily="34" charset="0"/>
                <a:ea typeface="Calibri" pitchFamily="34" charset="-122"/>
                <a:cs typeface="Calibri" pitchFamily="34" charset="-120"/>
              </a:rPr>
              <a:t>Loans to companies and governments. Steadier than stocks, with modest growth.</a:t>
            </a:r>
            <a:endParaRPr lang="en-US" sz="1050" dirty="0"/>
          </a:p>
        </p:txBody>
      </p:sp>
      <p:sp>
        <p:nvSpPr>
          <p:cNvPr id="16" name="Shape 14"/>
          <p:cNvSpPr/>
          <p:nvPr/>
        </p:nvSpPr>
        <p:spPr>
          <a:xfrm>
            <a:off x="5157216" y="1417320"/>
            <a:ext cx="2121408" cy="4892040"/>
          </a:xfrm>
          <a:prstGeom prst="roundRect">
            <a:avLst>
              <a:gd name="adj" fmla="val 3448"/>
            </a:avLst>
          </a:prstGeom>
          <a:solidFill>
            <a:srgbClr val="F1EDE3"/>
          </a:solidFill>
          <a:ln/>
          <a:effectLst>
            <a:outerShdw sx="100000" sy="100000" kx="0" ky="0" algn="bl" rotWithShape="0" blurRad="76200" dist="25400" dir="2700000">
              <a:srgbClr val="000000">
                <a:alpha val="12000"/>
              </a:srgbClr>
            </a:outerShdw>
          </a:effectLst>
        </p:spPr>
      </p:sp>
      <p:sp>
        <p:nvSpPr>
          <p:cNvPr id="17" name="Shape 15"/>
          <p:cNvSpPr/>
          <p:nvPr/>
        </p:nvSpPr>
        <p:spPr>
          <a:xfrm>
            <a:off x="5852160" y="1645920"/>
            <a:ext cx="731520" cy="731520"/>
          </a:xfrm>
          <a:prstGeom prst="ellipse">
            <a:avLst/>
          </a:prstGeom>
          <a:solidFill>
            <a:srgbClr val="3C3F2C"/>
          </a:solidFill>
          <a:ln/>
        </p:spPr>
      </p:sp>
      <p:sp>
        <p:nvSpPr>
          <p:cNvPr id="18" name="Text 16"/>
          <p:cNvSpPr/>
          <p:nvPr/>
        </p:nvSpPr>
        <p:spPr>
          <a:xfrm>
            <a:off x="5852160" y="1645920"/>
            <a:ext cx="731520" cy="731520"/>
          </a:xfrm>
          <a:prstGeom prst="rect">
            <a:avLst/>
          </a:prstGeom>
          <a:noFill/>
          <a:ln/>
        </p:spPr>
        <p:txBody>
          <a:bodyPr wrap="square" lIns="0" tIns="0" rIns="0" bIns="0" rtlCol="0" anchor="ctr"/>
          <a:lstStyle/>
          <a:p>
            <a:pPr algn="ctr" indent="0" marL="0">
              <a:buNone/>
            </a:pPr>
            <a:r>
              <a:rPr lang="en-US" sz="2800" b="1" dirty="0">
                <a:solidFill>
                  <a:srgbClr val="C9A227"/>
                </a:solidFill>
                <a:latin typeface="Cambria" pitchFamily="34" charset="0"/>
                <a:ea typeface="Cambria" pitchFamily="34" charset="-122"/>
                <a:cs typeface="Cambria" pitchFamily="34" charset="-120"/>
              </a:rPr>
              <a:t>C</a:t>
            </a:r>
            <a:endParaRPr lang="en-US" sz="2800" dirty="0"/>
          </a:p>
        </p:txBody>
      </p:sp>
      <p:sp>
        <p:nvSpPr>
          <p:cNvPr id="19" name="Text 17"/>
          <p:cNvSpPr/>
          <p:nvPr/>
        </p:nvSpPr>
        <p:spPr>
          <a:xfrm>
            <a:off x="5294376" y="2560320"/>
            <a:ext cx="1847088" cy="685800"/>
          </a:xfrm>
          <a:prstGeom prst="rect">
            <a:avLst/>
          </a:prstGeom>
          <a:noFill/>
          <a:ln/>
        </p:spPr>
        <p:txBody>
          <a:bodyPr wrap="square" lIns="0" tIns="0" rIns="0" bIns="0" rtlCol="0" anchor="t"/>
          <a:lstStyle/>
          <a:p>
            <a:pPr algn="ctr" indent="0" marL="0">
              <a:buNone/>
            </a:pPr>
            <a:r>
              <a:rPr lang="en-US" sz="1300" b="1" dirty="0">
                <a:solidFill>
                  <a:srgbClr val="3C3F2C"/>
                </a:solidFill>
                <a:latin typeface="Calibri" pitchFamily="34" charset="0"/>
                <a:ea typeface="Calibri" pitchFamily="34" charset="-122"/>
                <a:cs typeface="Calibri" pitchFamily="34" charset="-120"/>
              </a:rPr>
              <a:t>Big U.S. Companies</a:t>
            </a:r>
            <a:endParaRPr lang="en-US" sz="1300" dirty="0"/>
          </a:p>
        </p:txBody>
      </p:sp>
      <p:sp>
        <p:nvSpPr>
          <p:cNvPr id="20" name="Text 18"/>
          <p:cNvSpPr/>
          <p:nvPr/>
        </p:nvSpPr>
        <p:spPr>
          <a:xfrm>
            <a:off x="5294376" y="3291840"/>
            <a:ext cx="1847088" cy="320040"/>
          </a:xfrm>
          <a:prstGeom prst="rect">
            <a:avLst/>
          </a:prstGeom>
          <a:noFill/>
          <a:ln/>
        </p:spPr>
        <p:txBody>
          <a:bodyPr wrap="square" lIns="0" tIns="0" rIns="0" bIns="0" rtlCol="0" anchor="ctr"/>
          <a:lstStyle/>
          <a:p>
            <a:pPr algn="ctr" indent="0" marL="0">
              <a:buNone/>
            </a:pPr>
            <a:r>
              <a:rPr lang="en-US" sz="1100" i="1" dirty="0">
                <a:solidFill>
                  <a:srgbClr val="5B7553"/>
                </a:solidFill>
                <a:latin typeface="Calibri" pitchFamily="34" charset="0"/>
                <a:ea typeface="Calibri" pitchFamily="34" charset="-122"/>
                <a:cs typeface="Calibri" pitchFamily="34" charset="-120"/>
              </a:rPr>
              <a:t>Medium-High Risk</a:t>
            </a:r>
            <a:endParaRPr lang="en-US" sz="1100" dirty="0"/>
          </a:p>
        </p:txBody>
      </p:sp>
      <p:sp>
        <p:nvSpPr>
          <p:cNvPr id="21" name="Text 19"/>
          <p:cNvSpPr/>
          <p:nvPr/>
        </p:nvSpPr>
        <p:spPr>
          <a:xfrm>
            <a:off x="5294376" y="3703320"/>
            <a:ext cx="1847088" cy="2423160"/>
          </a:xfrm>
          <a:prstGeom prst="rect">
            <a:avLst/>
          </a:prstGeom>
          <a:noFill/>
          <a:ln/>
        </p:spPr>
        <p:txBody>
          <a:bodyPr wrap="square" lIns="0" tIns="0" rIns="0" bIns="0" rtlCol="0" anchor="t"/>
          <a:lstStyle/>
          <a:p>
            <a:pPr algn="ctr" indent="0" marL="0">
              <a:buNone/>
            </a:pPr>
            <a:r>
              <a:rPr lang="en-US" sz="1050" dirty="0">
                <a:solidFill>
                  <a:srgbClr val="2B2B25"/>
                </a:solidFill>
                <a:latin typeface="Calibri" pitchFamily="34" charset="0"/>
                <a:ea typeface="Calibri" pitchFamily="34" charset="-122"/>
                <a:cs typeface="Calibri" pitchFamily="34" charset="-120"/>
              </a:rPr>
              <a:t>Ownership in 500 of the largest U.S. companies. Historically the strongest long-term grower.</a:t>
            </a:r>
            <a:endParaRPr lang="en-US" sz="1050" dirty="0"/>
          </a:p>
        </p:txBody>
      </p:sp>
      <p:sp>
        <p:nvSpPr>
          <p:cNvPr id="22" name="Shape 20"/>
          <p:cNvSpPr/>
          <p:nvPr/>
        </p:nvSpPr>
        <p:spPr>
          <a:xfrm>
            <a:off x="7461504" y="1417320"/>
            <a:ext cx="2121408" cy="4892040"/>
          </a:xfrm>
          <a:prstGeom prst="roundRect">
            <a:avLst>
              <a:gd name="adj" fmla="val 3448"/>
            </a:avLst>
          </a:prstGeom>
          <a:solidFill>
            <a:srgbClr val="F1EDE3"/>
          </a:solidFill>
          <a:ln/>
          <a:effectLst>
            <a:outerShdw sx="100000" sy="100000" kx="0" ky="0" algn="bl" rotWithShape="0" blurRad="76200" dist="25400" dir="2700000">
              <a:srgbClr val="000000">
                <a:alpha val="12000"/>
              </a:srgbClr>
            </a:outerShdw>
          </a:effectLst>
        </p:spPr>
      </p:sp>
      <p:sp>
        <p:nvSpPr>
          <p:cNvPr id="23" name="Shape 21"/>
          <p:cNvSpPr/>
          <p:nvPr/>
        </p:nvSpPr>
        <p:spPr>
          <a:xfrm>
            <a:off x="8156448" y="1645920"/>
            <a:ext cx="731520" cy="731520"/>
          </a:xfrm>
          <a:prstGeom prst="ellipse">
            <a:avLst/>
          </a:prstGeom>
          <a:solidFill>
            <a:srgbClr val="3C3F2C"/>
          </a:solidFill>
          <a:ln/>
        </p:spPr>
      </p:sp>
      <p:sp>
        <p:nvSpPr>
          <p:cNvPr id="24" name="Text 22"/>
          <p:cNvSpPr/>
          <p:nvPr/>
        </p:nvSpPr>
        <p:spPr>
          <a:xfrm>
            <a:off x="8156448" y="1645920"/>
            <a:ext cx="731520" cy="731520"/>
          </a:xfrm>
          <a:prstGeom prst="rect">
            <a:avLst/>
          </a:prstGeom>
          <a:noFill/>
          <a:ln/>
        </p:spPr>
        <p:txBody>
          <a:bodyPr wrap="square" lIns="0" tIns="0" rIns="0" bIns="0" rtlCol="0" anchor="ctr"/>
          <a:lstStyle/>
          <a:p>
            <a:pPr algn="ctr" indent="0" marL="0">
              <a:buNone/>
            </a:pPr>
            <a:r>
              <a:rPr lang="en-US" sz="2800" b="1" dirty="0">
                <a:solidFill>
                  <a:srgbClr val="C9A227"/>
                </a:solidFill>
                <a:latin typeface="Cambria" pitchFamily="34" charset="0"/>
                <a:ea typeface="Cambria" pitchFamily="34" charset="-122"/>
                <a:cs typeface="Cambria" pitchFamily="34" charset="-120"/>
              </a:rPr>
              <a:t>S</a:t>
            </a:r>
            <a:endParaRPr lang="en-US" sz="2800" dirty="0"/>
          </a:p>
        </p:txBody>
      </p:sp>
      <p:sp>
        <p:nvSpPr>
          <p:cNvPr id="25" name="Text 23"/>
          <p:cNvSpPr/>
          <p:nvPr/>
        </p:nvSpPr>
        <p:spPr>
          <a:xfrm>
            <a:off x="7598664" y="2560320"/>
            <a:ext cx="1847088" cy="685800"/>
          </a:xfrm>
          <a:prstGeom prst="rect">
            <a:avLst/>
          </a:prstGeom>
          <a:noFill/>
          <a:ln/>
        </p:spPr>
        <p:txBody>
          <a:bodyPr wrap="square" lIns="0" tIns="0" rIns="0" bIns="0" rtlCol="0" anchor="t"/>
          <a:lstStyle/>
          <a:p>
            <a:pPr algn="ctr" indent="0" marL="0">
              <a:buNone/>
            </a:pPr>
            <a:r>
              <a:rPr lang="en-US" sz="1300" b="1" dirty="0">
                <a:solidFill>
                  <a:srgbClr val="3C3F2C"/>
                </a:solidFill>
                <a:latin typeface="Calibri" pitchFamily="34" charset="0"/>
                <a:ea typeface="Calibri" pitchFamily="34" charset="-122"/>
                <a:cs typeface="Calibri" pitchFamily="34" charset="-120"/>
              </a:rPr>
              <a:t>Smaller U.S. Companies</a:t>
            </a:r>
            <a:endParaRPr lang="en-US" sz="1300" dirty="0"/>
          </a:p>
        </p:txBody>
      </p:sp>
      <p:sp>
        <p:nvSpPr>
          <p:cNvPr id="26" name="Text 24"/>
          <p:cNvSpPr/>
          <p:nvPr/>
        </p:nvSpPr>
        <p:spPr>
          <a:xfrm>
            <a:off x="7598664" y="3291840"/>
            <a:ext cx="1847088" cy="320040"/>
          </a:xfrm>
          <a:prstGeom prst="rect">
            <a:avLst/>
          </a:prstGeom>
          <a:noFill/>
          <a:ln/>
        </p:spPr>
        <p:txBody>
          <a:bodyPr wrap="square" lIns="0" tIns="0" rIns="0" bIns="0" rtlCol="0" anchor="ctr"/>
          <a:lstStyle/>
          <a:p>
            <a:pPr algn="ctr" indent="0" marL="0">
              <a:buNone/>
            </a:pPr>
            <a:r>
              <a:rPr lang="en-US" sz="1100" i="1" dirty="0">
                <a:solidFill>
                  <a:srgbClr val="5B7553"/>
                </a:solidFill>
                <a:latin typeface="Calibri" pitchFamily="34" charset="0"/>
                <a:ea typeface="Calibri" pitchFamily="34" charset="-122"/>
                <a:cs typeface="Calibri" pitchFamily="34" charset="-120"/>
              </a:rPr>
              <a:t>High Risk</a:t>
            </a:r>
            <a:endParaRPr lang="en-US" sz="1100" dirty="0"/>
          </a:p>
        </p:txBody>
      </p:sp>
      <p:sp>
        <p:nvSpPr>
          <p:cNvPr id="27" name="Text 25"/>
          <p:cNvSpPr/>
          <p:nvPr/>
        </p:nvSpPr>
        <p:spPr>
          <a:xfrm>
            <a:off x="7598664" y="3703320"/>
            <a:ext cx="1847088" cy="2423160"/>
          </a:xfrm>
          <a:prstGeom prst="rect">
            <a:avLst/>
          </a:prstGeom>
          <a:noFill/>
          <a:ln/>
        </p:spPr>
        <p:txBody>
          <a:bodyPr wrap="square" lIns="0" tIns="0" rIns="0" bIns="0" rtlCol="0" anchor="t"/>
          <a:lstStyle/>
          <a:p>
            <a:pPr algn="ctr" indent="0" marL="0">
              <a:buNone/>
            </a:pPr>
            <a:r>
              <a:rPr lang="en-US" sz="1050" dirty="0">
                <a:solidFill>
                  <a:srgbClr val="2B2B25"/>
                </a:solidFill>
                <a:latin typeface="Calibri" pitchFamily="34" charset="0"/>
                <a:ea typeface="Calibri" pitchFamily="34" charset="-122"/>
                <a:cs typeface="Calibri" pitchFamily="34" charset="-120"/>
              </a:rPr>
              <a:t>Ownership in smaller, up-and-coming U.S. companies. More bumpy, more potential upside.</a:t>
            </a:r>
            <a:endParaRPr lang="en-US" sz="1050" dirty="0"/>
          </a:p>
        </p:txBody>
      </p:sp>
      <p:sp>
        <p:nvSpPr>
          <p:cNvPr id="28" name="Shape 26"/>
          <p:cNvSpPr/>
          <p:nvPr/>
        </p:nvSpPr>
        <p:spPr>
          <a:xfrm>
            <a:off x="9765792" y="1417320"/>
            <a:ext cx="2121408" cy="4892040"/>
          </a:xfrm>
          <a:prstGeom prst="roundRect">
            <a:avLst>
              <a:gd name="adj" fmla="val 3448"/>
            </a:avLst>
          </a:prstGeom>
          <a:solidFill>
            <a:srgbClr val="F1EDE3"/>
          </a:solidFill>
          <a:ln/>
          <a:effectLst>
            <a:outerShdw sx="100000" sy="100000" kx="0" ky="0" algn="bl" rotWithShape="0" blurRad="76200" dist="25400" dir="2700000">
              <a:srgbClr val="000000">
                <a:alpha val="12000"/>
              </a:srgbClr>
            </a:outerShdw>
          </a:effectLst>
        </p:spPr>
      </p:sp>
      <p:sp>
        <p:nvSpPr>
          <p:cNvPr id="29" name="Shape 27"/>
          <p:cNvSpPr/>
          <p:nvPr/>
        </p:nvSpPr>
        <p:spPr>
          <a:xfrm>
            <a:off x="10460736" y="1645920"/>
            <a:ext cx="731520" cy="731520"/>
          </a:xfrm>
          <a:prstGeom prst="ellipse">
            <a:avLst/>
          </a:prstGeom>
          <a:solidFill>
            <a:srgbClr val="3C3F2C"/>
          </a:solidFill>
          <a:ln/>
        </p:spPr>
      </p:sp>
      <p:sp>
        <p:nvSpPr>
          <p:cNvPr id="30" name="Text 28"/>
          <p:cNvSpPr/>
          <p:nvPr/>
        </p:nvSpPr>
        <p:spPr>
          <a:xfrm>
            <a:off x="10460736" y="1645920"/>
            <a:ext cx="731520" cy="731520"/>
          </a:xfrm>
          <a:prstGeom prst="rect">
            <a:avLst/>
          </a:prstGeom>
          <a:noFill/>
          <a:ln/>
        </p:spPr>
        <p:txBody>
          <a:bodyPr wrap="square" lIns="0" tIns="0" rIns="0" bIns="0" rtlCol="0" anchor="ctr"/>
          <a:lstStyle/>
          <a:p>
            <a:pPr algn="ctr" indent="0" marL="0">
              <a:buNone/>
            </a:pPr>
            <a:r>
              <a:rPr lang="en-US" sz="2800" b="1" dirty="0">
                <a:solidFill>
                  <a:srgbClr val="C9A227"/>
                </a:solidFill>
                <a:latin typeface="Cambria" pitchFamily="34" charset="0"/>
                <a:ea typeface="Cambria" pitchFamily="34" charset="-122"/>
                <a:cs typeface="Cambria" pitchFamily="34" charset="-120"/>
              </a:rPr>
              <a:t>I</a:t>
            </a:r>
            <a:endParaRPr lang="en-US" sz="2800" dirty="0"/>
          </a:p>
        </p:txBody>
      </p:sp>
      <p:sp>
        <p:nvSpPr>
          <p:cNvPr id="31" name="Text 29"/>
          <p:cNvSpPr/>
          <p:nvPr/>
        </p:nvSpPr>
        <p:spPr>
          <a:xfrm>
            <a:off x="9902952" y="2560320"/>
            <a:ext cx="1847088" cy="685800"/>
          </a:xfrm>
          <a:prstGeom prst="rect">
            <a:avLst/>
          </a:prstGeom>
          <a:noFill/>
          <a:ln/>
        </p:spPr>
        <p:txBody>
          <a:bodyPr wrap="square" lIns="0" tIns="0" rIns="0" bIns="0" rtlCol="0" anchor="t"/>
          <a:lstStyle/>
          <a:p>
            <a:pPr algn="ctr" indent="0" marL="0">
              <a:buNone/>
            </a:pPr>
            <a:r>
              <a:rPr lang="en-US" sz="1300" b="1" dirty="0">
                <a:solidFill>
                  <a:srgbClr val="3C3F2C"/>
                </a:solidFill>
                <a:latin typeface="Calibri" pitchFamily="34" charset="0"/>
                <a:ea typeface="Calibri" pitchFamily="34" charset="-122"/>
                <a:cs typeface="Calibri" pitchFamily="34" charset="-120"/>
              </a:rPr>
              <a:t>International Companies</a:t>
            </a:r>
            <a:endParaRPr lang="en-US" sz="1300" dirty="0"/>
          </a:p>
        </p:txBody>
      </p:sp>
      <p:sp>
        <p:nvSpPr>
          <p:cNvPr id="32" name="Text 30"/>
          <p:cNvSpPr/>
          <p:nvPr/>
        </p:nvSpPr>
        <p:spPr>
          <a:xfrm>
            <a:off x="9902952" y="3291840"/>
            <a:ext cx="1847088" cy="320040"/>
          </a:xfrm>
          <a:prstGeom prst="rect">
            <a:avLst/>
          </a:prstGeom>
          <a:noFill/>
          <a:ln/>
        </p:spPr>
        <p:txBody>
          <a:bodyPr wrap="square" lIns="0" tIns="0" rIns="0" bIns="0" rtlCol="0" anchor="ctr"/>
          <a:lstStyle/>
          <a:p>
            <a:pPr algn="ctr" indent="0" marL="0">
              <a:buNone/>
            </a:pPr>
            <a:r>
              <a:rPr lang="en-US" sz="1100" i="1" dirty="0">
                <a:solidFill>
                  <a:srgbClr val="5B7553"/>
                </a:solidFill>
                <a:latin typeface="Calibri" pitchFamily="34" charset="0"/>
                <a:ea typeface="Calibri" pitchFamily="34" charset="-122"/>
                <a:cs typeface="Calibri" pitchFamily="34" charset="-120"/>
              </a:rPr>
              <a:t>High Risk</a:t>
            </a:r>
            <a:endParaRPr lang="en-US" sz="1100" dirty="0"/>
          </a:p>
        </p:txBody>
      </p:sp>
      <p:sp>
        <p:nvSpPr>
          <p:cNvPr id="33" name="Text 31"/>
          <p:cNvSpPr/>
          <p:nvPr/>
        </p:nvSpPr>
        <p:spPr>
          <a:xfrm>
            <a:off x="9902952" y="3703320"/>
            <a:ext cx="1847088" cy="2423160"/>
          </a:xfrm>
          <a:prstGeom prst="rect">
            <a:avLst/>
          </a:prstGeom>
          <a:noFill/>
          <a:ln/>
        </p:spPr>
        <p:txBody>
          <a:bodyPr wrap="square" lIns="0" tIns="0" rIns="0" bIns="0" rtlCol="0" anchor="t"/>
          <a:lstStyle/>
          <a:p>
            <a:pPr algn="ctr" indent="0" marL="0">
              <a:buNone/>
            </a:pPr>
            <a:r>
              <a:rPr lang="en-US" sz="1050" dirty="0">
                <a:solidFill>
                  <a:srgbClr val="2B2B25"/>
                </a:solidFill>
                <a:latin typeface="Calibri" pitchFamily="34" charset="0"/>
                <a:ea typeface="Calibri" pitchFamily="34" charset="-122"/>
                <a:cs typeface="Calibri" pitchFamily="34" charset="-120"/>
              </a:rPr>
              <a:t>Ownership in companies based outside the U.S. Spreads your risk globally.</a:t>
            </a:r>
            <a:endParaRPr lang="en-US" sz="1050" dirty="0"/>
          </a:p>
        </p:txBody>
      </p:sp>
      <p:sp>
        <p:nvSpPr>
          <p:cNvPr id="34" name="Text 32"/>
          <p:cNvSpPr/>
          <p:nvPr/>
        </p:nvSpPr>
        <p:spPr>
          <a:xfrm>
            <a:off x="0" y="6492240"/>
            <a:ext cx="12191695" cy="274320"/>
          </a:xfrm>
          <a:prstGeom prst="rect">
            <a:avLst/>
          </a:prstGeom>
          <a:noFill/>
          <a:ln/>
        </p:spPr>
        <p:txBody>
          <a:bodyPr wrap="square" rtlCol="0" anchor="ctr"/>
          <a:lstStyle/>
          <a:p>
            <a:pPr algn="ctr" indent="0" marL="0">
              <a:buNone/>
            </a:pPr>
            <a:r>
              <a:rPr lang="en-US" sz="900" dirty="0">
                <a:solidFill>
                  <a:srgbClr val="9C9C90"/>
                </a:solidFill>
                <a:latin typeface="Calibri" pitchFamily="34" charset="0"/>
                <a:ea typeface="Calibri" pitchFamily="34" charset="-122"/>
                <a:cs typeface="Calibri" pitchFamily="34" charset="-120"/>
              </a:rPr>
              <a:t>TSP BRIEFING  |  6</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51560"/>
          </a:xfrm>
          <a:prstGeom prst="rect">
            <a:avLst/>
          </a:prstGeom>
          <a:solidFill>
            <a:srgbClr val="3C3F2C"/>
          </a:solidFill>
          <a:ln/>
        </p:spPr>
      </p:sp>
      <p:sp>
        <p:nvSpPr>
          <p:cNvPr id="3" name="Text 1"/>
          <p:cNvSpPr/>
          <p:nvPr/>
        </p:nvSpPr>
        <p:spPr>
          <a:xfrm>
            <a:off x="548640" y="256032"/>
            <a:ext cx="11155680" cy="548640"/>
          </a:xfrm>
          <a:prstGeom prst="rect">
            <a:avLst/>
          </a:prstGeom>
          <a:noFill/>
          <a:ln/>
        </p:spPr>
        <p:txBody>
          <a:bodyPr wrap="square" lIns="0" tIns="0" rIns="0" bIns="0" rtlCol="0" anchor="ctr"/>
          <a:lstStyle/>
          <a:p>
            <a:pPr indent="0" marL="0">
              <a:buNone/>
            </a:pPr>
            <a:r>
              <a:rPr lang="en-US" sz="2600" b="1" dirty="0">
                <a:solidFill>
                  <a:srgbClr val="FFFFFF"/>
                </a:solidFill>
                <a:latin typeface="Cambria" pitchFamily="34" charset="0"/>
                <a:ea typeface="Cambria" pitchFamily="34" charset="-122"/>
                <a:cs typeface="Cambria" pitchFamily="34" charset="-120"/>
              </a:rPr>
              <a:t>LIFECYCLE (L) FUNDS — THE EASY BUTTON</a:t>
            </a:r>
            <a:endParaRPr lang="en-US" sz="2600" dirty="0"/>
          </a:p>
        </p:txBody>
      </p:sp>
      <p:pic>
        <p:nvPicPr>
          <p:cNvPr id="4" name="Image 0" descr="icon_calendar.png">    </p:cNvPr>
          <p:cNvPicPr>
            <a:picLocks noChangeAspect="1"/>
          </p:cNvPicPr>
          <p:nvPr/>
        </p:nvPicPr>
        <p:blipFill>
          <a:blip r:embed="rId1"/>
          <a:stretch>
            <a:fillRect/>
          </a:stretch>
        </p:blipFill>
        <p:spPr>
          <a:xfrm>
            <a:off x="640080" y="1325880"/>
            <a:ext cx="822960" cy="822960"/>
          </a:xfrm>
          <a:prstGeom prst="rect">
            <a:avLst/>
          </a:prstGeom>
        </p:spPr>
      </p:pic>
      <p:sp>
        <p:nvSpPr>
          <p:cNvPr id="5" name="Text 2"/>
          <p:cNvSpPr/>
          <p:nvPr/>
        </p:nvSpPr>
        <p:spPr>
          <a:xfrm>
            <a:off x="1645920" y="1325880"/>
            <a:ext cx="9966960" cy="1005840"/>
          </a:xfrm>
          <a:prstGeom prst="rect">
            <a:avLst/>
          </a:prstGeom>
          <a:noFill/>
          <a:ln/>
        </p:spPr>
        <p:txBody>
          <a:bodyPr wrap="square" lIns="0" tIns="0" rIns="0" bIns="0" rtlCol="0" anchor="t"/>
          <a:lstStyle/>
          <a:p>
            <a:pPr indent="0" marL="0">
              <a:buNone/>
            </a:pPr>
            <a:r>
              <a:rPr lang="en-US" sz="1450" dirty="0">
                <a:solidFill>
                  <a:srgbClr val="2B2B25"/>
                </a:solidFill>
                <a:latin typeface="Calibri" pitchFamily="34" charset="0"/>
                <a:ea typeface="Calibri" pitchFamily="34" charset="-122"/>
                <a:cs typeface="Calibri" pitchFamily="34" charset="-120"/>
              </a:rPr>
              <a:t>Don't want to pick between G, F, C, S, and I yourself? The L Funds do it for you. Each L Fund is a ready-made mix of all five funds, matched to a target retirement year — and it automatically gets safer as that year gets closer.</a:t>
            </a:r>
            <a:endParaRPr lang="en-US" sz="1450" dirty="0"/>
          </a:p>
        </p:txBody>
      </p:sp>
      <p:sp>
        <p:nvSpPr>
          <p:cNvPr id="6" name="Text 3"/>
          <p:cNvSpPr/>
          <p:nvPr/>
        </p:nvSpPr>
        <p:spPr>
          <a:xfrm>
            <a:off x="640080" y="2514600"/>
            <a:ext cx="6858000" cy="3657600"/>
          </a:xfrm>
          <a:prstGeom prst="rect">
            <a:avLst/>
          </a:prstGeom>
          <a:noFill/>
          <a:ln/>
        </p:spPr>
        <p:txBody>
          <a:bodyPr wrap="square" lIns="0" tIns="0" rIns="0" bIns="0" rtlCol="0" anchor="t"/>
          <a:lstStyle/>
          <a:p>
            <a:pPr marL="228600" indent="-228600">
              <a:spcAft>
                <a:spcPts val="1200"/>
              </a:spcAft>
              <a:buSzPct val="100000"/>
              <a:buChar char="•"/>
            </a:pPr>
            <a:r>
              <a:rPr lang="en-US" sz="1350" dirty="0">
                <a:solidFill>
                  <a:srgbClr val="2B2B25"/>
                </a:solidFill>
                <a:latin typeface="Calibri" pitchFamily="34" charset="0"/>
                <a:ea typeface="Calibri" pitchFamily="34" charset="-122"/>
                <a:cs typeface="Calibri" pitchFamily="34" charset="-120"/>
              </a:rPr>
              <a:t>When you first enroll, you're automatically placed into an age-based L Fund — no action needed</a:t>
            </a:r>
            <a:endParaRPr lang="en-US" sz="1350" dirty="0"/>
          </a:p>
          <a:p>
            <a:pPr marL="228600" indent="-228600">
              <a:spcAft>
                <a:spcPts val="1200"/>
              </a:spcAft>
              <a:buSzPct val="100000"/>
              <a:buChar char="•"/>
            </a:pPr>
            <a:r>
              <a:rPr lang="en-US" sz="1350" dirty="0">
                <a:solidFill>
                  <a:srgbClr val="2B2B25"/>
                </a:solidFill>
                <a:latin typeface="Calibri" pitchFamily="34" charset="0"/>
                <a:ea typeface="Calibri" pitchFamily="34" charset="-122"/>
                <a:cs typeface="Calibri" pitchFamily="34" charset="-120"/>
              </a:rPr>
              <a:t>It's one decision instead of five — good default if you'd rather not manage your own mix</a:t>
            </a:r>
            <a:endParaRPr lang="en-US" sz="1350" dirty="0"/>
          </a:p>
          <a:p>
            <a:pPr marL="228600" indent="-228600">
              <a:spcAft>
                <a:spcPts val="1200"/>
              </a:spcAft>
              <a:buSzPct val="100000"/>
              <a:buChar char="•"/>
            </a:pPr>
            <a:r>
              <a:rPr lang="en-US" sz="1350" dirty="0">
                <a:solidFill>
                  <a:srgbClr val="2B2B25"/>
                </a:solidFill>
                <a:latin typeface="Calibri" pitchFamily="34" charset="0"/>
                <a:ea typeface="Calibri" pitchFamily="34" charset="-122"/>
                <a:cs typeface="Calibri" pitchFamily="34" charset="-120"/>
              </a:rPr>
              <a:t>Pick the L Fund with the year closest to when you'll turn about 63-65</a:t>
            </a:r>
            <a:endParaRPr lang="en-US" sz="1350" dirty="0"/>
          </a:p>
          <a:p>
            <a:pPr marL="228600" indent="-228600">
              <a:spcAft>
                <a:spcPts val="1200"/>
              </a:spcAft>
              <a:buSzPct val="100000"/>
              <a:buChar char="•"/>
            </a:pPr>
            <a:r>
              <a:rPr lang="en-US" sz="1350" dirty="0">
                <a:solidFill>
                  <a:srgbClr val="2B2B25"/>
                </a:solidFill>
                <a:latin typeface="Calibri" pitchFamily="34" charset="0"/>
                <a:ea typeface="Calibri" pitchFamily="34" charset="-122"/>
                <a:cs typeface="Calibri" pitchFamily="34" charset="-120"/>
              </a:rPr>
              <a:t>Example: a Soldier who is 19 now would look at an L Fund dated around 2070</a:t>
            </a:r>
            <a:endParaRPr lang="en-US" sz="1350" dirty="0"/>
          </a:p>
        </p:txBody>
      </p:sp>
      <p:sp>
        <p:nvSpPr>
          <p:cNvPr id="7" name="Shape 4"/>
          <p:cNvSpPr/>
          <p:nvPr/>
        </p:nvSpPr>
        <p:spPr>
          <a:xfrm>
            <a:off x="7772400" y="2514600"/>
            <a:ext cx="3840480" cy="3657600"/>
          </a:xfrm>
          <a:prstGeom prst="roundRect">
            <a:avLst>
              <a:gd name="adj" fmla="val 2000"/>
            </a:avLst>
          </a:prstGeom>
          <a:solidFill>
            <a:srgbClr val="3C3F2C"/>
          </a:solidFill>
          <a:ln/>
          <a:effectLst>
            <a:outerShdw sx="100000" sy="100000" kx="0" ky="0" algn="bl" rotWithShape="0" blurRad="76200" dist="25400" dir="2700000">
              <a:srgbClr val="000000">
                <a:alpha val="15000"/>
              </a:srgbClr>
            </a:outerShdw>
          </a:effectLst>
        </p:spPr>
      </p:sp>
      <p:pic>
        <p:nvPicPr>
          <p:cNvPr id="8" name="Image 1" descr="icon_gem.png">    </p:cNvPr>
          <p:cNvPicPr>
            <a:picLocks noChangeAspect="1"/>
          </p:cNvPicPr>
          <p:nvPr/>
        </p:nvPicPr>
        <p:blipFill>
          <a:blip r:embed="rId2"/>
          <a:stretch>
            <a:fillRect/>
          </a:stretch>
        </p:blipFill>
        <p:spPr>
          <a:xfrm>
            <a:off x="8046720" y="2743200"/>
            <a:ext cx="457200" cy="457200"/>
          </a:xfrm>
          <a:prstGeom prst="rect">
            <a:avLst/>
          </a:prstGeom>
        </p:spPr>
      </p:pic>
      <p:sp>
        <p:nvSpPr>
          <p:cNvPr id="9" name="Text 5"/>
          <p:cNvSpPr/>
          <p:nvPr/>
        </p:nvSpPr>
        <p:spPr>
          <a:xfrm>
            <a:off x="8046720" y="3291840"/>
            <a:ext cx="3383280" cy="457200"/>
          </a:xfrm>
          <a:prstGeom prst="rect">
            <a:avLst/>
          </a:prstGeom>
          <a:noFill/>
          <a:ln/>
        </p:spPr>
        <p:txBody>
          <a:bodyPr wrap="square" lIns="0" tIns="0" rIns="0" bIns="0" rtlCol="0" anchor="ctr"/>
          <a:lstStyle/>
          <a:p>
            <a:pPr indent="0" marL="0">
              <a:buNone/>
            </a:pPr>
            <a:r>
              <a:rPr lang="en-US" sz="1400" b="1" dirty="0">
                <a:solidFill>
                  <a:srgbClr val="C9A227"/>
                </a:solidFill>
                <a:latin typeface="Calibri" pitchFamily="34" charset="0"/>
                <a:ea typeface="Calibri" pitchFamily="34" charset="-122"/>
                <a:cs typeface="Calibri" pitchFamily="34" charset="-120"/>
              </a:rPr>
              <a:t>Bottom Line</a:t>
            </a:r>
            <a:endParaRPr lang="en-US" sz="1400" dirty="0"/>
          </a:p>
        </p:txBody>
      </p:sp>
      <p:sp>
        <p:nvSpPr>
          <p:cNvPr id="10" name="Text 6"/>
          <p:cNvSpPr/>
          <p:nvPr/>
        </p:nvSpPr>
        <p:spPr>
          <a:xfrm>
            <a:off x="8046720" y="3794760"/>
            <a:ext cx="3383280" cy="2194560"/>
          </a:xfrm>
          <a:prstGeom prst="rect">
            <a:avLst/>
          </a:prstGeom>
          <a:noFill/>
          <a:ln/>
        </p:spPr>
        <p:txBody>
          <a:bodyPr wrap="square" lIns="0" tIns="0" rIns="0" bIns="0" rtlCol="0" anchor="t"/>
          <a:lstStyle/>
          <a:p>
            <a:pPr indent="0" marL="0">
              <a:buNone/>
            </a:pPr>
            <a:r>
              <a:rPr lang="en-US" sz="1250" dirty="0">
                <a:solidFill>
                  <a:srgbClr val="FFFFFF"/>
                </a:solidFill>
                <a:latin typeface="Calibri" pitchFamily="34" charset="0"/>
                <a:ea typeface="Calibri" pitchFamily="34" charset="-122"/>
                <a:cs typeface="Calibri" pitchFamily="34" charset="-120"/>
              </a:rPr>
              <a:t>If you take nothing else from this brief: contributing at least 5% into your default L Fund already puts you ahead of most people your age.</a:t>
            </a:r>
            <a:endParaRPr lang="en-US" sz="1250" dirty="0"/>
          </a:p>
        </p:txBody>
      </p:sp>
      <p:sp>
        <p:nvSpPr>
          <p:cNvPr id="11" name="Text 7"/>
          <p:cNvSpPr/>
          <p:nvPr/>
        </p:nvSpPr>
        <p:spPr>
          <a:xfrm>
            <a:off x="0" y="6492240"/>
            <a:ext cx="12191695" cy="274320"/>
          </a:xfrm>
          <a:prstGeom prst="rect">
            <a:avLst/>
          </a:prstGeom>
          <a:noFill/>
          <a:ln/>
        </p:spPr>
        <p:txBody>
          <a:bodyPr wrap="square" rtlCol="0" anchor="ctr"/>
          <a:lstStyle/>
          <a:p>
            <a:pPr algn="ctr" indent="0" marL="0">
              <a:buNone/>
            </a:pPr>
            <a:r>
              <a:rPr lang="en-US" sz="900" dirty="0">
                <a:solidFill>
                  <a:srgbClr val="9C9C90"/>
                </a:solidFill>
                <a:latin typeface="Calibri" pitchFamily="34" charset="0"/>
                <a:ea typeface="Calibri" pitchFamily="34" charset="-122"/>
                <a:cs typeface="Calibri" pitchFamily="34" charset="-120"/>
              </a:rPr>
              <a:t>TSP BRIEFING  |  7</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24261A"/>
        </a:solidFill>
      </p:bgPr>
    </p:bg>
    <p:spTree>
      <p:nvGrpSpPr>
        <p:cNvPr id="1" name=""/>
        <p:cNvGrpSpPr/>
        <p:nvPr/>
      </p:nvGrpSpPr>
      <p:grpSpPr>
        <a:xfrm>
          <a:off x="0" y="0"/>
          <a:ext cx="0" cy="0"/>
          <a:chOff x="0" y="0"/>
          <a:chExt cx="0" cy="0"/>
        </a:xfrm>
      </p:grpSpPr>
      <p:sp>
        <p:nvSpPr>
          <p:cNvPr id="2" name="Text 0"/>
          <p:cNvSpPr/>
          <p:nvPr/>
        </p:nvSpPr>
        <p:spPr>
          <a:xfrm>
            <a:off x="548640" y="365760"/>
            <a:ext cx="10972800" cy="54864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YOUR GAME PLAN</a:t>
            </a:r>
            <a:endParaRPr lang="en-US" sz="3000" dirty="0"/>
          </a:p>
        </p:txBody>
      </p:sp>
      <p:sp>
        <p:nvSpPr>
          <p:cNvPr id="3" name="Text 1"/>
          <p:cNvSpPr/>
          <p:nvPr/>
        </p:nvSpPr>
        <p:spPr>
          <a:xfrm>
            <a:off x="548640" y="960120"/>
            <a:ext cx="9144000" cy="365760"/>
          </a:xfrm>
          <a:prstGeom prst="rect">
            <a:avLst/>
          </a:prstGeom>
          <a:noFill/>
          <a:ln/>
        </p:spPr>
        <p:txBody>
          <a:bodyPr wrap="square" lIns="0" tIns="0" rIns="0" bIns="0" rtlCol="0" anchor="ctr"/>
          <a:lstStyle/>
          <a:p>
            <a:pPr indent="0" marL="0">
              <a:buNone/>
            </a:pPr>
            <a:r>
              <a:rPr lang="en-US" sz="1500" i="1" dirty="0">
                <a:solidFill>
                  <a:srgbClr val="C9A227"/>
                </a:solidFill>
                <a:latin typeface="Calibri" pitchFamily="34" charset="0"/>
                <a:ea typeface="Calibri" pitchFamily="34" charset="-122"/>
                <a:cs typeface="Calibri" pitchFamily="34" charset="-120"/>
              </a:rPr>
              <a:t>Four simple steps, in priority order</a:t>
            </a:r>
            <a:endParaRPr lang="en-US" sz="1500" dirty="0"/>
          </a:p>
        </p:txBody>
      </p:sp>
      <p:sp>
        <p:nvSpPr>
          <p:cNvPr id="4" name="Shape 2"/>
          <p:cNvSpPr/>
          <p:nvPr/>
        </p:nvSpPr>
        <p:spPr>
          <a:xfrm>
            <a:off x="548640" y="1554480"/>
            <a:ext cx="640080" cy="640080"/>
          </a:xfrm>
          <a:prstGeom prst="ellipse">
            <a:avLst/>
          </a:prstGeom>
          <a:solidFill>
            <a:srgbClr val="C9A227"/>
          </a:solidFill>
          <a:ln/>
        </p:spPr>
      </p:sp>
      <p:sp>
        <p:nvSpPr>
          <p:cNvPr id="5" name="Text 3"/>
          <p:cNvSpPr/>
          <p:nvPr/>
        </p:nvSpPr>
        <p:spPr>
          <a:xfrm>
            <a:off x="548640" y="1554480"/>
            <a:ext cx="640080" cy="640080"/>
          </a:xfrm>
          <a:prstGeom prst="rect">
            <a:avLst/>
          </a:prstGeom>
          <a:noFill/>
          <a:ln/>
        </p:spPr>
        <p:txBody>
          <a:bodyPr wrap="square" lIns="0" tIns="0" rIns="0" bIns="0" rtlCol="0" anchor="ctr"/>
          <a:lstStyle/>
          <a:p>
            <a:pPr algn="ctr" indent="0" marL="0">
              <a:buNone/>
            </a:pPr>
            <a:r>
              <a:rPr lang="en-US" sz="2600" b="1" dirty="0">
                <a:solidFill>
                  <a:srgbClr val="24261A"/>
                </a:solidFill>
                <a:latin typeface="Cambria" pitchFamily="34" charset="0"/>
                <a:ea typeface="Cambria" pitchFamily="34" charset="-122"/>
                <a:cs typeface="Cambria" pitchFamily="34" charset="-120"/>
              </a:rPr>
              <a:t>1</a:t>
            </a:r>
            <a:endParaRPr lang="en-US" sz="2600" dirty="0"/>
          </a:p>
        </p:txBody>
      </p:sp>
      <p:sp>
        <p:nvSpPr>
          <p:cNvPr id="6" name="Text 4"/>
          <p:cNvSpPr/>
          <p:nvPr/>
        </p:nvSpPr>
        <p:spPr>
          <a:xfrm>
            <a:off x="1371600" y="1536192"/>
            <a:ext cx="4572000" cy="457200"/>
          </a:xfrm>
          <a:prstGeom prst="rect">
            <a:avLst/>
          </a:prstGeom>
          <a:noFill/>
          <a:ln/>
        </p:spPr>
        <p:txBody>
          <a:bodyPr wrap="square" lIns="0" tIns="0" rIns="0" bIns="0" rtlCol="0" anchor="ctr"/>
          <a:lstStyle/>
          <a:p>
            <a:pPr indent="0" marL="0">
              <a:buNone/>
            </a:pPr>
            <a:r>
              <a:rPr lang="en-US" sz="1650" b="1" dirty="0">
                <a:solidFill>
                  <a:srgbClr val="FFFFFF"/>
                </a:solidFill>
                <a:latin typeface="Calibri" pitchFamily="34" charset="0"/>
                <a:ea typeface="Calibri" pitchFamily="34" charset="-122"/>
                <a:cs typeface="Calibri" pitchFamily="34" charset="-120"/>
              </a:rPr>
              <a:t>Contribute at least 5%</a:t>
            </a:r>
            <a:endParaRPr lang="en-US" sz="1650" dirty="0"/>
          </a:p>
        </p:txBody>
      </p:sp>
      <p:sp>
        <p:nvSpPr>
          <p:cNvPr id="7" name="Text 5"/>
          <p:cNvSpPr/>
          <p:nvPr/>
        </p:nvSpPr>
        <p:spPr>
          <a:xfrm>
            <a:off x="1371600" y="2011680"/>
            <a:ext cx="4572000" cy="1828800"/>
          </a:xfrm>
          <a:prstGeom prst="rect">
            <a:avLst/>
          </a:prstGeom>
          <a:noFill/>
          <a:ln/>
        </p:spPr>
        <p:txBody>
          <a:bodyPr wrap="square" lIns="0" tIns="0" rIns="0" bIns="0" rtlCol="0" anchor="t"/>
          <a:lstStyle/>
          <a:p>
            <a:pPr indent="0" marL="0">
              <a:buNone/>
            </a:pPr>
            <a:r>
              <a:rPr lang="en-US" sz="1200" dirty="0">
                <a:solidFill>
                  <a:srgbClr val="C9B896"/>
                </a:solidFill>
                <a:latin typeface="Calibri" pitchFamily="34" charset="0"/>
                <a:ea typeface="Calibri" pitchFamily="34" charset="-122"/>
                <a:cs typeface="Calibri" pitchFamily="34" charset="-120"/>
              </a:rPr>
              <a:t>This is the single most important step. It captures the full Army match — free money you don't want to leave behind.</a:t>
            </a:r>
            <a:endParaRPr lang="en-US" sz="1200" dirty="0"/>
          </a:p>
        </p:txBody>
      </p:sp>
      <p:sp>
        <p:nvSpPr>
          <p:cNvPr id="8" name="Shape 6"/>
          <p:cNvSpPr/>
          <p:nvPr/>
        </p:nvSpPr>
        <p:spPr>
          <a:xfrm>
            <a:off x="6263640" y="1554480"/>
            <a:ext cx="640080" cy="640080"/>
          </a:xfrm>
          <a:prstGeom prst="ellipse">
            <a:avLst/>
          </a:prstGeom>
          <a:solidFill>
            <a:srgbClr val="C9A227"/>
          </a:solidFill>
          <a:ln/>
        </p:spPr>
      </p:sp>
      <p:sp>
        <p:nvSpPr>
          <p:cNvPr id="9" name="Text 7"/>
          <p:cNvSpPr/>
          <p:nvPr/>
        </p:nvSpPr>
        <p:spPr>
          <a:xfrm>
            <a:off x="6263640" y="1554480"/>
            <a:ext cx="640080" cy="640080"/>
          </a:xfrm>
          <a:prstGeom prst="rect">
            <a:avLst/>
          </a:prstGeom>
          <a:noFill/>
          <a:ln/>
        </p:spPr>
        <p:txBody>
          <a:bodyPr wrap="square" lIns="0" tIns="0" rIns="0" bIns="0" rtlCol="0" anchor="ctr"/>
          <a:lstStyle/>
          <a:p>
            <a:pPr algn="ctr" indent="0" marL="0">
              <a:buNone/>
            </a:pPr>
            <a:r>
              <a:rPr lang="en-US" sz="2600" b="1" dirty="0">
                <a:solidFill>
                  <a:srgbClr val="24261A"/>
                </a:solidFill>
                <a:latin typeface="Cambria" pitchFamily="34" charset="0"/>
                <a:ea typeface="Cambria" pitchFamily="34" charset="-122"/>
                <a:cs typeface="Cambria" pitchFamily="34" charset="-120"/>
              </a:rPr>
              <a:t>2</a:t>
            </a:r>
            <a:endParaRPr lang="en-US" sz="2600" dirty="0"/>
          </a:p>
        </p:txBody>
      </p:sp>
      <p:sp>
        <p:nvSpPr>
          <p:cNvPr id="10" name="Text 8"/>
          <p:cNvSpPr/>
          <p:nvPr/>
        </p:nvSpPr>
        <p:spPr>
          <a:xfrm>
            <a:off x="7086600" y="1536192"/>
            <a:ext cx="4572000" cy="457200"/>
          </a:xfrm>
          <a:prstGeom prst="rect">
            <a:avLst/>
          </a:prstGeom>
          <a:noFill/>
          <a:ln/>
        </p:spPr>
        <p:txBody>
          <a:bodyPr wrap="square" lIns="0" tIns="0" rIns="0" bIns="0" rtlCol="0" anchor="ctr"/>
          <a:lstStyle/>
          <a:p>
            <a:pPr indent="0" marL="0">
              <a:buNone/>
            </a:pPr>
            <a:r>
              <a:rPr lang="en-US" sz="1650" b="1" dirty="0">
                <a:solidFill>
                  <a:srgbClr val="FFFFFF"/>
                </a:solidFill>
                <a:latin typeface="Calibri" pitchFamily="34" charset="0"/>
                <a:ea typeface="Calibri" pitchFamily="34" charset="-122"/>
                <a:cs typeface="Calibri" pitchFamily="34" charset="-120"/>
              </a:rPr>
              <a:t>Set it and leave it running</a:t>
            </a:r>
            <a:endParaRPr lang="en-US" sz="1650" dirty="0"/>
          </a:p>
        </p:txBody>
      </p:sp>
      <p:sp>
        <p:nvSpPr>
          <p:cNvPr id="11" name="Text 9"/>
          <p:cNvSpPr/>
          <p:nvPr/>
        </p:nvSpPr>
        <p:spPr>
          <a:xfrm>
            <a:off x="7086600" y="2011680"/>
            <a:ext cx="4572000" cy="1828800"/>
          </a:xfrm>
          <a:prstGeom prst="rect">
            <a:avLst/>
          </a:prstGeom>
          <a:noFill/>
          <a:ln/>
        </p:spPr>
        <p:txBody>
          <a:bodyPr wrap="square" lIns="0" tIns="0" rIns="0" bIns="0" rtlCol="0" anchor="t"/>
          <a:lstStyle/>
          <a:p>
            <a:pPr indent="0" marL="0">
              <a:buNone/>
            </a:pPr>
            <a:r>
              <a:rPr lang="en-US" sz="1200" dirty="0">
                <a:solidFill>
                  <a:srgbClr val="C9B896"/>
                </a:solidFill>
                <a:latin typeface="Calibri" pitchFamily="34" charset="0"/>
                <a:ea typeface="Calibri" pitchFamily="34" charset="-122"/>
                <a:cs typeface="Calibri" pitchFamily="34" charset="-120"/>
              </a:rPr>
              <a:t>Don't stop and restart your contribution mid-year. Keep the same percentage flowing every single paycheck, all 26 pay periods.</a:t>
            </a:r>
            <a:endParaRPr lang="en-US" sz="1200" dirty="0"/>
          </a:p>
        </p:txBody>
      </p:sp>
      <p:sp>
        <p:nvSpPr>
          <p:cNvPr id="12" name="Shape 10"/>
          <p:cNvSpPr/>
          <p:nvPr/>
        </p:nvSpPr>
        <p:spPr>
          <a:xfrm>
            <a:off x="548640" y="4160520"/>
            <a:ext cx="640080" cy="640080"/>
          </a:xfrm>
          <a:prstGeom prst="ellipse">
            <a:avLst/>
          </a:prstGeom>
          <a:solidFill>
            <a:srgbClr val="C9A227"/>
          </a:solidFill>
          <a:ln/>
        </p:spPr>
      </p:sp>
      <p:sp>
        <p:nvSpPr>
          <p:cNvPr id="13" name="Text 11"/>
          <p:cNvSpPr/>
          <p:nvPr/>
        </p:nvSpPr>
        <p:spPr>
          <a:xfrm>
            <a:off x="548640" y="4160520"/>
            <a:ext cx="640080" cy="640080"/>
          </a:xfrm>
          <a:prstGeom prst="rect">
            <a:avLst/>
          </a:prstGeom>
          <a:noFill/>
          <a:ln/>
        </p:spPr>
        <p:txBody>
          <a:bodyPr wrap="square" lIns="0" tIns="0" rIns="0" bIns="0" rtlCol="0" anchor="ctr"/>
          <a:lstStyle/>
          <a:p>
            <a:pPr algn="ctr" indent="0" marL="0">
              <a:buNone/>
            </a:pPr>
            <a:r>
              <a:rPr lang="en-US" sz="2600" b="1" dirty="0">
                <a:solidFill>
                  <a:srgbClr val="24261A"/>
                </a:solidFill>
                <a:latin typeface="Cambria" pitchFamily="34" charset="0"/>
                <a:ea typeface="Cambria" pitchFamily="34" charset="-122"/>
                <a:cs typeface="Cambria" pitchFamily="34" charset="-120"/>
              </a:rPr>
              <a:t>3</a:t>
            </a:r>
            <a:endParaRPr lang="en-US" sz="2600" dirty="0"/>
          </a:p>
        </p:txBody>
      </p:sp>
      <p:sp>
        <p:nvSpPr>
          <p:cNvPr id="14" name="Text 12"/>
          <p:cNvSpPr/>
          <p:nvPr/>
        </p:nvSpPr>
        <p:spPr>
          <a:xfrm>
            <a:off x="1371600" y="4142232"/>
            <a:ext cx="4572000" cy="457200"/>
          </a:xfrm>
          <a:prstGeom prst="rect">
            <a:avLst/>
          </a:prstGeom>
          <a:noFill/>
          <a:ln/>
        </p:spPr>
        <p:txBody>
          <a:bodyPr wrap="square" lIns="0" tIns="0" rIns="0" bIns="0" rtlCol="0" anchor="ctr"/>
          <a:lstStyle/>
          <a:p>
            <a:pPr indent="0" marL="0">
              <a:buNone/>
            </a:pPr>
            <a:r>
              <a:rPr lang="en-US" sz="1650" b="1" dirty="0">
                <a:solidFill>
                  <a:srgbClr val="FFFFFF"/>
                </a:solidFill>
                <a:latin typeface="Calibri" pitchFamily="34" charset="0"/>
                <a:ea typeface="Calibri" pitchFamily="34" charset="-122"/>
                <a:cs typeface="Calibri" pitchFamily="34" charset="-120"/>
              </a:rPr>
              <a:t>Raise it as your pay goes up</a:t>
            </a:r>
            <a:endParaRPr lang="en-US" sz="1650" dirty="0"/>
          </a:p>
        </p:txBody>
      </p:sp>
      <p:sp>
        <p:nvSpPr>
          <p:cNvPr id="15" name="Text 13"/>
          <p:cNvSpPr/>
          <p:nvPr/>
        </p:nvSpPr>
        <p:spPr>
          <a:xfrm>
            <a:off x="1371600" y="4617720"/>
            <a:ext cx="4572000" cy="1828800"/>
          </a:xfrm>
          <a:prstGeom prst="rect">
            <a:avLst/>
          </a:prstGeom>
          <a:noFill/>
          <a:ln/>
        </p:spPr>
        <p:txBody>
          <a:bodyPr wrap="square" lIns="0" tIns="0" rIns="0" bIns="0" rtlCol="0" anchor="t"/>
          <a:lstStyle/>
          <a:p>
            <a:pPr indent="0" marL="0">
              <a:buNone/>
            </a:pPr>
            <a:r>
              <a:rPr lang="en-US" sz="1200" dirty="0">
                <a:solidFill>
                  <a:srgbClr val="C9B896"/>
                </a:solidFill>
                <a:latin typeface="Calibri" pitchFamily="34" charset="0"/>
                <a:ea typeface="Calibri" pitchFamily="34" charset="-122"/>
                <a:cs typeface="Calibri" pitchFamily="34" charset="-120"/>
              </a:rPr>
              <a:t>Every time you get a promotion or a raise, bump your TSP percentage up too — even 1% more makes a real difference over 20 years.</a:t>
            </a:r>
            <a:endParaRPr lang="en-US" sz="1200" dirty="0"/>
          </a:p>
        </p:txBody>
      </p:sp>
      <p:sp>
        <p:nvSpPr>
          <p:cNvPr id="16" name="Shape 14"/>
          <p:cNvSpPr/>
          <p:nvPr/>
        </p:nvSpPr>
        <p:spPr>
          <a:xfrm>
            <a:off x="6263640" y="4160520"/>
            <a:ext cx="640080" cy="640080"/>
          </a:xfrm>
          <a:prstGeom prst="ellipse">
            <a:avLst/>
          </a:prstGeom>
          <a:solidFill>
            <a:srgbClr val="C9A227"/>
          </a:solidFill>
          <a:ln/>
        </p:spPr>
      </p:sp>
      <p:sp>
        <p:nvSpPr>
          <p:cNvPr id="17" name="Text 15"/>
          <p:cNvSpPr/>
          <p:nvPr/>
        </p:nvSpPr>
        <p:spPr>
          <a:xfrm>
            <a:off x="6263640" y="4160520"/>
            <a:ext cx="640080" cy="640080"/>
          </a:xfrm>
          <a:prstGeom prst="rect">
            <a:avLst/>
          </a:prstGeom>
          <a:noFill/>
          <a:ln/>
        </p:spPr>
        <p:txBody>
          <a:bodyPr wrap="square" lIns="0" tIns="0" rIns="0" bIns="0" rtlCol="0" anchor="ctr"/>
          <a:lstStyle/>
          <a:p>
            <a:pPr algn="ctr" indent="0" marL="0">
              <a:buNone/>
            </a:pPr>
            <a:r>
              <a:rPr lang="en-US" sz="2600" b="1" dirty="0">
                <a:solidFill>
                  <a:srgbClr val="24261A"/>
                </a:solidFill>
                <a:latin typeface="Cambria" pitchFamily="34" charset="0"/>
                <a:ea typeface="Cambria" pitchFamily="34" charset="-122"/>
                <a:cs typeface="Cambria" pitchFamily="34" charset="-120"/>
              </a:rPr>
              <a:t>4</a:t>
            </a:r>
            <a:endParaRPr lang="en-US" sz="2600" dirty="0"/>
          </a:p>
        </p:txBody>
      </p:sp>
      <p:sp>
        <p:nvSpPr>
          <p:cNvPr id="18" name="Text 16"/>
          <p:cNvSpPr/>
          <p:nvPr/>
        </p:nvSpPr>
        <p:spPr>
          <a:xfrm>
            <a:off x="7086600" y="4142232"/>
            <a:ext cx="4572000" cy="457200"/>
          </a:xfrm>
          <a:prstGeom prst="rect">
            <a:avLst/>
          </a:prstGeom>
          <a:noFill/>
          <a:ln/>
        </p:spPr>
        <p:txBody>
          <a:bodyPr wrap="square" lIns="0" tIns="0" rIns="0" bIns="0" rtlCol="0" anchor="ctr"/>
          <a:lstStyle/>
          <a:p>
            <a:pPr indent="0" marL="0">
              <a:buNone/>
            </a:pPr>
            <a:r>
              <a:rPr lang="en-US" sz="1650" b="1" dirty="0">
                <a:solidFill>
                  <a:srgbClr val="FFFFFF"/>
                </a:solidFill>
                <a:latin typeface="Calibri" pitchFamily="34" charset="0"/>
                <a:ea typeface="Calibri" pitchFamily="34" charset="-122"/>
                <a:cs typeface="Calibri" pitchFamily="34" charset="-120"/>
              </a:rPr>
              <a:t>Know your 2026 ceiling</a:t>
            </a:r>
            <a:endParaRPr lang="en-US" sz="1650" dirty="0"/>
          </a:p>
        </p:txBody>
      </p:sp>
      <p:sp>
        <p:nvSpPr>
          <p:cNvPr id="19" name="Text 17"/>
          <p:cNvSpPr/>
          <p:nvPr/>
        </p:nvSpPr>
        <p:spPr>
          <a:xfrm>
            <a:off x="7086600" y="4617720"/>
            <a:ext cx="4572000" cy="1828800"/>
          </a:xfrm>
          <a:prstGeom prst="rect">
            <a:avLst/>
          </a:prstGeom>
          <a:noFill/>
          <a:ln/>
        </p:spPr>
        <p:txBody>
          <a:bodyPr wrap="square" lIns="0" tIns="0" rIns="0" bIns="0" rtlCol="0" anchor="t"/>
          <a:lstStyle/>
          <a:p>
            <a:pPr indent="0" marL="0">
              <a:buNone/>
            </a:pPr>
            <a:r>
              <a:rPr lang="en-US" sz="1200" dirty="0">
                <a:solidFill>
                  <a:srgbClr val="C9B896"/>
                </a:solidFill>
                <a:latin typeface="Calibri" pitchFamily="34" charset="0"/>
                <a:ea typeface="Calibri" pitchFamily="34" charset="-122"/>
                <a:cs typeface="Calibri" pitchFamily="34" charset="-120"/>
              </a:rPr>
              <a:t>The IRS caps how much you personally can contribute each year: $24,500 in 2026. The Army's automatic and match money doesn't count against that cap.</a:t>
            </a:r>
            <a:endParaRPr lang="en-US" sz="1200" dirty="0"/>
          </a:p>
        </p:txBody>
      </p:sp>
      <p:sp>
        <p:nvSpPr>
          <p:cNvPr id="20" name="Text 18"/>
          <p:cNvSpPr/>
          <p:nvPr/>
        </p:nvSpPr>
        <p:spPr>
          <a:xfrm>
            <a:off x="0" y="6492240"/>
            <a:ext cx="12191695" cy="274320"/>
          </a:xfrm>
          <a:prstGeom prst="rect">
            <a:avLst/>
          </a:prstGeom>
          <a:noFill/>
          <a:ln/>
        </p:spPr>
        <p:txBody>
          <a:bodyPr wrap="square" rtlCol="0" anchor="ctr"/>
          <a:lstStyle/>
          <a:p>
            <a:pPr algn="ctr" indent="0" marL="0">
              <a:buNone/>
            </a:pPr>
            <a:r>
              <a:rPr lang="en-US" sz="900" dirty="0">
                <a:solidFill>
                  <a:srgbClr val="8A8C78"/>
                </a:solidFill>
                <a:latin typeface="Calibri" pitchFamily="34" charset="0"/>
                <a:ea typeface="Calibri" pitchFamily="34" charset="-122"/>
                <a:cs typeface="Calibri" pitchFamily="34" charset="-120"/>
              </a:rPr>
              <a:t>TSP BRIEFING  |  8</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51560"/>
          </a:xfrm>
          <a:prstGeom prst="rect">
            <a:avLst/>
          </a:prstGeom>
          <a:solidFill>
            <a:srgbClr val="3C3F2C"/>
          </a:solidFill>
          <a:ln/>
        </p:spPr>
      </p:sp>
      <p:sp>
        <p:nvSpPr>
          <p:cNvPr id="3" name="Text 1"/>
          <p:cNvSpPr/>
          <p:nvPr/>
        </p:nvSpPr>
        <p:spPr>
          <a:xfrm>
            <a:off x="548640" y="256032"/>
            <a:ext cx="11155680" cy="54864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COMMON MISTAKES TO AVOID</a:t>
            </a:r>
            <a:endParaRPr lang="en-US" sz="3000" dirty="0"/>
          </a:p>
        </p:txBody>
      </p:sp>
      <p:sp>
        <p:nvSpPr>
          <p:cNvPr id="4" name="Shape 2"/>
          <p:cNvSpPr/>
          <p:nvPr/>
        </p:nvSpPr>
        <p:spPr>
          <a:xfrm>
            <a:off x="548640" y="1463040"/>
            <a:ext cx="5394960" cy="2286000"/>
          </a:xfrm>
          <a:prstGeom prst="roundRect">
            <a:avLst>
              <a:gd name="adj" fmla="val 3200"/>
            </a:avLst>
          </a:prstGeom>
          <a:solidFill>
            <a:srgbClr val="F1EDE3"/>
          </a:solidFill>
          <a:ln/>
          <a:effectLst>
            <a:outerShdw sx="100000" sy="100000" kx="0" ky="0" algn="bl" rotWithShape="0" blurRad="76200" dist="25400" dir="2700000">
              <a:srgbClr val="000000">
                <a:alpha val="10000"/>
              </a:srgbClr>
            </a:outerShdw>
          </a:effectLst>
        </p:spPr>
      </p:sp>
      <p:pic>
        <p:nvPicPr>
          <p:cNvPr id="5" name="Image 0" descr="icon_warning.png">    </p:cNvPr>
          <p:cNvPicPr>
            <a:picLocks noChangeAspect="1"/>
          </p:cNvPicPr>
          <p:nvPr/>
        </p:nvPicPr>
        <p:blipFill>
          <a:blip r:embed="rId1"/>
          <a:stretch>
            <a:fillRect/>
          </a:stretch>
        </p:blipFill>
        <p:spPr>
          <a:xfrm>
            <a:off x="777240" y="1691640"/>
            <a:ext cx="457200" cy="457200"/>
          </a:xfrm>
          <a:prstGeom prst="rect">
            <a:avLst/>
          </a:prstGeom>
        </p:spPr>
      </p:pic>
      <p:sp>
        <p:nvSpPr>
          <p:cNvPr id="6" name="Text 3"/>
          <p:cNvSpPr/>
          <p:nvPr/>
        </p:nvSpPr>
        <p:spPr>
          <a:xfrm>
            <a:off x="1417320" y="1645920"/>
            <a:ext cx="4343400" cy="594360"/>
          </a:xfrm>
          <a:prstGeom prst="rect">
            <a:avLst/>
          </a:prstGeom>
          <a:noFill/>
          <a:ln/>
        </p:spPr>
        <p:txBody>
          <a:bodyPr wrap="square" lIns="0" tIns="0" rIns="0" bIns="0" rtlCol="0" anchor="t"/>
          <a:lstStyle/>
          <a:p>
            <a:pPr indent="0" marL="0">
              <a:buNone/>
            </a:pPr>
            <a:r>
              <a:rPr lang="en-US" sz="1450" b="1" dirty="0">
                <a:solidFill>
                  <a:srgbClr val="3C3F2C"/>
                </a:solidFill>
                <a:latin typeface="Calibri" pitchFamily="34" charset="0"/>
                <a:ea typeface="Calibri" pitchFamily="34" charset="-122"/>
                <a:cs typeface="Calibri" pitchFamily="34" charset="-120"/>
              </a:rPr>
              <a:t>Contributing 0% or under 5%</a:t>
            </a:r>
            <a:endParaRPr lang="en-US" sz="1450" dirty="0"/>
          </a:p>
        </p:txBody>
      </p:sp>
      <p:sp>
        <p:nvSpPr>
          <p:cNvPr id="7" name="Text 4"/>
          <p:cNvSpPr/>
          <p:nvPr/>
        </p:nvSpPr>
        <p:spPr>
          <a:xfrm>
            <a:off x="1417320" y="2331720"/>
            <a:ext cx="4343400" cy="1234440"/>
          </a:xfrm>
          <a:prstGeom prst="rect">
            <a:avLst/>
          </a:prstGeom>
          <a:noFill/>
          <a:ln/>
        </p:spPr>
        <p:txBody>
          <a:bodyPr wrap="square" lIns="0" tIns="0" rIns="0" bIns="0" rtlCol="0" anchor="t"/>
          <a:lstStyle/>
          <a:p>
            <a:pPr indent="0" marL="0">
              <a:buNone/>
            </a:pPr>
            <a:r>
              <a:rPr lang="en-US" sz="1200" dirty="0">
                <a:solidFill>
                  <a:srgbClr val="2B2B25"/>
                </a:solidFill>
                <a:latin typeface="Calibri" pitchFamily="34" charset="0"/>
                <a:ea typeface="Calibri" pitchFamily="34" charset="-122"/>
                <a:cs typeface="Calibri" pitchFamily="34" charset="-120"/>
              </a:rPr>
              <a:t>The most common mistake — it means walking away from free Army money every single payday.</a:t>
            </a:r>
            <a:endParaRPr lang="en-US" sz="1200" dirty="0"/>
          </a:p>
        </p:txBody>
      </p:sp>
      <p:sp>
        <p:nvSpPr>
          <p:cNvPr id="8" name="Shape 5"/>
          <p:cNvSpPr/>
          <p:nvPr/>
        </p:nvSpPr>
        <p:spPr>
          <a:xfrm>
            <a:off x="6263640" y="1463040"/>
            <a:ext cx="5394960" cy="2286000"/>
          </a:xfrm>
          <a:prstGeom prst="roundRect">
            <a:avLst>
              <a:gd name="adj" fmla="val 3200"/>
            </a:avLst>
          </a:prstGeom>
          <a:solidFill>
            <a:srgbClr val="F1EDE3"/>
          </a:solidFill>
          <a:ln/>
          <a:effectLst>
            <a:outerShdw sx="100000" sy="100000" kx="0" ky="0" algn="bl" rotWithShape="0" blurRad="76200" dist="25400" dir="2700000">
              <a:srgbClr val="000000">
                <a:alpha val="10000"/>
              </a:srgbClr>
            </a:outerShdw>
          </a:effectLst>
        </p:spPr>
      </p:sp>
      <p:pic>
        <p:nvPicPr>
          <p:cNvPr id="9" name="Image 1" descr="icon_warning.png">    </p:cNvPr>
          <p:cNvPicPr>
            <a:picLocks noChangeAspect="1"/>
          </p:cNvPicPr>
          <p:nvPr/>
        </p:nvPicPr>
        <p:blipFill>
          <a:blip r:embed="rId2"/>
          <a:stretch>
            <a:fillRect/>
          </a:stretch>
        </p:blipFill>
        <p:spPr>
          <a:xfrm>
            <a:off x="6492240" y="1691640"/>
            <a:ext cx="457200" cy="457200"/>
          </a:xfrm>
          <a:prstGeom prst="rect">
            <a:avLst/>
          </a:prstGeom>
        </p:spPr>
      </p:pic>
      <p:sp>
        <p:nvSpPr>
          <p:cNvPr id="10" name="Text 6"/>
          <p:cNvSpPr/>
          <p:nvPr/>
        </p:nvSpPr>
        <p:spPr>
          <a:xfrm>
            <a:off x="7132320" y="1645920"/>
            <a:ext cx="4343400" cy="594360"/>
          </a:xfrm>
          <a:prstGeom prst="rect">
            <a:avLst/>
          </a:prstGeom>
          <a:noFill/>
          <a:ln/>
        </p:spPr>
        <p:txBody>
          <a:bodyPr wrap="square" lIns="0" tIns="0" rIns="0" bIns="0" rtlCol="0" anchor="t"/>
          <a:lstStyle/>
          <a:p>
            <a:pPr indent="0" marL="0">
              <a:buNone/>
            </a:pPr>
            <a:r>
              <a:rPr lang="en-US" sz="1450" b="1" dirty="0">
                <a:solidFill>
                  <a:srgbClr val="3C3F2C"/>
                </a:solidFill>
                <a:latin typeface="Calibri" pitchFamily="34" charset="0"/>
                <a:ea typeface="Calibri" pitchFamily="34" charset="-122"/>
                <a:cs typeface="Calibri" pitchFamily="34" charset="-120"/>
              </a:rPr>
              <a:t>Stopping contributions to "catch up" pay later</a:t>
            </a:r>
            <a:endParaRPr lang="en-US" sz="1450" dirty="0"/>
          </a:p>
        </p:txBody>
      </p:sp>
      <p:sp>
        <p:nvSpPr>
          <p:cNvPr id="11" name="Text 7"/>
          <p:cNvSpPr/>
          <p:nvPr/>
        </p:nvSpPr>
        <p:spPr>
          <a:xfrm>
            <a:off x="7132320" y="2331720"/>
            <a:ext cx="4343400" cy="1234440"/>
          </a:xfrm>
          <a:prstGeom prst="rect">
            <a:avLst/>
          </a:prstGeom>
          <a:noFill/>
          <a:ln/>
        </p:spPr>
        <p:txBody>
          <a:bodyPr wrap="square" lIns="0" tIns="0" rIns="0" bIns="0" rtlCol="0" anchor="t"/>
          <a:lstStyle/>
          <a:p>
            <a:pPr indent="0" marL="0">
              <a:buNone/>
            </a:pPr>
            <a:r>
              <a:rPr lang="en-US" sz="1200" dirty="0">
                <a:solidFill>
                  <a:srgbClr val="2B2B25"/>
                </a:solidFill>
                <a:latin typeface="Calibri" pitchFamily="34" charset="0"/>
                <a:ea typeface="Calibri" pitchFamily="34" charset="-122"/>
                <a:cs typeface="Calibri" pitchFamily="34" charset="-120"/>
              </a:rPr>
              <a:t>Pausing contributions to free up cash breaks the habit and skips months of Army match you never get back.</a:t>
            </a:r>
            <a:endParaRPr lang="en-US" sz="1200" dirty="0"/>
          </a:p>
        </p:txBody>
      </p:sp>
      <p:sp>
        <p:nvSpPr>
          <p:cNvPr id="12" name="Shape 8"/>
          <p:cNvSpPr/>
          <p:nvPr/>
        </p:nvSpPr>
        <p:spPr>
          <a:xfrm>
            <a:off x="548640" y="4023360"/>
            <a:ext cx="5394960" cy="2286000"/>
          </a:xfrm>
          <a:prstGeom prst="roundRect">
            <a:avLst>
              <a:gd name="adj" fmla="val 3200"/>
            </a:avLst>
          </a:prstGeom>
          <a:solidFill>
            <a:srgbClr val="F1EDE3"/>
          </a:solidFill>
          <a:ln/>
          <a:effectLst>
            <a:outerShdw sx="100000" sy="100000" kx="0" ky="0" algn="bl" rotWithShape="0" blurRad="76200" dist="25400" dir="2700000">
              <a:srgbClr val="000000">
                <a:alpha val="10000"/>
              </a:srgbClr>
            </a:outerShdw>
          </a:effectLst>
        </p:spPr>
      </p:sp>
      <p:pic>
        <p:nvPicPr>
          <p:cNvPr id="13" name="Image 2" descr="icon_warning.png">    </p:cNvPr>
          <p:cNvPicPr>
            <a:picLocks noChangeAspect="1"/>
          </p:cNvPicPr>
          <p:nvPr/>
        </p:nvPicPr>
        <p:blipFill>
          <a:blip r:embed="rId3"/>
          <a:stretch>
            <a:fillRect/>
          </a:stretch>
        </p:blipFill>
        <p:spPr>
          <a:xfrm>
            <a:off x="777240" y="4251960"/>
            <a:ext cx="457200" cy="457200"/>
          </a:xfrm>
          <a:prstGeom prst="rect">
            <a:avLst/>
          </a:prstGeom>
        </p:spPr>
      </p:pic>
      <p:sp>
        <p:nvSpPr>
          <p:cNvPr id="14" name="Text 9"/>
          <p:cNvSpPr/>
          <p:nvPr/>
        </p:nvSpPr>
        <p:spPr>
          <a:xfrm>
            <a:off x="1417320" y="4206240"/>
            <a:ext cx="4343400" cy="594360"/>
          </a:xfrm>
          <a:prstGeom prst="rect">
            <a:avLst/>
          </a:prstGeom>
          <a:noFill/>
          <a:ln/>
        </p:spPr>
        <p:txBody>
          <a:bodyPr wrap="square" lIns="0" tIns="0" rIns="0" bIns="0" rtlCol="0" anchor="t"/>
          <a:lstStyle/>
          <a:p>
            <a:pPr indent="0" marL="0">
              <a:buNone/>
            </a:pPr>
            <a:r>
              <a:rPr lang="en-US" sz="1450" b="1" dirty="0">
                <a:solidFill>
                  <a:srgbClr val="3C3F2C"/>
                </a:solidFill>
                <a:latin typeface="Calibri" pitchFamily="34" charset="0"/>
                <a:ea typeface="Calibri" pitchFamily="34" charset="-122"/>
                <a:cs typeface="Calibri" pitchFamily="34" charset="-120"/>
              </a:rPr>
              <a:t>Never checking your fund selection</a:t>
            </a:r>
            <a:endParaRPr lang="en-US" sz="1450" dirty="0"/>
          </a:p>
        </p:txBody>
      </p:sp>
      <p:sp>
        <p:nvSpPr>
          <p:cNvPr id="15" name="Text 10"/>
          <p:cNvSpPr/>
          <p:nvPr/>
        </p:nvSpPr>
        <p:spPr>
          <a:xfrm>
            <a:off x="1417320" y="4892040"/>
            <a:ext cx="4343400" cy="1234440"/>
          </a:xfrm>
          <a:prstGeom prst="rect">
            <a:avLst/>
          </a:prstGeom>
          <a:noFill/>
          <a:ln/>
        </p:spPr>
        <p:txBody>
          <a:bodyPr wrap="square" lIns="0" tIns="0" rIns="0" bIns="0" rtlCol="0" anchor="t"/>
          <a:lstStyle/>
          <a:p>
            <a:pPr indent="0" marL="0">
              <a:buNone/>
            </a:pPr>
            <a:r>
              <a:rPr lang="en-US" sz="1200" dirty="0">
                <a:solidFill>
                  <a:srgbClr val="2B2B25"/>
                </a:solidFill>
                <a:latin typeface="Calibri" pitchFamily="34" charset="0"/>
                <a:ea typeface="Calibri" pitchFamily="34" charset="-122"/>
                <a:cs typeface="Calibri" pitchFamily="34" charset="-120"/>
              </a:rPr>
              <a:t>Many Soldiers never look at what fund they're in. Takes 5 minutes on tsp.gov to check and understand it.</a:t>
            </a:r>
            <a:endParaRPr lang="en-US" sz="1200" dirty="0"/>
          </a:p>
        </p:txBody>
      </p:sp>
      <p:sp>
        <p:nvSpPr>
          <p:cNvPr id="16" name="Shape 11"/>
          <p:cNvSpPr/>
          <p:nvPr/>
        </p:nvSpPr>
        <p:spPr>
          <a:xfrm>
            <a:off x="6263640" y="4023360"/>
            <a:ext cx="5394960" cy="2286000"/>
          </a:xfrm>
          <a:prstGeom prst="roundRect">
            <a:avLst>
              <a:gd name="adj" fmla="val 3200"/>
            </a:avLst>
          </a:prstGeom>
          <a:solidFill>
            <a:srgbClr val="F1EDE3"/>
          </a:solidFill>
          <a:ln/>
          <a:effectLst>
            <a:outerShdw sx="100000" sy="100000" kx="0" ky="0" algn="bl" rotWithShape="0" blurRad="76200" dist="25400" dir="2700000">
              <a:srgbClr val="000000">
                <a:alpha val="10000"/>
              </a:srgbClr>
            </a:outerShdw>
          </a:effectLst>
        </p:spPr>
      </p:sp>
      <p:pic>
        <p:nvPicPr>
          <p:cNvPr id="17" name="Image 3" descr="icon_warning.png">    </p:cNvPr>
          <p:cNvPicPr>
            <a:picLocks noChangeAspect="1"/>
          </p:cNvPicPr>
          <p:nvPr/>
        </p:nvPicPr>
        <p:blipFill>
          <a:blip r:embed="rId4"/>
          <a:stretch>
            <a:fillRect/>
          </a:stretch>
        </p:blipFill>
        <p:spPr>
          <a:xfrm>
            <a:off x="6492240" y="4251960"/>
            <a:ext cx="457200" cy="457200"/>
          </a:xfrm>
          <a:prstGeom prst="rect">
            <a:avLst/>
          </a:prstGeom>
        </p:spPr>
      </p:pic>
      <p:sp>
        <p:nvSpPr>
          <p:cNvPr id="18" name="Text 12"/>
          <p:cNvSpPr/>
          <p:nvPr/>
        </p:nvSpPr>
        <p:spPr>
          <a:xfrm>
            <a:off x="7132320" y="4206240"/>
            <a:ext cx="4343400" cy="594360"/>
          </a:xfrm>
          <a:prstGeom prst="rect">
            <a:avLst/>
          </a:prstGeom>
          <a:noFill/>
          <a:ln/>
        </p:spPr>
        <p:txBody>
          <a:bodyPr wrap="square" lIns="0" tIns="0" rIns="0" bIns="0" rtlCol="0" anchor="t"/>
          <a:lstStyle/>
          <a:p>
            <a:pPr indent="0" marL="0">
              <a:buNone/>
            </a:pPr>
            <a:r>
              <a:rPr lang="en-US" sz="1450" b="1" dirty="0">
                <a:solidFill>
                  <a:srgbClr val="3C3F2C"/>
                </a:solidFill>
                <a:latin typeface="Calibri" pitchFamily="34" charset="0"/>
                <a:ea typeface="Calibri" pitchFamily="34" charset="-122"/>
                <a:cs typeface="Calibri" pitchFamily="34" charset="-120"/>
              </a:rPr>
              <a:t>Cashing out TSP when leaving the Army</a:t>
            </a:r>
            <a:endParaRPr lang="en-US" sz="1450" dirty="0"/>
          </a:p>
        </p:txBody>
      </p:sp>
      <p:sp>
        <p:nvSpPr>
          <p:cNvPr id="19" name="Text 13"/>
          <p:cNvSpPr/>
          <p:nvPr/>
        </p:nvSpPr>
        <p:spPr>
          <a:xfrm>
            <a:off x="7132320" y="4892040"/>
            <a:ext cx="4343400" cy="1234440"/>
          </a:xfrm>
          <a:prstGeom prst="rect">
            <a:avLst/>
          </a:prstGeom>
          <a:noFill/>
          <a:ln/>
        </p:spPr>
        <p:txBody>
          <a:bodyPr wrap="square" lIns="0" tIns="0" rIns="0" bIns="0" rtlCol="0" anchor="t"/>
          <a:lstStyle/>
          <a:p>
            <a:pPr indent="0" marL="0">
              <a:buNone/>
            </a:pPr>
            <a:r>
              <a:rPr lang="en-US" sz="1200" dirty="0">
                <a:solidFill>
                  <a:srgbClr val="2B2B25"/>
                </a:solidFill>
                <a:latin typeface="Calibri" pitchFamily="34" charset="0"/>
                <a:ea typeface="Calibri" pitchFamily="34" charset="-122"/>
                <a:cs typeface="Calibri" pitchFamily="34" charset="-120"/>
              </a:rPr>
              <a:t>Withdrawing early usually means taxes plus a penalty, and it erases years of potential growth.</a:t>
            </a:r>
            <a:endParaRPr lang="en-US" sz="1200" dirty="0"/>
          </a:p>
        </p:txBody>
      </p:sp>
      <p:sp>
        <p:nvSpPr>
          <p:cNvPr id="20" name="Text 14"/>
          <p:cNvSpPr/>
          <p:nvPr/>
        </p:nvSpPr>
        <p:spPr>
          <a:xfrm>
            <a:off x="0" y="6492240"/>
            <a:ext cx="12191695" cy="274320"/>
          </a:xfrm>
          <a:prstGeom prst="rect">
            <a:avLst/>
          </a:prstGeom>
          <a:noFill/>
          <a:ln/>
        </p:spPr>
        <p:txBody>
          <a:bodyPr wrap="square" rtlCol="0" anchor="ctr"/>
          <a:lstStyle/>
          <a:p>
            <a:pPr algn="ctr" indent="0" marL="0">
              <a:buNone/>
            </a:pPr>
            <a:r>
              <a:rPr lang="en-US" sz="900" dirty="0">
                <a:solidFill>
                  <a:srgbClr val="9C9C90"/>
                </a:solidFill>
                <a:latin typeface="Calibri" pitchFamily="34" charset="0"/>
                <a:ea typeface="Calibri" pitchFamily="34" charset="-122"/>
                <a:cs typeface="Calibri" pitchFamily="34" charset="-120"/>
              </a:rPr>
              <a:t>TSP BRIEFING  |  9</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24261A"/>
        </a:solidFill>
      </p:bgPr>
    </p:bg>
    <p:spTree>
      <p:nvGrpSpPr>
        <p:cNvPr id="1" name=""/>
        <p:cNvGrpSpPr/>
        <p:nvPr/>
      </p:nvGrpSpPr>
      <p:grpSpPr>
        <a:xfrm>
          <a:off x="0" y="0"/>
          <a:ext cx="0" cy="0"/>
          <a:chOff x="0" y="0"/>
          <a:chExt cx="0" cy="0"/>
        </a:xfrm>
      </p:grpSpPr>
      <p:sp>
        <p:nvSpPr>
          <p:cNvPr id="2" name="Shape 0"/>
          <p:cNvSpPr/>
          <p:nvPr/>
        </p:nvSpPr>
        <p:spPr>
          <a:xfrm>
            <a:off x="9692640" y="-1463040"/>
            <a:ext cx="4572000" cy="4572000"/>
          </a:xfrm>
          <a:prstGeom prst="ellipse">
            <a:avLst/>
          </a:prstGeom>
          <a:solidFill>
            <a:srgbClr val="3C3F2C">
              <a:alpha val="60000"/>
            </a:srgbClr>
          </a:solidFill>
          <a:ln/>
        </p:spPr>
      </p:sp>
      <p:sp>
        <p:nvSpPr>
          <p:cNvPr id="3" name="Text 1"/>
          <p:cNvSpPr/>
          <p:nvPr/>
        </p:nvSpPr>
        <p:spPr>
          <a:xfrm>
            <a:off x="548640" y="411480"/>
            <a:ext cx="9144000" cy="640080"/>
          </a:xfrm>
          <a:prstGeom prst="rect">
            <a:avLst/>
          </a:prstGeom>
          <a:noFill/>
          <a:ln/>
        </p:spPr>
        <p:txBody>
          <a:bodyPr wrap="square" lIns="0" tIns="0" rIns="0" bIns="0"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KEY TAKEAWAYS</a:t>
            </a:r>
            <a:endParaRPr lang="en-US" sz="3400" dirty="0"/>
          </a:p>
        </p:txBody>
      </p:sp>
      <p:pic>
        <p:nvPicPr>
          <p:cNvPr id="4" name="Image 0" descr="icon_coins_white.png">    </p:cNvPr>
          <p:cNvPicPr>
            <a:picLocks noChangeAspect="1"/>
          </p:cNvPicPr>
          <p:nvPr/>
        </p:nvPicPr>
        <p:blipFill>
          <a:blip r:embed="rId1"/>
          <a:stretch>
            <a:fillRect/>
          </a:stretch>
        </p:blipFill>
        <p:spPr>
          <a:xfrm>
            <a:off x="731520" y="1600200"/>
            <a:ext cx="457200" cy="457200"/>
          </a:xfrm>
          <a:prstGeom prst="rect">
            <a:avLst/>
          </a:prstGeom>
        </p:spPr>
      </p:pic>
      <p:sp>
        <p:nvSpPr>
          <p:cNvPr id="5" name="Text 2"/>
          <p:cNvSpPr/>
          <p:nvPr/>
        </p:nvSpPr>
        <p:spPr>
          <a:xfrm>
            <a:off x="1417320" y="1554480"/>
            <a:ext cx="10058400" cy="548640"/>
          </a:xfrm>
          <a:prstGeom prst="rect">
            <a:avLst/>
          </a:prstGeom>
          <a:noFill/>
          <a:ln/>
        </p:spPr>
        <p:txBody>
          <a:bodyPr wrap="square" lIns="0" tIns="0" rIns="0" bIns="0" rtlCol="0" anchor="ctr"/>
          <a:lstStyle/>
          <a:p>
            <a:pPr indent="0" marL="0">
              <a:buNone/>
            </a:pPr>
            <a:r>
              <a:rPr lang="en-US" sz="1600" dirty="0">
                <a:solidFill>
                  <a:srgbClr val="FFFFFF"/>
                </a:solidFill>
                <a:latin typeface="Calibri" pitchFamily="34" charset="0"/>
                <a:ea typeface="Calibri" pitchFamily="34" charset="-122"/>
                <a:cs typeface="Calibri" pitchFamily="34" charset="-120"/>
              </a:rPr>
              <a:t>Contribute at least 5% — that's the full Army match, free money</a:t>
            </a:r>
            <a:endParaRPr lang="en-US" sz="1600" dirty="0"/>
          </a:p>
        </p:txBody>
      </p:sp>
      <p:pic>
        <p:nvPicPr>
          <p:cNvPr id="6" name="Image 1" descr="icon_shield_white.png">    </p:cNvPr>
          <p:cNvPicPr>
            <a:picLocks noChangeAspect="1"/>
          </p:cNvPicPr>
          <p:nvPr/>
        </p:nvPicPr>
        <p:blipFill>
          <a:blip r:embed="rId2"/>
          <a:stretch>
            <a:fillRect/>
          </a:stretch>
        </p:blipFill>
        <p:spPr>
          <a:xfrm>
            <a:off x="731520" y="2377440"/>
            <a:ext cx="457200" cy="457200"/>
          </a:xfrm>
          <a:prstGeom prst="rect">
            <a:avLst/>
          </a:prstGeom>
        </p:spPr>
      </p:pic>
      <p:sp>
        <p:nvSpPr>
          <p:cNvPr id="7" name="Text 3"/>
          <p:cNvSpPr/>
          <p:nvPr/>
        </p:nvSpPr>
        <p:spPr>
          <a:xfrm>
            <a:off x="1417320" y="2331720"/>
            <a:ext cx="10058400" cy="548640"/>
          </a:xfrm>
          <a:prstGeom prst="rect">
            <a:avLst/>
          </a:prstGeom>
          <a:noFill/>
          <a:ln/>
        </p:spPr>
        <p:txBody>
          <a:bodyPr wrap="square" lIns="0" tIns="0" rIns="0" bIns="0" rtlCol="0" anchor="ctr"/>
          <a:lstStyle/>
          <a:p>
            <a:pPr indent="0" marL="0">
              <a:buNone/>
            </a:pPr>
            <a:r>
              <a:rPr lang="en-US" sz="1600" dirty="0">
                <a:solidFill>
                  <a:srgbClr val="FFFFFF"/>
                </a:solidFill>
                <a:latin typeface="Calibri" pitchFamily="34" charset="0"/>
                <a:ea typeface="Calibri" pitchFamily="34" charset="-122"/>
                <a:cs typeface="Calibri" pitchFamily="34" charset="-120"/>
              </a:rPr>
              <a:t>Keep contributing every paycheck, all year, without stopping</a:t>
            </a:r>
            <a:endParaRPr lang="en-US" sz="1600" dirty="0"/>
          </a:p>
        </p:txBody>
      </p:sp>
      <p:pic>
        <p:nvPicPr>
          <p:cNvPr id="8" name="Image 2" descr="icon_chart_white.png">    </p:cNvPr>
          <p:cNvPicPr>
            <a:picLocks noChangeAspect="1"/>
          </p:cNvPicPr>
          <p:nvPr/>
        </p:nvPicPr>
        <p:blipFill>
          <a:blip r:embed="rId3"/>
          <a:stretch>
            <a:fillRect/>
          </a:stretch>
        </p:blipFill>
        <p:spPr>
          <a:xfrm>
            <a:off x="731520" y="3154680"/>
            <a:ext cx="457200" cy="457200"/>
          </a:xfrm>
          <a:prstGeom prst="rect">
            <a:avLst/>
          </a:prstGeom>
        </p:spPr>
      </p:pic>
      <p:sp>
        <p:nvSpPr>
          <p:cNvPr id="9" name="Text 4"/>
          <p:cNvSpPr/>
          <p:nvPr/>
        </p:nvSpPr>
        <p:spPr>
          <a:xfrm>
            <a:off x="1417320" y="3108960"/>
            <a:ext cx="10058400" cy="548640"/>
          </a:xfrm>
          <a:prstGeom prst="rect">
            <a:avLst/>
          </a:prstGeom>
          <a:noFill/>
          <a:ln/>
        </p:spPr>
        <p:txBody>
          <a:bodyPr wrap="square" lIns="0" tIns="0" rIns="0" bIns="0" rtlCol="0" anchor="ctr"/>
          <a:lstStyle/>
          <a:p>
            <a:pPr indent="0" marL="0">
              <a:buNone/>
            </a:pPr>
            <a:r>
              <a:rPr lang="en-US" sz="1600" dirty="0">
                <a:solidFill>
                  <a:srgbClr val="FFFFFF"/>
                </a:solidFill>
                <a:latin typeface="Calibri" pitchFamily="34" charset="0"/>
                <a:ea typeface="Calibri" pitchFamily="34" charset="-122"/>
                <a:cs typeface="Calibri" pitchFamily="34" charset="-120"/>
              </a:rPr>
              <a:t>Roth or Traditional — either is fine, the mistake is picking neither</a:t>
            </a:r>
            <a:endParaRPr lang="en-US" sz="1600" dirty="0"/>
          </a:p>
        </p:txBody>
      </p:sp>
      <p:pic>
        <p:nvPicPr>
          <p:cNvPr id="10" name="Image 3" descr="icon_check.png">    </p:cNvPr>
          <p:cNvPicPr>
            <a:picLocks noChangeAspect="1"/>
          </p:cNvPicPr>
          <p:nvPr/>
        </p:nvPicPr>
        <p:blipFill>
          <a:blip r:embed="rId4"/>
          <a:stretch>
            <a:fillRect/>
          </a:stretch>
        </p:blipFill>
        <p:spPr>
          <a:xfrm>
            <a:off x="731520" y="3931920"/>
            <a:ext cx="457200" cy="457200"/>
          </a:xfrm>
          <a:prstGeom prst="rect">
            <a:avLst/>
          </a:prstGeom>
        </p:spPr>
      </p:pic>
      <p:sp>
        <p:nvSpPr>
          <p:cNvPr id="11" name="Text 5"/>
          <p:cNvSpPr/>
          <p:nvPr/>
        </p:nvSpPr>
        <p:spPr>
          <a:xfrm>
            <a:off x="1417320" y="3886200"/>
            <a:ext cx="10058400" cy="548640"/>
          </a:xfrm>
          <a:prstGeom prst="rect">
            <a:avLst/>
          </a:prstGeom>
          <a:noFill/>
          <a:ln/>
        </p:spPr>
        <p:txBody>
          <a:bodyPr wrap="square" lIns="0" tIns="0" rIns="0" bIns="0" rtlCol="0" anchor="ctr"/>
          <a:lstStyle/>
          <a:p>
            <a:pPr indent="0" marL="0">
              <a:buNone/>
            </a:pPr>
            <a:r>
              <a:rPr lang="en-US" sz="1600" dirty="0">
                <a:solidFill>
                  <a:srgbClr val="FFFFFF"/>
                </a:solidFill>
                <a:latin typeface="Calibri" pitchFamily="34" charset="0"/>
                <a:ea typeface="Calibri" pitchFamily="34" charset="-122"/>
                <a:cs typeface="Calibri" pitchFamily="34" charset="-120"/>
              </a:rPr>
              <a:t>Not sure where to start? The default L Fund already has you covered</a:t>
            </a:r>
            <a:endParaRPr lang="en-US" sz="1600" dirty="0"/>
          </a:p>
        </p:txBody>
      </p:sp>
      <p:sp>
        <p:nvSpPr>
          <p:cNvPr id="12" name="Shape 6"/>
          <p:cNvSpPr/>
          <p:nvPr/>
        </p:nvSpPr>
        <p:spPr>
          <a:xfrm>
            <a:off x="548640" y="4892040"/>
            <a:ext cx="11064240" cy="1280160"/>
          </a:xfrm>
          <a:prstGeom prst="roundRect">
            <a:avLst>
              <a:gd name="adj" fmla="val 5714"/>
            </a:avLst>
          </a:prstGeom>
          <a:solidFill>
            <a:srgbClr val="3C3F2C"/>
          </a:solidFill>
          <a:ln/>
          <a:effectLst>
            <a:outerShdw sx="100000" sy="100000" kx="0" ky="0" algn="bl" rotWithShape="0" blurRad="76200" dist="25400" dir="2700000">
              <a:srgbClr val="000000">
                <a:alpha val="15000"/>
              </a:srgbClr>
            </a:outerShdw>
          </a:effectLst>
        </p:spPr>
      </p:sp>
      <p:pic>
        <p:nvPicPr>
          <p:cNvPr id="13" name="Image 4" descr="icon_question.png">    </p:cNvPr>
          <p:cNvPicPr>
            <a:picLocks noChangeAspect="1"/>
          </p:cNvPicPr>
          <p:nvPr/>
        </p:nvPicPr>
        <p:blipFill>
          <a:blip r:embed="rId5"/>
          <a:stretch>
            <a:fillRect/>
          </a:stretch>
        </p:blipFill>
        <p:spPr>
          <a:xfrm>
            <a:off x="822960" y="5166360"/>
            <a:ext cx="502920" cy="502920"/>
          </a:xfrm>
          <a:prstGeom prst="rect">
            <a:avLst/>
          </a:prstGeom>
        </p:spPr>
      </p:pic>
      <p:sp>
        <p:nvSpPr>
          <p:cNvPr id="14" name="Text 7"/>
          <p:cNvSpPr/>
          <p:nvPr/>
        </p:nvSpPr>
        <p:spPr>
          <a:xfrm>
            <a:off x="1508760" y="5074920"/>
            <a:ext cx="9784080" cy="1005840"/>
          </a:xfrm>
          <a:prstGeom prst="rect">
            <a:avLst/>
          </a:prstGeom>
          <a:noFill/>
          <a:ln/>
        </p:spPr>
        <p:txBody>
          <a:bodyPr wrap="square" lIns="0" tIns="0" rIns="0" bIns="0" rtlCol="0" anchor="ctr"/>
          <a:lstStyle/>
          <a:p>
            <a:pPr indent="0" marL="0">
              <a:buNone/>
            </a:pPr>
            <a:r>
              <a:rPr lang="en-US" sz="1350" b="1" dirty="0">
                <a:solidFill>
                  <a:srgbClr val="C9A227"/>
                </a:solidFill>
                <a:latin typeface="Calibri" pitchFamily="34" charset="0"/>
                <a:ea typeface="Calibri" pitchFamily="34" charset="-122"/>
                <a:cs typeface="Calibri" pitchFamily="34" charset="-120"/>
              </a:rPr>
              <a:t>Before we close — </a:t>
            </a:r>
            <a:pPr indent="0" marL="0">
              <a:buNone/>
            </a:pPr>
            <a:r>
              <a:rPr lang="en-US" sz="1350" dirty="0">
                <a:solidFill>
                  <a:srgbClr val="FFFFFF"/>
                </a:solidFill>
                <a:latin typeface="Calibri" pitchFamily="34" charset="0"/>
                <a:ea typeface="Calibri" pitchFamily="34" charset="-122"/>
                <a:cs typeface="Calibri" pitchFamily="34" charset="-120"/>
              </a:rPr>
              <a:t>What percentage are you going to set when you log into myPay this week? Any questions on Traditional vs. Roth, or the funds?</a:t>
            </a:r>
            <a:endParaRPr lang="en-US" sz="13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Thrift Savings Plan (TSP) Briefing</dc:title>
  <dc:subject>PptxGenJS Presentation</dc:subject>
  <dc:creator>US Army Cyber School</dc:creator>
  <cp:lastModifiedBy>US Army Cyber School</cp:lastModifiedBy>
  <cp:revision>1</cp:revision>
  <dcterms:created xsi:type="dcterms:W3CDTF">2026-07-05T21:34:42Z</dcterms:created>
  <dcterms:modified xsi:type="dcterms:W3CDTF">2026-07-05T21:34:42Z</dcterms:modified>
</cp:coreProperties>
</file>