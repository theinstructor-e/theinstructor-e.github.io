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CHECK: 0:00-1:00. Welcome the class. Ask: 'Everyone recites the Soldier's Creed line about being trained and proficient in your warrior tasks and drills - can anyone actually name five of them?' Usually silence. That's the hook. Tell them by the end of this brief they'll know the structure behind that line they've been saying since day one of basic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CHECK: 1:00-2:00. Quick walkthrough of agenda, don't linger.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CHECK: 2:00-5:00. Read the Soldier's Creed line out loud together as a class if it fits the mood. Point out that this line is famous but rarely explained - today's brief is that explanation. Emphasize WTBD were deliberately streamlined years ago specifically so Soldiers COULD actually remember and own them, instead of an overwhelming laundry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CHECK: 5:00-8:00. Introduce all five categories at a high level here - the next four slides go one category deeper each. Point out these aren't ranked in importance; they work together. You can't Survive if you can't Communicate a casualty report, and you can't Move safely if you can't Shoot to protect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CHECK: 8:00-11:00. Ask when the last time each Soldier actually zeroed their weapon was. Point out 'Shoot' isn't just marksmanship - it includes weapons handling, safety, maintenance, and knowing the rules of engagement, which matters just as much as hitting the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CHECK: 11:00-14:00. Ask who remembers their last land navigation course and how it went. Point out GPS is great until it isn't - map and compass skills are the fallback the Army never wants Soldiers to 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CHECK: 14:00-17:00. If time allows, quiz the class on what SALUTE stands for (Size, Activity, Location, Unit, Time, Equipment). Point out clear, accurate reporting under stress is a trained skill, not something people are naturally good at - that's exactly why it's a Warrior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CHECK: 17:00-20:00. Spend extra time on TCCC (Tactical Combat Casualty Care) - it's one of the highest value skills a Soldier can have, since the first responder to a casualty is almost always another Soldier, not a medic. On Adapt, explain this is the newest-feeling category - it reflects lessons learned that combat readiness includes judgment and cultural awareness, not just physical skills.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CHECK: 20:00-23:00. Emphasize the key difference from Warrior Tasks: battle drills are executed as a TEAM, instinctively, the instant the trigger event happens - there's no time to call a meeting. This is why units rehearse these constantly; the goal is that the response becomes automatic muscle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CHECK: 23:00-26:00. Tie this back to the earlier STP/professional development brief if you taught it - WTBD live inside the same Soldier's Manual system. Emphasize these show up at boards precisely because they're common to every Soldier, making them fair game regardless of 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CHECK: 26:00-28:30. Ask if anyone's unit has let WTBD sustainment training slide due to a busy training calendar - this usually gets some honest nods. Reinforce that this is exactly the training commanders get held accountable for when readiness gets inspected.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CHECK: 28:30-30:00. Recap the four takeaways. Close with the discussion prompt - ask a few Soldiers directly which category they feel weakest in, and point them toward the next sustainment training event or their NCO for extra reps.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1.png"/><Relationship Id="rId3" Type="http://schemas.openxmlformats.org/officeDocument/2006/relationships/image" Target="../media/image-11-1.png"/><Relationship Id="rId4" Type="http://schemas.openxmlformats.org/officeDocument/2006/relationships/image" Target="../media/image-11-1.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261A"/>
        </a:solidFill>
      </p:bgPr>
    </p:bg>
    <p:spTree>
      <p:nvGrpSpPr>
        <p:cNvPr id="1" name=""/>
        <p:cNvGrpSpPr/>
        <p:nvPr/>
      </p:nvGrpSpPr>
      <p:grpSpPr>
        <a:xfrm>
          <a:off x="0" y="0"/>
          <a:ext cx="0" cy="0"/>
          <a:chOff x="0" y="0"/>
          <a:chExt cx="0" cy="0"/>
        </a:xfrm>
      </p:grpSpPr>
      <p:sp>
        <p:nvSpPr>
          <p:cNvPr id="2" name="Shape 0"/>
          <p:cNvSpPr/>
          <p:nvPr/>
        </p:nvSpPr>
        <p:spPr>
          <a:xfrm>
            <a:off x="9692640" y="-1463040"/>
            <a:ext cx="4572000" cy="4572000"/>
          </a:xfrm>
          <a:prstGeom prst="ellipse">
            <a:avLst/>
          </a:prstGeom>
          <a:solidFill>
            <a:srgbClr val="3C3F2C">
              <a:alpha val="60000"/>
            </a:srgbClr>
          </a:solidFill>
          <a:ln/>
        </p:spPr>
      </p:sp>
      <p:sp>
        <p:nvSpPr>
          <p:cNvPr id="3" name="Shape 1"/>
          <p:cNvSpPr/>
          <p:nvPr/>
        </p:nvSpPr>
        <p:spPr>
          <a:xfrm>
            <a:off x="-1828800" y="4572000"/>
            <a:ext cx="4114800" cy="4114800"/>
          </a:xfrm>
          <a:prstGeom prst="ellipse">
            <a:avLst/>
          </a:prstGeom>
          <a:solidFill>
            <a:srgbClr val="3C3F2C">
              <a:alpha val="60000"/>
            </a:srgbClr>
          </a:solidFill>
          <a:ln/>
        </p:spPr>
      </p:sp>
      <p:pic>
        <p:nvPicPr>
          <p:cNvPr id="4" name="Image 0" descr="icon_crosshairs.png">    </p:cNvPr>
          <p:cNvPicPr>
            <a:picLocks noChangeAspect="1"/>
          </p:cNvPicPr>
          <p:nvPr/>
        </p:nvPicPr>
        <p:blipFill>
          <a:blip r:embed="rId1"/>
          <a:stretch>
            <a:fillRect/>
          </a:stretch>
        </p:blipFill>
        <p:spPr>
          <a:xfrm>
            <a:off x="822960" y="1280160"/>
            <a:ext cx="1005840" cy="1005840"/>
          </a:xfrm>
          <a:prstGeom prst="rect">
            <a:avLst/>
          </a:prstGeom>
        </p:spPr>
      </p:pic>
      <p:sp>
        <p:nvSpPr>
          <p:cNvPr id="5" name="Text 2"/>
          <p:cNvSpPr/>
          <p:nvPr/>
        </p:nvSpPr>
        <p:spPr>
          <a:xfrm>
            <a:off x="822960" y="2514600"/>
            <a:ext cx="10058400" cy="6858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WARRIOR TASKS &amp;</a:t>
            </a:r>
            <a:endParaRPr lang="en-US" sz="4000" dirty="0"/>
          </a:p>
        </p:txBody>
      </p:sp>
      <p:sp>
        <p:nvSpPr>
          <p:cNvPr id="6" name="Text 3"/>
          <p:cNvSpPr/>
          <p:nvPr/>
        </p:nvSpPr>
        <p:spPr>
          <a:xfrm>
            <a:off x="822960" y="3200400"/>
            <a:ext cx="10058400" cy="6858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BATTLE DRILLS</a:t>
            </a:r>
            <a:endParaRPr lang="en-US" sz="4000" dirty="0"/>
          </a:p>
        </p:txBody>
      </p:sp>
      <p:sp>
        <p:nvSpPr>
          <p:cNvPr id="7" name="Text 4"/>
          <p:cNvSpPr/>
          <p:nvPr/>
        </p:nvSpPr>
        <p:spPr>
          <a:xfrm>
            <a:off x="822960" y="3931920"/>
            <a:ext cx="9144000" cy="457200"/>
          </a:xfrm>
          <a:prstGeom prst="rect">
            <a:avLst/>
          </a:prstGeom>
          <a:noFill/>
          <a:ln/>
        </p:spPr>
        <p:txBody>
          <a:bodyPr wrap="square" lIns="0" tIns="0" rIns="0" bIns="0" rtlCol="0" anchor="ctr"/>
          <a:lstStyle/>
          <a:p>
            <a:pPr indent="0" marL="0">
              <a:buNone/>
            </a:pPr>
            <a:r>
              <a:rPr lang="en-US" sz="1800" i="1" dirty="0">
                <a:solidFill>
                  <a:srgbClr val="C9A227"/>
                </a:solidFill>
                <a:latin typeface="Calibri" pitchFamily="34" charset="0"/>
                <a:ea typeface="Calibri" pitchFamily="34" charset="-122"/>
                <a:cs typeface="Calibri" pitchFamily="34" charset="-120"/>
              </a:rPr>
              <a:t>The Skills Every Soldier Must Own</a:t>
            </a:r>
            <a:endParaRPr lang="en-US" sz="1800" dirty="0"/>
          </a:p>
        </p:txBody>
      </p:sp>
      <p:sp>
        <p:nvSpPr>
          <p:cNvPr id="8" name="Text 5"/>
          <p:cNvSpPr/>
          <p:nvPr/>
        </p:nvSpPr>
        <p:spPr>
          <a:xfrm>
            <a:off x="822960" y="5943600"/>
            <a:ext cx="9601200" cy="365760"/>
          </a:xfrm>
          <a:prstGeom prst="rect">
            <a:avLst/>
          </a:prstGeom>
          <a:noFill/>
          <a:ln/>
        </p:spPr>
        <p:txBody>
          <a:bodyPr wrap="square" lIns="0" tIns="0" rIns="0" bIns="0" rtlCol="0" anchor="ctr"/>
          <a:lstStyle/>
          <a:p>
            <a:pPr indent="0" marL="0">
              <a:buNone/>
            </a:pPr>
            <a:r>
              <a:rPr lang="en-US" sz="1400" dirty="0">
                <a:solidFill>
                  <a:srgbClr val="C9B896"/>
                </a:solidFill>
                <a:latin typeface="Calibri" pitchFamily="34" charset="0"/>
                <a:ea typeface="Calibri" pitchFamily="34" charset="-122"/>
                <a:cs typeface="Calibri" pitchFamily="34" charset="-120"/>
              </a:rPr>
              <a:t>A 30-Minute Briefing for New Soldiers  |  U.S. Army Cyber School</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3C3F2C"/>
          </a:solidFill>
          <a:ln/>
        </p:spPr>
      </p:sp>
      <p:sp>
        <p:nvSpPr>
          <p:cNvPr id="3" name="Text 1"/>
          <p:cNvSpPr/>
          <p:nvPr/>
        </p:nvSpPr>
        <p:spPr>
          <a:xfrm>
            <a:off x="548640" y="256032"/>
            <a:ext cx="1115568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WHAT WE'LL COVER TODAY</a:t>
            </a:r>
            <a:endParaRPr lang="en-US" sz="3000" dirty="0"/>
          </a:p>
        </p:txBody>
      </p:sp>
      <p:sp>
        <p:nvSpPr>
          <p:cNvPr id="4" name="Shape 2"/>
          <p:cNvSpPr/>
          <p:nvPr/>
        </p:nvSpPr>
        <p:spPr>
          <a:xfrm>
            <a:off x="548640" y="1463040"/>
            <a:ext cx="457200" cy="457200"/>
          </a:xfrm>
          <a:prstGeom prst="ellipse">
            <a:avLst/>
          </a:prstGeom>
          <a:solidFill>
            <a:srgbClr val="C9A227"/>
          </a:solidFill>
          <a:ln/>
        </p:spPr>
      </p:sp>
      <p:sp>
        <p:nvSpPr>
          <p:cNvPr id="5" name="Text 3"/>
          <p:cNvSpPr/>
          <p:nvPr/>
        </p:nvSpPr>
        <p:spPr>
          <a:xfrm>
            <a:off x="548640" y="1463040"/>
            <a:ext cx="457200" cy="457200"/>
          </a:xfrm>
          <a:prstGeom prst="rect">
            <a:avLst/>
          </a:prstGeom>
          <a:noFill/>
          <a:ln/>
        </p:spPr>
        <p:txBody>
          <a:bodyPr wrap="square" lIns="0" tIns="0" rIns="0" bIns="0" rtlCol="0" anchor="ctr"/>
          <a:lstStyle/>
          <a:p>
            <a:pPr algn="ctr" indent="0" marL="0">
              <a:buNone/>
            </a:pPr>
            <a:r>
              <a:rPr lang="en-US" sz="1800" b="1" dirty="0">
                <a:solidFill>
                  <a:srgbClr val="24261A"/>
                </a:solidFill>
                <a:latin typeface="Cambria" pitchFamily="34" charset="0"/>
                <a:ea typeface="Cambria" pitchFamily="34" charset="-122"/>
                <a:cs typeface="Cambria" pitchFamily="34" charset="-120"/>
              </a:rPr>
              <a:t>1</a:t>
            </a:r>
            <a:endParaRPr lang="en-US" sz="1800" dirty="0"/>
          </a:p>
        </p:txBody>
      </p:sp>
      <p:sp>
        <p:nvSpPr>
          <p:cNvPr id="6" name="Text 4"/>
          <p:cNvSpPr/>
          <p:nvPr/>
        </p:nvSpPr>
        <p:spPr>
          <a:xfrm>
            <a:off x="1143000" y="1417320"/>
            <a:ext cx="4800600" cy="548640"/>
          </a:xfrm>
          <a:prstGeom prst="rect">
            <a:avLst/>
          </a:prstGeom>
          <a:noFill/>
          <a:ln/>
        </p:spPr>
        <p:txBody>
          <a:bodyPr wrap="square" lIns="0" tIns="0" rIns="0" bIns="0" rtlCol="0" anchor="ctr"/>
          <a:lstStyle/>
          <a:p>
            <a:pPr indent="0" marL="0">
              <a:buNone/>
            </a:pPr>
            <a:r>
              <a:rPr lang="en-US" sz="1400" dirty="0">
                <a:solidFill>
                  <a:srgbClr val="2B2B25"/>
                </a:solidFill>
                <a:latin typeface="Calibri" pitchFamily="34" charset="0"/>
                <a:ea typeface="Calibri" pitchFamily="34" charset="-122"/>
                <a:cs typeface="Calibri" pitchFamily="34" charset="-120"/>
              </a:rPr>
              <a:t>What Warrior Tasks &amp; Battle Drills (WTBD) are, and why they exist</a:t>
            </a:r>
            <a:endParaRPr lang="en-US" sz="1400" dirty="0"/>
          </a:p>
        </p:txBody>
      </p:sp>
      <p:sp>
        <p:nvSpPr>
          <p:cNvPr id="7" name="Shape 5"/>
          <p:cNvSpPr/>
          <p:nvPr/>
        </p:nvSpPr>
        <p:spPr>
          <a:xfrm>
            <a:off x="6263640" y="1463040"/>
            <a:ext cx="457200" cy="457200"/>
          </a:xfrm>
          <a:prstGeom prst="ellipse">
            <a:avLst/>
          </a:prstGeom>
          <a:solidFill>
            <a:srgbClr val="C9A227"/>
          </a:solidFill>
          <a:ln/>
        </p:spPr>
      </p:sp>
      <p:sp>
        <p:nvSpPr>
          <p:cNvPr id="8" name="Text 6"/>
          <p:cNvSpPr/>
          <p:nvPr/>
        </p:nvSpPr>
        <p:spPr>
          <a:xfrm>
            <a:off x="6263640" y="1463040"/>
            <a:ext cx="457200" cy="457200"/>
          </a:xfrm>
          <a:prstGeom prst="rect">
            <a:avLst/>
          </a:prstGeom>
          <a:noFill/>
          <a:ln/>
        </p:spPr>
        <p:txBody>
          <a:bodyPr wrap="square" lIns="0" tIns="0" rIns="0" bIns="0" rtlCol="0" anchor="ctr"/>
          <a:lstStyle/>
          <a:p>
            <a:pPr algn="ctr" indent="0" marL="0">
              <a:buNone/>
            </a:pPr>
            <a:r>
              <a:rPr lang="en-US" sz="1800" b="1" dirty="0">
                <a:solidFill>
                  <a:srgbClr val="24261A"/>
                </a:solidFill>
                <a:latin typeface="Cambria" pitchFamily="34" charset="0"/>
                <a:ea typeface="Cambria" pitchFamily="34" charset="-122"/>
                <a:cs typeface="Cambria" pitchFamily="34" charset="-120"/>
              </a:rPr>
              <a:t>2</a:t>
            </a:r>
            <a:endParaRPr lang="en-US" sz="1800" dirty="0"/>
          </a:p>
        </p:txBody>
      </p:sp>
      <p:sp>
        <p:nvSpPr>
          <p:cNvPr id="9" name="Text 7"/>
          <p:cNvSpPr/>
          <p:nvPr/>
        </p:nvSpPr>
        <p:spPr>
          <a:xfrm>
            <a:off x="6858000" y="1417320"/>
            <a:ext cx="4800600" cy="548640"/>
          </a:xfrm>
          <a:prstGeom prst="rect">
            <a:avLst/>
          </a:prstGeom>
          <a:noFill/>
          <a:ln/>
        </p:spPr>
        <p:txBody>
          <a:bodyPr wrap="square" lIns="0" tIns="0" rIns="0" bIns="0" rtlCol="0" anchor="ctr"/>
          <a:lstStyle/>
          <a:p>
            <a:pPr indent="0" marL="0">
              <a:buNone/>
            </a:pPr>
            <a:r>
              <a:rPr lang="en-US" sz="1400" dirty="0">
                <a:solidFill>
                  <a:srgbClr val="2B2B25"/>
                </a:solidFill>
                <a:latin typeface="Calibri" pitchFamily="34" charset="0"/>
                <a:ea typeface="Calibri" pitchFamily="34" charset="-122"/>
                <a:cs typeface="Calibri" pitchFamily="34" charset="-120"/>
              </a:rPr>
              <a:t>The 5 categories: Shoot, Move, Communicate, Survive, Adapt</a:t>
            </a:r>
            <a:endParaRPr lang="en-US" sz="1400" dirty="0"/>
          </a:p>
        </p:txBody>
      </p:sp>
      <p:sp>
        <p:nvSpPr>
          <p:cNvPr id="10" name="Shape 8"/>
          <p:cNvSpPr/>
          <p:nvPr/>
        </p:nvSpPr>
        <p:spPr>
          <a:xfrm>
            <a:off x="548640" y="2468880"/>
            <a:ext cx="457200" cy="457200"/>
          </a:xfrm>
          <a:prstGeom prst="ellipse">
            <a:avLst/>
          </a:prstGeom>
          <a:solidFill>
            <a:srgbClr val="C9A227"/>
          </a:solidFill>
          <a:ln/>
        </p:spPr>
      </p:sp>
      <p:sp>
        <p:nvSpPr>
          <p:cNvPr id="11" name="Text 9"/>
          <p:cNvSpPr/>
          <p:nvPr/>
        </p:nvSpPr>
        <p:spPr>
          <a:xfrm>
            <a:off x="548640" y="2468880"/>
            <a:ext cx="457200" cy="457200"/>
          </a:xfrm>
          <a:prstGeom prst="rect">
            <a:avLst/>
          </a:prstGeom>
          <a:noFill/>
          <a:ln/>
        </p:spPr>
        <p:txBody>
          <a:bodyPr wrap="square" lIns="0" tIns="0" rIns="0" bIns="0" rtlCol="0" anchor="ctr"/>
          <a:lstStyle/>
          <a:p>
            <a:pPr algn="ctr" indent="0" marL="0">
              <a:buNone/>
            </a:pPr>
            <a:r>
              <a:rPr lang="en-US" sz="1800" b="1" dirty="0">
                <a:solidFill>
                  <a:srgbClr val="24261A"/>
                </a:solidFill>
                <a:latin typeface="Cambria" pitchFamily="34" charset="0"/>
                <a:ea typeface="Cambria" pitchFamily="34" charset="-122"/>
                <a:cs typeface="Cambria" pitchFamily="34" charset="-120"/>
              </a:rPr>
              <a:t>3</a:t>
            </a:r>
            <a:endParaRPr lang="en-US" sz="1800" dirty="0"/>
          </a:p>
        </p:txBody>
      </p:sp>
      <p:sp>
        <p:nvSpPr>
          <p:cNvPr id="12" name="Text 10"/>
          <p:cNvSpPr/>
          <p:nvPr/>
        </p:nvSpPr>
        <p:spPr>
          <a:xfrm>
            <a:off x="1143000" y="2423160"/>
            <a:ext cx="4800600" cy="548640"/>
          </a:xfrm>
          <a:prstGeom prst="rect">
            <a:avLst/>
          </a:prstGeom>
          <a:noFill/>
          <a:ln/>
        </p:spPr>
        <p:txBody>
          <a:bodyPr wrap="square" lIns="0" tIns="0" rIns="0" bIns="0" rtlCol="0" anchor="ctr"/>
          <a:lstStyle/>
          <a:p>
            <a:pPr indent="0" marL="0">
              <a:buNone/>
            </a:pPr>
            <a:r>
              <a:rPr lang="en-US" sz="1400" dirty="0">
                <a:solidFill>
                  <a:srgbClr val="2B2B25"/>
                </a:solidFill>
                <a:latin typeface="Calibri" pitchFamily="34" charset="0"/>
                <a:ea typeface="Calibri" pitchFamily="34" charset="-122"/>
                <a:cs typeface="Calibri" pitchFamily="34" charset="-120"/>
              </a:rPr>
              <a:t>Real examples of tasks inside each category</a:t>
            </a:r>
            <a:endParaRPr lang="en-US" sz="1400" dirty="0"/>
          </a:p>
        </p:txBody>
      </p:sp>
      <p:sp>
        <p:nvSpPr>
          <p:cNvPr id="13" name="Shape 11"/>
          <p:cNvSpPr/>
          <p:nvPr/>
        </p:nvSpPr>
        <p:spPr>
          <a:xfrm>
            <a:off x="6263640" y="2468880"/>
            <a:ext cx="457200" cy="457200"/>
          </a:xfrm>
          <a:prstGeom prst="ellipse">
            <a:avLst/>
          </a:prstGeom>
          <a:solidFill>
            <a:srgbClr val="C9A227"/>
          </a:solidFill>
          <a:ln/>
        </p:spPr>
      </p:sp>
      <p:sp>
        <p:nvSpPr>
          <p:cNvPr id="14" name="Text 12"/>
          <p:cNvSpPr/>
          <p:nvPr/>
        </p:nvSpPr>
        <p:spPr>
          <a:xfrm>
            <a:off x="6263640" y="2468880"/>
            <a:ext cx="457200" cy="457200"/>
          </a:xfrm>
          <a:prstGeom prst="rect">
            <a:avLst/>
          </a:prstGeom>
          <a:noFill/>
          <a:ln/>
        </p:spPr>
        <p:txBody>
          <a:bodyPr wrap="square" lIns="0" tIns="0" rIns="0" bIns="0" rtlCol="0" anchor="ctr"/>
          <a:lstStyle/>
          <a:p>
            <a:pPr algn="ctr" indent="0" marL="0">
              <a:buNone/>
            </a:pPr>
            <a:r>
              <a:rPr lang="en-US" sz="1800" b="1" dirty="0">
                <a:solidFill>
                  <a:srgbClr val="24261A"/>
                </a:solidFill>
                <a:latin typeface="Cambria" pitchFamily="34" charset="0"/>
                <a:ea typeface="Cambria" pitchFamily="34" charset="-122"/>
                <a:cs typeface="Cambria" pitchFamily="34" charset="-120"/>
              </a:rPr>
              <a:t>4</a:t>
            </a:r>
            <a:endParaRPr lang="en-US" sz="1800" dirty="0"/>
          </a:p>
        </p:txBody>
      </p:sp>
      <p:sp>
        <p:nvSpPr>
          <p:cNvPr id="15" name="Text 13"/>
          <p:cNvSpPr/>
          <p:nvPr/>
        </p:nvSpPr>
        <p:spPr>
          <a:xfrm>
            <a:off x="6858000" y="2423160"/>
            <a:ext cx="4800600" cy="548640"/>
          </a:xfrm>
          <a:prstGeom prst="rect">
            <a:avLst/>
          </a:prstGeom>
          <a:noFill/>
          <a:ln/>
        </p:spPr>
        <p:txBody>
          <a:bodyPr wrap="square" lIns="0" tIns="0" rIns="0" bIns="0" rtlCol="0" anchor="ctr"/>
          <a:lstStyle/>
          <a:p>
            <a:pPr indent="0" marL="0">
              <a:buNone/>
            </a:pPr>
            <a:r>
              <a:rPr lang="en-US" sz="1400" dirty="0">
                <a:solidFill>
                  <a:srgbClr val="2B2B25"/>
                </a:solidFill>
                <a:latin typeface="Calibri" pitchFamily="34" charset="0"/>
                <a:ea typeface="Calibri" pitchFamily="34" charset="-122"/>
                <a:cs typeface="Calibri" pitchFamily="34" charset="-120"/>
              </a:rPr>
              <a:t>The 4 core Battle Drills, and how they differ from tasks</a:t>
            </a:r>
            <a:endParaRPr lang="en-US" sz="1400" dirty="0"/>
          </a:p>
        </p:txBody>
      </p:sp>
      <p:sp>
        <p:nvSpPr>
          <p:cNvPr id="16" name="Shape 14"/>
          <p:cNvSpPr/>
          <p:nvPr/>
        </p:nvSpPr>
        <p:spPr>
          <a:xfrm>
            <a:off x="548640" y="3474720"/>
            <a:ext cx="457200" cy="457200"/>
          </a:xfrm>
          <a:prstGeom prst="ellipse">
            <a:avLst/>
          </a:prstGeom>
          <a:solidFill>
            <a:srgbClr val="C9A227"/>
          </a:solidFill>
          <a:ln/>
        </p:spPr>
      </p:sp>
      <p:sp>
        <p:nvSpPr>
          <p:cNvPr id="17" name="Text 15"/>
          <p:cNvSpPr/>
          <p:nvPr/>
        </p:nvSpPr>
        <p:spPr>
          <a:xfrm>
            <a:off x="548640" y="3474720"/>
            <a:ext cx="457200" cy="457200"/>
          </a:xfrm>
          <a:prstGeom prst="rect">
            <a:avLst/>
          </a:prstGeom>
          <a:noFill/>
          <a:ln/>
        </p:spPr>
        <p:txBody>
          <a:bodyPr wrap="square" lIns="0" tIns="0" rIns="0" bIns="0" rtlCol="0" anchor="ctr"/>
          <a:lstStyle/>
          <a:p>
            <a:pPr algn="ctr" indent="0" marL="0">
              <a:buNone/>
            </a:pPr>
            <a:r>
              <a:rPr lang="en-US" sz="1800" b="1" dirty="0">
                <a:solidFill>
                  <a:srgbClr val="24261A"/>
                </a:solidFill>
                <a:latin typeface="Cambria" pitchFamily="34" charset="0"/>
                <a:ea typeface="Cambria" pitchFamily="34" charset="-122"/>
                <a:cs typeface="Cambria" pitchFamily="34" charset="-120"/>
              </a:rPr>
              <a:t>5</a:t>
            </a:r>
            <a:endParaRPr lang="en-US" sz="1800" dirty="0"/>
          </a:p>
        </p:txBody>
      </p:sp>
      <p:sp>
        <p:nvSpPr>
          <p:cNvPr id="18" name="Text 16"/>
          <p:cNvSpPr/>
          <p:nvPr/>
        </p:nvSpPr>
        <p:spPr>
          <a:xfrm>
            <a:off x="1143000" y="3429000"/>
            <a:ext cx="4800600" cy="548640"/>
          </a:xfrm>
          <a:prstGeom prst="rect">
            <a:avLst/>
          </a:prstGeom>
          <a:noFill/>
          <a:ln/>
        </p:spPr>
        <p:txBody>
          <a:bodyPr wrap="square" lIns="0" tIns="0" rIns="0" bIns="0" rtlCol="0" anchor="ctr"/>
          <a:lstStyle/>
          <a:p>
            <a:pPr indent="0" marL="0">
              <a:buNone/>
            </a:pPr>
            <a:r>
              <a:rPr lang="en-US" sz="1400" dirty="0">
                <a:solidFill>
                  <a:srgbClr val="2B2B25"/>
                </a:solidFill>
                <a:latin typeface="Calibri" pitchFamily="34" charset="0"/>
                <a:ea typeface="Calibri" pitchFamily="34" charset="-122"/>
                <a:cs typeface="Calibri" pitchFamily="34" charset="-120"/>
              </a:rPr>
              <a:t>Where WTBD show up: sustainment training, CTT, and boards</a:t>
            </a:r>
            <a:endParaRPr lang="en-US" sz="1400" dirty="0"/>
          </a:p>
        </p:txBody>
      </p:sp>
      <p:sp>
        <p:nvSpPr>
          <p:cNvPr id="19" name="Shape 17"/>
          <p:cNvSpPr/>
          <p:nvPr/>
        </p:nvSpPr>
        <p:spPr>
          <a:xfrm>
            <a:off x="6263640" y="3474720"/>
            <a:ext cx="457200" cy="457200"/>
          </a:xfrm>
          <a:prstGeom prst="ellipse">
            <a:avLst/>
          </a:prstGeom>
          <a:solidFill>
            <a:srgbClr val="C9A227"/>
          </a:solidFill>
          <a:ln/>
        </p:spPr>
      </p:sp>
      <p:sp>
        <p:nvSpPr>
          <p:cNvPr id="20" name="Text 18"/>
          <p:cNvSpPr/>
          <p:nvPr/>
        </p:nvSpPr>
        <p:spPr>
          <a:xfrm>
            <a:off x="6263640" y="3474720"/>
            <a:ext cx="457200" cy="457200"/>
          </a:xfrm>
          <a:prstGeom prst="rect">
            <a:avLst/>
          </a:prstGeom>
          <a:noFill/>
          <a:ln/>
        </p:spPr>
        <p:txBody>
          <a:bodyPr wrap="square" lIns="0" tIns="0" rIns="0" bIns="0" rtlCol="0" anchor="ctr"/>
          <a:lstStyle/>
          <a:p>
            <a:pPr algn="ctr" indent="0" marL="0">
              <a:buNone/>
            </a:pPr>
            <a:r>
              <a:rPr lang="en-US" sz="1800" b="1" dirty="0">
                <a:solidFill>
                  <a:srgbClr val="24261A"/>
                </a:solidFill>
                <a:latin typeface="Cambria" pitchFamily="34" charset="0"/>
                <a:ea typeface="Cambria" pitchFamily="34" charset="-122"/>
                <a:cs typeface="Cambria" pitchFamily="34" charset="-120"/>
              </a:rPr>
              <a:t>6</a:t>
            </a:r>
            <a:endParaRPr lang="en-US" sz="1800" dirty="0"/>
          </a:p>
        </p:txBody>
      </p:sp>
      <p:sp>
        <p:nvSpPr>
          <p:cNvPr id="21" name="Text 19"/>
          <p:cNvSpPr/>
          <p:nvPr/>
        </p:nvSpPr>
        <p:spPr>
          <a:xfrm>
            <a:off x="6858000" y="3429000"/>
            <a:ext cx="4800600" cy="548640"/>
          </a:xfrm>
          <a:prstGeom prst="rect">
            <a:avLst/>
          </a:prstGeom>
          <a:noFill/>
          <a:ln/>
        </p:spPr>
        <p:txBody>
          <a:bodyPr wrap="square" lIns="0" tIns="0" rIns="0" bIns="0" rtlCol="0" anchor="ctr"/>
          <a:lstStyle/>
          <a:p>
            <a:pPr indent="0" marL="0">
              <a:buNone/>
            </a:pPr>
            <a:r>
              <a:rPr lang="en-US" sz="1400" dirty="0">
                <a:solidFill>
                  <a:srgbClr val="2B2B25"/>
                </a:solidFill>
                <a:latin typeface="Calibri" pitchFamily="34" charset="0"/>
                <a:ea typeface="Calibri" pitchFamily="34" charset="-122"/>
                <a:cs typeface="Calibri" pitchFamily="34" charset="-120"/>
              </a:rPr>
              <a:t>Common mistakes units and Soldiers make with WTBD</a:t>
            </a:r>
            <a:endParaRPr lang="en-US" sz="1400" dirty="0"/>
          </a:p>
        </p:txBody>
      </p:sp>
      <p:sp>
        <p:nvSpPr>
          <p:cNvPr id="22" name="Text 20"/>
          <p:cNvSpPr/>
          <p:nvPr/>
        </p:nvSpPr>
        <p:spPr>
          <a:xfrm>
            <a:off x="548640" y="6035040"/>
            <a:ext cx="9144000" cy="365760"/>
          </a:xfrm>
          <a:prstGeom prst="rect">
            <a:avLst/>
          </a:prstGeom>
          <a:noFill/>
          <a:ln/>
        </p:spPr>
        <p:txBody>
          <a:bodyPr wrap="square" lIns="0" tIns="0" rIns="0" bIns="0" rtlCol="0" anchor="ctr"/>
          <a:lstStyle/>
          <a:p>
            <a:pPr indent="0" marL="0">
              <a:buNone/>
            </a:pPr>
            <a:r>
              <a:rPr lang="en-US" sz="1250" i="1" dirty="0">
                <a:solidFill>
                  <a:srgbClr val="5B7553"/>
                </a:solidFill>
                <a:latin typeface="Calibri" pitchFamily="34" charset="0"/>
                <a:ea typeface="Calibri" pitchFamily="34" charset="-122"/>
                <a:cs typeface="Calibri" pitchFamily="34" charset="-120"/>
              </a:rPr>
              <a:t>Total time: about 30 minutes, including questions</a:t>
            </a:r>
            <a:endParaRPr lang="en-US" sz="1250" dirty="0"/>
          </a:p>
        </p:txBody>
      </p:sp>
      <p:sp>
        <p:nvSpPr>
          <p:cNvPr id="23" name="Text 21"/>
          <p:cNvSpPr/>
          <p:nvPr/>
        </p:nvSpPr>
        <p:spPr>
          <a:xfrm>
            <a:off x="0" y="6492240"/>
            <a:ext cx="12191695" cy="274320"/>
          </a:xfrm>
          <a:prstGeom prst="rect">
            <a:avLst/>
          </a:prstGeom>
          <a:noFill/>
          <a:ln/>
        </p:spPr>
        <p:txBody>
          <a:bodyPr wrap="square" rtlCol="0" anchor="ctr"/>
          <a:lstStyle/>
          <a:p>
            <a:pPr algn="ctr" indent="0" marL="0">
              <a:buNone/>
            </a:pPr>
            <a:r>
              <a:rPr lang="en-US" sz="900" dirty="0">
                <a:solidFill>
                  <a:srgbClr val="9C9C90"/>
                </a:solidFill>
                <a:latin typeface="Calibri" pitchFamily="34" charset="0"/>
                <a:ea typeface="Calibri" pitchFamily="34" charset="-122"/>
                <a:cs typeface="Calibri" pitchFamily="34" charset="-120"/>
              </a:rPr>
              <a:t>WARRIOR TASKS &amp; BATTLE DRILLS  |  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3C3F2C"/>
          </a:solidFill>
          <a:ln/>
        </p:spPr>
      </p:sp>
      <p:sp>
        <p:nvSpPr>
          <p:cNvPr id="3" name="Text 1"/>
          <p:cNvSpPr/>
          <p:nvPr/>
        </p:nvSpPr>
        <p:spPr>
          <a:xfrm>
            <a:off x="548640" y="256032"/>
            <a:ext cx="11155680"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WHAT ARE WARRIOR TASKS &amp; BATTLE DRILLS?</a:t>
            </a:r>
            <a:endParaRPr lang="en-US" sz="2600" dirty="0"/>
          </a:p>
        </p:txBody>
      </p:sp>
      <p:sp>
        <p:nvSpPr>
          <p:cNvPr id="4" name="Text 2"/>
          <p:cNvSpPr/>
          <p:nvPr/>
        </p:nvSpPr>
        <p:spPr>
          <a:xfrm>
            <a:off x="548640" y="1234440"/>
            <a:ext cx="11064240" cy="868680"/>
          </a:xfrm>
          <a:prstGeom prst="rect">
            <a:avLst/>
          </a:prstGeom>
          <a:noFill/>
          <a:ln/>
        </p:spPr>
        <p:txBody>
          <a:bodyPr wrap="square" lIns="0" tIns="0" rIns="0" bIns="0" rtlCol="0" anchor="t"/>
          <a:lstStyle/>
          <a:p>
            <a:pPr indent="0" marL="0">
              <a:buNone/>
            </a:pPr>
            <a:r>
              <a:rPr lang="en-US" sz="1500" dirty="0">
                <a:solidFill>
                  <a:srgbClr val="2B2B25"/>
                </a:solidFill>
                <a:latin typeface="Calibri" pitchFamily="34" charset="0"/>
                <a:ea typeface="Calibri" pitchFamily="34" charset="-122"/>
                <a:cs typeface="Calibri" pitchFamily="34" charset="-120"/>
              </a:rPr>
              <a:t>Warrior Tasks and Battle Drills (WTBD) are the foundational combat skills every Soldier must maintain — regardless of rank, component, or MOS. They're what the Army considers non-negotiable, baseline Soldiering.</a:t>
            </a:r>
            <a:endParaRPr lang="en-US" sz="1500" dirty="0"/>
          </a:p>
        </p:txBody>
      </p:sp>
      <p:sp>
        <p:nvSpPr>
          <p:cNvPr id="5" name="Shape 3"/>
          <p:cNvSpPr/>
          <p:nvPr/>
        </p:nvSpPr>
        <p:spPr>
          <a:xfrm>
            <a:off x="548640" y="2286000"/>
            <a:ext cx="11064240" cy="1188720"/>
          </a:xfrm>
          <a:prstGeom prst="roundRect">
            <a:avLst>
              <a:gd name="adj" fmla="val 6154"/>
            </a:avLst>
          </a:prstGeom>
          <a:solidFill>
            <a:srgbClr val="F1EDE3"/>
          </a:solidFill>
          <a:ln/>
          <a:effectLst>
            <a:outerShdw sx="100000" sy="100000" kx="0" ky="0" algn="bl" rotWithShape="0" blurRad="76200" dist="25400" dir="2700000">
              <a:srgbClr val="000000">
                <a:alpha val="10000"/>
              </a:srgbClr>
            </a:outerShdw>
          </a:effectLst>
        </p:spPr>
      </p:sp>
      <p:sp>
        <p:nvSpPr>
          <p:cNvPr id="6" name="Text 4"/>
          <p:cNvSpPr/>
          <p:nvPr/>
        </p:nvSpPr>
        <p:spPr>
          <a:xfrm>
            <a:off x="868680" y="2423160"/>
            <a:ext cx="10424160" cy="548640"/>
          </a:xfrm>
          <a:prstGeom prst="rect">
            <a:avLst/>
          </a:prstGeom>
          <a:noFill/>
          <a:ln/>
        </p:spPr>
        <p:txBody>
          <a:bodyPr wrap="square" lIns="0" tIns="0" rIns="0" bIns="0" rtlCol="0" anchor="ctr"/>
          <a:lstStyle/>
          <a:p>
            <a:pPr algn="ctr" indent="0" marL="0">
              <a:buNone/>
            </a:pPr>
            <a:r>
              <a:rPr lang="en-US" sz="1700" i="1" dirty="0">
                <a:solidFill>
                  <a:srgbClr val="2B2B25"/>
                </a:solidFill>
                <a:latin typeface="Cambria" pitchFamily="34" charset="0"/>
                <a:ea typeface="Cambria" pitchFamily="34" charset="-122"/>
                <a:cs typeface="Cambria" pitchFamily="34" charset="-120"/>
              </a:rPr>
              <a:t>"I am disciplined, physically and mentally tough, trained and proficient in my </a:t>
            </a:r>
            <a:pPr algn="ctr" indent="0" marL="0">
              <a:buNone/>
            </a:pPr>
            <a:r>
              <a:rPr lang="en-US" sz="1700" b="1" i="1" dirty="0">
                <a:solidFill>
                  <a:srgbClr val="3C3F2C"/>
                </a:solidFill>
                <a:latin typeface="Cambria" pitchFamily="34" charset="0"/>
                <a:ea typeface="Cambria" pitchFamily="34" charset="-122"/>
                <a:cs typeface="Cambria" pitchFamily="34" charset="-120"/>
              </a:rPr>
              <a:t>warrior tasks and drills</a:t>
            </a:r>
            <a:pPr algn="ctr" indent="0" marL="0">
              <a:buNone/>
            </a:pPr>
            <a:r>
              <a:rPr lang="en-US" sz="1700" i="1" dirty="0">
                <a:solidFill>
                  <a:srgbClr val="2B2B25"/>
                </a:solidFill>
                <a:latin typeface="Cambria" pitchFamily="34" charset="0"/>
                <a:ea typeface="Cambria" pitchFamily="34" charset="-122"/>
                <a:cs typeface="Cambria" pitchFamily="34" charset="-120"/>
              </a:rPr>
              <a:t>."</a:t>
            </a:r>
            <a:endParaRPr lang="en-US" sz="1700" dirty="0"/>
          </a:p>
        </p:txBody>
      </p:sp>
      <p:sp>
        <p:nvSpPr>
          <p:cNvPr id="7" name="Text 5"/>
          <p:cNvSpPr/>
          <p:nvPr/>
        </p:nvSpPr>
        <p:spPr>
          <a:xfrm>
            <a:off x="868680" y="2926080"/>
            <a:ext cx="10424160" cy="365760"/>
          </a:xfrm>
          <a:prstGeom prst="rect">
            <a:avLst/>
          </a:prstGeom>
          <a:noFill/>
          <a:ln/>
        </p:spPr>
        <p:txBody>
          <a:bodyPr wrap="square" lIns="0" tIns="0" rIns="0" bIns="0" rtlCol="0" anchor="ctr"/>
          <a:lstStyle/>
          <a:p>
            <a:pPr algn="ctr" indent="0" marL="0">
              <a:buNone/>
            </a:pPr>
            <a:r>
              <a:rPr lang="en-US" sz="1200" i="1" dirty="0">
                <a:solidFill>
                  <a:srgbClr val="5B7553"/>
                </a:solidFill>
                <a:latin typeface="Calibri" pitchFamily="34" charset="0"/>
                <a:ea typeface="Calibri" pitchFamily="34" charset="-122"/>
                <a:cs typeface="Calibri" pitchFamily="34" charset="-120"/>
              </a:rPr>
              <a:t>— The Soldier's Creed</a:t>
            </a:r>
            <a:endParaRPr lang="en-US" sz="1200" dirty="0"/>
          </a:p>
        </p:txBody>
      </p:sp>
      <p:sp>
        <p:nvSpPr>
          <p:cNvPr id="8" name="Shape 6"/>
          <p:cNvSpPr/>
          <p:nvPr/>
        </p:nvSpPr>
        <p:spPr>
          <a:xfrm>
            <a:off x="548640" y="3749040"/>
            <a:ext cx="3566160" cy="2468880"/>
          </a:xfrm>
          <a:prstGeom prst="roundRect">
            <a:avLst>
              <a:gd name="adj" fmla="val 2963"/>
            </a:avLst>
          </a:prstGeom>
          <a:solidFill>
            <a:srgbClr val="F1EDE3"/>
          </a:solidFill>
          <a:ln/>
          <a:effectLst>
            <a:outerShdw sx="100000" sy="100000" kx="0" ky="0" algn="bl" rotWithShape="0" blurRad="76200" dist="25400" dir="2700000">
              <a:srgbClr val="000000">
                <a:alpha val="12000"/>
              </a:srgbClr>
            </a:outerShdw>
          </a:effectLst>
        </p:spPr>
      </p:sp>
      <p:pic>
        <p:nvPicPr>
          <p:cNvPr id="9" name="Image 0" descr="icon_check.png">    </p:cNvPr>
          <p:cNvPicPr>
            <a:picLocks noChangeAspect="1"/>
          </p:cNvPicPr>
          <p:nvPr/>
        </p:nvPicPr>
        <p:blipFill>
          <a:blip r:embed="rId1"/>
          <a:stretch>
            <a:fillRect/>
          </a:stretch>
        </p:blipFill>
        <p:spPr>
          <a:xfrm>
            <a:off x="731520" y="3977640"/>
            <a:ext cx="457200" cy="457200"/>
          </a:xfrm>
          <a:prstGeom prst="rect">
            <a:avLst/>
          </a:prstGeom>
        </p:spPr>
      </p:pic>
      <p:sp>
        <p:nvSpPr>
          <p:cNvPr id="10" name="Text 7"/>
          <p:cNvSpPr/>
          <p:nvPr/>
        </p:nvSpPr>
        <p:spPr>
          <a:xfrm>
            <a:off x="1325880" y="3950208"/>
            <a:ext cx="2651760" cy="502920"/>
          </a:xfrm>
          <a:prstGeom prst="rect">
            <a:avLst/>
          </a:prstGeom>
          <a:noFill/>
          <a:ln/>
        </p:spPr>
        <p:txBody>
          <a:bodyPr wrap="square" lIns="0" tIns="0" rIns="0" bIns="0" rtlCol="0" anchor="t"/>
          <a:lstStyle/>
          <a:p>
            <a:pPr indent="0" marL="0">
              <a:buNone/>
            </a:pPr>
            <a:r>
              <a:rPr lang="en-US" sz="1350" b="1" dirty="0">
                <a:solidFill>
                  <a:srgbClr val="3C3F2C"/>
                </a:solidFill>
                <a:latin typeface="Calibri" pitchFamily="34" charset="0"/>
                <a:ea typeface="Calibri" pitchFamily="34" charset="-122"/>
                <a:cs typeface="Calibri" pitchFamily="34" charset="-120"/>
              </a:rPr>
              <a:t>MOS-Independent</a:t>
            </a:r>
            <a:endParaRPr lang="en-US" sz="1350" dirty="0"/>
          </a:p>
        </p:txBody>
      </p:sp>
      <p:sp>
        <p:nvSpPr>
          <p:cNvPr id="11" name="Text 8"/>
          <p:cNvSpPr/>
          <p:nvPr/>
        </p:nvSpPr>
        <p:spPr>
          <a:xfrm>
            <a:off x="777240" y="4572000"/>
            <a:ext cx="3108960" cy="1463040"/>
          </a:xfrm>
          <a:prstGeom prst="rect">
            <a:avLst/>
          </a:prstGeom>
          <a:noFill/>
          <a:ln/>
        </p:spPr>
        <p:txBody>
          <a:bodyPr wrap="square" lIns="0" tIns="0" rIns="0" bIns="0" rtlCol="0" anchor="t"/>
          <a:lstStyle/>
          <a:p>
            <a:pPr indent="0" marL="0">
              <a:buNone/>
            </a:pPr>
            <a:r>
              <a:rPr lang="en-US" sz="1150" dirty="0">
                <a:solidFill>
                  <a:srgbClr val="2B2B25"/>
                </a:solidFill>
                <a:latin typeface="Calibri" pitchFamily="34" charset="0"/>
                <a:ea typeface="Calibri" pitchFamily="34" charset="-122"/>
                <a:cs typeface="Calibri" pitchFamily="34" charset="-120"/>
              </a:rPr>
              <a:t>It doesn't matter if you're 17E or infantry — every Soldier trains and sustains these.</a:t>
            </a:r>
            <a:endParaRPr lang="en-US" sz="1150" dirty="0"/>
          </a:p>
        </p:txBody>
      </p:sp>
      <p:sp>
        <p:nvSpPr>
          <p:cNvPr id="12" name="Shape 9"/>
          <p:cNvSpPr/>
          <p:nvPr/>
        </p:nvSpPr>
        <p:spPr>
          <a:xfrm>
            <a:off x="4297680" y="3749040"/>
            <a:ext cx="3566160" cy="2468880"/>
          </a:xfrm>
          <a:prstGeom prst="roundRect">
            <a:avLst>
              <a:gd name="adj" fmla="val 2963"/>
            </a:avLst>
          </a:prstGeom>
          <a:solidFill>
            <a:srgbClr val="F1EDE3"/>
          </a:solidFill>
          <a:ln/>
          <a:effectLst>
            <a:outerShdw sx="100000" sy="100000" kx="0" ky="0" algn="bl" rotWithShape="0" blurRad="76200" dist="25400" dir="2700000">
              <a:srgbClr val="000000">
                <a:alpha val="12000"/>
              </a:srgbClr>
            </a:outerShdw>
          </a:effectLst>
        </p:spPr>
      </p:sp>
      <p:pic>
        <p:nvPicPr>
          <p:cNvPr id="13" name="Image 1" descr="icon_bolt.png">    </p:cNvPr>
          <p:cNvPicPr>
            <a:picLocks noChangeAspect="1"/>
          </p:cNvPicPr>
          <p:nvPr/>
        </p:nvPicPr>
        <p:blipFill>
          <a:blip r:embed="rId2"/>
          <a:stretch>
            <a:fillRect/>
          </a:stretch>
        </p:blipFill>
        <p:spPr>
          <a:xfrm>
            <a:off x="4480560" y="3977640"/>
            <a:ext cx="457200" cy="457200"/>
          </a:xfrm>
          <a:prstGeom prst="rect">
            <a:avLst/>
          </a:prstGeom>
        </p:spPr>
      </p:pic>
      <p:sp>
        <p:nvSpPr>
          <p:cNvPr id="14" name="Text 10"/>
          <p:cNvSpPr/>
          <p:nvPr/>
        </p:nvSpPr>
        <p:spPr>
          <a:xfrm>
            <a:off x="5074920" y="3950208"/>
            <a:ext cx="2651760" cy="502920"/>
          </a:xfrm>
          <a:prstGeom prst="rect">
            <a:avLst/>
          </a:prstGeom>
          <a:noFill/>
          <a:ln/>
        </p:spPr>
        <p:txBody>
          <a:bodyPr wrap="square" lIns="0" tIns="0" rIns="0" bIns="0" rtlCol="0" anchor="t"/>
          <a:lstStyle/>
          <a:p>
            <a:pPr indent="0" marL="0">
              <a:buNone/>
            </a:pPr>
            <a:r>
              <a:rPr lang="en-US" sz="1350" b="1" dirty="0">
                <a:solidFill>
                  <a:srgbClr val="3C3F2C"/>
                </a:solidFill>
                <a:latin typeface="Calibri" pitchFamily="34" charset="0"/>
                <a:ea typeface="Calibri" pitchFamily="34" charset="-122"/>
                <a:cs typeface="Calibri" pitchFamily="34" charset="-120"/>
              </a:rPr>
              <a:t>Built for Instinct</a:t>
            </a:r>
            <a:endParaRPr lang="en-US" sz="1350" dirty="0"/>
          </a:p>
        </p:txBody>
      </p:sp>
      <p:sp>
        <p:nvSpPr>
          <p:cNvPr id="15" name="Text 11"/>
          <p:cNvSpPr/>
          <p:nvPr/>
        </p:nvSpPr>
        <p:spPr>
          <a:xfrm>
            <a:off x="4526280" y="4572000"/>
            <a:ext cx="3108960" cy="1463040"/>
          </a:xfrm>
          <a:prstGeom prst="rect">
            <a:avLst/>
          </a:prstGeom>
          <a:noFill/>
          <a:ln/>
        </p:spPr>
        <p:txBody>
          <a:bodyPr wrap="square" lIns="0" tIns="0" rIns="0" bIns="0" rtlCol="0" anchor="t"/>
          <a:lstStyle/>
          <a:p>
            <a:pPr indent="0" marL="0">
              <a:buNone/>
            </a:pPr>
            <a:r>
              <a:rPr lang="en-US" sz="1150" dirty="0">
                <a:solidFill>
                  <a:srgbClr val="2B2B25"/>
                </a:solidFill>
                <a:latin typeface="Calibri" pitchFamily="34" charset="0"/>
                <a:ea typeface="Calibri" pitchFamily="34" charset="-122"/>
                <a:cs typeface="Calibri" pitchFamily="34" charset="-120"/>
              </a:rPr>
              <a:t>These are the skills you fall back on under stress, when there's no time to think it through.</a:t>
            </a:r>
            <a:endParaRPr lang="en-US" sz="1150" dirty="0"/>
          </a:p>
        </p:txBody>
      </p:sp>
      <p:sp>
        <p:nvSpPr>
          <p:cNvPr id="16" name="Shape 12"/>
          <p:cNvSpPr/>
          <p:nvPr/>
        </p:nvSpPr>
        <p:spPr>
          <a:xfrm>
            <a:off x="8046720" y="3749040"/>
            <a:ext cx="3566160" cy="2468880"/>
          </a:xfrm>
          <a:prstGeom prst="roundRect">
            <a:avLst>
              <a:gd name="adj" fmla="val 2963"/>
            </a:avLst>
          </a:prstGeom>
          <a:solidFill>
            <a:srgbClr val="F1EDE3"/>
          </a:solidFill>
          <a:ln/>
          <a:effectLst>
            <a:outerShdw sx="100000" sy="100000" kx="0" ky="0" algn="bl" rotWithShape="0" blurRad="76200" dist="25400" dir="2700000">
              <a:srgbClr val="000000">
                <a:alpha val="12000"/>
              </a:srgbClr>
            </a:outerShdw>
          </a:effectLst>
        </p:spPr>
      </p:sp>
      <p:pic>
        <p:nvPicPr>
          <p:cNvPr id="17" name="Image 2" descr="icon_route.png">    </p:cNvPr>
          <p:cNvPicPr>
            <a:picLocks noChangeAspect="1"/>
          </p:cNvPicPr>
          <p:nvPr/>
        </p:nvPicPr>
        <p:blipFill>
          <a:blip r:embed="rId3"/>
          <a:stretch>
            <a:fillRect/>
          </a:stretch>
        </p:blipFill>
        <p:spPr>
          <a:xfrm>
            <a:off x="8229600" y="3977640"/>
            <a:ext cx="457200" cy="457200"/>
          </a:xfrm>
          <a:prstGeom prst="rect">
            <a:avLst/>
          </a:prstGeom>
        </p:spPr>
      </p:pic>
      <p:sp>
        <p:nvSpPr>
          <p:cNvPr id="18" name="Text 13"/>
          <p:cNvSpPr/>
          <p:nvPr/>
        </p:nvSpPr>
        <p:spPr>
          <a:xfrm>
            <a:off x="8823960" y="3950208"/>
            <a:ext cx="2651760" cy="502920"/>
          </a:xfrm>
          <a:prstGeom prst="rect">
            <a:avLst/>
          </a:prstGeom>
          <a:noFill/>
          <a:ln/>
        </p:spPr>
        <p:txBody>
          <a:bodyPr wrap="square" lIns="0" tIns="0" rIns="0" bIns="0" rtlCol="0" anchor="t"/>
          <a:lstStyle/>
          <a:p>
            <a:pPr indent="0" marL="0">
              <a:buNone/>
            </a:pPr>
            <a:r>
              <a:rPr lang="en-US" sz="1350" b="1" dirty="0">
                <a:solidFill>
                  <a:srgbClr val="3C3F2C"/>
                </a:solidFill>
                <a:latin typeface="Calibri" pitchFamily="34" charset="0"/>
                <a:ea typeface="Calibri" pitchFamily="34" charset="-122"/>
                <a:cs typeface="Calibri" pitchFamily="34" charset="-120"/>
              </a:rPr>
              <a:t>Trained for Life</a:t>
            </a:r>
            <a:endParaRPr lang="en-US" sz="1350" dirty="0"/>
          </a:p>
        </p:txBody>
      </p:sp>
      <p:sp>
        <p:nvSpPr>
          <p:cNvPr id="19" name="Text 14"/>
          <p:cNvSpPr/>
          <p:nvPr/>
        </p:nvSpPr>
        <p:spPr>
          <a:xfrm>
            <a:off x="8275320" y="4572000"/>
            <a:ext cx="3108960" cy="1463040"/>
          </a:xfrm>
          <a:prstGeom prst="rect">
            <a:avLst/>
          </a:prstGeom>
          <a:noFill/>
          <a:ln/>
        </p:spPr>
        <p:txBody>
          <a:bodyPr wrap="square" lIns="0" tIns="0" rIns="0" bIns="0" rtlCol="0" anchor="t"/>
          <a:lstStyle/>
          <a:p>
            <a:pPr indent="0" marL="0">
              <a:buNone/>
            </a:pPr>
            <a:r>
              <a:rPr lang="en-US" sz="1150" dirty="0">
                <a:solidFill>
                  <a:srgbClr val="2B2B25"/>
                </a:solidFill>
                <a:latin typeface="Calibri" pitchFamily="34" charset="0"/>
                <a:ea typeface="Calibri" pitchFamily="34" charset="-122"/>
                <a:cs typeface="Calibri" pitchFamily="34" charset="-120"/>
              </a:rPr>
              <a:t>Introduced in Basic Training, then sustained and retested throughout your entire career.</a:t>
            </a:r>
            <a:endParaRPr lang="en-US" sz="1150" dirty="0"/>
          </a:p>
        </p:txBody>
      </p:sp>
      <p:sp>
        <p:nvSpPr>
          <p:cNvPr id="20" name="Text 15"/>
          <p:cNvSpPr/>
          <p:nvPr/>
        </p:nvSpPr>
        <p:spPr>
          <a:xfrm>
            <a:off x="0" y="6492240"/>
            <a:ext cx="12191695" cy="274320"/>
          </a:xfrm>
          <a:prstGeom prst="rect">
            <a:avLst/>
          </a:prstGeom>
          <a:noFill/>
          <a:ln/>
        </p:spPr>
        <p:txBody>
          <a:bodyPr wrap="square" rtlCol="0" anchor="ctr"/>
          <a:lstStyle/>
          <a:p>
            <a:pPr algn="ctr" indent="0" marL="0">
              <a:buNone/>
            </a:pPr>
            <a:r>
              <a:rPr lang="en-US" sz="900" dirty="0">
                <a:solidFill>
                  <a:srgbClr val="9C9C90"/>
                </a:solidFill>
                <a:latin typeface="Calibri" pitchFamily="34" charset="0"/>
                <a:ea typeface="Calibri" pitchFamily="34" charset="-122"/>
                <a:cs typeface="Calibri" pitchFamily="34" charset="-120"/>
              </a:rPr>
              <a:t>WARRIOR TASKS &amp; BATTLE DRILLS  |  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4261A"/>
        </a:solidFill>
      </p:bgPr>
    </p:bg>
    <p:spTree>
      <p:nvGrpSpPr>
        <p:cNvPr id="1" name=""/>
        <p:cNvGrpSpPr/>
        <p:nvPr/>
      </p:nvGrpSpPr>
      <p:grpSpPr>
        <a:xfrm>
          <a:off x="0" y="0"/>
          <a:ext cx="0" cy="0"/>
          <a:chOff x="0" y="0"/>
          <a:chExt cx="0" cy="0"/>
        </a:xfrm>
      </p:grpSpPr>
      <p:sp>
        <p:nvSpPr>
          <p:cNvPr id="2" name="Text 0"/>
          <p:cNvSpPr/>
          <p:nvPr/>
        </p:nvSpPr>
        <p:spPr>
          <a:xfrm>
            <a:off x="548640" y="411480"/>
            <a:ext cx="1115568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THE 5 CATEGORIES OF WARRIOR TASKS</a:t>
            </a:r>
            <a:endParaRPr lang="en-US" sz="2800" dirty="0"/>
          </a:p>
        </p:txBody>
      </p:sp>
      <p:sp>
        <p:nvSpPr>
          <p:cNvPr id="3" name="Text 1"/>
          <p:cNvSpPr/>
          <p:nvPr/>
        </p:nvSpPr>
        <p:spPr>
          <a:xfrm>
            <a:off x="548640" y="1005840"/>
            <a:ext cx="10058400" cy="365760"/>
          </a:xfrm>
          <a:prstGeom prst="rect">
            <a:avLst/>
          </a:prstGeom>
          <a:noFill/>
          <a:ln/>
        </p:spPr>
        <p:txBody>
          <a:bodyPr wrap="square" lIns="0" tIns="0" rIns="0" bIns="0" rtlCol="0" anchor="ctr"/>
          <a:lstStyle/>
          <a:p>
            <a:pPr indent="0" marL="0">
              <a:buNone/>
            </a:pPr>
            <a:r>
              <a:rPr lang="en-US" sz="1500" i="1" dirty="0">
                <a:solidFill>
                  <a:srgbClr val="C9A227"/>
                </a:solidFill>
                <a:latin typeface="Calibri" pitchFamily="34" charset="0"/>
                <a:ea typeface="Calibri" pitchFamily="34" charset="-122"/>
                <a:cs typeface="Calibri" pitchFamily="34" charset="-120"/>
              </a:rPr>
              <a:t>Every Warrior Task falls under one of these five headings</a:t>
            </a:r>
            <a:endParaRPr lang="en-US" sz="1500" dirty="0"/>
          </a:p>
        </p:txBody>
      </p:sp>
      <p:sp>
        <p:nvSpPr>
          <p:cNvPr id="4" name="Shape 2"/>
          <p:cNvSpPr/>
          <p:nvPr/>
        </p:nvSpPr>
        <p:spPr>
          <a:xfrm>
            <a:off x="548640" y="1691640"/>
            <a:ext cx="2121408" cy="4572000"/>
          </a:xfrm>
          <a:prstGeom prst="roundRect">
            <a:avLst>
              <a:gd name="adj" fmla="val 3448"/>
            </a:avLst>
          </a:prstGeom>
          <a:solidFill>
            <a:srgbClr val="3C3F2C"/>
          </a:solidFill>
          <a:ln/>
          <a:effectLst>
            <a:outerShdw sx="100000" sy="100000" kx="0" ky="0" algn="bl" rotWithShape="0" blurRad="76200" dist="25400" dir="2700000">
              <a:srgbClr val="000000">
                <a:alpha val="15000"/>
              </a:srgbClr>
            </a:outerShdw>
          </a:effectLst>
        </p:spPr>
      </p:sp>
      <p:pic>
        <p:nvPicPr>
          <p:cNvPr id="5" name="Image 0" descr="icon_crosshairs_white.png">    </p:cNvPr>
          <p:cNvPicPr>
            <a:picLocks noChangeAspect="1"/>
          </p:cNvPicPr>
          <p:nvPr/>
        </p:nvPicPr>
        <p:blipFill>
          <a:blip r:embed="rId1"/>
          <a:stretch>
            <a:fillRect/>
          </a:stretch>
        </p:blipFill>
        <p:spPr>
          <a:xfrm>
            <a:off x="1353312" y="2011680"/>
            <a:ext cx="512064" cy="512064"/>
          </a:xfrm>
          <a:prstGeom prst="rect">
            <a:avLst/>
          </a:prstGeom>
        </p:spPr>
      </p:pic>
      <p:sp>
        <p:nvSpPr>
          <p:cNvPr id="6" name="Text 3"/>
          <p:cNvSpPr/>
          <p:nvPr/>
        </p:nvSpPr>
        <p:spPr>
          <a:xfrm>
            <a:off x="685800" y="2743200"/>
            <a:ext cx="1847088" cy="457200"/>
          </a:xfrm>
          <a:prstGeom prst="rect">
            <a:avLst/>
          </a:prstGeom>
          <a:noFill/>
          <a:ln/>
        </p:spPr>
        <p:txBody>
          <a:bodyPr wrap="square" lIns="0" tIns="0" rIns="0" bIns="0" rtlCol="0" anchor="ctr"/>
          <a:lstStyle/>
          <a:p>
            <a:pPr algn="ctr" indent="0" marL="0">
              <a:buNone/>
            </a:pPr>
            <a:r>
              <a:rPr lang="en-US" sz="1600" b="1" dirty="0">
                <a:solidFill>
                  <a:srgbClr val="C9A227"/>
                </a:solidFill>
                <a:latin typeface="Cambria" pitchFamily="34" charset="0"/>
                <a:ea typeface="Cambria" pitchFamily="34" charset="-122"/>
                <a:cs typeface="Cambria" pitchFamily="34" charset="-120"/>
              </a:rPr>
              <a:t>Shoot</a:t>
            </a:r>
            <a:endParaRPr lang="en-US" sz="1600" dirty="0"/>
          </a:p>
        </p:txBody>
      </p:sp>
      <p:sp>
        <p:nvSpPr>
          <p:cNvPr id="7" name="Text 4"/>
          <p:cNvSpPr/>
          <p:nvPr/>
        </p:nvSpPr>
        <p:spPr>
          <a:xfrm>
            <a:off x="731520" y="3291840"/>
            <a:ext cx="1755648" cy="2788920"/>
          </a:xfrm>
          <a:prstGeom prst="rect">
            <a:avLst/>
          </a:prstGeom>
          <a:noFill/>
          <a:ln/>
        </p:spPr>
        <p:txBody>
          <a:bodyPr wrap="square" lIns="0" tIns="0" rIns="0" bIns="0" rtlCol="0" anchor="t"/>
          <a:lstStyle/>
          <a:p>
            <a:pPr algn="ctr" indent="0" marL="0">
              <a:buNone/>
            </a:pPr>
            <a:r>
              <a:rPr lang="en-US" sz="1150" dirty="0">
                <a:solidFill>
                  <a:srgbClr val="C9B896"/>
                </a:solidFill>
                <a:latin typeface="Calibri" pitchFamily="34" charset="0"/>
                <a:ea typeface="Calibri" pitchFamily="34" charset="-122"/>
                <a:cs typeface="Calibri" pitchFamily="34" charset="-120"/>
              </a:rPr>
              <a:t>Own, maintain, and employ your assigned weapon system.</a:t>
            </a:r>
            <a:endParaRPr lang="en-US" sz="1150" dirty="0"/>
          </a:p>
        </p:txBody>
      </p:sp>
      <p:sp>
        <p:nvSpPr>
          <p:cNvPr id="8" name="Shape 5"/>
          <p:cNvSpPr/>
          <p:nvPr/>
        </p:nvSpPr>
        <p:spPr>
          <a:xfrm>
            <a:off x="2852928" y="1691640"/>
            <a:ext cx="2121408" cy="4572000"/>
          </a:xfrm>
          <a:prstGeom prst="roundRect">
            <a:avLst>
              <a:gd name="adj" fmla="val 3448"/>
            </a:avLst>
          </a:prstGeom>
          <a:solidFill>
            <a:srgbClr val="3C3F2C"/>
          </a:solidFill>
          <a:ln/>
          <a:effectLst>
            <a:outerShdw sx="100000" sy="100000" kx="0" ky="0" algn="bl" rotWithShape="0" blurRad="76200" dist="25400" dir="2700000">
              <a:srgbClr val="000000">
                <a:alpha val="15000"/>
              </a:srgbClr>
            </a:outerShdw>
          </a:effectLst>
        </p:spPr>
      </p:sp>
      <p:pic>
        <p:nvPicPr>
          <p:cNvPr id="9" name="Image 1" descr="icon_walking_white.png">    </p:cNvPr>
          <p:cNvPicPr>
            <a:picLocks noChangeAspect="1"/>
          </p:cNvPicPr>
          <p:nvPr/>
        </p:nvPicPr>
        <p:blipFill>
          <a:blip r:embed="rId2"/>
          <a:stretch>
            <a:fillRect/>
          </a:stretch>
        </p:blipFill>
        <p:spPr>
          <a:xfrm>
            <a:off x="3657600" y="2011680"/>
            <a:ext cx="512064" cy="512064"/>
          </a:xfrm>
          <a:prstGeom prst="rect">
            <a:avLst/>
          </a:prstGeom>
        </p:spPr>
      </p:pic>
      <p:sp>
        <p:nvSpPr>
          <p:cNvPr id="10" name="Text 6"/>
          <p:cNvSpPr/>
          <p:nvPr/>
        </p:nvSpPr>
        <p:spPr>
          <a:xfrm>
            <a:off x="2990088" y="2743200"/>
            <a:ext cx="1847088" cy="457200"/>
          </a:xfrm>
          <a:prstGeom prst="rect">
            <a:avLst/>
          </a:prstGeom>
          <a:noFill/>
          <a:ln/>
        </p:spPr>
        <p:txBody>
          <a:bodyPr wrap="square" lIns="0" tIns="0" rIns="0" bIns="0" rtlCol="0" anchor="ctr"/>
          <a:lstStyle/>
          <a:p>
            <a:pPr algn="ctr" indent="0" marL="0">
              <a:buNone/>
            </a:pPr>
            <a:r>
              <a:rPr lang="en-US" sz="1600" b="1" dirty="0">
                <a:solidFill>
                  <a:srgbClr val="C9A227"/>
                </a:solidFill>
                <a:latin typeface="Cambria" pitchFamily="34" charset="0"/>
                <a:ea typeface="Cambria" pitchFamily="34" charset="-122"/>
                <a:cs typeface="Cambria" pitchFamily="34" charset="-120"/>
              </a:rPr>
              <a:t>Move</a:t>
            </a:r>
            <a:endParaRPr lang="en-US" sz="1600" dirty="0"/>
          </a:p>
        </p:txBody>
      </p:sp>
      <p:sp>
        <p:nvSpPr>
          <p:cNvPr id="11" name="Text 7"/>
          <p:cNvSpPr/>
          <p:nvPr/>
        </p:nvSpPr>
        <p:spPr>
          <a:xfrm>
            <a:off x="3035808" y="3291840"/>
            <a:ext cx="1755648" cy="2788920"/>
          </a:xfrm>
          <a:prstGeom prst="rect">
            <a:avLst/>
          </a:prstGeom>
          <a:noFill/>
          <a:ln/>
        </p:spPr>
        <p:txBody>
          <a:bodyPr wrap="square" lIns="0" tIns="0" rIns="0" bIns="0" rtlCol="0" anchor="t"/>
          <a:lstStyle/>
          <a:p>
            <a:pPr algn="ctr" indent="0" marL="0">
              <a:buNone/>
            </a:pPr>
            <a:r>
              <a:rPr lang="en-US" sz="1150" dirty="0">
                <a:solidFill>
                  <a:srgbClr val="C9B896"/>
                </a:solidFill>
                <a:latin typeface="Calibri" pitchFamily="34" charset="0"/>
                <a:ea typeface="Calibri" pitchFamily="34" charset="-122"/>
                <a:cs typeface="Calibri" pitchFamily="34" charset="-120"/>
              </a:rPr>
              <a:t>Navigate and move yourself safely and effectively on the ground.</a:t>
            </a:r>
            <a:endParaRPr lang="en-US" sz="1150" dirty="0"/>
          </a:p>
        </p:txBody>
      </p:sp>
      <p:sp>
        <p:nvSpPr>
          <p:cNvPr id="12" name="Shape 8"/>
          <p:cNvSpPr/>
          <p:nvPr/>
        </p:nvSpPr>
        <p:spPr>
          <a:xfrm>
            <a:off x="5157216" y="1691640"/>
            <a:ext cx="2121408" cy="4572000"/>
          </a:xfrm>
          <a:prstGeom prst="roundRect">
            <a:avLst>
              <a:gd name="adj" fmla="val 3448"/>
            </a:avLst>
          </a:prstGeom>
          <a:solidFill>
            <a:srgbClr val="3C3F2C"/>
          </a:solidFill>
          <a:ln/>
          <a:effectLst>
            <a:outerShdw sx="100000" sy="100000" kx="0" ky="0" algn="bl" rotWithShape="0" blurRad="76200" dist="25400" dir="2700000">
              <a:srgbClr val="000000">
                <a:alpha val="15000"/>
              </a:srgbClr>
            </a:outerShdw>
          </a:effectLst>
        </p:spPr>
      </p:sp>
      <p:pic>
        <p:nvPicPr>
          <p:cNvPr id="13" name="Image 2" descr="icon_bullhorn.png">    </p:cNvPr>
          <p:cNvPicPr>
            <a:picLocks noChangeAspect="1"/>
          </p:cNvPicPr>
          <p:nvPr/>
        </p:nvPicPr>
        <p:blipFill>
          <a:blip r:embed="rId3"/>
          <a:stretch>
            <a:fillRect/>
          </a:stretch>
        </p:blipFill>
        <p:spPr>
          <a:xfrm>
            <a:off x="5961888" y="2011680"/>
            <a:ext cx="512064" cy="512064"/>
          </a:xfrm>
          <a:prstGeom prst="rect">
            <a:avLst/>
          </a:prstGeom>
        </p:spPr>
      </p:pic>
      <p:sp>
        <p:nvSpPr>
          <p:cNvPr id="14" name="Text 9"/>
          <p:cNvSpPr/>
          <p:nvPr/>
        </p:nvSpPr>
        <p:spPr>
          <a:xfrm>
            <a:off x="5294376" y="2743200"/>
            <a:ext cx="1847088" cy="457200"/>
          </a:xfrm>
          <a:prstGeom prst="rect">
            <a:avLst/>
          </a:prstGeom>
          <a:noFill/>
          <a:ln/>
        </p:spPr>
        <p:txBody>
          <a:bodyPr wrap="square" lIns="0" tIns="0" rIns="0" bIns="0" rtlCol="0" anchor="ctr"/>
          <a:lstStyle/>
          <a:p>
            <a:pPr algn="ctr" indent="0" marL="0">
              <a:buNone/>
            </a:pPr>
            <a:r>
              <a:rPr lang="en-US" sz="1600" b="1" dirty="0">
                <a:solidFill>
                  <a:srgbClr val="C9A227"/>
                </a:solidFill>
                <a:latin typeface="Cambria" pitchFamily="34" charset="0"/>
                <a:ea typeface="Cambria" pitchFamily="34" charset="-122"/>
                <a:cs typeface="Cambria" pitchFamily="34" charset="-120"/>
              </a:rPr>
              <a:t>Communicate</a:t>
            </a:r>
            <a:endParaRPr lang="en-US" sz="1600" dirty="0"/>
          </a:p>
        </p:txBody>
      </p:sp>
      <p:sp>
        <p:nvSpPr>
          <p:cNvPr id="15" name="Text 10"/>
          <p:cNvSpPr/>
          <p:nvPr/>
        </p:nvSpPr>
        <p:spPr>
          <a:xfrm>
            <a:off x="5340096" y="3291840"/>
            <a:ext cx="1755648" cy="2788920"/>
          </a:xfrm>
          <a:prstGeom prst="rect">
            <a:avLst/>
          </a:prstGeom>
          <a:noFill/>
          <a:ln/>
        </p:spPr>
        <p:txBody>
          <a:bodyPr wrap="square" lIns="0" tIns="0" rIns="0" bIns="0" rtlCol="0" anchor="t"/>
          <a:lstStyle/>
          <a:p>
            <a:pPr algn="ctr" indent="0" marL="0">
              <a:buNone/>
            </a:pPr>
            <a:r>
              <a:rPr lang="en-US" sz="1150" dirty="0">
                <a:solidFill>
                  <a:srgbClr val="C9B896"/>
                </a:solidFill>
                <a:latin typeface="Calibri" pitchFamily="34" charset="0"/>
                <a:ea typeface="Calibri" pitchFamily="34" charset="-122"/>
                <a:cs typeface="Calibri" pitchFamily="34" charset="-120"/>
              </a:rPr>
              <a:t>Send and receive information reliably, by voice, signal, or report.</a:t>
            </a:r>
            <a:endParaRPr lang="en-US" sz="1150" dirty="0"/>
          </a:p>
        </p:txBody>
      </p:sp>
      <p:sp>
        <p:nvSpPr>
          <p:cNvPr id="16" name="Shape 11"/>
          <p:cNvSpPr/>
          <p:nvPr/>
        </p:nvSpPr>
        <p:spPr>
          <a:xfrm>
            <a:off x="7461504" y="1691640"/>
            <a:ext cx="2121408" cy="4572000"/>
          </a:xfrm>
          <a:prstGeom prst="roundRect">
            <a:avLst>
              <a:gd name="adj" fmla="val 3448"/>
            </a:avLst>
          </a:prstGeom>
          <a:solidFill>
            <a:srgbClr val="3C3F2C"/>
          </a:solidFill>
          <a:ln/>
          <a:effectLst>
            <a:outerShdw sx="100000" sy="100000" kx="0" ky="0" algn="bl" rotWithShape="0" blurRad="76200" dist="25400" dir="2700000">
              <a:srgbClr val="000000">
                <a:alpha val="15000"/>
              </a:srgbClr>
            </a:outerShdw>
          </a:effectLst>
        </p:spPr>
      </p:sp>
      <p:pic>
        <p:nvPicPr>
          <p:cNvPr id="17" name="Image 3" descr="icon_medkit.png">    </p:cNvPr>
          <p:cNvPicPr>
            <a:picLocks noChangeAspect="1"/>
          </p:cNvPicPr>
          <p:nvPr/>
        </p:nvPicPr>
        <p:blipFill>
          <a:blip r:embed="rId4"/>
          <a:stretch>
            <a:fillRect/>
          </a:stretch>
        </p:blipFill>
        <p:spPr>
          <a:xfrm>
            <a:off x="8266176" y="2011680"/>
            <a:ext cx="512064" cy="512064"/>
          </a:xfrm>
          <a:prstGeom prst="rect">
            <a:avLst/>
          </a:prstGeom>
        </p:spPr>
      </p:pic>
      <p:sp>
        <p:nvSpPr>
          <p:cNvPr id="18" name="Text 12"/>
          <p:cNvSpPr/>
          <p:nvPr/>
        </p:nvSpPr>
        <p:spPr>
          <a:xfrm>
            <a:off x="7598664" y="2743200"/>
            <a:ext cx="1847088" cy="457200"/>
          </a:xfrm>
          <a:prstGeom prst="rect">
            <a:avLst/>
          </a:prstGeom>
          <a:noFill/>
          <a:ln/>
        </p:spPr>
        <p:txBody>
          <a:bodyPr wrap="square" lIns="0" tIns="0" rIns="0" bIns="0" rtlCol="0" anchor="ctr"/>
          <a:lstStyle/>
          <a:p>
            <a:pPr algn="ctr" indent="0" marL="0">
              <a:buNone/>
            </a:pPr>
            <a:r>
              <a:rPr lang="en-US" sz="1600" b="1" dirty="0">
                <a:solidFill>
                  <a:srgbClr val="C9A227"/>
                </a:solidFill>
                <a:latin typeface="Cambria" pitchFamily="34" charset="0"/>
                <a:ea typeface="Cambria" pitchFamily="34" charset="-122"/>
                <a:cs typeface="Cambria" pitchFamily="34" charset="-120"/>
              </a:rPr>
              <a:t>Survive</a:t>
            </a:r>
            <a:endParaRPr lang="en-US" sz="1600" dirty="0"/>
          </a:p>
        </p:txBody>
      </p:sp>
      <p:sp>
        <p:nvSpPr>
          <p:cNvPr id="19" name="Text 13"/>
          <p:cNvSpPr/>
          <p:nvPr/>
        </p:nvSpPr>
        <p:spPr>
          <a:xfrm>
            <a:off x="7644384" y="3291840"/>
            <a:ext cx="1755648" cy="2788920"/>
          </a:xfrm>
          <a:prstGeom prst="rect">
            <a:avLst/>
          </a:prstGeom>
          <a:noFill/>
          <a:ln/>
        </p:spPr>
        <p:txBody>
          <a:bodyPr wrap="square" lIns="0" tIns="0" rIns="0" bIns="0" rtlCol="0" anchor="t"/>
          <a:lstStyle/>
          <a:p>
            <a:pPr algn="ctr" indent="0" marL="0">
              <a:buNone/>
            </a:pPr>
            <a:r>
              <a:rPr lang="en-US" sz="1150" dirty="0">
                <a:solidFill>
                  <a:srgbClr val="C9B896"/>
                </a:solidFill>
                <a:latin typeface="Calibri" pitchFamily="34" charset="0"/>
                <a:ea typeface="Calibri" pitchFamily="34" charset="-122"/>
                <a:cs typeface="Calibri" pitchFamily="34" charset="-120"/>
              </a:rPr>
              <a:t>Protect yourself and others — first aid, CBRN, self-aid/buddy aid.</a:t>
            </a:r>
            <a:endParaRPr lang="en-US" sz="1150" dirty="0"/>
          </a:p>
        </p:txBody>
      </p:sp>
      <p:sp>
        <p:nvSpPr>
          <p:cNvPr id="20" name="Shape 14"/>
          <p:cNvSpPr/>
          <p:nvPr/>
        </p:nvSpPr>
        <p:spPr>
          <a:xfrm>
            <a:off x="9765792" y="1691640"/>
            <a:ext cx="2121408" cy="4572000"/>
          </a:xfrm>
          <a:prstGeom prst="roundRect">
            <a:avLst>
              <a:gd name="adj" fmla="val 3448"/>
            </a:avLst>
          </a:prstGeom>
          <a:solidFill>
            <a:srgbClr val="3C3F2C"/>
          </a:solidFill>
          <a:ln/>
          <a:effectLst>
            <a:outerShdw sx="100000" sy="100000" kx="0" ky="0" algn="bl" rotWithShape="0" blurRad="76200" dist="25400" dir="2700000">
              <a:srgbClr val="000000">
                <a:alpha val="15000"/>
              </a:srgbClr>
            </a:outerShdw>
          </a:effectLst>
        </p:spPr>
      </p:sp>
      <p:pic>
        <p:nvPicPr>
          <p:cNvPr id="21" name="Image 4" descr="icon_hands.png">    </p:cNvPr>
          <p:cNvPicPr>
            <a:picLocks noChangeAspect="1"/>
          </p:cNvPicPr>
          <p:nvPr/>
        </p:nvPicPr>
        <p:blipFill>
          <a:blip r:embed="rId5"/>
          <a:stretch>
            <a:fillRect/>
          </a:stretch>
        </p:blipFill>
        <p:spPr>
          <a:xfrm>
            <a:off x="10570464" y="2011680"/>
            <a:ext cx="512064" cy="512064"/>
          </a:xfrm>
          <a:prstGeom prst="rect">
            <a:avLst/>
          </a:prstGeom>
        </p:spPr>
      </p:pic>
      <p:sp>
        <p:nvSpPr>
          <p:cNvPr id="22" name="Text 15"/>
          <p:cNvSpPr/>
          <p:nvPr/>
        </p:nvSpPr>
        <p:spPr>
          <a:xfrm>
            <a:off x="9902952" y="2743200"/>
            <a:ext cx="1847088" cy="457200"/>
          </a:xfrm>
          <a:prstGeom prst="rect">
            <a:avLst/>
          </a:prstGeom>
          <a:noFill/>
          <a:ln/>
        </p:spPr>
        <p:txBody>
          <a:bodyPr wrap="square" lIns="0" tIns="0" rIns="0" bIns="0" rtlCol="0" anchor="ctr"/>
          <a:lstStyle/>
          <a:p>
            <a:pPr algn="ctr" indent="0" marL="0">
              <a:buNone/>
            </a:pPr>
            <a:r>
              <a:rPr lang="en-US" sz="1600" b="1" dirty="0">
                <a:solidFill>
                  <a:srgbClr val="C9A227"/>
                </a:solidFill>
                <a:latin typeface="Cambria" pitchFamily="34" charset="0"/>
                <a:ea typeface="Cambria" pitchFamily="34" charset="-122"/>
                <a:cs typeface="Cambria" pitchFamily="34" charset="-120"/>
              </a:rPr>
              <a:t>Adapt</a:t>
            </a:r>
            <a:endParaRPr lang="en-US" sz="1600" dirty="0"/>
          </a:p>
        </p:txBody>
      </p:sp>
      <p:sp>
        <p:nvSpPr>
          <p:cNvPr id="23" name="Text 16"/>
          <p:cNvSpPr/>
          <p:nvPr/>
        </p:nvSpPr>
        <p:spPr>
          <a:xfrm>
            <a:off x="9948672" y="3291840"/>
            <a:ext cx="1755648" cy="2788920"/>
          </a:xfrm>
          <a:prstGeom prst="rect">
            <a:avLst/>
          </a:prstGeom>
          <a:noFill/>
          <a:ln/>
        </p:spPr>
        <p:txBody>
          <a:bodyPr wrap="square" lIns="0" tIns="0" rIns="0" bIns="0" rtlCol="0" anchor="t"/>
          <a:lstStyle/>
          <a:p>
            <a:pPr algn="ctr" indent="0" marL="0">
              <a:buNone/>
            </a:pPr>
            <a:r>
              <a:rPr lang="en-US" sz="1150" dirty="0">
                <a:solidFill>
                  <a:srgbClr val="C9B896"/>
                </a:solidFill>
                <a:latin typeface="Calibri" pitchFamily="34" charset="0"/>
                <a:ea typeface="Calibri" pitchFamily="34" charset="-122"/>
                <a:cs typeface="Calibri" pitchFamily="34" charset="-120"/>
              </a:rPr>
              <a:t>Adjust to changing situations, culture, and the human terrain.</a:t>
            </a:r>
            <a:endParaRPr lang="en-US" sz="1150" dirty="0"/>
          </a:p>
        </p:txBody>
      </p:sp>
      <p:sp>
        <p:nvSpPr>
          <p:cNvPr id="24" name="Text 17"/>
          <p:cNvSpPr/>
          <p:nvPr/>
        </p:nvSpPr>
        <p:spPr>
          <a:xfrm>
            <a:off x="0" y="6492240"/>
            <a:ext cx="12191695" cy="274320"/>
          </a:xfrm>
          <a:prstGeom prst="rect">
            <a:avLst/>
          </a:prstGeom>
          <a:noFill/>
          <a:ln/>
        </p:spPr>
        <p:txBody>
          <a:bodyPr wrap="square" rtlCol="0" anchor="ctr"/>
          <a:lstStyle/>
          <a:p>
            <a:pPr algn="ctr" indent="0" marL="0">
              <a:buNone/>
            </a:pPr>
            <a:r>
              <a:rPr lang="en-US" sz="900" dirty="0">
                <a:solidFill>
                  <a:srgbClr val="8A8C78"/>
                </a:solidFill>
                <a:latin typeface="Calibri" pitchFamily="34" charset="0"/>
                <a:ea typeface="Calibri" pitchFamily="34" charset="-122"/>
                <a:cs typeface="Calibri" pitchFamily="34" charset="-120"/>
              </a:rPr>
              <a:t>WARRIOR TASKS &amp; BATTLE DRILLS  |  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3C3F2C"/>
          </a:solidFill>
          <a:ln/>
        </p:spPr>
      </p:sp>
      <p:sp>
        <p:nvSpPr>
          <p:cNvPr id="3" name="Text 1"/>
          <p:cNvSpPr/>
          <p:nvPr/>
        </p:nvSpPr>
        <p:spPr>
          <a:xfrm>
            <a:off x="548640" y="256032"/>
            <a:ext cx="1115568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SHOOT: OWN YOUR WEAPON SYSTEM</a:t>
            </a:r>
            <a:endParaRPr lang="en-US" sz="2800" dirty="0"/>
          </a:p>
        </p:txBody>
      </p:sp>
      <p:pic>
        <p:nvPicPr>
          <p:cNvPr id="4" name="Image 0" descr="icon_crosshairs.png">    </p:cNvPr>
          <p:cNvPicPr>
            <a:picLocks noChangeAspect="1"/>
          </p:cNvPicPr>
          <p:nvPr/>
        </p:nvPicPr>
        <p:blipFill>
          <a:blip r:embed="rId1"/>
          <a:stretch>
            <a:fillRect/>
          </a:stretch>
        </p:blipFill>
        <p:spPr>
          <a:xfrm>
            <a:off x="640080" y="1325880"/>
            <a:ext cx="822960" cy="822960"/>
          </a:xfrm>
          <a:prstGeom prst="rect">
            <a:avLst/>
          </a:prstGeom>
        </p:spPr>
      </p:pic>
      <p:sp>
        <p:nvSpPr>
          <p:cNvPr id="5" name="Text 2"/>
          <p:cNvSpPr/>
          <p:nvPr/>
        </p:nvSpPr>
        <p:spPr>
          <a:xfrm>
            <a:off x="1645920" y="1325880"/>
            <a:ext cx="9966960" cy="914400"/>
          </a:xfrm>
          <a:prstGeom prst="rect">
            <a:avLst/>
          </a:prstGeom>
          <a:noFill/>
          <a:ln/>
        </p:spPr>
        <p:txBody>
          <a:bodyPr wrap="square" lIns="0" tIns="0" rIns="0" bIns="0" rtlCol="0" anchor="t"/>
          <a:lstStyle/>
          <a:p>
            <a:pPr indent="0" marL="0">
              <a:buNone/>
            </a:pPr>
            <a:r>
              <a:rPr lang="en-US" sz="1450" dirty="0">
                <a:solidFill>
                  <a:srgbClr val="2B2B25"/>
                </a:solidFill>
                <a:latin typeface="Calibri" pitchFamily="34" charset="0"/>
                <a:ea typeface="Calibri" pitchFamily="34" charset="-122"/>
                <a:cs typeface="Calibri" pitchFamily="34" charset="-120"/>
              </a:rPr>
              <a:t>Every Soldier is responsible for their assigned weapon — knowing it, maintaining it, and using it safely and effectively under any condition.</a:t>
            </a:r>
            <a:endParaRPr lang="en-US" sz="1450" dirty="0"/>
          </a:p>
        </p:txBody>
      </p:sp>
      <p:sp>
        <p:nvSpPr>
          <p:cNvPr id="6" name="Text 3"/>
          <p:cNvSpPr/>
          <p:nvPr/>
        </p:nvSpPr>
        <p:spPr>
          <a:xfrm>
            <a:off x="640080" y="2514600"/>
            <a:ext cx="10789920" cy="3474720"/>
          </a:xfrm>
          <a:prstGeom prst="rect">
            <a:avLst/>
          </a:prstGeom>
          <a:noFill/>
          <a:ln/>
        </p:spPr>
        <p:txBody>
          <a:bodyPr wrap="square" lIns="0" tIns="0" rIns="0" bIns="0" rtlCol="0" anchor="t"/>
          <a:lstStyle/>
          <a:p>
            <a:pPr marL="228600" indent="-228600">
              <a:spcAft>
                <a:spcPts val="1000"/>
              </a:spcAft>
              <a:buSzPct val="100000"/>
              <a:buChar char="•"/>
            </a:pPr>
            <a:r>
              <a:rPr lang="en-US" sz="1450" dirty="0">
                <a:solidFill>
                  <a:srgbClr val="2B2B25"/>
                </a:solidFill>
                <a:latin typeface="Calibri" pitchFamily="34" charset="0"/>
                <a:ea typeface="Calibri" pitchFamily="34" charset="-122"/>
                <a:cs typeface="Calibri" pitchFamily="34" charset="-120"/>
              </a:rPr>
              <a:t>Maintain, employ, and engage targets with your individually assigned weapon system</a:t>
            </a:r>
            <a:endParaRPr lang="en-US" sz="1450" dirty="0"/>
          </a:p>
          <a:p>
            <a:pPr marL="228600" indent="-228600">
              <a:spcAft>
                <a:spcPts val="1000"/>
              </a:spcAft>
              <a:buSzPct val="100000"/>
              <a:buChar char="•"/>
            </a:pPr>
            <a:r>
              <a:rPr lang="en-US" sz="1450" dirty="0">
                <a:solidFill>
                  <a:srgbClr val="2B2B25"/>
                </a:solidFill>
                <a:latin typeface="Calibri" pitchFamily="34" charset="0"/>
                <a:ea typeface="Calibri" pitchFamily="34" charset="-122"/>
                <a:cs typeface="Calibri" pitchFamily="34" charset="-120"/>
              </a:rPr>
              <a:t>Zero your weapon so your sights match where your rounds actually hit</a:t>
            </a:r>
            <a:endParaRPr lang="en-US" sz="1450" dirty="0"/>
          </a:p>
          <a:p>
            <a:pPr marL="228600" indent="-228600">
              <a:spcAft>
                <a:spcPts val="1000"/>
              </a:spcAft>
              <a:buSzPct val="100000"/>
              <a:buChar char="•"/>
            </a:pPr>
            <a:r>
              <a:rPr lang="en-US" sz="1450" dirty="0">
                <a:solidFill>
                  <a:srgbClr val="2B2B25"/>
                </a:solidFill>
                <a:latin typeface="Calibri" pitchFamily="34" charset="0"/>
                <a:ea typeface="Calibri" pitchFamily="34" charset="-122"/>
                <a:cs typeface="Calibri" pitchFamily="34" charset="-120"/>
              </a:rPr>
              <a:t>Perform reduction of a stoppage or malfunction under pressure</a:t>
            </a:r>
            <a:endParaRPr lang="en-US" sz="1450" dirty="0"/>
          </a:p>
          <a:p>
            <a:pPr marL="228600" indent="-228600">
              <a:spcAft>
                <a:spcPts val="1000"/>
              </a:spcAft>
              <a:buSzPct val="100000"/>
              <a:buChar char="•"/>
            </a:pPr>
            <a:r>
              <a:rPr lang="en-US" sz="1450" dirty="0">
                <a:solidFill>
                  <a:srgbClr val="2B2B25"/>
                </a:solidFill>
                <a:latin typeface="Calibri" pitchFamily="34" charset="0"/>
                <a:ea typeface="Calibri" pitchFamily="34" charset="-122"/>
                <a:cs typeface="Calibri" pitchFamily="34" charset="-120"/>
              </a:rPr>
              <a:t>Employ hand grenades and other assigned munitions correctly and safely</a:t>
            </a:r>
            <a:endParaRPr lang="en-US" sz="1450" dirty="0"/>
          </a:p>
          <a:p>
            <a:pPr marL="228600" indent="-228600">
              <a:spcAft>
                <a:spcPts val="1000"/>
              </a:spcAft>
              <a:buSzPct val="100000"/>
              <a:buChar char="•"/>
            </a:pPr>
            <a:r>
              <a:rPr lang="en-US" sz="1450" dirty="0">
                <a:solidFill>
                  <a:srgbClr val="2B2B25"/>
                </a:solidFill>
                <a:latin typeface="Calibri" pitchFamily="34" charset="0"/>
                <a:ea typeface="Calibri" pitchFamily="34" charset="-122"/>
                <a:cs typeface="Calibri" pitchFamily="34" charset="-120"/>
              </a:rPr>
              <a:t>Comply with the rules of engagement and use of force</a:t>
            </a:r>
            <a:endParaRPr lang="en-US" sz="1450" dirty="0"/>
          </a:p>
        </p:txBody>
      </p:sp>
      <p:sp>
        <p:nvSpPr>
          <p:cNvPr id="7" name="Text 4"/>
          <p:cNvSpPr/>
          <p:nvPr/>
        </p:nvSpPr>
        <p:spPr>
          <a:xfrm>
            <a:off x="0" y="6492240"/>
            <a:ext cx="12191695" cy="274320"/>
          </a:xfrm>
          <a:prstGeom prst="rect">
            <a:avLst/>
          </a:prstGeom>
          <a:noFill/>
          <a:ln/>
        </p:spPr>
        <p:txBody>
          <a:bodyPr wrap="square" rtlCol="0" anchor="ctr"/>
          <a:lstStyle/>
          <a:p>
            <a:pPr algn="ctr" indent="0" marL="0">
              <a:buNone/>
            </a:pPr>
            <a:r>
              <a:rPr lang="en-US" sz="900" dirty="0">
                <a:solidFill>
                  <a:srgbClr val="9C9C90"/>
                </a:solidFill>
                <a:latin typeface="Calibri" pitchFamily="34" charset="0"/>
                <a:ea typeface="Calibri" pitchFamily="34" charset="-122"/>
                <a:cs typeface="Calibri" pitchFamily="34" charset="-120"/>
              </a:rPr>
              <a:t>WARRIOR TASKS &amp; BATTLE DRILLS  |  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3C3F2C"/>
          </a:solidFill>
          <a:ln/>
        </p:spPr>
      </p:sp>
      <p:sp>
        <p:nvSpPr>
          <p:cNvPr id="3" name="Text 1"/>
          <p:cNvSpPr/>
          <p:nvPr/>
        </p:nvSpPr>
        <p:spPr>
          <a:xfrm>
            <a:off x="548640" y="256032"/>
            <a:ext cx="1115568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MOVE: GET THERE SAFELY</a:t>
            </a:r>
            <a:endParaRPr lang="en-US" sz="2800" dirty="0"/>
          </a:p>
        </p:txBody>
      </p:sp>
      <p:pic>
        <p:nvPicPr>
          <p:cNvPr id="4" name="Image 0" descr="icon_compass.png">    </p:cNvPr>
          <p:cNvPicPr>
            <a:picLocks noChangeAspect="1"/>
          </p:cNvPicPr>
          <p:nvPr/>
        </p:nvPicPr>
        <p:blipFill>
          <a:blip r:embed="rId1"/>
          <a:stretch>
            <a:fillRect/>
          </a:stretch>
        </p:blipFill>
        <p:spPr>
          <a:xfrm>
            <a:off x="640080" y="1325880"/>
            <a:ext cx="822960" cy="822960"/>
          </a:xfrm>
          <a:prstGeom prst="rect">
            <a:avLst/>
          </a:prstGeom>
        </p:spPr>
      </p:pic>
      <p:sp>
        <p:nvSpPr>
          <p:cNvPr id="5" name="Text 2"/>
          <p:cNvSpPr/>
          <p:nvPr/>
        </p:nvSpPr>
        <p:spPr>
          <a:xfrm>
            <a:off x="1645920" y="1325880"/>
            <a:ext cx="9966960" cy="914400"/>
          </a:xfrm>
          <a:prstGeom prst="rect">
            <a:avLst/>
          </a:prstGeom>
          <a:noFill/>
          <a:ln/>
        </p:spPr>
        <p:txBody>
          <a:bodyPr wrap="square" lIns="0" tIns="0" rIns="0" bIns="0" rtlCol="0" anchor="t"/>
          <a:lstStyle/>
          <a:p>
            <a:pPr indent="0" marL="0">
              <a:buNone/>
            </a:pPr>
            <a:r>
              <a:rPr lang="en-US" sz="1450" dirty="0">
                <a:solidFill>
                  <a:srgbClr val="2B2B25"/>
                </a:solidFill>
                <a:latin typeface="Calibri" pitchFamily="34" charset="0"/>
                <a:ea typeface="Calibri" pitchFamily="34" charset="-122"/>
                <a:cs typeface="Calibri" pitchFamily="34" charset="-120"/>
              </a:rPr>
              <a:t>Moving isn't just walking from point A to point B — it's doing so while staying oriented, staying protected, and staying part of your team.</a:t>
            </a:r>
            <a:endParaRPr lang="en-US" sz="1450" dirty="0"/>
          </a:p>
        </p:txBody>
      </p:sp>
      <p:sp>
        <p:nvSpPr>
          <p:cNvPr id="6" name="Text 3"/>
          <p:cNvSpPr/>
          <p:nvPr/>
        </p:nvSpPr>
        <p:spPr>
          <a:xfrm>
            <a:off x="640080" y="2514600"/>
            <a:ext cx="10789920" cy="3474720"/>
          </a:xfrm>
          <a:prstGeom prst="rect">
            <a:avLst/>
          </a:prstGeom>
          <a:noFill/>
          <a:ln/>
        </p:spPr>
        <p:txBody>
          <a:bodyPr wrap="square" lIns="0" tIns="0" rIns="0" bIns="0" rtlCol="0" anchor="t"/>
          <a:lstStyle/>
          <a:p>
            <a:pPr marL="228600" indent="-228600">
              <a:spcAft>
                <a:spcPts val="1000"/>
              </a:spcAft>
              <a:buSzPct val="100000"/>
              <a:buChar char="•"/>
            </a:pPr>
            <a:r>
              <a:rPr lang="en-US" sz="1450" dirty="0">
                <a:solidFill>
                  <a:srgbClr val="2B2B25"/>
                </a:solidFill>
                <a:latin typeface="Calibri" pitchFamily="34" charset="0"/>
                <a:ea typeface="Calibri" pitchFamily="34" charset="-122"/>
                <a:cs typeface="Calibri" pitchFamily="34" charset="-120"/>
              </a:rPr>
              <a:t>Navigate from one point to another using a map and compass, or dismounted land navigation</a:t>
            </a:r>
            <a:endParaRPr lang="en-US" sz="1450" dirty="0"/>
          </a:p>
          <a:p>
            <a:pPr marL="228600" indent="-228600">
              <a:spcAft>
                <a:spcPts val="1000"/>
              </a:spcAft>
              <a:buSzPct val="100000"/>
              <a:buChar char="•"/>
            </a:pPr>
            <a:r>
              <a:rPr lang="en-US" sz="1450" dirty="0">
                <a:solidFill>
                  <a:srgbClr val="2B2B25"/>
                </a:solidFill>
                <a:latin typeface="Calibri" pitchFamily="34" charset="0"/>
                <a:ea typeface="Calibri" pitchFamily="34" charset="-122"/>
                <a:cs typeface="Calibri" pitchFamily="34" charset="-120"/>
              </a:rPr>
              <a:t>Move under direct fire, and move as a member of a fire team</a:t>
            </a:r>
            <a:endParaRPr lang="en-US" sz="1450" dirty="0"/>
          </a:p>
          <a:p>
            <a:pPr marL="228600" indent="-228600">
              <a:spcAft>
                <a:spcPts val="1000"/>
              </a:spcAft>
              <a:buSzPct val="100000"/>
              <a:buChar char="•"/>
            </a:pPr>
            <a:r>
              <a:rPr lang="en-US" sz="1450" dirty="0">
                <a:solidFill>
                  <a:srgbClr val="2B2B25"/>
                </a:solidFill>
                <a:latin typeface="Calibri" pitchFamily="34" charset="0"/>
                <a:ea typeface="Calibri" pitchFamily="34" charset="-122"/>
                <a:cs typeface="Calibri" pitchFamily="34" charset="-120"/>
              </a:rPr>
              <a:t>Move over, through, or around obstacles (except minefields)</a:t>
            </a:r>
            <a:endParaRPr lang="en-US" sz="1450" dirty="0"/>
          </a:p>
          <a:p>
            <a:pPr marL="228600" indent="-228600">
              <a:spcAft>
                <a:spcPts val="1000"/>
              </a:spcAft>
              <a:buSzPct val="100000"/>
              <a:buChar char="•"/>
            </a:pPr>
            <a:r>
              <a:rPr lang="en-US" sz="1450" dirty="0">
                <a:solidFill>
                  <a:srgbClr val="2B2B25"/>
                </a:solidFill>
                <a:latin typeface="Calibri" pitchFamily="34" charset="0"/>
                <a:ea typeface="Calibri" pitchFamily="34" charset="-122"/>
                <a:cs typeface="Calibri" pitchFamily="34" charset="-120"/>
              </a:rPr>
              <a:t>Perform actions while dismounting a vehicle, and react to unexploded ordnance</a:t>
            </a:r>
            <a:endParaRPr lang="en-US" sz="1450" dirty="0"/>
          </a:p>
        </p:txBody>
      </p:sp>
      <p:sp>
        <p:nvSpPr>
          <p:cNvPr id="7" name="Text 4"/>
          <p:cNvSpPr/>
          <p:nvPr/>
        </p:nvSpPr>
        <p:spPr>
          <a:xfrm>
            <a:off x="0" y="6492240"/>
            <a:ext cx="12191695" cy="274320"/>
          </a:xfrm>
          <a:prstGeom prst="rect">
            <a:avLst/>
          </a:prstGeom>
          <a:noFill/>
          <a:ln/>
        </p:spPr>
        <p:txBody>
          <a:bodyPr wrap="square" rtlCol="0" anchor="ctr"/>
          <a:lstStyle/>
          <a:p>
            <a:pPr algn="ctr" indent="0" marL="0">
              <a:buNone/>
            </a:pPr>
            <a:r>
              <a:rPr lang="en-US" sz="900" dirty="0">
                <a:solidFill>
                  <a:srgbClr val="9C9C90"/>
                </a:solidFill>
                <a:latin typeface="Calibri" pitchFamily="34" charset="0"/>
                <a:ea typeface="Calibri" pitchFamily="34" charset="-122"/>
                <a:cs typeface="Calibri" pitchFamily="34" charset="-120"/>
              </a:rPr>
              <a:t>WARRIOR TASKS &amp; BATTLE DRILLS  |  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3C3F2C"/>
          </a:solidFill>
          <a:ln/>
        </p:spPr>
      </p:sp>
      <p:sp>
        <p:nvSpPr>
          <p:cNvPr id="3" name="Text 1"/>
          <p:cNvSpPr/>
          <p:nvPr/>
        </p:nvSpPr>
        <p:spPr>
          <a:xfrm>
            <a:off x="548640" y="256032"/>
            <a:ext cx="1115568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COMMUNICATE: PASS THE RIGHT INFO</a:t>
            </a:r>
            <a:endParaRPr lang="en-US" sz="2800" dirty="0"/>
          </a:p>
        </p:txBody>
      </p:sp>
      <p:pic>
        <p:nvPicPr>
          <p:cNvPr id="4" name="Image 0" descr="icon_bullhorn.png">    </p:cNvPr>
          <p:cNvPicPr>
            <a:picLocks noChangeAspect="1"/>
          </p:cNvPicPr>
          <p:nvPr/>
        </p:nvPicPr>
        <p:blipFill>
          <a:blip r:embed="rId1"/>
          <a:stretch>
            <a:fillRect/>
          </a:stretch>
        </p:blipFill>
        <p:spPr>
          <a:xfrm>
            <a:off x="640080" y="1325880"/>
            <a:ext cx="822960" cy="822960"/>
          </a:xfrm>
          <a:prstGeom prst="rect">
            <a:avLst/>
          </a:prstGeom>
        </p:spPr>
      </p:pic>
      <p:sp>
        <p:nvSpPr>
          <p:cNvPr id="5" name="Text 2"/>
          <p:cNvSpPr/>
          <p:nvPr/>
        </p:nvSpPr>
        <p:spPr>
          <a:xfrm>
            <a:off x="1645920" y="1325880"/>
            <a:ext cx="9966960" cy="914400"/>
          </a:xfrm>
          <a:prstGeom prst="rect">
            <a:avLst/>
          </a:prstGeom>
          <a:noFill/>
          <a:ln/>
        </p:spPr>
        <p:txBody>
          <a:bodyPr wrap="square" lIns="0" tIns="0" rIns="0" bIns="0" rtlCol="0" anchor="t"/>
          <a:lstStyle/>
          <a:p>
            <a:pPr indent="0" marL="0">
              <a:buNone/>
            </a:pPr>
            <a:r>
              <a:rPr lang="en-US" sz="1450" dirty="0">
                <a:solidFill>
                  <a:srgbClr val="2B2B25"/>
                </a:solidFill>
                <a:latin typeface="Calibri" pitchFamily="34" charset="0"/>
                <a:ea typeface="Calibri" pitchFamily="34" charset="-122"/>
                <a:cs typeface="Calibri" pitchFamily="34" charset="-120"/>
              </a:rPr>
              <a:t>A team that can't communicate can't coordinate. This category covers getting critical information from you to the right people, reliably, under any condition.</a:t>
            </a:r>
            <a:endParaRPr lang="en-US" sz="1450" dirty="0"/>
          </a:p>
        </p:txBody>
      </p:sp>
      <p:sp>
        <p:nvSpPr>
          <p:cNvPr id="6" name="Text 3"/>
          <p:cNvSpPr/>
          <p:nvPr/>
        </p:nvSpPr>
        <p:spPr>
          <a:xfrm>
            <a:off x="640080" y="2514600"/>
            <a:ext cx="10789920" cy="3474720"/>
          </a:xfrm>
          <a:prstGeom prst="rect">
            <a:avLst/>
          </a:prstGeom>
          <a:noFill/>
          <a:ln/>
        </p:spPr>
        <p:txBody>
          <a:bodyPr wrap="square" lIns="0" tIns="0" rIns="0" bIns="0" rtlCol="0" anchor="t"/>
          <a:lstStyle/>
          <a:p>
            <a:pPr marL="228600" indent="-228600">
              <a:spcAft>
                <a:spcPts val="1000"/>
              </a:spcAft>
              <a:buSzPct val="100000"/>
              <a:buChar char="•"/>
            </a:pPr>
            <a:r>
              <a:rPr lang="en-US" sz="1450" dirty="0">
                <a:solidFill>
                  <a:srgbClr val="2B2B25"/>
                </a:solidFill>
                <a:latin typeface="Calibri" pitchFamily="34" charset="0"/>
                <a:ea typeface="Calibri" pitchFamily="34" charset="-122"/>
                <a:cs typeface="Calibri" pitchFamily="34" charset="-120"/>
              </a:rPr>
              <a:t>Perform voice communications, including proper radio procedures and brevity codes</a:t>
            </a:r>
            <a:endParaRPr lang="en-US" sz="1450" dirty="0"/>
          </a:p>
          <a:p>
            <a:pPr marL="228600" indent="-228600">
              <a:spcAft>
                <a:spcPts val="1000"/>
              </a:spcAft>
              <a:buSzPct val="100000"/>
              <a:buChar char="•"/>
            </a:pPr>
            <a:r>
              <a:rPr lang="en-US" sz="1450" dirty="0">
                <a:solidFill>
                  <a:srgbClr val="2B2B25"/>
                </a:solidFill>
                <a:latin typeface="Calibri" pitchFamily="34" charset="0"/>
                <a:ea typeface="Calibri" pitchFamily="34" charset="-122"/>
                <a:cs typeface="Calibri" pitchFamily="34" charset="-120"/>
              </a:rPr>
              <a:t>Use visual signaling techniques (arm-and-hand signals, pyrotechnics)</a:t>
            </a:r>
            <a:endParaRPr lang="en-US" sz="1450" dirty="0"/>
          </a:p>
          <a:p>
            <a:pPr marL="228600" indent="-228600">
              <a:spcAft>
                <a:spcPts val="1000"/>
              </a:spcAft>
              <a:buSzPct val="100000"/>
              <a:buChar char="•"/>
            </a:pPr>
            <a:r>
              <a:rPr lang="en-US" sz="1450" dirty="0">
                <a:solidFill>
                  <a:srgbClr val="2B2B25"/>
                </a:solidFill>
                <a:latin typeface="Calibri" pitchFamily="34" charset="0"/>
                <a:ea typeface="Calibri" pitchFamily="34" charset="-122"/>
                <a:cs typeface="Calibri" pitchFamily="34" charset="-120"/>
              </a:rPr>
              <a:t>Report information (SALUTE and other standard formats) up your chain of command</a:t>
            </a:r>
            <a:endParaRPr lang="en-US" sz="1450" dirty="0"/>
          </a:p>
          <a:p>
            <a:pPr marL="228600" indent="-228600">
              <a:spcAft>
                <a:spcPts val="1000"/>
              </a:spcAft>
              <a:buSzPct val="100000"/>
              <a:buChar char="•"/>
            </a:pPr>
            <a:r>
              <a:rPr lang="en-US" sz="1450" dirty="0">
                <a:solidFill>
                  <a:srgbClr val="2B2B25"/>
                </a:solidFill>
                <a:latin typeface="Calibri" pitchFamily="34" charset="0"/>
                <a:ea typeface="Calibri" pitchFamily="34" charset="-122"/>
                <a:cs typeface="Calibri" pitchFamily="34" charset="-120"/>
              </a:rPr>
              <a:t>Send a situation report (SITREP) and request support like a MEDEVAC when needed</a:t>
            </a:r>
            <a:endParaRPr lang="en-US" sz="1450" dirty="0"/>
          </a:p>
        </p:txBody>
      </p:sp>
      <p:sp>
        <p:nvSpPr>
          <p:cNvPr id="7" name="Text 4"/>
          <p:cNvSpPr/>
          <p:nvPr/>
        </p:nvSpPr>
        <p:spPr>
          <a:xfrm>
            <a:off x="0" y="6492240"/>
            <a:ext cx="12191695" cy="274320"/>
          </a:xfrm>
          <a:prstGeom prst="rect">
            <a:avLst/>
          </a:prstGeom>
          <a:noFill/>
          <a:ln/>
        </p:spPr>
        <p:txBody>
          <a:bodyPr wrap="square" rtlCol="0" anchor="ctr"/>
          <a:lstStyle/>
          <a:p>
            <a:pPr algn="ctr" indent="0" marL="0">
              <a:buNone/>
            </a:pPr>
            <a:r>
              <a:rPr lang="en-US" sz="900" dirty="0">
                <a:solidFill>
                  <a:srgbClr val="9C9C90"/>
                </a:solidFill>
                <a:latin typeface="Calibri" pitchFamily="34" charset="0"/>
                <a:ea typeface="Calibri" pitchFamily="34" charset="-122"/>
                <a:cs typeface="Calibri" pitchFamily="34" charset="-120"/>
              </a:rPr>
              <a:t>WARRIOR TASKS &amp; BATTLE DRILLS  |  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4261A"/>
        </a:solidFill>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SURVIVE &amp; ADAPT</a:t>
            </a:r>
            <a:endParaRPr lang="en-US" sz="3200" dirty="0"/>
          </a:p>
        </p:txBody>
      </p:sp>
      <p:sp>
        <p:nvSpPr>
          <p:cNvPr id="3" name="Text 1"/>
          <p:cNvSpPr/>
          <p:nvPr/>
        </p:nvSpPr>
        <p:spPr>
          <a:xfrm>
            <a:off x="548640" y="1005840"/>
            <a:ext cx="10058400" cy="365760"/>
          </a:xfrm>
          <a:prstGeom prst="rect">
            <a:avLst/>
          </a:prstGeom>
          <a:noFill/>
          <a:ln/>
        </p:spPr>
        <p:txBody>
          <a:bodyPr wrap="square" lIns="0" tIns="0" rIns="0" bIns="0" rtlCol="0" anchor="ctr"/>
          <a:lstStyle/>
          <a:p>
            <a:pPr indent="0" marL="0">
              <a:buNone/>
            </a:pPr>
            <a:r>
              <a:rPr lang="en-US" sz="1500" i="1" dirty="0">
                <a:solidFill>
                  <a:srgbClr val="C9A227"/>
                </a:solidFill>
                <a:latin typeface="Calibri" pitchFamily="34" charset="0"/>
                <a:ea typeface="Calibri" pitchFamily="34" charset="-122"/>
                <a:cs typeface="Calibri" pitchFamily="34" charset="-120"/>
              </a:rPr>
              <a:t>Protecting life, and adjusting to whatever the situation demands</a:t>
            </a:r>
            <a:endParaRPr lang="en-US" sz="1500" dirty="0"/>
          </a:p>
        </p:txBody>
      </p:sp>
      <p:sp>
        <p:nvSpPr>
          <p:cNvPr id="4" name="Shape 2"/>
          <p:cNvSpPr/>
          <p:nvPr/>
        </p:nvSpPr>
        <p:spPr>
          <a:xfrm>
            <a:off x="548640" y="1737360"/>
            <a:ext cx="5394960" cy="4480560"/>
          </a:xfrm>
          <a:prstGeom prst="roundRect">
            <a:avLst>
              <a:gd name="adj" fmla="val 1633"/>
            </a:avLst>
          </a:prstGeom>
          <a:solidFill>
            <a:srgbClr val="3C3F2C"/>
          </a:solidFill>
          <a:ln/>
          <a:effectLst>
            <a:outerShdw sx="100000" sy="100000" kx="0" ky="0" algn="bl" rotWithShape="0" blurRad="76200" dist="25400" dir="2700000">
              <a:srgbClr val="000000">
                <a:alpha val="15000"/>
              </a:srgbClr>
            </a:outerShdw>
          </a:effectLst>
        </p:spPr>
      </p:sp>
      <p:pic>
        <p:nvPicPr>
          <p:cNvPr id="5" name="Image 0" descr="icon_medkit.png">    </p:cNvPr>
          <p:cNvPicPr>
            <a:picLocks noChangeAspect="1"/>
          </p:cNvPicPr>
          <p:nvPr/>
        </p:nvPicPr>
        <p:blipFill>
          <a:blip r:embed="rId1"/>
          <a:stretch>
            <a:fillRect/>
          </a:stretch>
        </p:blipFill>
        <p:spPr>
          <a:xfrm>
            <a:off x="822960" y="2011680"/>
            <a:ext cx="457200" cy="457200"/>
          </a:xfrm>
          <a:prstGeom prst="rect">
            <a:avLst/>
          </a:prstGeom>
        </p:spPr>
      </p:pic>
      <p:sp>
        <p:nvSpPr>
          <p:cNvPr id="6" name="Text 3"/>
          <p:cNvSpPr/>
          <p:nvPr/>
        </p:nvSpPr>
        <p:spPr>
          <a:xfrm>
            <a:off x="1463040" y="2011680"/>
            <a:ext cx="4297680" cy="457200"/>
          </a:xfrm>
          <a:prstGeom prst="rect">
            <a:avLst/>
          </a:prstGeom>
          <a:noFill/>
          <a:ln/>
        </p:spPr>
        <p:txBody>
          <a:bodyPr wrap="square" lIns="0" tIns="0" rIns="0" bIns="0" rtlCol="0" anchor="ctr"/>
          <a:lstStyle/>
          <a:p>
            <a:pPr indent="0" marL="0">
              <a:buNone/>
            </a:pPr>
            <a:r>
              <a:rPr lang="en-US" sz="1800" b="1" dirty="0">
                <a:solidFill>
                  <a:srgbClr val="C9A227"/>
                </a:solidFill>
                <a:latin typeface="Cambria" pitchFamily="34" charset="0"/>
                <a:ea typeface="Cambria" pitchFamily="34" charset="-122"/>
                <a:cs typeface="Cambria" pitchFamily="34" charset="-120"/>
              </a:rPr>
              <a:t>SURVIVE</a:t>
            </a:r>
            <a:endParaRPr lang="en-US" sz="1800" dirty="0"/>
          </a:p>
        </p:txBody>
      </p:sp>
      <p:sp>
        <p:nvSpPr>
          <p:cNvPr id="7" name="Text 4"/>
          <p:cNvSpPr/>
          <p:nvPr/>
        </p:nvSpPr>
        <p:spPr>
          <a:xfrm>
            <a:off x="868680" y="2651760"/>
            <a:ext cx="4754880" cy="3383280"/>
          </a:xfrm>
          <a:prstGeom prst="rect">
            <a:avLst/>
          </a:prstGeom>
          <a:noFill/>
          <a:ln/>
        </p:spPr>
        <p:txBody>
          <a:bodyPr wrap="square" lIns="0" tIns="0" rIns="0" bIns="0" rtlCol="0" anchor="t"/>
          <a:lstStyle/>
          <a:p>
            <a:pPr marL="228600" indent="-228600">
              <a:spcAft>
                <a:spcPts val="1000"/>
              </a:spcAft>
              <a:buSzPct val="100000"/>
              <a:buChar char="•"/>
            </a:pPr>
            <a:r>
              <a:rPr lang="en-US" sz="1250" dirty="0">
                <a:solidFill>
                  <a:srgbClr val="FFFFFF"/>
                </a:solidFill>
                <a:latin typeface="Calibri" pitchFamily="34" charset="0"/>
                <a:ea typeface="Calibri" pitchFamily="34" charset="-122"/>
                <a:cs typeface="Calibri" pitchFamily="34" charset="-120"/>
              </a:rPr>
              <a:t>Perform first aid / self-aid and buddy aid (TCCC)</a:t>
            </a:r>
            <a:endParaRPr lang="en-US" sz="1250" dirty="0"/>
          </a:p>
          <a:p>
            <a:pPr marL="228600" indent="-228600">
              <a:spcAft>
                <a:spcPts val="1000"/>
              </a:spcAft>
              <a:buSzPct val="100000"/>
              <a:buChar char="•"/>
            </a:pPr>
            <a:r>
              <a:rPr lang="en-US" sz="1250" dirty="0">
                <a:solidFill>
                  <a:srgbClr val="FFFFFF"/>
                </a:solidFill>
                <a:latin typeface="Calibri" pitchFamily="34" charset="0"/>
                <a:ea typeface="Calibri" pitchFamily="34" charset="-122"/>
                <a:cs typeface="Calibri" pitchFamily="34" charset="-120"/>
              </a:rPr>
              <a:t>Evacuate a casualty and request MEDEVAC</a:t>
            </a:r>
            <a:endParaRPr lang="en-US" sz="1250" dirty="0"/>
          </a:p>
          <a:p>
            <a:pPr marL="228600" indent="-228600">
              <a:spcAft>
                <a:spcPts val="1000"/>
              </a:spcAft>
              <a:buSzPct val="100000"/>
              <a:buChar char="•"/>
            </a:pPr>
            <a:r>
              <a:rPr lang="en-US" sz="1250" dirty="0">
                <a:solidFill>
                  <a:srgbClr val="FFFFFF"/>
                </a:solidFill>
                <a:latin typeface="Calibri" pitchFamily="34" charset="0"/>
                <a:ea typeface="Calibri" pitchFamily="34" charset="-122"/>
                <a:cs typeface="Calibri" pitchFamily="34" charset="-120"/>
              </a:rPr>
              <a:t>Protect yourself from CBRN hazards and don your protective mask</a:t>
            </a:r>
            <a:endParaRPr lang="en-US" sz="1250" dirty="0"/>
          </a:p>
          <a:p>
            <a:pPr marL="228600" indent="-228600">
              <a:spcAft>
                <a:spcPts val="1000"/>
              </a:spcAft>
              <a:buSzPct val="100000"/>
              <a:buChar char="•"/>
            </a:pPr>
            <a:r>
              <a:rPr lang="en-US" sz="1250" dirty="0">
                <a:solidFill>
                  <a:srgbClr val="FFFFFF"/>
                </a:solidFill>
                <a:latin typeface="Calibri" pitchFamily="34" charset="0"/>
                <a:ea typeface="Calibri" pitchFamily="34" charset="-122"/>
                <a:cs typeface="Calibri" pitchFamily="34" charset="-120"/>
              </a:rPr>
              <a:t>Prevent and treat heat and cold weather injuries</a:t>
            </a:r>
            <a:endParaRPr lang="en-US" sz="1250" dirty="0"/>
          </a:p>
        </p:txBody>
      </p:sp>
      <p:sp>
        <p:nvSpPr>
          <p:cNvPr id="8" name="Shape 5"/>
          <p:cNvSpPr/>
          <p:nvPr/>
        </p:nvSpPr>
        <p:spPr>
          <a:xfrm>
            <a:off x="6217920" y="1737360"/>
            <a:ext cx="5394960" cy="4480560"/>
          </a:xfrm>
          <a:prstGeom prst="roundRect">
            <a:avLst>
              <a:gd name="adj" fmla="val 1633"/>
            </a:avLst>
          </a:prstGeom>
          <a:solidFill>
            <a:srgbClr val="3C3F2C"/>
          </a:solidFill>
          <a:ln/>
          <a:effectLst>
            <a:outerShdw sx="100000" sy="100000" kx="0" ky="0" algn="bl" rotWithShape="0" blurRad="76200" dist="25400" dir="2700000">
              <a:srgbClr val="000000">
                <a:alpha val="15000"/>
              </a:srgbClr>
            </a:outerShdw>
          </a:effectLst>
        </p:spPr>
      </p:sp>
      <p:pic>
        <p:nvPicPr>
          <p:cNvPr id="9" name="Image 1" descr="icon_hands.png">    </p:cNvPr>
          <p:cNvPicPr>
            <a:picLocks noChangeAspect="1"/>
          </p:cNvPicPr>
          <p:nvPr/>
        </p:nvPicPr>
        <p:blipFill>
          <a:blip r:embed="rId2"/>
          <a:stretch>
            <a:fillRect/>
          </a:stretch>
        </p:blipFill>
        <p:spPr>
          <a:xfrm>
            <a:off x="6492240" y="2011680"/>
            <a:ext cx="457200" cy="457200"/>
          </a:xfrm>
          <a:prstGeom prst="rect">
            <a:avLst/>
          </a:prstGeom>
        </p:spPr>
      </p:pic>
      <p:sp>
        <p:nvSpPr>
          <p:cNvPr id="10" name="Text 6"/>
          <p:cNvSpPr/>
          <p:nvPr/>
        </p:nvSpPr>
        <p:spPr>
          <a:xfrm>
            <a:off x="7132320" y="2011680"/>
            <a:ext cx="4297680" cy="457200"/>
          </a:xfrm>
          <a:prstGeom prst="rect">
            <a:avLst/>
          </a:prstGeom>
          <a:noFill/>
          <a:ln/>
        </p:spPr>
        <p:txBody>
          <a:bodyPr wrap="square" lIns="0" tIns="0" rIns="0" bIns="0" rtlCol="0" anchor="ctr"/>
          <a:lstStyle/>
          <a:p>
            <a:pPr indent="0" marL="0">
              <a:buNone/>
            </a:pPr>
            <a:r>
              <a:rPr lang="en-US" sz="1800" b="1" dirty="0">
                <a:solidFill>
                  <a:srgbClr val="C9A227"/>
                </a:solidFill>
                <a:latin typeface="Cambria" pitchFamily="34" charset="0"/>
                <a:ea typeface="Cambria" pitchFamily="34" charset="-122"/>
                <a:cs typeface="Cambria" pitchFamily="34" charset="-120"/>
              </a:rPr>
              <a:t>ADAPT</a:t>
            </a:r>
            <a:endParaRPr lang="en-US" sz="1800" dirty="0"/>
          </a:p>
        </p:txBody>
      </p:sp>
      <p:sp>
        <p:nvSpPr>
          <p:cNvPr id="11" name="Text 7"/>
          <p:cNvSpPr/>
          <p:nvPr/>
        </p:nvSpPr>
        <p:spPr>
          <a:xfrm>
            <a:off x="6537960" y="2651760"/>
            <a:ext cx="4754880" cy="3383280"/>
          </a:xfrm>
          <a:prstGeom prst="rect">
            <a:avLst/>
          </a:prstGeom>
          <a:noFill/>
          <a:ln/>
        </p:spPr>
        <p:txBody>
          <a:bodyPr wrap="square" lIns="0" tIns="0" rIns="0" bIns="0" rtlCol="0" anchor="t"/>
          <a:lstStyle/>
          <a:p>
            <a:pPr marL="228600" indent="-228600">
              <a:spcAft>
                <a:spcPts val="1000"/>
              </a:spcAft>
              <a:buSzPct val="100000"/>
              <a:buChar char="•"/>
            </a:pPr>
            <a:r>
              <a:rPr lang="en-US" sz="1250" dirty="0">
                <a:solidFill>
                  <a:srgbClr val="FFFFFF"/>
                </a:solidFill>
                <a:latin typeface="Calibri" pitchFamily="34" charset="0"/>
                <a:ea typeface="Calibri" pitchFamily="34" charset="-122"/>
                <a:cs typeface="Calibri" pitchFamily="34" charset="-120"/>
              </a:rPr>
              <a:t>Operate effectively across changing missions and environments</a:t>
            </a:r>
            <a:endParaRPr lang="en-US" sz="1250" dirty="0"/>
          </a:p>
          <a:p>
            <a:pPr marL="228600" indent="-228600">
              <a:spcAft>
                <a:spcPts val="1000"/>
              </a:spcAft>
              <a:buSzPct val="100000"/>
              <a:buChar char="•"/>
            </a:pPr>
            <a:r>
              <a:rPr lang="en-US" sz="1250" dirty="0">
                <a:solidFill>
                  <a:srgbClr val="FFFFFF"/>
                </a:solidFill>
                <a:latin typeface="Calibri" pitchFamily="34" charset="0"/>
                <a:ea typeface="Calibri" pitchFamily="34" charset="-122"/>
                <a:cs typeface="Calibri" pitchFamily="34" charset="-120"/>
              </a:rPr>
              <a:t>Interact appropriately across cultures and with local populations</a:t>
            </a:r>
            <a:endParaRPr lang="en-US" sz="1250" dirty="0"/>
          </a:p>
          <a:p>
            <a:pPr marL="228600" indent="-228600">
              <a:spcAft>
                <a:spcPts val="1000"/>
              </a:spcAft>
              <a:buSzPct val="100000"/>
              <a:buChar char="•"/>
            </a:pPr>
            <a:r>
              <a:rPr lang="en-US" sz="1250" dirty="0">
                <a:solidFill>
                  <a:srgbClr val="FFFFFF"/>
                </a:solidFill>
                <a:latin typeface="Calibri" pitchFamily="34" charset="0"/>
                <a:ea typeface="Calibri" pitchFamily="34" charset="-122"/>
                <a:cs typeface="Calibri" pitchFamily="34" charset="-120"/>
              </a:rPr>
              <a:t>Apply the law of war and rules of engagement in ambiguous situations</a:t>
            </a:r>
            <a:endParaRPr lang="en-US" sz="1250" dirty="0"/>
          </a:p>
          <a:p>
            <a:pPr marL="228600" indent="-228600">
              <a:spcAft>
                <a:spcPts val="1000"/>
              </a:spcAft>
              <a:buSzPct val="100000"/>
              <a:buChar char="•"/>
            </a:pPr>
            <a:r>
              <a:rPr lang="en-US" sz="1250" dirty="0">
                <a:solidFill>
                  <a:srgbClr val="FFFFFF"/>
                </a:solidFill>
                <a:latin typeface="Calibri" pitchFamily="34" charset="0"/>
                <a:ea typeface="Calibri" pitchFamily="34" charset="-122"/>
                <a:cs typeface="Calibri" pitchFamily="34" charset="-120"/>
              </a:rPr>
              <a:t>Exercise good judgment when no playbook covers the exact situation</a:t>
            </a:r>
            <a:endParaRPr lang="en-US" sz="1250" dirty="0"/>
          </a:p>
        </p:txBody>
      </p:sp>
      <p:sp>
        <p:nvSpPr>
          <p:cNvPr id="12" name="Text 8"/>
          <p:cNvSpPr/>
          <p:nvPr/>
        </p:nvSpPr>
        <p:spPr>
          <a:xfrm>
            <a:off x="0" y="6492240"/>
            <a:ext cx="12191695" cy="274320"/>
          </a:xfrm>
          <a:prstGeom prst="rect">
            <a:avLst/>
          </a:prstGeom>
          <a:noFill/>
          <a:ln/>
        </p:spPr>
        <p:txBody>
          <a:bodyPr wrap="square" rtlCol="0" anchor="ctr"/>
          <a:lstStyle/>
          <a:p>
            <a:pPr algn="ctr" indent="0" marL="0">
              <a:buNone/>
            </a:pPr>
            <a:r>
              <a:rPr lang="en-US" sz="900" dirty="0">
                <a:solidFill>
                  <a:srgbClr val="8A8C78"/>
                </a:solidFill>
                <a:latin typeface="Calibri" pitchFamily="34" charset="0"/>
                <a:ea typeface="Calibri" pitchFamily="34" charset="-122"/>
                <a:cs typeface="Calibri" pitchFamily="34" charset="-120"/>
              </a:rPr>
              <a:t>WARRIOR TASKS &amp; BATTLE DRILLS  |  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3C3F2C"/>
          </a:solidFill>
          <a:ln/>
        </p:spPr>
      </p:sp>
      <p:sp>
        <p:nvSpPr>
          <p:cNvPr id="3" name="Text 1"/>
          <p:cNvSpPr/>
          <p:nvPr/>
        </p:nvSpPr>
        <p:spPr>
          <a:xfrm>
            <a:off x="548640" y="256032"/>
            <a:ext cx="11155680"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BATTLE DRILLS: INSTINCT, NOT A DECISION</a:t>
            </a:r>
            <a:endParaRPr lang="en-US" sz="2600" dirty="0"/>
          </a:p>
        </p:txBody>
      </p:sp>
      <p:sp>
        <p:nvSpPr>
          <p:cNvPr id="4" name="Text 2"/>
          <p:cNvSpPr/>
          <p:nvPr/>
        </p:nvSpPr>
        <p:spPr>
          <a:xfrm>
            <a:off x="548640" y="1234440"/>
            <a:ext cx="11064240" cy="777240"/>
          </a:xfrm>
          <a:prstGeom prst="rect">
            <a:avLst/>
          </a:prstGeom>
          <a:noFill/>
          <a:ln/>
        </p:spPr>
        <p:txBody>
          <a:bodyPr wrap="square" lIns="0" tIns="0" rIns="0" bIns="0" rtlCol="0" anchor="t"/>
          <a:lstStyle/>
          <a:p>
            <a:pPr indent="0" marL="0">
              <a:buNone/>
            </a:pPr>
            <a:r>
              <a:rPr lang="en-US" sz="1500" dirty="0">
                <a:solidFill>
                  <a:srgbClr val="2B2B25"/>
                </a:solidFill>
                <a:latin typeface="Calibri" pitchFamily="34" charset="0"/>
                <a:ea typeface="Calibri" pitchFamily="34" charset="-122"/>
                <a:cs typeface="Calibri" pitchFamily="34" charset="-120"/>
              </a:rPr>
              <a:t>A Battle Drill is different from a task — it's a collective, reflexive action a unit takes immediately in response to a triggering event, without waiting for an order.</a:t>
            </a:r>
            <a:endParaRPr lang="en-US" sz="1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2194560"/>
          <a:ext cx="11064240" cy="3200400"/>
        </p:xfrm>
        <a:graphic>
          <a:graphicData uri="http://schemas.openxmlformats.org/drawingml/2006/table">
            <a:tbl>
              <a:tblPr/>
              <a:tblGrid>
                <a:gridCol w="4114800"/>
                <a:gridCol w="6949440"/>
              </a:tblGrid>
              <a:tr h="621792">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Battle Drill</a:t>
                      </a:r>
                      <a:endParaRPr lang="en-US" sz="15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solidFill>
                      <a:srgbClr val="3C3F2C"/>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Triggered By</a:t>
                      </a:r>
                      <a:endParaRPr lang="en-US" sz="15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solidFill>
                      <a:srgbClr val="3C3F2C"/>
                    </a:solidFill>
                  </a:tcPr>
                </a:tc>
              </a:tr>
              <a:tr h="621792">
                <a:tc>
                  <a:txBody>
                    <a:bodyPr/>
                    <a:lstStyle/>
                    <a:p>
                      <a:pPr indent="0" marL="0">
                        <a:buNone/>
                      </a:pPr>
                      <a:r>
                        <a:rPr lang="en-US" sz="1500" b="1" dirty="0">
                          <a:solidFill>
                            <a:srgbClr val="2B2B25"/>
                          </a:solidFill>
                          <a:latin typeface="Calibri" pitchFamily="34" charset="0"/>
                          <a:ea typeface="Calibri" pitchFamily="34" charset="-122"/>
                          <a:cs typeface="Calibri" pitchFamily="34" charset="-120"/>
                        </a:rPr>
                        <a:t>React to Contact</a:t>
                      </a:r>
                      <a:endParaRPr lang="en-US" sz="15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indent="0" marL="0">
                        <a:buNone/>
                      </a:pPr>
                      <a:r>
                        <a:rPr lang="en-US" sz="1500" dirty="0">
                          <a:solidFill>
                            <a:srgbClr val="2B2B25"/>
                          </a:solidFill>
                          <a:latin typeface="Calibri" pitchFamily="34" charset="0"/>
                          <a:ea typeface="Calibri" pitchFamily="34" charset="-122"/>
                          <a:cs typeface="Calibri" pitchFamily="34" charset="-120"/>
                        </a:rPr>
                        <a:t>Sudden direct fire contact with the enemy</a:t>
                      </a:r>
                      <a:endParaRPr lang="en-US" sz="15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r>
              <a:tr h="621792">
                <a:tc>
                  <a:txBody>
                    <a:bodyPr/>
                    <a:lstStyle/>
                    <a:p>
                      <a:pPr indent="0" marL="0">
                        <a:buNone/>
                      </a:pPr>
                      <a:r>
                        <a:rPr lang="en-US" sz="1500" b="1" dirty="0">
                          <a:solidFill>
                            <a:srgbClr val="2B2B25"/>
                          </a:solidFill>
                          <a:latin typeface="Calibri" pitchFamily="34" charset="0"/>
                          <a:ea typeface="Calibri" pitchFamily="34" charset="-122"/>
                          <a:cs typeface="Calibri" pitchFamily="34" charset="-120"/>
                        </a:rPr>
                        <a:t>React to Ambush (Near)</a:t>
                      </a:r>
                      <a:endParaRPr lang="en-US" sz="15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indent="0" marL="0">
                        <a:buNone/>
                      </a:pPr>
                      <a:r>
                        <a:rPr lang="en-US" sz="1500" dirty="0">
                          <a:solidFill>
                            <a:srgbClr val="2B2B25"/>
                          </a:solidFill>
                          <a:latin typeface="Calibri" pitchFamily="34" charset="0"/>
                          <a:ea typeface="Calibri" pitchFamily="34" charset="-122"/>
                          <a:cs typeface="Calibri" pitchFamily="34" charset="-120"/>
                        </a:rPr>
                        <a:t>Ambush within immediate assault distance</a:t>
                      </a:r>
                      <a:endParaRPr lang="en-US" sz="15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r>
              <a:tr h="621792">
                <a:tc>
                  <a:txBody>
                    <a:bodyPr/>
                    <a:lstStyle/>
                    <a:p>
                      <a:pPr indent="0" marL="0">
                        <a:buNone/>
                      </a:pPr>
                      <a:r>
                        <a:rPr lang="en-US" sz="1500" b="1" dirty="0">
                          <a:solidFill>
                            <a:srgbClr val="2B2B25"/>
                          </a:solidFill>
                          <a:latin typeface="Calibri" pitchFamily="34" charset="0"/>
                          <a:ea typeface="Calibri" pitchFamily="34" charset="-122"/>
                          <a:cs typeface="Calibri" pitchFamily="34" charset="-120"/>
                        </a:rPr>
                        <a:t>React to Ambush (Far)</a:t>
                      </a:r>
                      <a:endParaRPr lang="en-US" sz="15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indent="0" marL="0">
                        <a:buNone/>
                      </a:pPr>
                      <a:r>
                        <a:rPr lang="en-US" sz="1500" dirty="0">
                          <a:solidFill>
                            <a:srgbClr val="2B2B25"/>
                          </a:solidFill>
                          <a:latin typeface="Calibri" pitchFamily="34" charset="0"/>
                          <a:ea typeface="Calibri" pitchFamily="34" charset="-122"/>
                          <a:cs typeface="Calibri" pitchFamily="34" charset="-120"/>
                        </a:rPr>
                        <a:t>Ambush at a distance requiring a different response</a:t>
                      </a:r>
                      <a:endParaRPr lang="en-US" sz="15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r>
              <a:tr h="621792">
                <a:tc>
                  <a:txBody>
                    <a:bodyPr/>
                    <a:lstStyle/>
                    <a:p>
                      <a:pPr indent="0" marL="0">
                        <a:buNone/>
                      </a:pPr>
                      <a:r>
                        <a:rPr lang="en-US" sz="1500" b="1" dirty="0">
                          <a:solidFill>
                            <a:srgbClr val="2B2B25"/>
                          </a:solidFill>
                          <a:latin typeface="Calibri" pitchFamily="34" charset="0"/>
                          <a:ea typeface="Calibri" pitchFamily="34" charset="-122"/>
                          <a:cs typeface="Calibri" pitchFamily="34" charset="-120"/>
                        </a:rPr>
                        <a:t>React to Indirect Fire</a:t>
                      </a:r>
                      <a:endParaRPr lang="en-US" sz="15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indent="0" marL="0">
                        <a:buNone/>
                      </a:pPr>
                      <a:r>
                        <a:rPr lang="en-US" sz="1500" dirty="0">
                          <a:solidFill>
                            <a:srgbClr val="2B2B25"/>
                          </a:solidFill>
                          <a:latin typeface="Calibri" pitchFamily="34" charset="0"/>
                          <a:ea typeface="Calibri" pitchFamily="34" charset="-122"/>
                          <a:cs typeface="Calibri" pitchFamily="34" charset="-120"/>
                        </a:rPr>
                        <a:t>Incoming mortar, artillery, or rocket fire</a:t>
                      </a:r>
                      <a:endParaRPr lang="en-US" sz="15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r>
            </a:tbl>
          </a:graphicData>
        </a:graphic>
      </p:graphicFrame>
      <p:sp>
        <p:nvSpPr>
          <p:cNvPr id="6" name="Text 3"/>
          <p:cNvSpPr/>
          <p:nvPr/>
        </p:nvSpPr>
        <p:spPr>
          <a:xfrm>
            <a:off x="0" y="6492240"/>
            <a:ext cx="12191695" cy="274320"/>
          </a:xfrm>
          <a:prstGeom prst="rect">
            <a:avLst/>
          </a:prstGeom>
          <a:noFill/>
          <a:ln/>
        </p:spPr>
        <p:txBody>
          <a:bodyPr wrap="square" rtlCol="0" anchor="ctr"/>
          <a:lstStyle/>
          <a:p>
            <a:pPr algn="ctr" indent="0" marL="0">
              <a:buNone/>
            </a:pPr>
            <a:r>
              <a:rPr lang="en-US" sz="900" dirty="0">
                <a:solidFill>
                  <a:srgbClr val="9C9C90"/>
                </a:solidFill>
                <a:latin typeface="Calibri" pitchFamily="34" charset="0"/>
                <a:ea typeface="Calibri" pitchFamily="34" charset="-122"/>
                <a:cs typeface="Calibri" pitchFamily="34" charset="-120"/>
              </a:rPr>
              <a:t>WARRIOR TASKS &amp; BATTLE DRILLS  |  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4261A"/>
        </a:solidFill>
      </p:bgPr>
    </p:bg>
    <p:spTree>
      <p:nvGrpSpPr>
        <p:cNvPr id="1" name=""/>
        <p:cNvGrpSpPr/>
        <p:nvPr/>
      </p:nvGrpSpPr>
      <p:grpSpPr>
        <a:xfrm>
          <a:off x="0" y="0"/>
          <a:ext cx="0" cy="0"/>
          <a:chOff x="0" y="0"/>
          <a:chExt cx="0" cy="0"/>
        </a:xfrm>
      </p:grpSpPr>
      <p:sp>
        <p:nvSpPr>
          <p:cNvPr id="2" name="Text 0"/>
          <p:cNvSpPr/>
          <p:nvPr/>
        </p:nvSpPr>
        <p:spPr>
          <a:xfrm>
            <a:off x="548640" y="365760"/>
            <a:ext cx="1115568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WHERE WTBD SHOW UP IN YOUR CAREER</a:t>
            </a:r>
            <a:endParaRPr lang="en-US" sz="2800" dirty="0"/>
          </a:p>
        </p:txBody>
      </p:sp>
      <p:sp>
        <p:nvSpPr>
          <p:cNvPr id="3" name="Shape 1"/>
          <p:cNvSpPr/>
          <p:nvPr/>
        </p:nvSpPr>
        <p:spPr>
          <a:xfrm>
            <a:off x="548640" y="1463040"/>
            <a:ext cx="2651760" cy="4206240"/>
          </a:xfrm>
          <a:prstGeom prst="roundRect">
            <a:avLst>
              <a:gd name="adj" fmla="val 2759"/>
            </a:avLst>
          </a:prstGeom>
          <a:solidFill>
            <a:srgbClr val="3C3F2C"/>
          </a:solidFill>
          <a:ln/>
          <a:effectLst>
            <a:outerShdw sx="100000" sy="100000" kx="0" ky="0" algn="bl" rotWithShape="0" blurRad="76200" dist="25400" dir="2700000">
              <a:srgbClr val="000000">
                <a:alpha val="15000"/>
              </a:srgbClr>
            </a:outerShdw>
          </a:effectLst>
        </p:spPr>
      </p:sp>
      <p:pic>
        <p:nvPicPr>
          <p:cNvPr id="4" name="Image 0" descr="icon_book.png">    </p:cNvPr>
          <p:cNvPicPr>
            <a:picLocks noChangeAspect="1"/>
          </p:cNvPicPr>
          <p:nvPr/>
        </p:nvPicPr>
        <p:blipFill>
          <a:blip r:embed="rId1"/>
          <a:stretch>
            <a:fillRect/>
          </a:stretch>
        </p:blipFill>
        <p:spPr>
          <a:xfrm>
            <a:off x="731520" y="1737360"/>
            <a:ext cx="502920" cy="502920"/>
          </a:xfrm>
          <a:prstGeom prst="rect">
            <a:avLst/>
          </a:prstGeom>
        </p:spPr>
      </p:pic>
      <p:sp>
        <p:nvSpPr>
          <p:cNvPr id="5" name="Text 2"/>
          <p:cNvSpPr/>
          <p:nvPr/>
        </p:nvSpPr>
        <p:spPr>
          <a:xfrm>
            <a:off x="731520" y="2377440"/>
            <a:ext cx="2286000" cy="685800"/>
          </a:xfrm>
          <a:prstGeom prst="rect">
            <a:avLst/>
          </a:prstGeom>
          <a:noFill/>
          <a:ln/>
        </p:spPr>
        <p:txBody>
          <a:bodyPr wrap="square" lIns="0" tIns="0" rIns="0" bIns="0" rtlCol="0" anchor="t"/>
          <a:lstStyle/>
          <a:p>
            <a:pPr indent="0" marL="0">
              <a:buNone/>
            </a:pPr>
            <a:r>
              <a:rPr lang="en-US" sz="1350" b="1" dirty="0">
                <a:solidFill>
                  <a:srgbClr val="C9A227"/>
                </a:solidFill>
                <a:latin typeface="Calibri" pitchFamily="34" charset="0"/>
                <a:ea typeface="Calibri" pitchFamily="34" charset="-122"/>
                <a:cs typeface="Calibri" pitchFamily="34" charset="-120"/>
              </a:rPr>
              <a:t>STP 21-1 / 21-24-SMCT</a:t>
            </a:r>
            <a:endParaRPr lang="en-US" sz="1350" dirty="0"/>
          </a:p>
        </p:txBody>
      </p:sp>
      <p:sp>
        <p:nvSpPr>
          <p:cNvPr id="6" name="Text 3"/>
          <p:cNvSpPr/>
          <p:nvPr/>
        </p:nvSpPr>
        <p:spPr>
          <a:xfrm>
            <a:off x="731520" y="3154680"/>
            <a:ext cx="2286000" cy="233172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The Soldier's Manual of Common Tasks is the official source — the same STP where WTBD task summaries live.</a:t>
            </a:r>
            <a:endParaRPr lang="en-US" sz="1150" dirty="0"/>
          </a:p>
        </p:txBody>
      </p:sp>
      <p:sp>
        <p:nvSpPr>
          <p:cNvPr id="7" name="Shape 4"/>
          <p:cNvSpPr/>
          <p:nvPr/>
        </p:nvSpPr>
        <p:spPr>
          <a:xfrm>
            <a:off x="3429000" y="1463040"/>
            <a:ext cx="2651760" cy="4206240"/>
          </a:xfrm>
          <a:prstGeom prst="roundRect">
            <a:avLst>
              <a:gd name="adj" fmla="val 2759"/>
            </a:avLst>
          </a:prstGeom>
          <a:solidFill>
            <a:srgbClr val="3C3F2C"/>
          </a:solidFill>
          <a:ln/>
          <a:effectLst>
            <a:outerShdw sx="100000" sy="100000" kx="0" ky="0" algn="bl" rotWithShape="0" blurRad="76200" dist="25400" dir="2700000">
              <a:srgbClr val="000000">
                <a:alpha val="15000"/>
              </a:srgbClr>
            </a:outerShdw>
          </a:effectLst>
        </p:spPr>
      </p:sp>
      <p:pic>
        <p:nvPicPr>
          <p:cNvPr id="8" name="Image 1" descr="icon_clipboard.png">    </p:cNvPr>
          <p:cNvPicPr>
            <a:picLocks noChangeAspect="1"/>
          </p:cNvPicPr>
          <p:nvPr/>
        </p:nvPicPr>
        <p:blipFill>
          <a:blip r:embed="rId2"/>
          <a:stretch>
            <a:fillRect/>
          </a:stretch>
        </p:blipFill>
        <p:spPr>
          <a:xfrm>
            <a:off x="3611880" y="1737360"/>
            <a:ext cx="502920" cy="502920"/>
          </a:xfrm>
          <a:prstGeom prst="rect">
            <a:avLst/>
          </a:prstGeom>
        </p:spPr>
      </p:pic>
      <p:sp>
        <p:nvSpPr>
          <p:cNvPr id="9" name="Text 5"/>
          <p:cNvSpPr/>
          <p:nvPr/>
        </p:nvSpPr>
        <p:spPr>
          <a:xfrm>
            <a:off x="3611880" y="2377440"/>
            <a:ext cx="2286000" cy="685800"/>
          </a:xfrm>
          <a:prstGeom prst="rect">
            <a:avLst/>
          </a:prstGeom>
          <a:noFill/>
          <a:ln/>
        </p:spPr>
        <p:txBody>
          <a:bodyPr wrap="square" lIns="0" tIns="0" rIns="0" bIns="0" rtlCol="0" anchor="t"/>
          <a:lstStyle/>
          <a:p>
            <a:pPr indent="0" marL="0">
              <a:buNone/>
            </a:pPr>
            <a:r>
              <a:rPr lang="en-US" sz="1350" b="1" dirty="0">
                <a:solidFill>
                  <a:srgbClr val="C9A227"/>
                </a:solidFill>
                <a:latin typeface="Calibri" pitchFamily="34" charset="0"/>
                <a:ea typeface="Calibri" pitchFamily="34" charset="-122"/>
                <a:cs typeface="Calibri" pitchFamily="34" charset="-120"/>
              </a:rPr>
              <a:t>Common Task Testing (CTT)</a:t>
            </a:r>
            <a:endParaRPr lang="en-US" sz="1350" dirty="0"/>
          </a:p>
        </p:txBody>
      </p:sp>
      <p:sp>
        <p:nvSpPr>
          <p:cNvPr id="10" name="Text 6"/>
          <p:cNvSpPr/>
          <p:nvPr/>
        </p:nvSpPr>
        <p:spPr>
          <a:xfrm>
            <a:off x="3611880" y="3154680"/>
            <a:ext cx="2286000" cy="233172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Units test WTBD throughout the year — this is where these skills get formally evaluated.</a:t>
            </a:r>
            <a:endParaRPr lang="en-US" sz="1150" dirty="0"/>
          </a:p>
        </p:txBody>
      </p:sp>
      <p:sp>
        <p:nvSpPr>
          <p:cNvPr id="11" name="Shape 7"/>
          <p:cNvSpPr/>
          <p:nvPr/>
        </p:nvSpPr>
        <p:spPr>
          <a:xfrm>
            <a:off x="6309360" y="1463040"/>
            <a:ext cx="2651760" cy="4206240"/>
          </a:xfrm>
          <a:prstGeom prst="roundRect">
            <a:avLst>
              <a:gd name="adj" fmla="val 2759"/>
            </a:avLst>
          </a:prstGeom>
          <a:solidFill>
            <a:srgbClr val="3C3F2C"/>
          </a:solidFill>
          <a:ln/>
          <a:effectLst>
            <a:outerShdw sx="100000" sy="100000" kx="0" ky="0" algn="bl" rotWithShape="0" blurRad="76200" dist="25400" dir="2700000">
              <a:srgbClr val="000000">
                <a:alpha val="15000"/>
              </a:srgbClr>
            </a:outerShdw>
          </a:effectLst>
        </p:spPr>
      </p:sp>
      <p:pic>
        <p:nvPicPr>
          <p:cNvPr id="12" name="Image 2" descr="icon_medal.png">    </p:cNvPr>
          <p:cNvPicPr>
            <a:picLocks noChangeAspect="1"/>
          </p:cNvPicPr>
          <p:nvPr/>
        </p:nvPicPr>
        <p:blipFill>
          <a:blip r:embed="rId3"/>
          <a:stretch>
            <a:fillRect/>
          </a:stretch>
        </p:blipFill>
        <p:spPr>
          <a:xfrm>
            <a:off x="6492240" y="1737360"/>
            <a:ext cx="502920" cy="502920"/>
          </a:xfrm>
          <a:prstGeom prst="rect">
            <a:avLst/>
          </a:prstGeom>
        </p:spPr>
      </p:pic>
      <p:sp>
        <p:nvSpPr>
          <p:cNvPr id="13" name="Text 8"/>
          <p:cNvSpPr/>
          <p:nvPr/>
        </p:nvSpPr>
        <p:spPr>
          <a:xfrm>
            <a:off x="6492240" y="2377440"/>
            <a:ext cx="2286000" cy="685800"/>
          </a:xfrm>
          <a:prstGeom prst="rect">
            <a:avLst/>
          </a:prstGeom>
          <a:noFill/>
          <a:ln/>
        </p:spPr>
        <p:txBody>
          <a:bodyPr wrap="square" lIns="0" tIns="0" rIns="0" bIns="0" rtlCol="0" anchor="t"/>
          <a:lstStyle/>
          <a:p>
            <a:pPr indent="0" marL="0">
              <a:buNone/>
            </a:pPr>
            <a:r>
              <a:rPr lang="en-US" sz="1350" b="1" dirty="0">
                <a:solidFill>
                  <a:srgbClr val="C9A227"/>
                </a:solidFill>
                <a:latin typeface="Calibri" pitchFamily="34" charset="0"/>
                <a:ea typeface="Calibri" pitchFamily="34" charset="-122"/>
                <a:cs typeface="Calibri" pitchFamily="34" charset="-120"/>
              </a:rPr>
              <a:t>Promotion Boards</a:t>
            </a:r>
            <a:endParaRPr lang="en-US" sz="1350" dirty="0"/>
          </a:p>
        </p:txBody>
      </p:sp>
      <p:sp>
        <p:nvSpPr>
          <p:cNvPr id="14" name="Text 9"/>
          <p:cNvSpPr/>
          <p:nvPr/>
        </p:nvSpPr>
        <p:spPr>
          <a:xfrm>
            <a:off x="6492240" y="3154680"/>
            <a:ext cx="2286000" cy="233172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Board questions frequently pull directly from Warrior Tasks and Battle Drills — high-yield study material.</a:t>
            </a:r>
            <a:endParaRPr lang="en-US" sz="1150" dirty="0"/>
          </a:p>
        </p:txBody>
      </p:sp>
      <p:sp>
        <p:nvSpPr>
          <p:cNvPr id="15" name="Shape 10"/>
          <p:cNvSpPr/>
          <p:nvPr/>
        </p:nvSpPr>
        <p:spPr>
          <a:xfrm>
            <a:off x="9189720" y="1463040"/>
            <a:ext cx="2651760" cy="4206240"/>
          </a:xfrm>
          <a:prstGeom prst="roundRect">
            <a:avLst>
              <a:gd name="adj" fmla="val 2759"/>
            </a:avLst>
          </a:prstGeom>
          <a:solidFill>
            <a:srgbClr val="3C3F2C"/>
          </a:solidFill>
          <a:ln/>
          <a:effectLst>
            <a:outerShdw sx="100000" sy="100000" kx="0" ky="0" algn="bl" rotWithShape="0" blurRad="76200" dist="25400" dir="2700000">
              <a:srgbClr val="000000">
                <a:alpha val="15000"/>
              </a:srgbClr>
            </a:outerShdw>
          </a:effectLst>
        </p:spPr>
      </p:sp>
      <p:pic>
        <p:nvPicPr>
          <p:cNvPr id="16" name="Image 3" descr="icon_route.png">    </p:cNvPr>
          <p:cNvPicPr>
            <a:picLocks noChangeAspect="1"/>
          </p:cNvPicPr>
          <p:nvPr/>
        </p:nvPicPr>
        <p:blipFill>
          <a:blip r:embed="rId4"/>
          <a:stretch>
            <a:fillRect/>
          </a:stretch>
        </p:blipFill>
        <p:spPr>
          <a:xfrm>
            <a:off x="9372600" y="1737360"/>
            <a:ext cx="502920" cy="502920"/>
          </a:xfrm>
          <a:prstGeom prst="rect">
            <a:avLst/>
          </a:prstGeom>
        </p:spPr>
      </p:pic>
      <p:sp>
        <p:nvSpPr>
          <p:cNvPr id="17" name="Text 11"/>
          <p:cNvSpPr/>
          <p:nvPr/>
        </p:nvSpPr>
        <p:spPr>
          <a:xfrm>
            <a:off x="9372600" y="2377440"/>
            <a:ext cx="2286000" cy="685800"/>
          </a:xfrm>
          <a:prstGeom prst="rect">
            <a:avLst/>
          </a:prstGeom>
          <a:noFill/>
          <a:ln/>
        </p:spPr>
        <p:txBody>
          <a:bodyPr wrap="square" lIns="0" tIns="0" rIns="0" bIns="0" rtlCol="0" anchor="t"/>
          <a:lstStyle/>
          <a:p>
            <a:pPr indent="0" marL="0">
              <a:buNone/>
            </a:pPr>
            <a:r>
              <a:rPr lang="en-US" sz="1350" b="1" dirty="0">
                <a:solidFill>
                  <a:srgbClr val="C9A227"/>
                </a:solidFill>
                <a:latin typeface="Calibri" pitchFamily="34" charset="0"/>
                <a:ea typeface="Calibri" pitchFamily="34" charset="-122"/>
                <a:cs typeface="Calibri" pitchFamily="34" charset="-120"/>
              </a:rPr>
              <a:t>Sustainment Training</a:t>
            </a:r>
            <a:endParaRPr lang="en-US" sz="1350" dirty="0"/>
          </a:p>
        </p:txBody>
      </p:sp>
      <p:sp>
        <p:nvSpPr>
          <p:cNvPr id="18" name="Text 12"/>
          <p:cNvSpPr/>
          <p:nvPr/>
        </p:nvSpPr>
        <p:spPr>
          <a:xfrm>
            <a:off x="9372600" y="3154680"/>
            <a:ext cx="2286000" cy="233172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WTBD aren't a one-time basic training event — units retrain and re-evaluate them on a recurring cycle.</a:t>
            </a:r>
            <a:endParaRPr lang="en-US" sz="1150" dirty="0"/>
          </a:p>
        </p:txBody>
      </p:sp>
      <p:sp>
        <p:nvSpPr>
          <p:cNvPr id="19" name="Text 13"/>
          <p:cNvSpPr/>
          <p:nvPr/>
        </p:nvSpPr>
        <p:spPr>
          <a:xfrm>
            <a:off x="0" y="6492240"/>
            <a:ext cx="12191695" cy="274320"/>
          </a:xfrm>
          <a:prstGeom prst="rect">
            <a:avLst/>
          </a:prstGeom>
          <a:noFill/>
          <a:ln/>
        </p:spPr>
        <p:txBody>
          <a:bodyPr wrap="square" rtlCol="0" anchor="ctr"/>
          <a:lstStyle/>
          <a:p>
            <a:pPr algn="ctr" indent="0" marL="0">
              <a:buNone/>
            </a:pPr>
            <a:r>
              <a:rPr lang="en-US" sz="900" dirty="0">
                <a:solidFill>
                  <a:srgbClr val="8A8C78"/>
                </a:solidFill>
                <a:latin typeface="Calibri" pitchFamily="34" charset="0"/>
                <a:ea typeface="Calibri" pitchFamily="34" charset="-122"/>
                <a:cs typeface="Calibri" pitchFamily="34" charset="-120"/>
              </a:rPr>
              <a:t>WARRIOR TASKS &amp; BATTLE DRILLS  |  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3C3F2C"/>
          </a:solidFill>
          <a:ln/>
        </p:spPr>
      </p:sp>
      <p:sp>
        <p:nvSpPr>
          <p:cNvPr id="3" name="Text 1"/>
          <p:cNvSpPr/>
          <p:nvPr/>
        </p:nvSpPr>
        <p:spPr>
          <a:xfrm>
            <a:off x="548640" y="256032"/>
            <a:ext cx="1115568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COMMON MISTAKES TO AVOID</a:t>
            </a:r>
            <a:endParaRPr lang="en-US" sz="3000" dirty="0"/>
          </a:p>
        </p:txBody>
      </p:sp>
      <p:sp>
        <p:nvSpPr>
          <p:cNvPr id="4" name="Shape 2"/>
          <p:cNvSpPr/>
          <p:nvPr/>
        </p:nvSpPr>
        <p:spPr>
          <a:xfrm>
            <a:off x="548640" y="1554480"/>
            <a:ext cx="5394960" cy="2286000"/>
          </a:xfrm>
          <a:prstGeom prst="roundRect">
            <a:avLst>
              <a:gd name="adj" fmla="val 3200"/>
            </a:avLst>
          </a:prstGeom>
          <a:solidFill>
            <a:srgbClr val="F1EDE3"/>
          </a:solidFill>
          <a:ln/>
          <a:effectLst>
            <a:outerShdw sx="100000" sy="100000" kx="0" ky="0" algn="bl" rotWithShape="0" blurRad="76200" dist="25400" dir="2700000">
              <a:srgbClr val="000000">
                <a:alpha val="10000"/>
              </a:srgbClr>
            </a:outerShdw>
          </a:effectLst>
        </p:spPr>
      </p:sp>
      <p:pic>
        <p:nvPicPr>
          <p:cNvPr id="5" name="Image 0" descr="icon_warning.png">    </p:cNvPr>
          <p:cNvPicPr>
            <a:picLocks noChangeAspect="1"/>
          </p:cNvPicPr>
          <p:nvPr/>
        </p:nvPicPr>
        <p:blipFill>
          <a:blip r:embed="rId1"/>
          <a:stretch>
            <a:fillRect/>
          </a:stretch>
        </p:blipFill>
        <p:spPr>
          <a:xfrm>
            <a:off x="777240" y="1783080"/>
            <a:ext cx="457200" cy="457200"/>
          </a:xfrm>
          <a:prstGeom prst="rect">
            <a:avLst/>
          </a:prstGeom>
        </p:spPr>
      </p:pic>
      <p:sp>
        <p:nvSpPr>
          <p:cNvPr id="6" name="Text 3"/>
          <p:cNvSpPr/>
          <p:nvPr/>
        </p:nvSpPr>
        <p:spPr>
          <a:xfrm>
            <a:off x="1417320" y="1737360"/>
            <a:ext cx="4343400" cy="594360"/>
          </a:xfrm>
          <a:prstGeom prst="rect">
            <a:avLst/>
          </a:prstGeom>
          <a:noFill/>
          <a:ln/>
        </p:spPr>
        <p:txBody>
          <a:bodyPr wrap="square" lIns="0" tIns="0" rIns="0" bIns="0" rtlCol="0" anchor="t"/>
          <a:lstStyle/>
          <a:p>
            <a:pPr indent="0" marL="0">
              <a:buNone/>
            </a:pPr>
            <a:r>
              <a:rPr lang="en-US" sz="1450" b="1" dirty="0">
                <a:solidFill>
                  <a:srgbClr val="3C3F2C"/>
                </a:solidFill>
                <a:latin typeface="Calibri" pitchFamily="34" charset="0"/>
                <a:ea typeface="Calibri" pitchFamily="34" charset="-122"/>
                <a:cs typeface="Calibri" pitchFamily="34" charset="-120"/>
              </a:rPr>
              <a:t>Treating it as a one-time basic training event</a:t>
            </a:r>
            <a:endParaRPr lang="en-US" sz="1450" dirty="0"/>
          </a:p>
        </p:txBody>
      </p:sp>
      <p:sp>
        <p:nvSpPr>
          <p:cNvPr id="7" name="Text 4"/>
          <p:cNvSpPr/>
          <p:nvPr/>
        </p:nvSpPr>
        <p:spPr>
          <a:xfrm>
            <a:off x="1417320" y="2423160"/>
            <a:ext cx="4343400" cy="1234440"/>
          </a:xfrm>
          <a:prstGeom prst="rect">
            <a:avLst/>
          </a:prstGeom>
          <a:noFill/>
          <a:ln/>
        </p:spPr>
        <p:txBody>
          <a:bodyPr wrap="square" lIns="0" tIns="0" rIns="0" bIns="0" rtlCol="0" anchor="t"/>
          <a:lstStyle/>
          <a:p>
            <a:pPr indent="0" marL="0">
              <a:buNone/>
            </a:pPr>
            <a:r>
              <a:rPr lang="en-US" sz="1200" dirty="0">
                <a:solidFill>
                  <a:srgbClr val="2B2B25"/>
                </a:solidFill>
                <a:latin typeface="Calibri" pitchFamily="34" charset="0"/>
                <a:ea typeface="Calibri" pitchFamily="34" charset="-122"/>
                <a:cs typeface="Calibri" pitchFamily="34" charset="-120"/>
              </a:rPr>
              <a:t>WTBD are meant to be sustained your entire career, not learned once and forgotten.</a:t>
            </a:r>
            <a:endParaRPr lang="en-US" sz="1200" dirty="0"/>
          </a:p>
        </p:txBody>
      </p:sp>
      <p:sp>
        <p:nvSpPr>
          <p:cNvPr id="8" name="Shape 5"/>
          <p:cNvSpPr/>
          <p:nvPr/>
        </p:nvSpPr>
        <p:spPr>
          <a:xfrm>
            <a:off x="6263640" y="1554480"/>
            <a:ext cx="5394960" cy="2286000"/>
          </a:xfrm>
          <a:prstGeom prst="roundRect">
            <a:avLst>
              <a:gd name="adj" fmla="val 3200"/>
            </a:avLst>
          </a:prstGeom>
          <a:solidFill>
            <a:srgbClr val="F1EDE3"/>
          </a:solidFill>
          <a:ln/>
          <a:effectLst>
            <a:outerShdw sx="100000" sy="100000" kx="0" ky="0" algn="bl" rotWithShape="0" blurRad="76200" dist="25400" dir="2700000">
              <a:srgbClr val="000000">
                <a:alpha val="10000"/>
              </a:srgbClr>
            </a:outerShdw>
          </a:effectLst>
        </p:spPr>
      </p:sp>
      <p:pic>
        <p:nvPicPr>
          <p:cNvPr id="9" name="Image 1" descr="icon_warning.png">    </p:cNvPr>
          <p:cNvPicPr>
            <a:picLocks noChangeAspect="1"/>
          </p:cNvPicPr>
          <p:nvPr/>
        </p:nvPicPr>
        <p:blipFill>
          <a:blip r:embed="rId2"/>
          <a:stretch>
            <a:fillRect/>
          </a:stretch>
        </p:blipFill>
        <p:spPr>
          <a:xfrm>
            <a:off x="6492240" y="1783080"/>
            <a:ext cx="457200" cy="457200"/>
          </a:xfrm>
          <a:prstGeom prst="rect">
            <a:avLst/>
          </a:prstGeom>
        </p:spPr>
      </p:pic>
      <p:sp>
        <p:nvSpPr>
          <p:cNvPr id="10" name="Text 6"/>
          <p:cNvSpPr/>
          <p:nvPr/>
        </p:nvSpPr>
        <p:spPr>
          <a:xfrm>
            <a:off x="7132320" y="1737360"/>
            <a:ext cx="4343400" cy="594360"/>
          </a:xfrm>
          <a:prstGeom prst="rect">
            <a:avLst/>
          </a:prstGeom>
          <a:noFill/>
          <a:ln/>
        </p:spPr>
        <p:txBody>
          <a:bodyPr wrap="square" lIns="0" tIns="0" rIns="0" bIns="0" rtlCol="0" anchor="t"/>
          <a:lstStyle/>
          <a:p>
            <a:pPr indent="0" marL="0">
              <a:buNone/>
            </a:pPr>
            <a:r>
              <a:rPr lang="en-US" sz="1450" b="1" dirty="0">
                <a:solidFill>
                  <a:srgbClr val="3C3F2C"/>
                </a:solidFill>
                <a:latin typeface="Calibri" pitchFamily="34" charset="0"/>
                <a:ea typeface="Calibri" pitchFamily="34" charset="-122"/>
                <a:cs typeface="Calibri" pitchFamily="34" charset="-120"/>
              </a:rPr>
              <a:t>Memorizing steps without understanding why</a:t>
            </a:r>
            <a:endParaRPr lang="en-US" sz="1450" dirty="0"/>
          </a:p>
        </p:txBody>
      </p:sp>
      <p:sp>
        <p:nvSpPr>
          <p:cNvPr id="11" name="Text 7"/>
          <p:cNvSpPr/>
          <p:nvPr/>
        </p:nvSpPr>
        <p:spPr>
          <a:xfrm>
            <a:off x="7132320" y="2423160"/>
            <a:ext cx="4343400" cy="1234440"/>
          </a:xfrm>
          <a:prstGeom prst="rect">
            <a:avLst/>
          </a:prstGeom>
          <a:noFill/>
          <a:ln/>
        </p:spPr>
        <p:txBody>
          <a:bodyPr wrap="square" lIns="0" tIns="0" rIns="0" bIns="0" rtlCol="0" anchor="t"/>
          <a:lstStyle/>
          <a:p>
            <a:pPr indent="0" marL="0">
              <a:buNone/>
            </a:pPr>
            <a:r>
              <a:rPr lang="en-US" sz="1200" dirty="0">
                <a:solidFill>
                  <a:srgbClr val="2B2B25"/>
                </a:solidFill>
                <a:latin typeface="Calibri" pitchFamily="34" charset="0"/>
                <a:ea typeface="Calibri" pitchFamily="34" charset="-122"/>
                <a:cs typeface="Calibri" pitchFamily="34" charset="-120"/>
              </a:rPr>
              <a:t>Battle drills work because they're instinctive under stress — rote memorization without repetition breaks down in a real event.</a:t>
            </a:r>
            <a:endParaRPr lang="en-US" sz="1200" dirty="0"/>
          </a:p>
        </p:txBody>
      </p:sp>
      <p:sp>
        <p:nvSpPr>
          <p:cNvPr id="12" name="Shape 8"/>
          <p:cNvSpPr/>
          <p:nvPr/>
        </p:nvSpPr>
        <p:spPr>
          <a:xfrm>
            <a:off x="548640" y="4114800"/>
            <a:ext cx="5394960" cy="2286000"/>
          </a:xfrm>
          <a:prstGeom prst="roundRect">
            <a:avLst>
              <a:gd name="adj" fmla="val 3200"/>
            </a:avLst>
          </a:prstGeom>
          <a:solidFill>
            <a:srgbClr val="F1EDE3"/>
          </a:solidFill>
          <a:ln/>
          <a:effectLst>
            <a:outerShdw sx="100000" sy="100000" kx="0" ky="0" algn="bl" rotWithShape="0" blurRad="76200" dist="25400" dir="2700000">
              <a:srgbClr val="000000">
                <a:alpha val="10000"/>
              </a:srgbClr>
            </a:outerShdw>
          </a:effectLst>
        </p:spPr>
      </p:sp>
      <p:pic>
        <p:nvPicPr>
          <p:cNvPr id="13" name="Image 2" descr="icon_warning.png">    </p:cNvPr>
          <p:cNvPicPr>
            <a:picLocks noChangeAspect="1"/>
          </p:cNvPicPr>
          <p:nvPr/>
        </p:nvPicPr>
        <p:blipFill>
          <a:blip r:embed="rId3"/>
          <a:stretch>
            <a:fillRect/>
          </a:stretch>
        </p:blipFill>
        <p:spPr>
          <a:xfrm>
            <a:off x="777240" y="4343400"/>
            <a:ext cx="457200" cy="457200"/>
          </a:xfrm>
          <a:prstGeom prst="rect">
            <a:avLst/>
          </a:prstGeom>
        </p:spPr>
      </p:pic>
      <p:sp>
        <p:nvSpPr>
          <p:cNvPr id="14" name="Text 9"/>
          <p:cNvSpPr/>
          <p:nvPr/>
        </p:nvSpPr>
        <p:spPr>
          <a:xfrm>
            <a:off x="1417320" y="4297680"/>
            <a:ext cx="4343400" cy="594360"/>
          </a:xfrm>
          <a:prstGeom prst="rect">
            <a:avLst/>
          </a:prstGeom>
          <a:noFill/>
          <a:ln/>
        </p:spPr>
        <p:txBody>
          <a:bodyPr wrap="square" lIns="0" tIns="0" rIns="0" bIns="0" rtlCol="0" anchor="t"/>
          <a:lstStyle/>
          <a:p>
            <a:pPr indent="0" marL="0">
              <a:buNone/>
            </a:pPr>
            <a:r>
              <a:rPr lang="en-US" sz="1450" b="1" dirty="0">
                <a:solidFill>
                  <a:srgbClr val="3C3F2C"/>
                </a:solidFill>
                <a:latin typeface="Calibri" pitchFamily="34" charset="0"/>
                <a:ea typeface="Calibri" pitchFamily="34" charset="-122"/>
                <a:cs typeface="Calibri" pitchFamily="34" charset="-120"/>
              </a:rPr>
              <a:t>Skipping sustainment training when busy</a:t>
            </a:r>
            <a:endParaRPr lang="en-US" sz="1450" dirty="0"/>
          </a:p>
        </p:txBody>
      </p:sp>
      <p:sp>
        <p:nvSpPr>
          <p:cNvPr id="15" name="Text 10"/>
          <p:cNvSpPr/>
          <p:nvPr/>
        </p:nvSpPr>
        <p:spPr>
          <a:xfrm>
            <a:off x="1417320" y="4983480"/>
            <a:ext cx="4343400" cy="1234440"/>
          </a:xfrm>
          <a:prstGeom prst="rect">
            <a:avLst/>
          </a:prstGeom>
          <a:noFill/>
          <a:ln/>
        </p:spPr>
        <p:txBody>
          <a:bodyPr wrap="square" lIns="0" tIns="0" rIns="0" bIns="0" rtlCol="0" anchor="t"/>
          <a:lstStyle/>
          <a:p>
            <a:pPr indent="0" marL="0">
              <a:buNone/>
            </a:pPr>
            <a:r>
              <a:rPr lang="en-US" sz="1200" dirty="0">
                <a:solidFill>
                  <a:srgbClr val="2B2B25"/>
                </a:solidFill>
                <a:latin typeface="Calibri" pitchFamily="34" charset="0"/>
                <a:ea typeface="Calibri" pitchFamily="34" charset="-122"/>
                <a:cs typeface="Calibri" pitchFamily="34" charset="-120"/>
              </a:rPr>
              <a:t>Units under time pressure often let WTBD training slide first — that's exactly the training that matters most.</a:t>
            </a:r>
            <a:endParaRPr lang="en-US" sz="1200" dirty="0"/>
          </a:p>
        </p:txBody>
      </p:sp>
      <p:sp>
        <p:nvSpPr>
          <p:cNvPr id="16" name="Shape 11"/>
          <p:cNvSpPr/>
          <p:nvPr/>
        </p:nvSpPr>
        <p:spPr>
          <a:xfrm>
            <a:off x="6263640" y="4114800"/>
            <a:ext cx="5394960" cy="2286000"/>
          </a:xfrm>
          <a:prstGeom prst="roundRect">
            <a:avLst>
              <a:gd name="adj" fmla="val 3200"/>
            </a:avLst>
          </a:prstGeom>
          <a:solidFill>
            <a:srgbClr val="F1EDE3"/>
          </a:solidFill>
          <a:ln/>
          <a:effectLst>
            <a:outerShdw sx="100000" sy="100000" kx="0" ky="0" algn="bl" rotWithShape="0" blurRad="76200" dist="25400" dir="2700000">
              <a:srgbClr val="000000">
                <a:alpha val="10000"/>
              </a:srgbClr>
            </a:outerShdw>
          </a:effectLst>
        </p:spPr>
      </p:sp>
      <p:pic>
        <p:nvPicPr>
          <p:cNvPr id="17" name="Image 3" descr="icon_warning.png">    </p:cNvPr>
          <p:cNvPicPr>
            <a:picLocks noChangeAspect="1"/>
          </p:cNvPicPr>
          <p:nvPr/>
        </p:nvPicPr>
        <p:blipFill>
          <a:blip r:embed="rId4"/>
          <a:stretch>
            <a:fillRect/>
          </a:stretch>
        </p:blipFill>
        <p:spPr>
          <a:xfrm>
            <a:off x="6492240" y="4343400"/>
            <a:ext cx="457200" cy="457200"/>
          </a:xfrm>
          <a:prstGeom prst="rect">
            <a:avLst/>
          </a:prstGeom>
        </p:spPr>
      </p:pic>
      <p:sp>
        <p:nvSpPr>
          <p:cNvPr id="18" name="Text 12"/>
          <p:cNvSpPr/>
          <p:nvPr/>
        </p:nvSpPr>
        <p:spPr>
          <a:xfrm>
            <a:off x="7132320" y="4297680"/>
            <a:ext cx="4343400" cy="594360"/>
          </a:xfrm>
          <a:prstGeom prst="rect">
            <a:avLst/>
          </a:prstGeom>
          <a:noFill/>
          <a:ln/>
        </p:spPr>
        <p:txBody>
          <a:bodyPr wrap="square" lIns="0" tIns="0" rIns="0" bIns="0" rtlCol="0" anchor="t"/>
          <a:lstStyle/>
          <a:p>
            <a:pPr indent="0" marL="0">
              <a:buNone/>
            </a:pPr>
            <a:r>
              <a:rPr lang="en-US" sz="1450" b="1" dirty="0">
                <a:solidFill>
                  <a:srgbClr val="3C3F2C"/>
                </a:solidFill>
                <a:latin typeface="Calibri" pitchFamily="34" charset="0"/>
                <a:ea typeface="Calibri" pitchFamily="34" charset="-122"/>
                <a:cs typeface="Calibri" pitchFamily="34" charset="-120"/>
              </a:rPr>
              <a:t>Assuming it's only for the infantry</a:t>
            </a:r>
            <a:endParaRPr lang="en-US" sz="1450" dirty="0"/>
          </a:p>
        </p:txBody>
      </p:sp>
      <p:sp>
        <p:nvSpPr>
          <p:cNvPr id="19" name="Text 13"/>
          <p:cNvSpPr/>
          <p:nvPr/>
        </p:nvSpPr>
        <p:spPr>
          <a:xfrm>
            <a:off x="7132320" y="4983480"/>
            <a:ext cx="4343400" cy="1234440"/>
          </a:xfrm>
          <a:prstGeom prst="rect">
            <a:avLst/>
          </a:prstGeom>
          <a:noFill/>
          <a:ln/>
        </p:spPr>
        <p:txBody>
          <a:bodyPr wrap="square" lIns="0" tIns="0" rIns="0" bIns="0" rtlCol="0" anchor="t"/>
          <a:lstStyle/>
          <a:p>
            <a:pPr indent="0" marL="0">
              <a:buNone/>
            </a:pPr>
            <a:r>
              <a:rPr lang="en-US" sz="1200" dirty="0">
                <a:solidFill>
                  <a:srgbClr val="2B2B25"/>
                </a:solidFill>
                <a:latin typeface="Calibri" pitchFamily="34" charset="0"/>
                <a:ea typeface="Calibri" pitchFamily="34" charset="-122"/>
                <a:cs typeface="Calibri" pitchFamily="34" charset="-120"/>
              </a:rPr>
              <a:t>WTBD apply to every Soldier, every MOS, every component — no one is exempt from these baseline skills.</a:t>
            </a:r>
            <a:endParaRPr lang="en-US" sz="1200" dirty="0"/>
          </a:p>
        </p:txBody>
      </p:sp>
      <p:sp>
        <p:nvSpPr>
          <p:cNvPr id="20" name="Text 14"/>
          <p:cNvSpPr/>
          <p:nvPr/>
        </p:nvSpPr>
        <p:spPr>
          <a:xfrm>
            <a:off x="0" y="6492240"/>
            <a:ext cx="12191695" cy="274320"/>
          </a:xfrm>
          <a:prstGeom prst="rect">
            <a:avLst/>
          </a:prstGeom>
          <a:noFill/>
          <a:ln/>
        </p:spPr>
        <p:txBody>
          <a:bodyPr wrap="square" rtlCol="0" anchor="ctr"/>
          <a:lstStyle/>
          <a:p>
            <a:pPr algn="ctr" indent="0" marL="0">
              <a:buNone/>
            </a:pPr>
            <a:r>
              <a:rPr lang="en-US" sz="900" dirty="0">
                <a:solidFill>
                  <a:srgbClr val="9C9C90"/>
                </a:solidFill>
                <a:latin typeface="Calibri" pitchFamily="34" charset="0"/>
                <a:ea typeface="Calibri" pitchFamily="34" charset="-122"/>
                <a:cs typeface="Calibri" pitchFamily="34" charset="-120"/>
              </a:rPr>
              <a:t>WARRIOR TASKS &amp; BATTLE DRILLS  |  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4261A"/>
        </a:solidFill>
      </p:bgPr>
    </p:bg>
    <p:spTree>
      <p:nvGrpSpPr>
        <p:cNvPr id="1" name=""/>
        <p:cNvGrpSpPr/>
        <p:nvPr/>
      </p:nvGrpSpPr>
      <p:grpSpPr>
        <a:xfrm>
          <a:off x="0" y="0"/>
          <a:ext cx="0" cy="0"/>
          <a:chOff x="0" y="0"/>
          <a:chExt cx="0" cy="0"/>
        </a:xfrm>
      </p:grpSpPr>
      <p:sp>
        <p:nvSpPr>
          <p:cNvPr id="2" name="Shape 0"/>
          <p:cNvSpPr/>
          <p:nvPr/>
        </p:nvSpPr>
        <p:spPr>
          <a:xfrm>
            <a:off x="9692640" y="-1463040"/>
            <a:ext cx="4572000" cy="4572000"/>
          </a:xfrm>
          <a:prstGeom prst="ellipse">
            <a:avLst/>
          </a:prstGeom>
          <a:solidFill>
            <a:srgbClr val="3C3F2C">
              <a:alpha val="60000"/>
            </a:srgbClr>
          </a:solidFill>
          <a:ln/>
        </p:spPr>
      </p:sp>
      <p:sp>
        <p:nvSpPr>
          <p:cNvPr id="3" name="Text 1"/>
          <p:cNvSpPr/>
          <p:nvPr/>
        </p:nvSpPr>
        <p:spPr>
          <a:xfrm>
            <a:off x="548640" y="411480"/>
            <a:ext cx="914400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KEY TAKEAWAYS</a:t>
            </a:r>
            <a:endParaRPr lang="en-US" sz="3400" dirty="0"/>
          </a:p>
        </p:txBody>
      </p:sp>
      <p:pic>
        <p:nvPicPr>
          <p:cNvPr id="4" name="Image 0" descr="icon_crosshairs_white.png">    </p:cNvPr>
          <p:cNvPicPr>
            <a:picLocks noChangeAspect="1"/>
          </p:cNvPicPr>
          <p:nvPr/>
        </p:nvPicPr>
        <p:blipFill>
          <a:blip r:embed="rId1"/>
          <a:stretch>
            <a:fillRect/>
          </a:stretch>
        </p:blipFill>
        <p:spPr>
          <a:xfrm>
            <a:off x="731520" y="1600200"/>
            <a:ext cx="457200" cy="457200"/>
          </a:xfrm>
          <a:prstGeom prst="rect">
            <a:avLst/>
          </a:prstGeom>
        </p:spPr>
      </p:pic>
      <p:sp>
        <p:nvSpPr>
          <p:cNvPr id="5" name="Text 2"/>
          <p:cNvSpPr/>
          <p:nvPr/>
        </p:nvSpPr>
        <p:spPr>
          <a:xfrm>
            <a:off x="1417320" y="1554480"/>
            <a:ext cx="10058400"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5 categories: Shoot, Move, Communicate, Survive, Adapt — every task fits one</a:t>
            </a:r>
            <a:endParaRPr lang="en-US" sz="1600" dirty="0"/>
          </a:p>
        </p:txBody>
      </p:sp>
      <p:pic>
        <p:nvPicPr>
          <p:cNvPr id="6" name="Image 1" descr="icon_bolt_white.png">    </p:cNvPr>
          <p:cNvPicPr>
            <a:picLocks noChangeAspect="1"/>
          </p:cNvPicPr>
          <p:nvPr/>
        </p:nvPicPr>
        <p:blipFill>
          <a:blip r:embed="rId2"/>
          <a:stretch>
            <a:fillRect/>
          </a:stretch>
        </p:blipFill>
        <p:spPr>
          <a:xfrm>
            <a:off x="731520" y="2377440"/>
            <a:ext cx="457200" cy="457200"/>
          </a:xfrm>
          <a:prstGeom prst="rect">
            <a:avLst/>
          </a:prstGeom>
        </p:spPr>
      </p:pic>
      <p:sp>
        <p:nvSpPr>
          <p:cNvPr id="7" name="Text 3"/>
          <p:cNvSpPr/>
          <p:nvPr/>
        </p:nvSpPr>
        <p:spPr>
          <a:xfrm>
            <a:off x="1417320" y="2331720"/>
            <a:ext cx="10058400"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Battle Drills are instant, team-level reactions — not a task you decide to do</a:t>
            </a:r>
            <a:endParaRPr lang="en-US" sz="1600" dirty="0"/>
          </a:p>
        </p:txBody>
      </p:sp>
      <p:pic>
        <p:nvPicPr>
          <p:cNvPr id="8" name="Image 2" descr="icon_book.png">    </p:cNvPr>
          <p:cNvPicPr>
            <a:picLocks noChangeAspect="1"/>
          </p:cNvPicPr>
          <p:nvPr/>
        </p:nvPicPr>
        <p:blipFill>
          <a:blip r:embed="rId3"/>
          <a:stretch>
            <a:fillRect/>
          </a:stretch>
        </p:blipFill>
        <p:spPr>
          <a:xfrm>
            <a:off x="731520" y="3154680"/>
            <a:ext cx="457200" cy="457200"/>
          </a:xfrm>
          <a:prstGeom prst="rect">
            <a:avLst/>
          </a:prstGeom>
        </p:spPr>
      </p:pic>
      <p:sp>
        <p:nvSpPr>
          <p:cNvPr id="9" name="Text 4"/>
          <p:cNvSpPr/>
          <p:nvPr/>
        </p:nvSpPr>
        <p:spPr>
          <a:xfrm>
            <a:off x="1417320" y="3108960"/>
            <a:ext cx="10058400"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The STP (Soldier's Manual of Common Tasks) is the official source for all of it</a:t>
            </a:r>
            <a:endParaRPr lang="en-US" sz="1600" dirty="0"/>
          </a:p>
        </p:txBody>
      </p:sp>
      <p:pic>
        <p:nvPicPr>
          <p:cNvPr id="10" name="Image 3" descr="icon_check.png">    </p:cNvPr>
          <p:cNvPicPr>
            <a:picLocks noChangeAspect="1"/>
          </p:cNvPicPr>
          <p:nvPr/>
        </p:nvPicPr>
        <p:blipFill>
          <a:blip r:embed="rId4"/>
          <a:stretch>
            <a:fillRect/>
          </a:stretch>
        </p:blipFill>
        <p:spPr>
          <a:xfrm>
            <a:off x="731520" y="3931920"/>
            <a:ext cx="457200" cy="457200"/>
          </a:xfrm>
          <a:prstGeom prst="rect">
            <a:avLst/>
          </a:prstGeom>
        </p:spPr>
      </p:pic>
      <p:sp>
        <p:nvSpPr>
          <p:cNvPr id="11" name="Text 5"/>
          <p:cNvSpPr/>
          <p:nvPr/>
        </p:nvSpPr>
        <p:spPr>
          <a:xfrm>
            <a:off x="1417320" y="3886200"/>
            <a:ext cx="10058400"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These are lifetime skills — sustained and tested throughout your entire career</a:t>
            </a:r>
            <a:endParaRPr lang="en-US" sz="1600" dirty="0"/>
          </a:p>
        </p:txBody>
      </p:sp>
      <p:sp>
        <p:nvSpPr>
          <p:cNvPr id="12" name="Shape 6"/>
          <p:cNvSpPr/>
          <p:nvPr/>
        </p:nvSpPr>
        <p:spPr>
          <a:xfrm>
            <a:off x="548640" y="4892040"/>
            <a:ext cx="11064240" cy="1280160"/>
          </a:xfrm>
          <a:prstGeom prst="roundRect">
            <a:avLst>
              <a:gd name="adj" fmla="val 5714"/>
            </a:avLst>
          </a:prstGeom>
          <a:solidFill>
            <a:srgbClr val="3C3F2C"/>
          </a:solidFill>
          <a:ln/>
          <a:effectLst>
            <a:outerShdw sx="100000" sy="100000" kx="0" ky="0" algn="bl" rotWithShape="0" blurRad="76200" dist="25400" dir="2700000">
              <a:srgbClr val="000000">
                <a:alpha val="15000"/>
              </a:srgbClr>
            </a:outerShdw>
          </a:effectLst>
        </p:spPr>
      </p:sp>
      <p:pic>
        <p:nvPicPr>
          <p:cNvPr id="13" name="Image 4" descr="icon_question.png">    </p:cNvPr>
          <p:cNvPicPr>
            <a:picLocks noChangeAspect="1"/>
          </p:cNvPicPr>
          <p:nvPr/>
        </p:nvPicPr>
        <p:blipFill>
          <a:blip r:embed="rId5"/>
          <a:stretch>
            <a:fillRect/>
          </a:stretch>
        </p:blipFill>
        <p:spPr>
          <a:xfrm>
            <a:off x="822960" y="5166360"/>
            <a:ext cx="502920" cy="502920"/>
          </a:xfrm>
          <a:prstGeom prst="rect">
            <a:avLst/>
          </a:prstGeom>
        </p:spPr>
      </p:pic>
      <p:sp>
        <p:nvSpPr>
          <p:cNvPr id="14" name="Text 7"/>
          <p:cNvSpPr/>
          <p:nvPr/>
        </p:nvSpPr>
        <p:spPr>
          <a:xfrm>
            <a:off x="1508760" y="5074920"/>
            <a:ext cx="9784080" cy="1005840"/>
          </a:xfrm>
          <a:prstGeom prst="rect">
            <a:avLst/>
          </a:prstGeom>
          <a:noFill/>
          <a:ln/>
        </p:spPr>
        <p:txBody>
          <a:bodyPr wrap="square" lIns="0" tIns="0" rIns="0" bIns="0" rtlCol="0" anchor="ctr"/>
          <a:lstStyle/>
          <a:p>
            <a:pPr indent="0" marL="0">
              <a:buNone/>
            </a:pPr>
            <a:r>
              <a:rPr lang="en-US" sz="1350" b="1" dirty="0">
                <a:solidFill>
                  <a:srgbClr val="C9A227"/>
                </a:solidFill>
                <a:latin typeface="Calibri" pitchFamily="34" charset="0"/>
                <a:ea typeface="Calibri" pitchFamily="34" charset="-122"/>
                <a:cs typeface="Calibri" pitchFamily="34" charset="-120"/>
              </a:rPr>
              <a:t>Before we close — </a:t>
            </a:r>
            <a:pPr indent="0" marL="0">
              <a:buNone/>
            </a:pPr>
            <a:r>
              <a:rPr lang="en-US" sz="1350" dirty="0">
                <a:solidFill>
                  <a:srgbClr val="FFFFFF"/>
                </a:solidFill>
                <a:latin typeface="Calibri" pitchFamily="34" charset="0"/>
                <a:ea typeface="Calibri" pitchFamily="34" charset="-122"/>
                <a:cs typeface="Calibri" pitchFamily="34" charset="-120"/>
              </a:rPr>
              <a:t>Which of the 5 categories are you least confident in right now? Let's talk about how to fix that.</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Warrior Tasks &amp; Battle Drills</dc:title>
  <dc:subject>PptxGenJS Presentation</dc:subject>
  <dc:creator>US Army Cyber School</dc:creator>
  <cp:lastModifiedBy>US Army Cyber School</cp:lastModifiedBy>
  <cp:revision>1</cp:revision>
  <dcterms:created xsi:type="dcterms:W3CDTF">2026-07-06T23:50:17Z</dcterms:created>
  <dcterms:modified xsi:type="dcterms:W3CDTF">2026-07-06T23:50:17Z</dcterms:modified>
</cp:coreProperties>
</file>