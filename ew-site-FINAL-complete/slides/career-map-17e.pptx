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0:00-1:00. Welcome the class. Tell them today's brief is built directly from their own branch proponent tool: the 17E Career Map from DA PAM 600-25. Ask: 'How many of you have actually seen your career map before?' Usually very few hands go up. This is the roadmap for their next 20 years, and by the end of this brief they'll also know how to use their Soldier Talent Profile in IPPS-A to actually make that roadmap work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1:00-2:00. Quick walkthrough of the agenda,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2:00-4:30. Explain these four pillars work together. Today's brief walks through the 17E Career Map, which is basically a visual map of all four pillars laid out by time in service - then zooms into the 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4:30-8:00. Walk column by column. Explain Retention Control Point (RCP) plainly: it's the latest point in your career you can still be at that rank before you need to have been promoted, or you'll have to separate. This is a big deal for planning - ask where each Soldier currently sits on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8:00-12:00. Walk through each column. Point out Operating jobs are what most new 17Es picture - CEMA sections and EW platoons. Generating jobs (Drill Sergeant, Recruiter, Instructor/Writer) are how the Army builds the next generation - ask if anyone's considered one of these. Broadening jobs (Research Labs, Career Manager, TWI) are how senior NCOs shape the MOS itself at the Army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12:00-15:00. Walk through BLC to MLC. Explain these are prerequisites for promotion, not just boxes to check - each course builds leadership skills matched to the responsibility of the next rank. Mention the JPME (Joint PME) track running alongside - it's how the Army ensures NCOs understand joint (multi-service) operations, increasingly important for EW given how joint the mission set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15:00-19:00. Explain these courses aren't tied to one single skill level - they reappear across the career map as 'Career/Foundry Improvement' options, meaning Soldiers can and should keep coming back to them throughout their career to sharpen technical depth. Ask if anyone has already attended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19:00-22:00. Emphasize this is a SAMPLE, not the complete list - the full career map has far more options at every level. Encourage Soldiers to pull up their own career map and look for opportunities that match their interests, not just what their unit pushes them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22:00-25:00. Point out self-development is the one category almost entirely in the Soldier's own hands - nobody schedules this for you. Encourage starting the Associate's degree early using Tuition Assistance or the GI Bill, and checking Army COOL for certifications tied to their EW skill set. Ask if anyone has already looked at Army COOL.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25:00-28:00. Ask if anyone has logged into IPPS-A and looked at their Talent Profile before - usually very few hands go up, same as the career map question at the start. Explain the Enlisted Marketplace (for SSG-MSG) and reenlistment-based assignment process (for junior Soldiers) both draw on this profile - commanders and talent managers are literally looking at this data to decide who fills a job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28:00-31:00. Walk through all five categories. Point out most Soldiers only ever touch Knowledge (their education) and Skills (their certs) but skip Behaviors and Experience entirely. Encourage them to fill in as much as they honestly can - a thin profile makes it harder for talent managers and commanders to know what they're capable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31:00-33:30. Ask if anyone has missed out on an assignment or board opportunity because of outdated info anywhere in IPPS-A - this usually gets a few stories going. Normalize checking the STP on a recurring schedule, like right after every NCOER support form update or every PCS.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33:30-36:00. Recap the four takeaways. Close with the discussion prompt - ask a few Soldiers directly which STP category they're weakest in. Point them to IPPS-A Self-Service &gt; TAM Soldier Workcenter, and offer to sit down one-on-one with anyone who wants help filling out their profile or their career map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Shape 1"/>
          <p:cNvSpPr/>
          <p:nvPr/>
        </p:nvSpPr>
        <p:spPr>
          <a:xfrm>
            <a:off x="-1828800" y="4572000"/>
            <a:ext cx="4114800" cy="4114800"/>
          </a:xfrm>
          <a:prstGeom prst="ellipse">
            <a:avLst/>
          </a:prstGeom>
          <a:solidFill>
            <a:srgbClr val="3C3F2C">
              <a:alpha val="60000"/>
            </a:srgbClr>
          </a:solidFill>
          <a:ln/>
        </p:spPr>
      </p:sp>
      <p:pic>
        <p:nvPicPr>
          <p:cNvPr id="4" name="Image 0" descr="icon_route.png">    </p:cNvPr>
          <p:cNvPicPr>
            <a:picLocks noChangeAspect="1"/>
          </p:cNvPicPr>
          <p:nvPr/>
        </p:nvPicPr>
        <p:blipFill>
          <a:blip r:embed="rId1"/>
          <a:stretch>
            <a:fillRect/>
          </a:stretch>
        </p:blipFill>
        <p:spPr>
          <a:xfrm>
            <a:off x="822960" y="1280160"/>
            <a:ext cx="1005840" cy="1005840"/>
          </a:xfrm>
          <a:prstGeom prst="rect">
            <a:avLst/>
          </a:prstGeom>
        </p:spPr>
      </p:pic>
      <p:sp>
        <p:nvSpPr>
          <p:cNvPr id="5" name="Text 2"/>
          <p:cNvSpPr/>
          <p:nvPr/>
        </p:nvSpPr>
        <p:spPr>
          <a:xfrm>
            <a:off x="822960" y="2514600"/>
            <a:ext cx="1051560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PROFESSIONAL DEVELOPMENT</a:t>
            </a:r>
            <a:endParaRPr lang="en-US" sz="3600" dirty="0"/>
          </a:p>
        </p:txBody>
      </p:sp>
      <p:sp>
        <p:nvSpPr>
          <p:cNvPr id="6" name="Text 3"/>
          <p:cNvSpPr/>
          <p:nvPr/>
        </p:nvSpPr>
        <p:spPr>
          <a:xfrm>
            <a:off x="822960" y="3200400"/>
            <a:ext cx="10058400" cy="548640"/>
          </a:xfrm>
          <a:prstGeom prst="rect">
            <a:avLst/>
          </a:prstGeom>
          <a:noFill/>
          <a:ln/>
        </p:spPr>
        <p:txBody>
          <a:bodyPr wrap="square" lIns="0" tIns="0" rIns="0" bIns="0" rtlCol="0" anchor="ctr"/>
          <a:lstStyle/>
          <a:p>
            <a:pPr indent="0" marL="0">
              <a:buNone/>
            </a:pPr>
            <a:r>
              <a:rPr lang="en-US" sz="2100" b="1" dirty="0">
                <a:solidFill>
                  <a:srgbClr val="C9A227"/>
                </a:solidFill>
                <a:latin typeface="Cambria" pitchFamily="34" charset="0"/>
                <a:ea typeface="Cambria" pitchFamily="34" charset="-122"/>
                <a:cs typeface="Cambria" pitchFamily="34" charset="-120"/>
              </a:rPr>
              <a:t>Your 17E Career Map &amp; Building Your Talent Profile</a:t>
            </a:r>
            <a:endParaRPr lang="en-US" sz="2100" dirty="0"/>
          </a:p>
        </p:txBody>
      </p:sp>
      <p:sp>
        <p:nvSpPr>
          <p:cNvPr id="7" name="Text 4"/>
          <p:cNvSpPr/>
          <p:nvPr/>
        </p:nvSpPr>
        <p:spPr>
          <a:xfrm>
            <a:off x="822960" y="5943600"/>
            <a:ext cx="10058400" cy="365760"/>
          </a:xfrm>
          <a:prstGeom prst="rect">
            <a:avLst/>
          </a:prstGeom>
          <a:noFill/>
          <a:ln/>
        </p:spPr>
        <p:txBody>
          <a:bodyPr wrap="square" lIns="0" tIns="0" rIns="0" bIns="0" rtlCol="0" anchor="ctr"/>
          <a:lstStyle/>
          <a:p>
            <a:pPr indent="0" marL="0">
              <a:buNone/>
            </a:pPr>
            <a:r>
              <a:rPr lang="en-US" sz="1350" dirty="0">
                <a:solidFill>
                  <a:srgbClr val="C9B896"/>
                </a:solidFill>
                <a:latin typeface="Calibri" pitchFamily="34" charset="0"/>
                <a:ea typeface="Calibri" pitchFamily="34" charset="-122"/>
                <a:cs typeface="Calibri" pitchFamily="34" charset="-120"/>
              </a:rPr>
              <a:t>A 30-Minute Briefing for 17E Soldiers  |  U.S. Army Cyber School  |  Ref: DA PAM 600-25</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WE'LL COVER TODAY</a:t>
            </a:r>
            <a:endParaRPr lang="en-US" sz="3000" dirty="0"/>
          </a:p>
        </p:txBody>
      </p:sp>
      <p:sp>
        <p:nvSpPr>
          <p:cNvPr id="4" name="Shape 2"/>
          <p:cNvSpPr/>
          <p:nvPr/>
        </p:nvSpPr>
        <p:spPr>
          <a:xfrm>
            <a:off x="548640" y="1463040"/>
            <a:ext cx="457200" cy="457200"/>
          </a:xfrm>
          <a:prstGeom prst="ellipse">
            <a:avLst/>
          </a:prstGeom>
          <a:solidFill>
            <a:srgbClr val="C9A227"/>
          </a:solidFill>
          <a:ln/>
        </p:spPr>
      </p:sp>
      <p:sp>
        <p:nvSpPr>
          <p:cNvPr id="5" name="Text 3"/>
          <p:cNvSpPr/>
          <p:nvPr/>
        </p:nvSpPr>
        <p:spPr>
          <a:xfrm>
            <a:off x="548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43000" y="141732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What "professional development" means, and the 4 pillars</a:t>
            </a:r>
            <a:endParaRPr lang="en-US" sz="1400" dirty="0"/>
          </a:p>
        </p:txBody>
      </p:sp>
      <p:sp>
        <p:nvSpPr>
          <p:cNvPr id="7" name="Shape 5"/>
          <p:cNvSpPr/>
          <p:nvPr/>
        </p:nvSpPr>
        <p:spPr>
          <a:xfrm>
            <a:off x="6263640" y="1463040"/>
            <a:ext cx="457200" cy="457200"/>
          </a:xfrm>
          <a:prstGeom prst="ellipse">
            <a:avLst/>
          </a:prstGeom>
          <a:solidFill>
            <a:srgbClr val="C9A227"/>
          </a:solidFill>
          <a:ln/>
        </p:spPr>
      </p:sp>
      <p:sp>
        <p:nvSpPr>
          <p:cNvPr id="8" name="Text 6"/>
          <p:cNvSpPr/>
          <p:nvPr/>
        </p:nvSpPr>
        <p:spPr>
          <a:xfrm>
            <a:off x="6263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6858000" y="141732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Your 17E career path: ranks, time in service, and RCPs</a:t>
            </a:r>
            <a:endParaRPr lang="en-US" sz="1400" dirty="0"/>
          </a:p>
        </p:txBody>
      </p:sp>
      <p:sp>
        <p:nvSpPr>
          <p:cNvPr id="10" name="Shape 8"/>
          <p:cNvSpPr/>
          <p:nvPr/>
        </p:nvSpPr>
        <p:spPr>
          <a:xfrm>
            <a:off x="548640" y="2468880"/>
            <a:ext cx="457200" cy="457200"/>
          </a:xfrm>
          <a:prstGeom prst="ellipse">
            <a:avLst/>
          </a:prstGeom>
          <a:solidFill>
            <a:srgbClr val="C9A227"/>
          </a:solidFill>
          <a:ln/>
        </p:spPr>
      </p:sp>
      <p:sp>
        <p:nvSpPr>
          <p:cNvPr id="11" name="Text 9"/>
          <p:cNvSpPr/>
          <p:nvPr/>
        </p:nvSpPr>
        <p:spPr>
          <a:xfrm>
            <a:off x="548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143000" y="242316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Operating, Generating &amp; Broadening — where 17Es serve</a:t>
            </a:r>
            <a:endParaRPr lang="en-US" sz="1400" dirty="0"/>
          </a:p>
        </p:txBody>
      </p:sp>
      <p:sp>
        <p:nvSpPr>
          <p:cNvPr id="13" name="Shape 11"/>
          <p:cNvSpPr/>
          <p:nvPr/>
        </p:nvSpPr>
        <p:spPr>
          <a:xfrm>
            <a:off x="6263640" y="2468880"/>
            <a:ext cx="457200" cy="457200"/>
          </a:xfrm>
          <a:prstGeom prst="ellipse">
            <a:avLst/>
          </a:prstGeom>
          <a:solidFill>
            <a:srgbClr val="C9A227"/>
          </a:solidFill>
          <a:ln/>
        </p:spPr>
      </p:sp>
      <p:sp>
        <p:nvSpPr>
          <p:cNvPr id="14" name="Text 12"/>
          <p:cNvSpPr/>
          <p:nvPr/>
        </p:nvSpPr>
        <p:spPr>
          <a:xfrm>
            <a:off x="6263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6858000" y="242316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The PME &amp; JPME ladder from BLC to MLC</a:t>
            </a:r>
            <a:endParaRPr lang="en-US" sz="1400" dirty="0"/>
          </a:p>
        </p:txBody>
      </p:sp>
      <p:sp>
        <p:nvSpPr>
          <p:cNvPr id="16" name="Shape 14"/>
          <p:cNvSpPr/>
          <p:nvPr/>
        </p:nvSpPr>
        <p:spPr>
          <a:xfrm>
            <a:off x="548640" y="3474720"/>
            <a:ext cx="457200" cy="457200"/>
          </a:xfrm>
          <a:prstGeom prst="ellipse">
            <a:avLst/>
          </a:prstGeom>
          <a:solidFill>
            <a:srgbClr val="C9A227"/>
          </a:solidFill>
          <a:ln/>
        </p:spPr>
      </p:sp>
      <p:sp>
        <p:nvSpPr>
          <p:cNvPr id="17" name="Text 15"/>
          <p:cNvSpPr/>
          <p:nvPr/>
        </p:nvSpPr>
        <p:spPr>
          <a:xfrm>
            <a:off x="548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143000" y="342900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Your EW technical training pipeline (the SI-series courses)</a:t>
            </a:r>
            <a:endParaRPr lang="en-US" sz="1400" dirty="0"/>
          </a:p>
        </p:txBody>
      </p:sp>
      <p:sp>
        <p:nvSpPr>
          <p:cNvPr id="19" name="Shape 17"/>
          <p:cNvSpPr/>
          <p:nvPr/>
        </p:nvSpPr>
        <p:spPr>
          <a:xfrm>
            <a:off x="6263640" y="3474720"/>
            <a:ext cx="457200" cy="457200"/>
          </a:xfrm>
          <a:prstGeom prst="ellipse">
            <a:avLst/>
          </a:prstGeom>
          <a:solidFill>
            <a:srgbClr val="C9A227"/>
          </a:solidFill>
          <a:ln/>
        </p:spPr>
      </p:sp>
      <p:sp>
        <p:nvSpPr>
          <p:cNvPr id="20" name="Text 18"/>
          <p:cNvSpPr/>
          <p:nvPr/>
        </p:nvSpPr>
        <p:spPr>
          <a:xfrm>
            <a:off x="6263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6858000" y="342900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Building your Soldier Talent Profile (STP) in IPPS-A</a:t>
            </a:r>
            <a:endParaRPr lang="en-US" sz="1400" dirty="0"/>
          </a:p>
        </p:txBody>
      </p:sp>
      <p:sp>
        <p:nvSpPr>
          <p:cNvPr id="22" name="Text 20"/>
          <p:cNvSpPr/>
          <p:nvPr/>
        </p:nvSpPr>
        <p:spPr>
          <a:xfrm>
            <a:off x="548640" y="6035040"/>
            <a:ext cx="9144000" cy="365760"/>
          </a:xfrm>
          <a:prstGeom prst="rect">
            <a:avLst/>
          </a:prstGeom>
          <a:noFill/>
          <a:ln/>
        </p:spPr>
        <p:txBody>
          <a:bodyPr wrap="square" lIns="0" tIns="0" rIns="0" bIns="0" rtlCol="0" anchor="ctr"/>
          <a:lstStyle/>
          <a:p>
            <a:pPr indent="0" marL="0">
              <a:buNone/>
            </a:pPr>
            <a:r>
              <a:rPr lang="en-US" sz="1250" i="1" dirty="0">
                <a:solidFill>
                  <a:srgbClr val="5B7553"/>
                </a:solidFill>
                <a:latin typeface="Calibri" pitchFamily="34" charset="0"/>
                <a:ea typeface="Calibri" pitchFamily="34" charset="-122"/>
                <a:cs typeface="Calibri" pitchFamily="34" charset="-120"/>
              </a:rPr>
              <a:t>Total time: about 30 minutes, including questions</a:t>
            </a:r>
            <a:endParaRPr lang="en-US" sz="1250" dirty="0"/>
          </a:p>
        </p:txBody>
      </p:sp>
      <p:sp>
        <p:nvSpPr>
          <p:cNvPr id="23" name="Text 21"/>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IS "PROFESSIONAL DEVELOPMENT"?</a:t>
            </a:r>
            <a:endParaRPr lang="en-US" sz="2800" dirty="0"/>
          </a:p>
        </p:txBody>
      </p:sp>
      <p:sp>
        <p:nvSpPr>
          <p:cNvPr id="4" name="Text 2"/>
          <p:cNvSpPr/>
          <p:nvPr/>
        </p:nvSpPr>
        <p:spPr>
          <a:xfrm>
            <a:off x="548640" y="1234440"/>
            <a:ext cx="11064240" cy="822960"/>
          </a:xfrm>
          <a:prstGeom prst="rect">
            <a:avLst/>
          </a:prstGeom>
          <a:noFill/>
          <a:ln/>
        </p:spPr>
        <p:txBody>
          <a:bodyPr wrap="square" lIns="0" tIns="0" rIns="0" bIns="0" rtlCol="0" anchor="t"/>
          <a:lstStyle/>
          <a:p>
            <a:pPr indent="0" marL="0">
              <a:buNone/>
            </a:pPr>
            <a:r>
              <a:rPr lang="en-US" sz="1500" dirty="0">
                <a:solidFill>
                  <a:srgbClr val="2B2B25"/>
                </a:solidFill>
                <a:latin typeface="Calibri" pitchFamily="34" charset="0"/>
                <a:ea typeface="Calibri" pitchFamily="34" charset="-122"/>
                <a:cs typeface="Calibri" pitchFamily="34" charset="-120"/>
              </a:rPr>
              <a:t>Professional development (PD) is everything that builds you into a more capable, more promotable Soldier over your career. Your 17E Career Map is the official tool that lays this whole picture out for you, year by year.</a:t>
            </a:r>
            <a:endParaRPr lang="en-US" sz="1500" dirty="0"/>
          </a:p>
        </p:txBody>
      </p:sp>
      <p:sp>
        <p:nvSpPr>
          <p:cNvPr id="5" name="Shape 3"/>
          <p:cNvSpPr/>
          <p:nvPr/>
        </p:nvSpPr>
        <p:spPr>
          <a:xfrm>
            <a:off x="54864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6" name="Image 0" descr="icon_grad.png">    </p:cNvPr>
          <p:cNvPicPr>
            <a:picLocks noChangeAspect="1"/>
          </p:cNvPicPr>
          <p:nvPr/>
        </p:nvPicPr>
        <p:blipFill>
          <a:blip r:embed="rId1"/>
          <a:stretch>
            <a:fillRect/>
          </a:stretch>
        </p:blipFill>
        <p:spPr>
          <a:xfrm>
            <a:off x="731520" y="2560320"/>
            <a:ext cx="502920" cy="502920"/>
          </a:xfrm>
          <a:prstGeom prst="rect">
            <a:avLst/>
          </a:prstGeom>
        </p:spPr>
      </p:pic>
      <p:sp>
        <p:nvSpPr>
          <p:cNvPr id="7" name="Text 4"/>
          <p:cNvSpPr/>
          <p:nvPr/>
        </p:nvSpPr>
        <p:spPr>
          <a:xfrm>
            <a:off x="731520" y="3200400"/>
            <a:ext cx="2286000" cy="68580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Institutional Training</a:t>
            </a:r>
            <a:endParaRPr lang="en-US" sz="1400" dirty="0"/>
          </a:p>
        </p:txBody>
      </p:sp>
      <p:sp>
        <p:nvSpPr>
          <p:cNvPr id="8" name="Text 5"/>
          <p:cNvSpPr/>
          <p:nvPr/>
        </p:nvSpPr>
        <p:spPr>
          <a:xfrm>
            <a:off x="731520" y="3977640"/>
            <a:ext cx="2286000" cy="18745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Schools like BLC, ALC, and the EW-specific technical courses on your career map.</a:t>
            </a:r>
            <a:endParaRPr lang="en-US" sz="1150" dirty="0"/>
          </a:p>
        </p:txBody>
      </p:sp>
      <p:sp>
        <p:nvSpPr>
          <p:cNvPr id="9" name="Shape 6"/>
          <p:cNvSpPr/>
          <p:nvPr/>
        </p:nvSpPr>
        <p:spPr>
          <a:xfrm>
            <a:off x="342900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0" name="Image 1" descr="icon_tasks.png">    </p:cNvPr>
          <p:cNvPicPr>
            <a:picLocks noChangeAspect="1"/>
          </p:cNvPicPr>
          <p:nvPr/>
        </p:nvPicPr>
        <p:blipFill>
          <a:blip r:embed="rId2"/>
          <a:stretch>
            <a:fillRect/>
          </a:stretch>
        </p:blipFill>
        <p:spPr>
          <a:xfrm>
            <a:off x="3611880" y="2560320"/>
            <a:ext cx="502920" cy="502920"/>
          </a:xfrm>
          <a:prstGeom prst="rect">
            <a:avLst/>
          </a:prstGeom>
        </p:spPr>
      </p:pic>
      <p:sp>
        <p:nvSpPr>
          <p:cNvPr id="11" name="Text 7"/>
          <p:cNvSpPr/>
          <p:nvPr/>
        </p:nvSpPr>
        <p:spPr>
          <a:xfrm>
            <a:off x="3611880" y="3200400"/>
            <a:ext cx="2286000" cy="68580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Operational Assignments</a:t>
            </a:r>
            <a:endParaRPr lang="en-US" sz="1400" dirty="0"/>
          </a:p>
        </p:txBody>
      </p:sp>
      <p:sp>
        <p:nvSpPr>
          <p:cNvPr id="12" name="Text 8"/>
          <p:cNvSpPr/>
          <p:nvPr/>
        </p:nvSpPr>
        <p:spPr>
          <a:xfrm>
            <a:off x="3611880" y="3977640"/>
            <a:ext cx="2286000" cy="18745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Duty positions across Operating, Generating, and Broadening organizations.</a:t>
            </a:r>
            <a:endParaRPr lang="en-US" sz="1150" dirty="0"/>
          </a:p>
        </p:txBody>
      </p:sp>
      <p:sp>
        <p:nvSpPr>
          <p:cNvPr id="13" name="Shape 9"/>
          <p:cNvSpPr/>
          <p:nvPr/>
        </p:nvSpPr>
        <p:spPr>
          <a:xfrm>
            <a:off x="630936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4" name="Image 2" descr="icon_book.png">    </p:cNvPr>
          <p:cNvPicPr>
            <a:picLocks noChangeAspect="1"/>
          </p:cNvPicPr>
          <p:nvPr/>
        </p:nvPicPr>
        <p:blipFill>
          <a:blip r:embed="rId3"/>
          <a:stretch>
            <a:fillRect/>
          </a:stretch>
        </p:blipFill>
        <p:spPr>
          <a:xfrm>
            <a:off x="6492240" y="2560320"/>
            <a:ext cx="502920" cy="502920"/>
          </a:xfrm>
          <a:prstGeom prst="rect">
            <a:avLst/>
          </a:prstGeom>
        </p:spPr>
      </p:pic>
      <p:sp>
        <p:nvSpPr>
          <p:cNvPr id="15" name="Text 10"/>
          <p:cNvSpPr/>
          <p:nvPr/>
        </p:nvSpPr>
        <p:spPr>
          <a:xfrm>
            <a:off x="6492240" y="3200400"/>
            <a:ext cx="2286000" cy="68580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Self-Development</a:t>
            </a:r>
            <a:endParaRPr lang="en-US" sz="1400" dirty="0"/>
          </a:p>
        </p:txBody>
      </p:sp>
      <p:sp>
        <p:nvSpPr>
          <p:cNvPr id="16" name="Text 11"/>
          <p:cNvSpPr/>
          <p:nvPr/>
        </p:nvSpPr>
        <p:spPr>
          <a:xfrm>
            <a:off x="6492240" y="3977640"/>
            <a:ext cx="2286000" cy="18745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Civilian education, competitive boards, credentials — driven by you.</a:t>
            </a:r>
            <a:endParaRPr lang="en-US" sz="1150" dirty="0"/>
          </a:p>
        </p:txBody>
      </p:sp>
      <p:sp>
        <p:nvSpPr>
          <p:cNvPr id="17" name="Shape 12"/>
          <p:cNvSpPr/>
          <p:nvPr/>
        </p:nvSpPr>
        <p:spPr>
          <a:xfrm>
            <a:off x="918972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8" name="Image 3" descr="icon_medal.png">    </p:cNvPr>
          <p:cNvPicPr>
            <a:picLocks noChangeAspect="1"/>
          </p:cNvPicPr>
          <p:nvPr/>
        </p:nvPicPr>
        <p:blipFill>
          <a:blip r:embed="rId4"/>
          <a:stretch>
            <a:fillRect/>
          </a:stretch>
        </p:blipFill>
        <p:spPr>
          <a:xfrm>
            <a:off x="9372600" y="2560320"/>
            <a:ext cx="502920" cy="502920"/>
          </a:xfrm>
          <a:prstGeom prst="rect">
            <a:avLst/>
          </a:prstGeom>
        </p:spPr>
      </p:pic>
      <p:sp>
        <p:nvSpPr>
          <p:cNvPr id="19" name="Text 13"/>
          <p:cNvSpPr/>
          <p:nvPr/>
        </p:nvSpPr>
        <p:spPr>
          <a:xfrm>
            <a:off x="9372600" y="3200400"/>
            <a:ext cx="2286000" cy="68580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Evaluations &amp; Boards</a:t>
            </a:r>
            <a:endParaRPr lang="en-US" sz="1400" dirty="0"/>
          </a:p>
        </p:txBody>
      </p:sp>
      <p:sp>
        <p:nvSpPr>
          <p:cNvPr id="20" name="Text 14"/>
          <p:cNvSpPr/>
          <p:nvPr/>
        </p:nvSpPr>
        <p:spPr>
          <a:xfrm>
            <a:off x="9372600" y="3977640"/>
            <a:ext cx="2286000" cy="187452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NCOERs, promotion boards, and CTT — where your proficiency gets measured.</a:t>
            </a:r>
            <a:endParaRPr lang="en-US" sz="1150" dirty="0"/>
          </a:p>
        </p:txBody>
      </p:sp>
      <p:sp>
        <p:nvSpPr>
          <p:cNvPr id="21" name="Text 15"/>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YOUR 17E CAREER PATH AT A GLANCE</a:t>
            </a:r>
            <a:endParaRPr lang="en-US" sz="2800" dirty="0"/>
          </a:p>
        </p:txBody>
      </p:sp>
      <p:sp>
        <p:nvSpPr>
          <p:cNvPr id="4" name="Text 2"/>
          <p:cNvSpPr/>
          <p:nvPr/>
        </p:nvSpPr>
        <p:spPr>
          <a:xfrm>
            <a:off x="548640" y="1188720"/>
            <a:ext cx="11064240" cy="548640"/>
          </a:xfrm>
          <a:prstGeom prst="rect">
            <a:avLst/>
          </a:prstGeom>
          <a:noFill/>
          <a:ln/>
        </p:spPr>
        <p:txBody>
          <a:bodyPr wrap="square" lIns="0" tIns="0" rIns="0" bIns="0" rtlCol="0" anchor="ctr"/>
          <a:lstStyle/>
          <a:p>
            <a:pPr indent="0" marL="0">
              <a:buNone/>
            </a:pPr>
            <a:r>
              <a:rPr lang="en-US" sz="1400" i="1" dirty="0">
                <a:solidFill>
                  <a:srgbClr val="5B7553"/>
                </a:solidFill>
                <a:latin typeface="Calibri" pitchFamily="34" charset="0"/>
                <a:ea typeface="Calibri" pitchFamily="34" charset="-122"/>
                <a:cs typeface="Calibri" pitchFamily="34" charset="-120"/>
              </a:rPr>
              <a:t>Every 17E career map is built around five skill levels, tied to rank and time in service. This is the backbone everything else in this brief hangs on.</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3017520"/>
        </p:xfrm>
        <a:graphic>
          <a:graphicData uri="http://schemas.openxmlformats.org/drawingml/2006/table">
            <a:tbl>
              <a:tblPr/>
              <a:tblGrid>
                <a:gridCol w="2103120"/>
                <a:gridCol w="1792224"/>
                <a:gridCol w="1792224"/>
                <a:gridCol w="1792224"/>
                <a:gridCol w="1792224"/>
                <a:gridCol w="1792224"/>
              </a:tblGrid>
              <a:tr h="64008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Skill Level</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640080">
                <a:tc>
                  <a:txBody>
                    <a:bodyPr/>
                    <a:lstStyle/>
                    <a:p>
                      <a:pPr algn="ctr" indent="0" marL="0">
                        <a:buNone/>
                      </a:pPr>
                      <a:r>
                        <a:rPr lang="en-US" sz="1250" b="1" dirty="0">
                          <a:solidFill>
                            <a:srgbClr val="2B2B25"/>
                          </a:solidFill>
                          <a:latin typeface="Calibri" pitchFamily="34" charset="0"/>
                          <a:ea typeface="Calibri" pitchFamily="34" charset="-122"/>
                          <a:cs typeface="Calibri" pitchFamily="34" charset="-120"/>
                        </a:rPr>
                        <a:t>Time in Service</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0-3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3-6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6-10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10-18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18-22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640080">
                <a:tc>
                  <a:txBody>
                    <a:bodyPr/>
                    <a:lstStyle/>
                    <a:p>
                      <a:pPr algn="ctr" indent="0" marL="0">
                        <a:buNone/>
                      </a:pPr>
                      <a:r>
                        <a:rPr lang="en-US" sz="1250" b="1" dirty="0">
                          <a:solidFill>
                            <a:srgbClr val="2B2B25"/>
                          </a:solidFill>
                          <a:latin typeface="Calibri" pitchFamily="34" charset="0"/>
                          <a:ea typeface="Calibri" pitchFamily="34" charset="-122"/>
                          <a:cs typeface="Calibri" pitchFamily="34" charset="-120"/>
                        </a:rPr>
                        <a:t>Rank</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PVT-SPC (E4)</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SGT (E5)</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SSG (E6)</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SFC (E7)</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MSG/1SG (E8)</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1005840">
                <a:tc>
                  <a:txBody>
                    <a:bodyPr/>
                    <a:lstStyle/>
                    <a:p>
                      <a:pPr algn="ctr" indent="0" marL="0">
                        <a:buNone/>
                      </a:pPr>
                      <a:r>
                        <a:rPr lang="en-US" sz="1250" b="1" dirty="0">
                          <a:solidFill>
                            <a:srgbClr val="2B2B25"/>
                          </a:solidFill>
                          <a:latin typeface="Calibri" pitchFamily="34" charset="0"/>
                          <a:ea typeface="Calibri" pitchFamily="34" charset="-122"/>
                          <a:cs typeface="Calibri" pitchFamily="34" charset="-120"/>
                        </a:rPr>
                        <a:t>Retention Control Point</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PVT-PFC: 5 yrs</a:t>
                      </a:r>
                      <a:endParaRPr lang="en-US" sz="1250" dirty="0">
                        <a:latin typeface="Calibri" charset="0"/>
                        <a:ea typeface="Calibri" charset="0"/>
                        <a:cs typeface="Calibri" charset="0"/>
                      </a:endParaRPr>
                    </a:p>
                    <a:p>
                      <a:pPr algn="ctr" indent="0" marL="0">
                        <a:buNone/>
                      </a:pPr>
                      <a:r>
                        <a:rPr lang="en-US" sz="1250" dirty="0">
                          <a:solidFill>
                            <a:srgbClr val="2B2B25"/>
                          </a:solidFill>
                          <a:latin typeface="Calibri" pitchFamily="34" charset="0"/>
                          <a:ea typeface="Calibri" pitchFamily="34" charset="-122"/>
                          <a:cs typeface="Calibri" pitchFamily="34" charset="-120"/>
                        </a:rPr>
                        <a:t>CPL/SPC: 8-10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SGT: 14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SSG: 20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SFC: 24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250" dirty="0">
                          <a:solidFill>
                            <a:srgbClr val="2B2B25"/>
                          </a:solidFill>
                          <a:latin typeface="Calibri" pitchFamily="34" charset="0"/>
                          <a:ea typeface="Calibri" pitchFamily="34" charset="-122"/>
                          <a:cs typeface="Calibri" pitchFamily="34" charset="-120"/>
                        </a:rPr>
                        <a:t>MSG: 26-28 yrs</a:t>
                      </a:r>
                      <a:endParaRPr lang="en-US" sz="12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6" name="Text 3"/>
          <p:cNvSpPr/>
          <p:nvPr/>
        </p:nvSpPr>
        <p:spPr>
          <a:xfrm>
            <a:off x="548640" y="5120640"/>
            <a:ext cx="11064240" cy="365760"/>
          </a:xfrm>
          <a:prstGeom prst="rect">
            <a:avLst/>
          </a:prstGeom>
          <a:noFill/>
          <a:ln/>
        </p:spPr>
        <p:txBody>
          <a:bodyPr wrap="square" lIns="0" tIns="0" rIns="0" bIns="0" rtlCol="0" anchor="ctr"/>
          <a:lstStyle/>
          <a:p>
            <a:pPr indent="0" marL="0">
              <a:buNone/>
            </a:pPr>
            <a:r>
              <a:rPr lang="en-US" sz="1100" i="1" dirty="0">
                <a:solidFill>
                  <a:srgbClr val="5B7553"/>
                </a:solidFill>
                <a:latin typeface="Calibri" pitchFamily="34" charset="0"/>
                <a:ea typeface="Calibri" pitchFamily="34" charset="-122"/>
                <a:cs typeface="Calibri" pitchFamily="34" charset="-120"/>
              </a:rPr>
              <a:t>Reference: DA PAM 600-25, 17E Career Map  |  RCP = the point where you must be promoted or begin transitioning out</a:t>
            </a:r>
            <a:endParaRPr lang="en-US" sz="1100" dirty="0"/>
          </a:p>
        </p:txBody>
      </p:sp>
      <p:sp>
        <p:nvSpPr>
          <p:cNvPr id="7" name="Text 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WHERE 17Es SERVE: 3 TYPES OF ASSIGNMENTS</a:t>
            </a:r>
            <a:endParaRPr lang="en-US" sz="2400" dirty="0"/>
          </a:p>
        </p:txBody>
      </p:sp>
      <p:sp>
        <p:nvSpPr>
          <p:cNvPr id="4" name="Text 2"/>
          <p:cNvSpPr/>
          <p:nvPr/>
        </p:nvSpPr>
        <p:spPr>
          <a:xfrm>
            <a:off x="548640" y="1188720"/>
            <a:ext cx="11064240" cy="640080"/>
          </a:xfrm>
          <a:prstGeom prst="rect">
            <a:avLst/>
          </a:prstGeom>
          <a:noFill/>
          <a:ln/>
        </p:spPr>
        <p:txBody>
          <a:bodyPr wrap="square" lIns="0" tIns="0" rIns="0" bIns="0" rtlCol="0" anchor="t"/>
          <a:lstStyle/>
          <a:p>
            <a:pPr indent="0" marL="0">
              <a:buNone/>
            </a:pPr>
            <a:r>
              <a:rPr lang="en-US" sz="1350" dirty="0">
                <a:solidFill>
                  <a:srgbClr val="2B2B25"/>
                </a:solidFill>
                <a:latin typeface="Calibri" pitchFamily="34" charset="0"/>
                <a:ea typeface="Calibri" pitchFamily="34" charset="-122"/>
                <a:cs typeface="Calibri" pitchFamily="34" charset="-120"/>
              </a:rPr>
              <a:t>Your career map sorts every duty position into one of three categories. Knowing the difference helps you understand what a job posting or assignment actually means for your development.</a:t>
            </a:r>
            <a:endParaRPr lang="en-US" sz="1350" dirty="0"/>
          </a:p>
        </p:txBody>
      </p:sp>
      <p:sp>
        <p:nvSpPr>
          <p:cNvPr id="5" name="Shape 3"/>
          <p:cNvSpPr/>
          <p:nvPr/>
        </p:nvSpPr>
        <p:spPr>
          <a:xfrm>
            <a:off x="548640" y="2011680"/>
            <a:ext cx="3611880" cy="4206240"/>
          </a:xfrm>
          <a:prstGeom prst="roundRect">
            <a:avLst>
              <a:gd name="adj" fmla="val 2025"/>
            </a:avLst>
          </a:prstGeom>
          <a:solidFill>
            <a:srgbClr val="F1EDE3"/>
          </a:solidFill>
          <a:ln/>
          <a:effectLst>
            <a:outerShdw sx="100000" sy="100000" kx="0" ky="0" algn="bl" rotWithShape="0" blurRad="76200" dist="25400" dir="2700000">
              <a:srgbClr val="000000">
                <a:alpha val="10000"/>
              </a:srgbClr>
            </a:outerShdw>
          </a:effectLst>
        </p:spPr>
      </p:sp>
      <p:sp>
        <p:nvSpPr>
          <p:cNvPr id="6" name="Text 4"/>
          <p:cNvSpPr/>
          <p:nvPr/>
        </p:nvSpPr>
        <p:spPr>
          <a:xfrm>
            <a:off x="777240" y="2240280"/>
            <a:ext cx="3154680" cy="411480"/>
          </a:xfrm>
          <a:prstGeom prst="rect">
            <a:avLst/>
          </a:prstGeom>
          <a:noFill/>
          <a:ln/>
        </p:spPr>
        <p:txBody>
          <a:bodyPr wrap="square" lIns="0" tIns="0" rIns="0" bIns="0" rtlCol="0" anchor="ctr"/>
          <a:lstStyle/>
          <a:p>
            <a:pPr indent="0" marL="0">
              <a:buNone/>
            </a:pPr>
            <a:r>
              <a:rPr lang="en-US" sz="1700" b="1" dirty="0">
                <a:solidFill>
                  <a:srgbClr val="3C3F2C"/>
                </a:solidFill>
                <a:latin typeface="Cambria" pitchFamily="34" charset="0"/>
                <a:ea typeface="Cambria" pitchFamily="34" charset="-122"/>
                <a:cs typeface="Cambria" pitchFamily="34" charset="-120"/>
              </a:rPr>
              <a:t>OPERATING</a:t>
            </a:r>
            <a:endParaRPr lang="en-US" sz="1700" dirty="0"/>
          </a:p>
        </p:txBody>
      </p:sp>
      <p:sp>
        <p:nvSpPr>
          <p:cNvPr id="7" name="Text 5"/>
          <p:cNvSpPr/>
          <p:nvPr/>
        </p:nvSpPr>
        <p:spPr>
          <a:xfrm>
            <a:off x="777240" y="2633472"/>
            <a:ext cx="3154680" cy="365760"/>
          </a:xfrm>
          <a:prstGeom prst="rect">
            <a:avLst/>
          </a:prstGeom>
          <a:noFill/>
          <a:ln/>
        </p:spPr>
        <p:txBody>
          <a:bodyPr wrap="square" lIns="0" tIns="0" rIns="0" bIns="0" rtlCol="0" anchor="ctr"/>
          <a:lstStyle/>
          <a:p>
            <a:pPr indent="0" marL="0">
              <a:buNone/>
            </a:pPr>
            <a:r>
              <a:rPr lang="en-US" sz="1100" i="1" dirty="0">
                <a:solidFill>
                  <a:srgbClr val="5B7553"/>
                </a:solidFill>
                <a:latin typeface="Calibri" pitchFamily="34" charset="0"/>
                <a:ea typeface="Calibri" pitchFamily="34" charset="-122"/>
                <a:cs typeface="Calibri" pitchFamily="34" charset="-120"/>
              </a:rPr>
              <a:t>Units that fight and deploy</a:t>
            </a:r>
            <a:endParaRPr lang="en-US" sz="1100" dirty="0"/>
          </a:p>
        </p:txBody>
      </p:sp>
      <p:sp>
        <p:nvSpPr>
          <p:cNvPr id="8" name="Text 6"/>
          <p:cNvSpPr/>
          <p:nvPr/>
        </p:nvSpPr>
        <p:spPr>
          <a:xfrm>
            <a:off x="777240" y="3108960"/>
            <a:ext cx="3154680" cy="2926080"/>
          </a:xfrm>
          <a:prstGeom prst="rect">
            <a:avLst/>
          </a:prstGeom>
          <a:noFill/>
          <a:ln/>
        </p:spPr>
        <p:txBody>
          <a:bodyPr wrap="square" lIns="0" tIns="0" rIns="0" bIns="0" rtlCol="0" anchor="t"/>
          <a:lstStyle/>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SL1-2: CEMA Section EW Specialist, EW PLT EW Specialist</a:t>
            </a:r>
            <a:endParaRPr lang="en-US" sz="1050" dirty="0"/>
          </a:p>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SL3: Senior SOF EW NCO, Senior Team Chief, CEMA Sergeant</a:t>
            </a:r>
            <a:endParaRPr lang="en-US" sz="1050" dirty="0"/>
          </a:p>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SL4-5: Platoon Sergeant, CEMA NCO, EW/CEMA NCOIC, First Sergeant</a:t>
            </a:r>
            <a:endParaRPr lang="en-US" sz="1050" dirty="0"/>
          </a:p>
        </p:txBody>
      </p:sp>
      <p:sp>
        <p:nvSpPr>
          <p:cNvPr id="9" name="Shape 7"/>
          <p:cNvSpPr/>
          <p:nvPr/>
        </p:nvSpPr>
        <p:spPr>
          <a:xfrm>
            <a:off x="4297680" y="2011680"/>
            <a:ext cx="3611880" cy="4206240"/>
          </a:xfrm>
          <a:prstGeom prst="roundRect">
            <a:avLst>
              <a:gd name="adj" fmla="val 2025"/>
            </a:avLst>
          </a:prstGeom>
          <a:solidFill>
            <a:srgbClr val="F1EDE3"/>
          </a:solidFill>
          <a:ln/>
          <a:effectLst>
            <a:outerShdw sx="100000" sy="100000" kx="0" ky="0" algn="bl" rotWithShape="0" blurRad="76200" dist="25400" dir="2700000">
              <a:srgbClr val="000000">
                <a:alpha val="10000"/>
              </a:srgbClr>
            </a:outerShdw>
          </a:effectLst>
        </p:spPr>
      </p:sp>
      <p:sp>
        <p:nvSpPr>
          <p:cNvPr id="10" name="Text 8"/>
          <p:cNvSpPr/>
          <p:nvPr/>
        </p:nvSpPr>
        <p:spPr>
          <a:xfrm>
            <a:off x="4526280" y="2240280"/>
            <a:ext cx="3154680" cy="411480"/>
          </a:xfrm>
          <a:prstGeom prst="rect">
            <a:avLst/>
          </a:prstGeom>
          <a:noFill/>
          <a:ln/>
        </p:spPr>
        <p:txBody>
          <a:bodyPr wrap="square" lIns="0" tIns="0" rIns="0" bIns="0" rtlCol="0" anchor="ctr"/>
          <a:lstStyle/>
          <a:p>
            <a:pPr indent="0" marL="0">
              <a:buNone/>
            </a:pPr>
            <a:r>
              <a:rPr lang="en-US" sz="1700" b="1" dirty="0">
                <a:solidFill>
                  <a:srgbClr val="3C3F2C"/>
                </a:solidFill>
                <a:latin typeface="Cambria" pitchFamily="34" charset="0"/>
                <a:ea typeface="Cambria" pitchFamily="34" charset="-122"/>
                <a:cs typeface="Cambria" pitchFamily="34" charset="-120"/>
              </a:rPr>
              <a:t>GENERATING</a:t>
            </a:r>
            <a:endParaRPr lang="en-US" sz="1700" dirty="0"/>
          </a:p>
        </p:txBody>
      </p:sp>
      <p:sp>
        <p:nvSpPr>
          <p:cNvPr id="11" name="Text 9"/>
          <p:cNvSpPr/>
          <p:nvPr/>
        </p:nvSpPr>
        <p:spPr>
          <a:xfrm>
            <a:off x="4526280" y="2633472"/>
            <a:ext cx="3154680" cy="365760"/>
          </a:xfrm>
          <a:prstGeom prst="rect">
            <a:avLst/>
          </a:prstGeom>
          <a:noFill/>
          <a:ln/>
        </p:spPr>
        <p:txBody>
          <a:bodyPr wrap="square" lIns="0" tIns="0" rIns="0" bIns="0" rtlCol="0" anchor="ctr"/>
          <a:lstStyle/>
          <a:p>
            <a:pPr indent="0" marL="0">
              <a:buNone/>
            </a:pPr>
            <a:r>
              <a:rPr lang="en-US" sz="1100" i="1" dirty="0">
                <a:solidFill>
                  <a:srgbClr val="5B7553"/>
                </a:solidFill>
                <a:latin typeface="Calibri" pitchFamily="34" charset="0"/>
                <a:ea typeface="Calibri" pitchFamily="34" charset="-122"/>
                <a:cs typeface="Calibri" pitchFamily="34" charset="-120"/>
              </a:rPr>
              <a:t>Units that train &amp; build the force</a:t>
            </a:r>
            <a:endParaRPr lang="en-US" sz="1100" dirty="0"/>
          </a:p>
        </p:txBody>
      </p:sp>
      <p:sp>
        <p:nvSpPr>
          <p:cNvPr id="12" name="Text 10"/>
          <p:cNvSpPr/>
          <p:nvPr/>
        </p:nvSpPr>
        <p:spPr>
          <a:xfrm>
            <a:off x="4526280" y="3108960"/>
            <a:ext cx="3154680" cy="2926080"/>
          </a:xfrm>
          <a:prstGeom prst="rect">
            <a:avLst/>
          </a:prstGeom>
          <a:noFill/>
          <a:ln/>
        </p:spPr>
        <p:txBody>
          <a:bodyPr wrap="square" lIns="0" tIns="0" rIns="0" bIns="0" rtlCol="0" anchor="t"/>
          <a:lstStyle/>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SL2-4: Drill Sergeant, Recruiter, Instructor/Writer</a:t>
            </a:r>
            <a:endParaRPr lang="en-US" sz="1050" dirty="0"/>
          </a:p>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SL4: NCOA Small Group Leader (SGL)</a:t>
            </a:r>
            <a:endParaRPr lang="en-US" sz="1050" dirty="0"/>
          </a:p>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SL5: NCOA Senior Instructor</a:t>
            </a:r>
            <a:endParaRPr lang="en-US" sz="1050" dirty="0"/>
          </a:p>
        </p:txBody>
      </p:sp>
      <p:sp>
        <p:nvSpPr>
          <p:cNvPr id="13" name="Shape 11"/>
          <p:cNvSpPr/>
          <p:nvPr/>
        </p:nvSpPr>
        <p:spPr>
          <a:xfrm>
            <a:off x="8046720" y="2011680"/>
            <a:ext cx="3611880" cy="4206240"/>
          </a:xfrm>
          <a:prstGeom prst="roundRect">
            <a:avLst>
              <a:gd name="adj" fmla="val 2025"/>
            </a:avLst>
          </a:prstGeom>
          <a:solidFill>
            <a:srgbClr val="F1EDE3"/>
          </a:solidFill>
          <a:ln/>
          <a:effectLst>
            <a:outerShdw sx="100000" sy="100000" kx="0" ky="0" algn="bl" rotWithShape="0" blurRad="76200" dist="25400" dir="2700000">
              <a:srgbClr val="000000">
                <a:alpha val="10000"/>
              </a:srgbClr>
            </a:outerShdw>
          </a:effectLst>
        </p:spPr>
      </p:sp>
      <p:sp>
        <p:nvSpPr>
          <p:cNvPr id="14" name="Text 12"/>
          <p:cNvSpPr/>
          <p:nvPr/>
        </p:nvSpPr>
        <p:spPr>
          <a:xfrm>
            <a:off x="8275320" y="2240280"/>
            <a:ext cx="3154680" cy="411480"/>
          </a:xfrm>
          <a:prstGeom prst="rect">
            <a:avLst/>
          </a:prstGeom>
          <a:noFill/>
          <a:ln/>
        </p:spPr>
        <p:txBody>
          <a:bodyPr wrap="square" lIns="0" tIns="0" rIns="0" bIns="0" rtlCol="0" anchor="ctr"/>
          <a:lstStyle/>
          <a:p>
            <a:pPr indent="0" marL="0">
              <a:buNone/>
            </a:pPr>
            <a:r>
              <a:rPr lang="en-US" sz="1700" b="1" dirty="0">
                <a:solidFill>
                  <a:srgbClr val="3C3F2C"/>
                </a:solidFill>
                <a:latin typeface="Cambria" pitchFamily="34" charset="0"/>
                <a:ea typeface="Cambria" pitchFamily="34" charset="-122"/>
                <a:cs typeface="Cambria" pitchFamily="34" charset="-120"/>
              </a:rPr>
              <a:t>BROADENING</a:t>
            </a:r>
            <a:endParaRPr lang="en-US" sz="1700" dirty="0"/>
          </a:p>
        </p:txBody>
      </p:sp>
      <p:sp>
        <p:nvSpPr>
          <p:cNvPr id="15" name="Text 13"/>
          <p:cNvSpPr/>
          <p:nvPr/>
        </p:nvSpPr>
        <p:spPr>
          <a:xfrm>
            <a:off x="8275320" y="2633472"/>
            <a:ext cx="3154680" cy="365760"/>
          </a:xfrm>
          <a:prstGeom prst="rect">
            <a:avLst/>
          </a:prstGeom>
          <a:noFill/>
          <a:ln/>
        </p:spPr>
        <p:txBody>
          <a:bodyPr wrap="square" lIns="0" tIns="0" rIns="0" bIns="0" rtlCol="0" anchor="ctr"/>
          <a:lstStyle/>
          <a:p>
            <a:pPr indent="0" marL="0">
              <a:buNone/>
            </a:pPr>
            <a:r>
              <a:rPr lang="en-US" sz="1100" i="1" dirty="0">
                <a:solidFill>
                  <a:srgbClr val="5B7553"/>
                </a:solidFill>
                <a:latin typeface="Calibri" pitchFamily="34" charset="0"/>
                <a:ea typeface="Calibri" pitchFamily="34" charset="-122"/>
                <a:cs typeface="Calibri" pitchFamily="34" charset="-120"/>
              </a:rPr>
              <a:t>Assignments that expand your expertise</a:t>
            </a:r>
            <a:endParaRPr lang="en-US" sz="1100" dirty="0"/>
          </a:p>
        </p:txBody>
      </p:sp>
      <p:sp>
        <p:nvSpPr>
          <p:cNvPr id="16" name="Text 14"/>
          <p:cNvSpPr/>
          <p:nvPr/>
        </p:nvSpPr>
        <p:spPr>
          <a:xfrm>
            <a:off x="8275320" y="3108960"/>
            <a:ext cx="3154680" cy="2926080"/>
          </a:xfrm>
          <a:prstGeom prst="rect">
            <a:avLst/>
          </a:prstGeom>
          <a:noFill/>
          <a:ln/>
        </p:spPr>
        <p:txBody>
          <a:bodyPr wrap="square" lIns="0" tIns="0" rIns="0" bIns="0" rtlCol="0" anchor="t"/>
          <a:lstStyle/>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SL3: EW NCO at Army Research Labs, TWI, OPS NCO CCoE</a:t>
            </a:r>
            <a:endParaRPr lang="en-US" sz="1050" dirty="0"/>
          </a:p>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SL4: Career Manager (Cyber Proponent), EW Analyst (JEPAC)</a:t>
            </a:r>
            <a:endParaRPr lang="en-US" sz="1050" dirty="0"/>
          </a:p>
          <a:p>
            <a:pPr marL="228600" indent="-228600">
              <a:spcAft>
                <a:spcPts val="1000"/>
              </a:spcAft>
              <a:buSzPct val="100000"/>
              <a:buChar char="•"/>
            </a:pPr>
            <a:r>
              <a:rPr lang="en-US" sz="1050" dirty="0">
                <a:solidFill>
                  <a:srgbClr val="2B2B25"/>
                </a:solidFill>
                <a:latin typeface="Calibri" pitchFamily="34" charset="0"/>
                <a:ea typeface="Calibri" pitchFamily="34" charset="-122"/>
                <a:cs typeface="Calibri" pitchFamily="34" charset="-120"/>
              </a:rPr>
              <a:t>SL5: HRC PDNCO, Senior EW OC/T, SFAB EW SGT NCOIC</a:t>
            </a:r>
            <a:endParaRPr lang="en-US" sz="1050" dirty="0"/>
          </a:p>
        </p:txBody>
      </p:sp>
      <p:sp>
        <p:nvSpPr>
          <p:cNvPr id="17" name="Text 15"/>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PME &amp; JPME LADDER</a:t>
            </a:r>
            <a:endParaRPr lang="en-US" sz="3000" dirty="0"/>
          </a:p>
        </p:txBody>
      </p:sp>
      <p:sp>
        <p:nvSpPr>
          <p:cNvPr id="3" name="Text 1"/>
          <p:cNvSpPr/>
          <p:nvPr/>
        </p:nvSpPr>
        <p:spPr>
          <a:xfrm>
            <a:off x="548640" y="1005840"/>
            <a:ext cx="91440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Professional Military Education tied to each promotion</a:t>
            </a:r>
            <a:endParaRPr lang="en-US" sz="1500" dirty="0"/>
          </a:p>
        </p:txBody>
      </p:sp>
      <p:sp>
        <p:nvSpPr>
          <p:cNvPr id="4" name="Shape 2"/>
          <p:cNvSpPr/>
          <p:nvPr/>
        </p:nvSpPr>
        <p:spPr>
          <a:xfrm>
            <a:off x="548640" y="1737360"/>
            <a:ext cx="2606040" cy="4389120"/>
          </a:xfrm>
          <a:prstGeom prst="roundRect">
            <a:avLst>
              <a:gd name="adj" fmla="val 2807"/>
            </a:avLst>
          </a:prstGeom>
          <a:solidFill>
            <a:srgbClr val="3C3F2C"/>
          </a:solidFill>
          <a:ln/>
          <a:effectLst>
            <a:outerShdw sx="100000" sy="100000" kx="0" ky="0" algn="bl" rotWithShape="0" blurRad="76200" dist="25400" dir="2700000">
              <a:srgbClr val="000000">
                <a:alpha val="15000"/>
              </a:srgbClr>
            </a:outerShdw>
          </a:effectLst>
        </p:spPr>
      </p:sp>
      <p:sp>
        <p:nvSpPr>
          <p:cNvPr id="5" name="Shape 3"/>
          <p:cNvSpPr/>
          <p:nvPr/>
        </p:nvSpPr>
        <p:spPr>
          <a:xfrm>
            <a:off x="1440180" y="2011680"/>
            <a:ext cx="822960" cy="822960"/>
          </a:xfrm>
          <a:prstGeom prst="ellipse">
            <a:avLst/>
          </a:prstGeom>
          <a:solidFill>
            <a:srgbClr val="C9A227"/>
          </a:solidFill>
          <a:ln/>
        </p:spPr>
      </p:sp>
      <p:sp>
        <p:nvSpPr>
          <p:cNvPr id="6" name="Text 4"/>
          <p:cNvSpPr/>
          <p:nvPr/>
        </p:nvSpPr>
        <p:spPr>
          <a:xfrm>
            <a:off x="1440180" y="2011680"/>
            <a:ext cx="822960" cy="82296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SL2</a:t>
            </a:r>
            <a:endParaRPr lang="en-US" sz="1800" dirty="0"/>
          </a:p>
        </p:txBody>
      </p:sp>
      <p:sp>
        <p:nvSpPr>
          <p:cNvPr id="7" name="Text 5"/>
          <p:cNvSpPr/>
          <p:nvPr/>
        </p:nvSpPr>
        <p:spPr>
          <a:xfrm>
            <a:off x="685800" y="2971800"/>
            <a:ext cx="23317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BLC</a:t>
            </a:r>
            <a:endParaRPr lang="en-US" sz="2200" dirty="0"/>
          </a:p>
        </p:txBody>
      </p:sp>
      <p:sp>
        <p:nvSpPr>
          <p:cNvPr id="8" name="Text 6"/>
          <p:cNvSpPr/>
          <p:nvPr/>
        </p:nvSpPr>
        <p:spPr>
          <a:xfrm>
            <a:off x="685800" y="3474720"/>
            <a:ext cx="2331720" cy="685800"/>
          </a:xfrm>
          <a:prstGeom prst="rect">
            <a:avLst/>
          </a:prstGeom>
          <a:noFill/>
          <a:ln/>
        </p:spPr>
        <p:txBody>
          <a:bodyPr wrap="square" lIns="0" tIns="0" rIns="0" bIns="0" rtlCol="0" anchor="t"/>
          <a:lstStyle/>
          <a:p>
            <a:pPr algn="ctr" indent="0" marL="0">
              <a:buNone/>
            </a:pPr>
            <a:r>
              <a:rPr lang="en-US" sz="1200" i="1" dirty="0">
                <a:solidFill>
                  <a:srgbClr val="C9A227"/>
                </a:solidFill>
                <a:latin typeface="Calibri" pitchFamily="34" charset="0"/>
                <a:ea typeface="Calibri" pitchFamily="34" charset="-122"/>
                <a:cs typeface="Calibri" pitchFamily="34" charset="-120"/>
              </a:rPr>
              <a:t>Basic Leader Course</a:t>
            </a:r>
            <a:endParaRPr lang="en-US" sz="1200" dirty="0"/>
          </a:p>
        </p:txBody>
      </p:sp>
      <p:sp>
        <p:nvSpPr>
          <p:cNvPr id="9" name="Text 7"/>
          <p:cNvSpPr/>
          <p:nvPr/>
        </p:nvSpPr>
        <p:spPr>
          <a:xfrm>
            <a:off x="731520" y="4251960"/>
            <a:ext cx="2240280" cy="169164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Plus EJPME I — your first joint PME touchpoint.</a:t>
            </a:r>
            <a:endParaRPr lang="en-US" sz="1100" dirty="0"/>
          </a:p>
        </p:txBody>
      </p:sp>
      <p:sp>
        <p:nvSpPr>
          <p:cNvPr id="10" name="Shape 8"/>
          <p:cNvSpPr/>
          <p:nvPr/>
        </p:nvSpPr>
        <p:spPr>
          <a:xfrm>
            <a:off x="3383280" y="1737360"/>
            <a:ext cx="2606040" cy="4389120"/>
          </a:xfrm>
          <a:prstGeom prst="roundRect">
            <a:avLst>
              <a:gd name="adj" fmla="val 2807"/>
            </a:avLst>
          </a:prstGeom>
          <a:solidFill>
            <a:srgbClr val="3C3F2C"/>
          </a:solidFill>
          <a:ln/>
          <a:effectLst>
            <a:outerShdw sx="100000" sy="100000" kx="0" ky="0" algn="bl" rotWithShape="0" blurRad="76200" dist="25400" dir="2700000">
              <a:srgbClr val="000000">
                <a:alpha val="15000"/>
              </a:srgbClr>
            </a:outerShdw>
          </a:effectLst>
        </p:spPr>
      </p:sp>
      <p:sp>
        <p:nvSpPr>
          <p:cNvPr id="11" name="Shape 9"/>
          <p:cNvSpPr/>
          <p:nvPr/>
        </p:nvSpPr>
        <p:spPr>
          <a:xfrm>
            <a:off x="4274820" y="2011680"/>
            <a:ext cx="822960" cy="822960"/>
          </a:xfrm>
          <a:prstGeom prst="ellipse">
            <a:avLst/>
          </a:prstGeom>
          <a:solidFill>
            <a:srgbClr val="C9A227"/>
          </a:solidFill>
          <a:ln/>
        </p:spPr>
      </p:sp>
      <p:sp>
        <p:nvSpPr>
          <p:cNvPr id="12" name="Text 10"/>
          <p:cNvSpPr/>
          <p:nvPr/>
        </p:nvSpPr>
        <p:spPr>
          <a:xfrm>
            <a:off x="4274820" y="2011680"/>
            <a:ext cx="822960" cy="82296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SL3</a:t>
            </a:r>
            <a:endParaRPr lang="en-US" sz="1800" dirty="0"/>
          </a:p>
        </p:txBody>
      </p:sp>
      <p:sp>
        <p:nvSpPr>
          <p:cNvPr id="13" name="Text 11"/>
          <p:cNvSpPr/>
          <p:nvPr/>
        </p:nvSpPr>
        <p:spPr>
          <a:xfrm>
            <a:off x="3520440" y="2971800"/>
            <a:ext cx="23317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ALC</a:t>
            </a:r>
            <a:endParaRPr lang="en-US" sz="2200" dirty="0"/>
          </a:p>
        </p:txBody>
      </p:sp>
      <p:sp>
        <p:nvSpPr>
          <p:cNvPr id="14" name="Text 12"/>
          <p:cNvSpPr/>
          <p:nvPr/>
        </p:nvSpPr>
        <p:spPr>
          <a:xfrm>
            <a:off x="3520440" y="3474720"/>
            <a:ext cx="2331720" cy="685800"/>
          </a:xfrm>
          <a:prstGeom prst="rect">
            <a:avLst/>
          </a:prstGeom>
          <a:noFill/>
          <a:ln/>
        </p:spPr>
        <p:txBody>
          <a:bodyPr wrap="square" lIns="0" tIns="0" rIns="0" bIns="0" rtlCol="0" anchor="t"/>
          <a:lstStyle/>
          <a:p>
            <a:pPr algn="ctr" indent="0" marL="0">
              <a:buNone/>
            </a:pPr>
            <a:r>
              <a:rPr lang="en-US" sz="1200" i="1" dirty="0">
                <a:solidFill>
                  <a:srgbClr val="C9A227"/>
                </a:solidFill>
                <a:latin typeface="Calibri" pitchFamily="34" charset="0"/>
                <a:ea typeface="Calibri" pitchFamily="34" charset="-122"/>
                <a:cs typeface="Calibri" pitchFamily="34" charset="-120"/>
              </a:rPr>
              <a:t>Advanced Leader Course</a:t>
            </a:r>
            <a:endParaRPr lang="en-US" sz="1200" dirty="0"/>
          </a:p>
        </p:txBody>
      </p:sp>
      <p:sp>
        <p:nvSpPr>
          <p:cNvPr id="15" name="Text 13"/>
          <p:cNvSpPr/>
          <p:nvPr/>
        </p:nvSpPr>
        <p:spPr>
          <a:xfrm>
            <a:off x="3566160" y="4251960"/>
            <a:ext cx="2240280" cy="169164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Plus EJPME I continues as you take on more responsibility.</a:t>
            </a:r>
            <a:endParaRPr lang="en-US" sz="1100" dirty="0"/>
          </a:p>
        </p:txBody>
      </p:sp>
      <p:sp>
        <p:nvSpPr>
          <p:cNvPr id="16" name="Shape 14"/>
          <p:cNvSpPr/>
          <p:nvPr/>
        </p:nvSpPr>
        <p:spPr>
          <a:xfrm>
            <a:off x="6217920" y="1737360"/>
            <a:ext cx="2606040" cy="4389120"/>
          </a:xfrm>
          <a:prstGeom prst="roundRect">
            <a:avLst>
              <a:gd name="adj" fmla="val 2807"/>
            </a:avLst>
          </a:prstGeom>
          <a:solidFill>
            <a:srgbClr val="3C3F2C"/>
          </a:solidFill>
          <a:ln/>
          <a:effectLst>
            <a:outerShdw sx="100000" sy="100000" kx="0" ky="0" algn="bl" rotWithShape="0" blurRad="76200" dist="25400" dir="2700000">
              <a:srgbClr val="000000">
                <a:alpha val="15000"/>
              </a:srgbClr>
            </a:outerShdw>
          </a:effectLst>
        </p:spPr>
      </p:sp>
      <p:sp>
        <p:nvSpPr>
          <p:cNvPr id="17" name="Shape 15"/>
          <p:cNvSpPr/>
          <p:nvPr/>
        </p:nvSpPr>
        <p:spPr>
          <a:xfrm>
            <a:off x="7109460" y="2011680"/>
            <a:ext cx="822960" cy="822960"/>
          </a:xfrm>
          <a:prstGeom prst="ellipse">
            <a:avLst/>
          </a:prstGeom>
          <a:solidFill>
            <a:srgbClr val="C9A227"/>
          </a:solidFill>
          <a:ln/>
        </p:spPr>
      </p:sp>
      <p:sp>
        <p:nvSpPr>
          <p:cNvPr id="18" name="Text 16"/>
          <p:cNvSpPr/>
          <p:nvPr/>
        </p:nvSpPr>
        <p:spPr>
          <a:xfrm>
            <a:off x="7109460" y="2011680"/>
            <a:ext cx="822960" cy="82296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SL4</a:t>
            </a:r>
            <a:endParaRPr lang="en-US" sz="1800" dirty="0"/>
          </a:p>
        </p:txBody>
      </p:sp>
      <p:sp>
        <p:nvSpPr>
          <p:cNvPr id="19" name="Text 17"/>
          <p:cNvSpPr/>
          <p:nvPr/>
        </p:nvSpPr>
        <p:spPr>
          <a:xfrm>
            <a:off x="6355080" y="2971800"/>
            <a:ext cx="23317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SLC</a:t>
            </a:r>
            <a:endParaRPr lang="en-US" sz="2200" dirty="0"/>
          </a:p>
        </p:txBody>
      </p:sp>
      <p:sp>
        <p:nvSpPr>
          <p:cNvPr id="20" name="Text 18"/>
          <p:cNvSpPr/>
          <p:nvPr/>
        </p:nvSpPr>
        <p:spPr>
          <a:xfrm>
            <a:off x="6355080" y="3474720"/>
            <a:ext cx="2331720" cy="685800"/>
          </a:xfrm>
          <a:prstGeom prst="rect">
            <a:avLst/>
          </a:prstGeom>
          <a:noFill/>
          <a:ln/>
        </p:spPr>
        <p:txBody>
          <a:bodyPr wrap="square" lIns="0" tIns="0" rIns="0" bIns="0" rtlCol="0" anchor="t"/>
          <a:lstStyle/>
          <a:p>
            <a:pPr algn="ctr" indent="0" marL="0">
              <a:buNone/>
            </a:pPr>
            <a:r>
              <a:rPr lang="en-US" sz="1200" i="1" dirty="0">
                <a:solidFill>
                  <a:srgbClr val="C9A227"/>
                </a:solidFill>
                <a:latin typeface="Calibri" pitchFamily="34" charset="0"/>
                <a:ea typeface="Calibri" pitchFamily="34" charset="-122"/>
                <a:cs typeface="Calibri" pitchFamily="34" charset="-120"/>
              </a:rPr>
              <a:t>Senior Leader Course</a:t>
            </a:r>
            <a:endParaRPr lang="en-US" sz="1200" dirty="0"/>
          </a:p>
        </p:txBody>
      </p:sp>
      <p:sp>
        <p:nvSpPr>
          <p:cNvPr id="21" name="Text 19"/>
          <p:cNvSpPr/>
          <p:nvPr/>
        </p:nvSpPr>
        <p:spPr>
          <a:xfrm>
            <a:off x="6400800" y="4251960"/>
            <a:ext cx="2240280" cy="169164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Plus SEJPME II — joint education expands at this level.</a:t>
            </a:r>
            <a:endParaRPr lang="en-US" sz="1100" dirty="0"/>
          </a:p>
        </p:txBody>
      </p:sp>
      <p:sp>
        <p:nvSpPr>
          <p:cNvPr id="22" name="Shape 20"/>
          <p:cNvSpPr/>
          <p:nvPr/>
        </p:nvSpPr>
        <p:spPr>
          <a:xfrm>
            <a:off x="9052560" y="1737360"/>
            <a:ext cx="2606040" cy="4389120"/>
          </a:xfrm>
          <a:prstGeom prst="roundRect">
            <a:avLst>
              <a:gd name="adj" fmla="val 2807"/>
            </a:avLst>
          </a:prstGeom>
          <a:solidFill>
            <a:srgbClr val="3C3F2C"/>
          </a:solidFill>
          <a:ln/>
          <a:effectLst>
            <a:outerShdw sx="100000" sy="100000" kx="0" ky="0" algn="bl" rotWithShape="0" blurRad="76200" dist="25400" dir="2700000">
              <a:srgbClr val="000000">
                <a:alpha val="15000"/>
              </a:srgbClr>
            </a:outerShdw>
          </a:effectLst>
        </p:spPr>
      </p:sp>
      <p:sp>
        <p:nvSpPr>
          <p:cNvPr id="23" name="Shape 21"/>
          <p:cNvSpPr/>
          <p:nvPr/>
        </p:nvSpPr>
        <p:spPr>
          <a:xfrm>
            <a:off x="9944100" y="2011680"/>
            <a:ext cx="822960" cy="822960"/>
          </a:xfrm>
          <a:prstGeom prst="ellipse">
            <a:avLst/>
          </a:prstGeom>
          <a:solidFill>
            <a:srgbClr val="C9A227"/>
          </a:solidFill>
          <a:ln/>
        </p:spPr>
      </p:sp>
      <p:sp>
        <p:nvSpPr>
          <p:cNvPr id="24" name="Text 22"/>
          <p:cNvSpPr/>
          <p:nvPr/>
        </p:nvSpPr>
        <p:spPr>
          <a:xfrm>
            <a:off x="9944100" y="2011680"/>
            <a:ext cx="822960" cy="82296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SL5</a:t>
            </a:r>
            <a:endParaRPr lang="en-US" sz="1800" dirty="0"/>
          </a:p>
        </p:txBody>
      </p:sp>
      <p:sp>
        <p:nvSpPr>
          <p:cNvPr id="25" name="Text 23"/>
          <p:cNvSpPr/>
          <p:nvPr/>
        </p:nvSpPr>
        <p:spPr>
          <a:xfrm>
            <a:off x="9189720" y="2971800"/>
            <a:ext cx="23317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MLC</a:t>
            </a:r>
            <a:endParaRPr lang="en-US" sz="2200" dirty="0"/>
          </a:p>
        </p:txBody>
      </p:sp>
      <p:sp>
        <p:nvSpPr>
          <p:cNvPr id="26" name="Text 24"/>
          <p:cNvSpPr/>
          <p:nvPr/>
        </p:nvSpPr>
        <p:spPr>
          <a:xfrm>
            <a:off x="9189720" y="3474720"/>
            <a:ext cx="2331720" cy="685800"/>
          </a:xfrm>
          <a:prstGeom prst="rect">
            <a:avLst/>
          </a:prstGeom>
          <a:noFill/>
          <a:ln/>
        </p:spPr>
        <p:txBody>
          <a:bodyPr wrap="square" lIns="0" tIns="0" rIns="0" bIns="0" rtlCol="0" anchor="t"/>
          <a:lstStyle/>
          <a:p>
            <a:pPr algn="ctr" indent="0" marL="0">
              <a:buNone/>
            </a:pPr>
            <a:r>
              <a:rPr lang="en-US" sz="1200" i="1" dirty="0">
                <a:solidFill>
                  <a:srgbClr val="C9A227"/>
                </a:solidFill>
                <a:latin typeface="Calibri" pitchFamily="34" charset="0"/>
                <a:ea typeface="Calibri" pitchFamily="34" charset="-122"/>
                <a:cs typeface="Calibri" pitchFamily="34" charset="-120"/>
              </a:rPr>
              <a:t>Master Leader Course</a:t>
            </a:r>
            <a:endParaRPr lang="en-US" sz="1200" dirty="0"/>
          </a:p>
        </p:txBody>
      </p:sp>
      <p:sp>
        <p:nvSpPr>
          <p:cNvPr id="27" name="Text 25"/>
          <p:cNvSpPr/>
          <p:nvPr/>
        </p:nvSpPr>
        <p:spPr>
          <a:xfrm>
            <a:off x="9235440" y="4251960"/>
            <a:ext cx="2240280" cy="169164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Plus SEJPME II — preparing you for the most senior NCO roles.</a:t>
            </a:r>
            <a:endParaRPr lang="en-US" sz="1100" dirty="0"/>
          </a:p>
        </p:txBody>
      </p:sp>
      <p:sp>
        <p:nvSpPr>
          <p:cNvPr id="28" name="Text 26"/>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17E PROFESSIONAL DEVELOPMENT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YOUR EW TECHNICAL TRAINING PIPELINE</a:t>
            </a:r>
            <a:endParaRPr lang="en-US" sz="2600" dirty="0"/>
          </a:p>
        </p:txBody>
      </p:sp>
      <p:sp>
        <p:nvSpPr>
          <p:cNvPr id="4" name="Text 2"/>
          <p:cNvSpPr/>
          <p:nvPr/>
        </p:nvSpPr>
        <p:spPr>
          <a:xfrm>
            <a:off x="548640" y="1188720"/>
            <a:ext cx="11064240" cy="777240"/>
          </a:xfrm>
          <a:prstGeom prst="rect">
            <a:avLst/>
          </a:prstGeom>
          <a:noFill/>
          <a:ln/>
        </p:spPr>
        <p:txBody>
          <a:bodyPr wrap="square" lIns="0" tIns="0" rIns="0" bIns="0" rtlCol="0" anchor="t"/>
          <a:lstStyle/>
          <a:p>
            <a:pPr indent="0" marL="0">
              <a:buNone/>
            </a:pPr>
            <a:r>
              <a:rPr lang="en-US" sz="1400" dirty="0">
                <a:solidFill>
                  <a:srgbClr val="2B2B25"/>
                </a:solidFill>
                <a:latin typeface="Calibri" pitchFamily="34" charset="0"/>
                <a:ea typeface="Calibri" pitchFamily="34" charset="-122"/>
                <a:cs typeface="Calibri" pitchFamily="34" charset="-120"/>
              </a:rPr>
              <a:t>Beyond leadership schools, your career map lists a recurring set of EW-specific technical courses (the "SI" series) that show up again and again as Career/Foundry Improvement options. These build your hands-on technical depth.</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4023360"/>
        </p:xfrm>
        <a:graphic>
          <a:graphicData uri="http://schemas.openxmlformats.org/drawingml/2006/table">
            <a:tbl>
              <a:tblPr/>
              <a:tblGrid>
                <a:gridCol w="5029200"/>
                <a:gridCol w="6035040"/>
              </a:tblGrid>
              <a:tr h="5303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Course</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Builds</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530352">
                <a:tc>
                  <a:txBody>
                    <a:bodyPr/>
                    <a:lstStyle/>
                    <a:p>
                      <a:pPr indent="0" marL="0">
                        <a:buNone/>
                      </a:pPr>
                      <a:r>
                        <a:rPr lang="en-US" sz="1200" b="1" dirty="0">
                          <a:solidFill>
                            <a:srgbClr val="2B2B25"/>
                          </a:solidFill>
                          <a:latin typeface="Calibri" pitchFamily="34" charset="0"/>
                          <a:ea typeface="Calibri" pitchFamily="34" charset="-122"/>
                          <a:cs typeface="Calibri" pitchFamily="34" charset="-120"/>
                        </a:rPr>
                        <a:t>SI308 — Advanced Threat Emitter</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200" dirty="0">
                          <a:solidFill>
                            <a:srgbClr val="2B2B25"/>
                          </a:solidFill>
                          <a:latin typeface="Calibri" pitchFamily="34" charset="0"/>
                          <a:ea typeface="Calibri" pitchFamily="34" charset="-122"/>
                          <a:cs typeface="Calibri" pitchFamily="34" charset="-120"/>
                        </a:rPr>
                        <a:t>Deeper understanding of threat signal sources you'll encounter</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30352">
                <a:tc>
                  <a:txBody>
                    <a:bodyPr/>
                    <a:lstStyle/>
                    <a:p>
                      <a:pPr indent="0" marL="0">
                        <a:buNone/>
                      </a:pPr>
                      <a:r>
                        <a:rPr lang="en-US" sz="1200" b="1" dirty="0">
                          <a:solidFill>
                            <a:srgbClr val="2B2B25"/>
                          </a:solidFill>
                          <a:latin typeface="Calibri" pitchFamily="34" charset="0"/>
                          <a:ea typeface="Calibri" pitchFamily="34" charset="-122"/>
                          <a:cs typeface="Calibri" pitchFamily="34" charset="-120"/>
                        </a:rPr>
                        <a:t>SI310 — Digital Mobile Radio</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200" dirty="0">
                          <a:solidFill>
                            <a:srgbClr val="2B2B25"/>
                          </a:solidFill>
                          <a:latin typeface="Calibri" pitchFamily="34" charset="0"/>
                          <a:ea typeface="Calibri" pitchFamily="34" charset="-122"/>
                          <a:cs typeface="Calibri" pitchFamily="34" charset="-120"/>
                        </a:rPr>
                        <a:t>Technical proficiency on digital radio systems</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30352">
                <a:tc>
                  <a:txBody>
                    <a:bodyPr/>
                    <a:lstStyle/>
                    <a:p>
                      <a:pPr indent="0" marL="0">
                        <a:buNone/>
                      </a:pPr>
                      <a:r>
                        <a:rPr lang="en-US" sz="1200" b="1" dirty="0">
                          <a:solidFill>
                            <a:srgbClr val="2B2B25"/>
                          </a:solidFill>
                          <a:latin typeface="Calibri" pitchFamily="34" charset="0"/>
                          <a:ea typeface="Calibri" pitchFamily="34" charset="-122"/>
                          <a:cs typeface="Calibri" pitchFamily="34" charset="-120"/>
                        </a:rPr>
                        <a:t>SI311 — Low Level Voice Intercept (LLVI) Operator</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200" dirty="0">
                          <a:solidFill>
                            <a:srgbClr val="2B2B25"/>
                          </a:solidFill>
                          <a:latin typeface="Calibri" pitchFamily="34" charset="0"/>
                          <a:ea typeface="Calibri" pitchFamily="34" charset="-122"/>
                          <a:cs typeface="Calibri" pitchFamily="34" charset="-120"/>
                        </a:rPr>
                        <a:t>Signals intercept operations at the operator level</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30352">
                <a:tc>
                  <a:txBody>
                    <a:bodyPr/>
                    <a:lstStyle/>
                    <a:p>
                      <a:pPr indent="0" marL="0">
                        <a:buNone/>
                      </a:pPr>
                      <a:r>
                        <a:rPr lang="en-US" sz="1200" b="1" dirty="0">
                          <a:solidFill>
                            <a:srgbClr val="2B2B25"/>
                          </a:solidFill>
                          <a:latin typeface="Calibri" pitchFamily="34" charset="0"/>
                          <a:ea typeface="Calibri" pitchFamily="34" charset="-122"/>
                          <a:cs typeface="Calibri" pitchFamily="34" charset="-120"/>
                        </a:rPr>
                        <a:t>SI316 — SIGINT/EW Advanced Radio &amp; Antenna Theory</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200" dirty="0">
                          <a:solidFill>
                            <a:srgbClr val="2B2B25"/>
                          </a:solidFill>
                          <a:latin typeface="Calibri" pitchFamily="34" charset="0"/>
                          <a:ea typeface="Calibri" pitchFamily="34" charset="-122"/>
                          <a:cs typeface="Calibri" pitchFamily="34" charset="-120"/>
                        </a:rPr>
                        <a:t>The RF theory behind both SIGINT and EW systems</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30352">
                <a:tc>
                  <a:txBody>
                    <a:bodyPr/>
                    <a:lstStyle/>
                    <a:p>
                      <a:pPr indent="0" marL="0">
                        <a:buNone/>
                      </a:pPr>
                      <a:r>
                        <a:rPr lang="en-US" sz="1200" b="1" dirty="0">
                          <a:solidFill>
                            <a:srgbClr val="2B2B25"/>
                          </a:solidFill>
                          <a:latin typeface="Calibri" pitchFamily="34" charset="0"/>
                          <a:ea typeface="Calibri" pitchFamily="34" charset="-122"/>
                          <a:cs typeface="Calibri" pitchFamily="34" charset="-120"/>
                        </a:rPr>
                        <a:t>SI319 — Advanced RF &amp; Applied Radio Theory</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200" dirty="0">
                          <a:solidFill>
                            <a:srgbClr val="2B2B25"/>
                          </a:solidFill>
                          <a:latin typeface="Calibri" pitchFamily="34" charset="0"/>
                          <a:ea typeface="Calibri" pitchFamily="34" charset="-122"/>
                          <a:cs typeface="Calibri" pitchFamily="34" charset="-120"/>
                        </a:rPr>
                        <a:t>Applied radio frequency skills beyond entry level</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530352">
                <a:tc>
                  <a:txBody>
                    <a:bodyPr/>
                    <a:lstStyle/>
                    <a:p>
                      <a:pPr indent="0" marL="0">
                        <a:buNone/>
                      </a:pPr>
                      <a:r>
                        <a:rPr lang="en-US" sz="1200" b="1" dirty="0">
                          <a:solidFill>
                            <a:srgbClr val="2B2B25"/>
                          </a:solidFill>
                          <a:latin typeface="Calibri" pitchFamily="34" charset="0"/>
                          <a:ea typeface="Calibri" pitchFamily="34" charset="-122"/>
                          <a:cs typeface="Calibri" pitchFamily="34" charset="-120"/>
                        </a:rPr>
                        <a:t>SI320 — Electromagnetic Preparation of the Battlefield</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200" dirty="0">
                          <a:solidFill>
                            <a:srgbClr val="2B2B25"/>
                          </a:solidFill>
                          <a:latin typeface="Calibri" pitchFamily="34" charset="0"/>
                          <a:ea typeface="Calibri" pitchFamily="34" charset="-122"/>
                          <a:cs typeface="Calibri" pitchFamily="34" charset="-120"/>
                        </a:rPr>
                        <a:t>Planning EW support into the broader battlefield picture</a:t>
                      </a:r>
                      <a:endParaRPr lang="en-US" sz="12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6" name="Text 3"/>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65760"/>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BROADENING &amp; TRANSFORMATIONAL OPPORTUNITIES</a:t>
            </a:r>
            <a:endParaRPr lang="en-US" sz="2600" dirty="0"/>
          </a:p>
        </p:txBody>
      </p:sp>
      <p:sp>
        <p:nvSpPr>
          <p:cNvPr id="3" name="Text 1"/>
          <p:cNvSpPr/>
          <p:nvPr/>
        </p:nvSpPr>
        <p:spPr>
          <a:xfrm>
            <a:off x="548640" y="960120"/>
            <a:ext cx="10058400" cy="365760"/>
          </a:xfrm>
          <a:prstGeom prst="rect">
            <a:avLst/>
          </a:prstGeom>
          <a:noFill/>
          <a:ln/>
        </p:spPr>
        <p:txBody>
          <a:bodyPr wrap="square" lIns="0" tIns="0" rIns="0" bIns="0" rtlCol="0" anchor="ctr"/>
          <a:lstStyle/>
          <a:p>
            <a:pPr indent="0" marL="0">
              <a:buNone/>
            </a:pPr>
            <a:r>
              <a:rPr lang="en-US" sz="1400" i="1" dirty="0">
                <a:solidFill>
                  <a:srgbClr val="C9A227"/>
                </a:solidFill>
                <a:latin typeface="Calibri" pitchFamily="34" charset="0"/>
                <a:ea typeface="Calibri" pitchFamily="34" charset="-122"/>
                <a:cs typeface="Calibri" pitchFamily="34" charset="-120"/>
              </a:rPr>
              <a:t>A sample of what's available across your career, from your career map</a:t>
            </a:r>
            <a:endParaRPr lang="en-US" sz="1400" dirty="0"/>
          </a:p>
        </p:txBody>
      </p:sp>
      <p:sp>
        <p:nvSpPr>
          <p:cNvPr id="4" name="Shape 2"/>
          <p:cNvSpPr/>
          <p:nvPr/>
        </p:nvSpPr>
        <p:spPr>
          <a:xfrm>
            <a:off x="548640" y="1691640"/>
            <a:ext cx="3611880" cy="4480560"/>
          </a:xfrm>
          <a:prstGeom prst="roundRect">
            <a:avLst>
              <a:gd name="adj" fmla="val 2025"/>
            </a:avLst>
          </a:prstGeom>
          <a:solidFill>
            <a:srgbClr val="3C3F2C"/>
          </a:solidFill>
          <a:ln/>
          <a:effectLst>
            <a:outerShdw sx="100000" sy="100000" kx="0" ky="0" algn="bl" rotWithShape="0" blurRad="76200" dist="25400" dir="2700000">
              <a:srgbClr val="000000">
                <a:alpha val="15000"/>
              </a:srgbClr>
            </a:outerShdw>
          </a:effectLst>
        </p:spPr>
      </p:sp>
      <p:sp>
        <p:nvSpPr>
          <p:cNvPr id="5" name="Text 3"/>
          <p:cNvSpPr/>
          <p:nvPr/>
        </p:nvSpPr>
        <p:spPr>
          <a:xfrm>
            <a:off x="777240" y="1920240"/>
            <a:ext cx="3154680" cy="45720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Early Career (SL1-2)</a:t>
            </a:r>
            <a:endParaRPr lang="en-US" sz="1500" dirty="0"/>
          </a:p>
        </p:txBody>
      </p:sp>
      <p:sp>
        <p:nvSpPr>
          <p:cNvPr id="6" name="Text 4"/>
          <p:cNvSpPr/>
          <p:nvPr/>
        </p:nvSpPr>
        <p:spPr>
          <a:xfrm>
            <a:off x="777240" y="2468880"/>
            <a:ext cx="3154680" cy="3520440"/>
          </a:xfrm>
          <a:prstGeom prst="rect">
            <a:avLst/>
          </a:prstGeom>
          <a:noFill/>
          <a:ln/>
        </p:spPr>
        <p:txBody>
          <a:bodyPr wrap="square" lIns="0" tIns="0" rIns="0" bIns="0" rtlCol="0" anchor="t"/>
          <a:lstStyle/>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Ranger Course</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Air Assault</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Basic Airborne Course (BAC)</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Jumpmaster</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C-UAS Awareness/Operator Course</a:t>
            </a:r>
            <a:endParaRPr lang="en-US" sz="1200" dirty="0"/>
          </a:p>
        </p:txBody>
      </p:sp>
      <p:sp>
        <p:nvSpPr>
          <p:cNvPr id="7" name="Shape 5"/>
          <p:cNvSpPr/>
          <p:nvPr/>
        </p:nvSpPr>
        <p:spPr>
          <a:xfrm>
            <a:off x="4297680" y="1691640"/>
            <a:ext cx="3611880" cy="4480560"/>
          </a:xfrm>
          <a:prstGeom prst="roundRect">
            <a:avLst>
              <a:gd name="adj" fmla="val 2025"/>
            </a:avLst>
          </a:prstGeom>
          <a:solidFill>
            <a:srgbClr val="3C3F2C"/>
          </a:solidFill>
          <a:ln/>
          <a:effectLst>
            <a:outerShdw sx="100000" sy="100000" kx="0" ky="0" algn="bl" rotWithShape="0" blurRad="76200" dist="25400" dir="2700000">
              <a:srgbClr val="000000">
                <a:alpha val="15000"/>
              </a:srgbClr>
            </a:outerShdw>
          </a:effectLst>
        </p:spPr>
      </p:sp>
      <p:sp>
        <p:nvSpPr>
          <p:cNvPr id="8" name="Text 6"/>
          <p:cNvSpPr/>
          <p:nvPr/>
        </p:nvSpPr>
        <p:spPr>
          <a:xfrm>
            <a:off x="4526280" y="1920240"/>
            <a:ext cx="3154680" cy="45720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Mid Career (SL3-4)</a:t>
            </a:r>
            <a:endParaRPr lang="en-US" sz="1500" dirty="0"/>
          </a:p>
        </p:txBody>
      </p:sp>
      <p:sp>
        <p:nvSpPr>
          <p:cNvPr id="9" name="Text 7"/>
          <p:cNvSpPr/>
          <p:nvPr/>
        </p:nvSpPr>
        <p:spPr>
          <a:xfrm>
            <a:off x="4526280" y="2468880"/>
            <a:ext cx="3154680" cy="3520440"/>
          </a:xfrm>
          <a:prstGeom prst="rect">
            <a:avLst/>
          </a:prstGeom>
          <a:noFill/>
          <a:ln/>
        </p:spPr>
        <p:txBody>
          <a:bodyPr wrap="square" lIns="0" tIns="0" rIns="0" bIns="0" rtlCol="0" anchor="t"/>
          <a:lstStyle/>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Cyber Operations Planners Course (COPC)</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Army Mountain Warfare School (AMWS)</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Joint Targeting Staff Course</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Army Space Cadre Basic</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C-SUAS Planner</a:t>
            </a:r>
            <a:endParaRPr lang="en-US" sz="1200" dirty="0"/>
          </a:p>
        </p:txBody>
      </p:sp>
      <p:sp>
        <p:nvSpPr>
          <p:cNvPr id="10" name="Shape 8"/>
          <p:cNvSpPr/>
          <p:nvPr/>
        </p:nvSpPr>
        <p:spPr>
          <a:xfrm>
            <a:off x="8046720" y="1691640"/>
            <a:ext cx="3611880" cy="4480560"/>
          </a:xfrm>
          <a:prstGeom prst="roundRect">
            <a:avLst>
              <a:gd name="adj" fmla="val 2025"/>
            </a:avLst>
          </a:prstGeom>
          <a:solidFill>
            <a:srgbClr val="3C3F2C"/>
          </a:solidFill>
          <a:ln/>
          <a:effectLst>
            <a:outerShdw sx="100000" sy="100000" kx="0" ky="0" algn="bl" rotWithShape="0" blurRad="76200" dist="25400" dir="2700000">
              <a:srgbClr val="000000">
                <a:alpha val="15000"/>
              </a:srgbClr>
            </a:outerShdw>
          </a:effectLst>
        </p:spPr>
      </p:sp>
      <p:sp>
        <p:nvSpPr>
          <p:cNvPr id="11" name="Text 9"/>
          <p:cNvSpPr/>
          <p:nvPr/>
        </p:nvSpPr>
        <p:spPr>
          <a:xfrm>
            <a:off x="8275320" y="1920240"/>
            <a:ext cx="3154680" cy="45720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Senior (SL4-5)</a:t>
            </a:r>
            <a:endParaRPr lang="en-US" sz="1500" dirty="0"/>
          </a:p>
        </p:txBody>
      </p:sp>
      <p:sp>
        <p:nvSpPr>
          <p:cNvPr id="12" name="Text 10"/>
          <p:cNvSpPr/>
          <p:nvPr/>
        </p:nvSpPr>
        <p:spPr>
          <a:xfrm>
            <a:off x="8275320" y="2468880"/>
            <a:ext cx="3154680" cy="3520440"/>
          </a:xfrm>
          <a:prstGeom prst="rect">
            <a:avLst/>
          </a:prstGeom>
          <a:noFill/>
          <a:ln/>
        </p:spPr>
        <p:txBody>
          <a:bodyPr wrap="square" lIns="0" tIns="0" rIns="0" bIns="0" rtlCol="0" anchor="t"/>
          <a:lstStyle/>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Special Technical Operations Planners Course (STOPC)</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Joint EMSO Theater Operations Course (JEMSOTOC)</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Special Warfare Brighton</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RSLC</a:t>
            </a:r>
            <a:endParaRPr lang="en-US" sz="1200" dirty="0"/>
          </a:p>
          <a:p>
            <a:pPr marL="228600" indent="-2286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Battle Staff</a:t>
            </a:r>
            <a:endParaRPr lang="en-US" sz="1200" dirty="0"/>
          </a:p>
        </p:txBody>
      </p:sp>
      <p:sp>
        <p:nvSpPr>
          <p:cNvPr id="13" name="Text 11"/>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17E PROFESSIONAL DEVELOPMENT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SELF-DEVELOPMENT: EDUCATION, BOARDS &amp; CREDENTIALS</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291840"/>
        </p:xfrm>
        <a:graphic>
          <a:graphicData uri="http://schemas.openxmlformats.org/drawingml/2006/table">
            <a:tbl>
              <a:tblPr/>
              <a:tblGrid>
                <a:gridCol w="1920240"/>
                <a:gridCol w="1828800"/>
                <a:gridCol w="1828800"/>
                <a:gridCol w="1828800"/>
                <a:gridCol w="1828800"/>
                <a:gridCol w="1828800"/>
              </a:tblGrid>
              <a:tr h="8229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Category</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SL1</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SL2</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SL3</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SL4</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SL5</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822960">
                <a:tc>
                  <a:txBody>
                    <a:bodyPr/>
                    <a:lstStyle/>
                    <a:p>
                      <a:pPr algn="ctr" indent="0" marL="0">
                        <a:buNone/>
                      </a:pPr>
                      <a:r>
                        <a:rPr lang="en-US" sz="1150" b="1" dirty="0">
                          <a:solidFill>
                            <a:srgbClr val="2B2B25"/>
                          </a:solidFill>
                          <a:latin typeface="Calibri" pitchFamily="34" charset="0"/>
                          <a:ea typeface="Calibri" pitchFamily="34" charset="-122"/>
                          <a:cs typeface="Calibri" pitchFamily="34" charset="-120"/>
                        </a:rPr>
                        <a:t>Civilian Education</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Associate's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Begin Bachelor's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Complete Bachelor's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Begin Master's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Complete Master's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822960">
                <a:tc>
                  <a:txBody>
                    <a:bodyPr/>
                    <a:lstStyle/>
                    <a:p>
                      <a:pPr algn="ctr" indent="0" marL="0">
                        <a:buNone/>
                      </a:pPr>
                      <a:r>
                        <a:rPr lang="en-US" sz="1150" b="1" dirty="0">
                          <a:solidFill>
                            <a:srgbClr val="2B2B25"/>
                          </a:solidFill>
                          <a:latin typeface="Calibri" pitchFamily="34" charset="0"/>
                          <a:ea typeface="Calibri" pitchFamily="34" charset="-122"/>
                          <a:cs typeface="Calibri" pitchFamily="34" charset="-120"/>
                        </a:rPr>
                        <a:t>Boards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SOM/SOQ/SOY</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SOM/SOQ/SOY</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SOM/SOQ/SOY, Best Squad</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Best Squad, Sgt Audie Murphy</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Best Squad, Sgt Morales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822960">
                <a:tc>
                  <a:txBody>
                    <a:bodyPr/>
                    <a:lstStyle/>
                    <a:p>
                      <a:pPr algn="ctr" indent="0" marL="0">
                        <a:buNone/>
                      </a:pPr>
                      <a:r>
                        <a:rPr lang="en-US" sz="1150" b="1" dirty="0">
                          <a:solidFill>
                            <a:srgbClr val="2B2B25"/>
                          </a:solidFill>
                          <a:latin typeface="Calibri" pitchFamily="34" charset="0"/>
                          <a:ea typeface="Calibri" pitchFamily="34" charset="-122"/>
                          <a:cs typeface="Calibri" pitchFamily="34" charset="-120"/>
                        </a:rPr>
                        <a:t>Credentials</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Army COOL</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Army COOL</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Army COOL</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Army COOL</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150" dirty="0">
                          <a:solidFill>
                            <a:srgbClr val="2B2B25"/>
                          </a:solidFill>
                          <a:latin typeface="Calibri" pitchFamily="34" charset="0"/>
                          <a:ea typeface="Calibri" pitchFamily="34" charset="-122"/>
                          <a:cs typeface="Calibri" pitchFamily="34" charset="-120"/>
                        </a:rPr>
                        <a:t>Army COOL</a:t>
                      </a:r>
                      <a:endParaRPr lang="en-US" sz="115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5" name="Text 2"/>
          <p:cNvSpPr/>
          <p:nvPr/>
        </p:nvSpPr>
        <p:spPr>
          <a:xfrm>
            <a:off x="548640" y="4846320"/>
            <a:ext cx="11064240" cy="457200"/>
          </a:xfrm>
          <a:prstGeom prst="rect">
            <a:avLst/>
          </a:prstGeom>
          <a:noFill/>
          <a:ln/>
        </p:spPr>
        <p:txBody>
          <a:bodyPr wrap="square" lIns="0" tIns="0" rIns="0" bIns="0" rtlCol="0" anchor="ctr"/>
          <a:lstStyle/>
          <a:p>
            <a:pPr indent="0" marL="0">
              <a:buNone/>
            </a:pPr>
            <a:r>
              <a:rPr lang="en-US" sz="1100" i="1" dirty="0">
                <a:solidFill>
                  <a:srgbClr val="5B7553"/>
                </a:solidFill>
                <a:latin typeface="Calibri" pitchFamily="34" charset="0"/>
                <a:ea typeface="Calibri" pitchFamily="34" charset="-122"/>
                <a:cs typeface="Calibri" pitchFamily="34" charset="-120"/>
              </a:rPr>
              <a:t>SOM/SOQ/SOY = Soldier of the Month/Quarter/Year  |  Army COOL = Credentialing Opportunities On-Line — maps your MOS to civilian certifications</a:t>
            </a:r>
            <a:endParaRPr lang="en-US" sz="1100" dirty="0"/>
          </a:p>
        </p:txBody>
      </p:sp>
      <p:sp>
        <p:nvSpPr>
          <p:cNvPr id="6" name="Text 3"/>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IS THE SOLDIER TALENT PROFILE (STP)?</a:t>
            </a:r>
            <a:endParaRPr lang="en-US" sz="2600" dirty="0"/>
          </a:p>
        </p:txBody>
      </p:sp>
      <p:sp>
        <p:nvSpPr>
          <p:cNvPr id="4" name="Text 2"/>
          <p:cNvSpPr/>
          <p:nvPr/>
        </p:nvSpPr>
        <p:spPr>
          <a:xfrm>
            <a:off x="548640" y="1234440"/>
            <a:ext cx="11064240" cy="914400"/>
          </a:xfrm>
          <a:prstGeom prst="rect">
            <a:avLst/>
          </a:prstGeom>
          <a:noFill/>
          <a:ln/>
        </p:spPr>
        <p:txBody>
          <a:bodyPr wrap="square" lIns="0" tIns="0" rIns="0" bIns="0" rtlCol="0" anchor="t"/>
          <a:lstStyle/>
          <a:p>
            <a:pPr indent="0" marL="0">
              <a:buNone/>
            </a:pPr>
            <a:r>
              <a:rPr lang="en-US" sz="1500" dirty="0">
                <a:solidFill>
                  <a:srgbClr val="2B2B25"/>
                </a:solidFill>
                <a:latin typeface="Calibri" pitchFamily="34" charset="0"/>
                <a:ea typeface="Calibri" pitchFamily="34" charset="-122"/>
                <a:cs typeface="Calibri" pitchFamily="34" charset="-120"/>
              </a:rPr>
              <a:t>The STP is your professional profile inside IPPS-A — think of it as your Army resume. It's where you document your knowledge, skills, behaviors, experience, and readiness so the Army actually knows what you bring to the table.</a:t>
            </a:r>
            <a:endParaRPr lang="en-US" sz="1500" dirty="0"/>
          </a:p>
        </p:txBody>
      </p:sp>
      <p:sp>
        <p:nvSpPr>
          <p:cNvPr id="5" name="Shape 3"/>
          <p:cNvSpPr/>
          <p:nvPr/>
        </p:nvSpPr>
        <p:spPr>
          <a:xfrm>
            <a:off x="54864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6" name="Image 0" descr="icon_search.png">    </p:cNvPr>
          <p:cNvPicPr>
            <a:picLocks noChangeAspect="1"/>
          </p:cNvPicPr>
          <p:nvPr/>
        </p:nvPicPr>
        <p:blipFill>
          <a:blip r:embed="rId1"/>
          <a:stretch>
            <a:fillRect/>
          </a:stretch>
        </p:blipFill>
        <p:spPr>
          <a:xfrm>
            <a:off x="731520" y="2560320"/>
            <a:ext cx="502920" cy="502920"/>
          </a:xfrm>
          <a:prstGeom prst="rect">
            <a:avLst/>
          </a:prstGeom>
        </p:spPr>
      </p:pic>
      <p:sp>
        <p:nvSpPr>
          <p:cNvPr id="7" name="Text 4"/>
          <p:cNvSpPr/>
          <p:nvPr/>
        </p:nvSpPr>
        <p:spPr>
          <a:xfrm>
            <a:off x="731520" y="3200400"/>
            <a:ext cx="2286000" cy="54864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Where to Find It</a:t>
            </a:r>
            <a:endParaRPr lang="en-US" sz="1400" dirty="0"/>
          </a:p>
        </p:txBody>
      </p:sp>
      <p:sp>
        <p:nvSpPr>
          <p:cNvPr id="8" name="Text 5"/>
          <p:cNvSpPr/>
          <p:nvPr/>
        </p:nvSpPr>
        <p:spPr>
          <a:xfrm>
            <a:off x="73152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Log into IPPS-A Self-Service, select the TAM Soldier Workcenter tile, then open your Talent Profile.</a:t>
            </a:r>
            <a:endParaRPr lang="en-US" sz="1150" dirty="0"/>
          </a:p>
        </p:txBody>
      </p:sp>
      <p:sp>
        <p:nvSpPr>
          <p:cNvPr id="9" name="Shape 6"/>
          <p:cNvSpPr/>
          <p:nvPr/>
        </p:nvSpPr>
        <p:spPr>
          <a:xfrm>
            <a:off x="342900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0" name="Image 1" descr="icon_tower.png">    </p:cNvPr>
          <p:cNvPicPr>
            <a:picLocks noChangeAspect="1"/>
          </p:cNvPicPr>
          <p:nvPr/>
        </p:nvPicPr>
        <p:blipFill>
          <a:blip r:embed="rId2"/>
          <a:stretch>
            <a:fillRect/>
          </a:stretch>
        </p:blipFill>
        <p:spPr>
          <a:xfrm>
            <a:off x="3611880" y="2560320"/>
            <a:ext cx="502920" cy="502920"/>
          </a:xfrm>
          <a:prstGeom prst="rect">
            <a:avLst/>
          </a:prstGeom>
        </p:spPr>
      </p:pic>
      <p:sp>
        <p:nvSpPr>
          <p:cNvPr id="11" name="Text 7"/>
          <p:cNvSpPr/>
          <p:nvPr/>
        </p:nvSpPr>
        <p:spPr>
          <a:xfrm>
            <a:off x="3611880" y="3200400"/>
            <a:ext cx="2286000" cy="54864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Powers the Marketplace</a:t>
            </a:r>
            <a:endParaRPr lang="en-US" sz="1400" dirty="0"/>
          </a:p>
        </p:txBody>
      </p:sp>
      <p:sp>
        <p:nvSpPr>
          <p:cNvPr id="12" name="Text 8"/>
          <p:cNvSpPr/>
          <p:nvPr/>
        </p:nvSpPr>
        <p:spPr>
          <a:xfrm>
            <a:off x="361188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Units view your STP when you preference an assignment — an outdated profile makes you invisible to good jobs.</a:t>
            </a:r>
            <a:endParaRPr lang="en-US" sz="1150" dirty="0"/>
          </a:p>
        </p:txBody>
      </p:sp>
      <p:sp>
        <p:nvSpPr>
          <p:cNvPr id="13" name="Shape 9"/>
          <p:cNvSpPr/>
          <p:nvPr/>
        </p:nvSpPr>
        <p:spPr>
          <a:xfrm>
            <a:off x="630936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4" name="Image 2" descr="icon_medal.png">    </p:cNvPr>
          <p:cNvPicPr>
            <a:picLocks noChangeAspect="1"/>
          </p:cNvPicPr>
          <p:nvPr/>
        </p:nvPicPr>
        <p:blipFill>
          <a:blip r:embed="rId3"/>
          <a:stretch>
            <a:fillRect/>
          </a:stretch>
        </p:blipFill>
        <p:spPr>
          <a:xfrm>
            <a:off x="6492240" y="2560320"/>
            <a:ext cx="502920" cy="502920"/>
          </a:xfrm>
          <a:prstGeom prst="rect">
            <a:avLst/>
          </a:prstGeom>
        </p:spPr>
      </p:pic>
      <p:sp>
        <p:nvSpPr>
          <p:cNvPr id="15" name="Text 10"/>
          <p:cNvSpPr/>
          <p:nvPr/>
        </p:nvSpPr>
        <p:spPr>
          <a:xfrm>
            <a:off x="6492240" y="3200400"/>
            <a:ext cx="2286000" cy="54864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Matters at Boards</a:t>
            </a:r>
            <a:endParaRPr lang="en-US" sz="1400" dirty="0"/>
          </a:p>
        </p:txBody>
      </p:sp>
      <p:sp>
        <p:nvSpPr>
          <p:cNvPr id="16" name="Text 11"/>
          <p:cNvSpPr/>
          <p:nvPr/>
        </p:nvSpPr>
        <p:spPr>
          <a:xfrm>
            <a:off x="649224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Promotion boards see your STP alongside your record — accuracy here directly affects your board packet.</a:t>
            </a:r>
            <a:endParaRPr lang="en-US" sz="1150" dirty="0"/>
          </a:p>
        </p:txBody>
      </p:sp>
      <p:sp>
        <p:nvSpPr>
          <p:cNvPr id="17" name="Shape 12"/>
          <p:cNvSpPr/>
          <p:nvPr/>
        </p:nvSpPr>
        <p:spPr>
          <a:xfrm>
            <a:off x="9189720" y="2286000"/>
            <a:ext cx="2651760" cy="374904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8" name="Image 3" descr="icon_check.png">    </p:cNvPr>
          <p:cNvPicPr>
            <a:picLocks noChangeAspect="1"/>
          </p:cNvPicPr>
          <p:nvPr/>
        </p:nvPicPr>
        <p:blipFill>
          <a:blip r:embed="rId4"/>
          <a:stretch>
            <a:fillRect/>
          </a:stretch>
        </p:blipFill>
        <p:spPr>
          <a:xfrm>
            <a:off x="9372600" y="2560320"/>
            <a:ext cx="502920" cy="502920"/>
          </a:xfrm>
          <a:prstGeom prst="rect">
            <a:avLst/>
          </a:prstGeom>
        </p:spPr>
      </p:pic>
      <p:sp>
        <p:nvSpPr>
          <p:cNvPr id="19" name="Text 13"/>
          <p:cNvSpPr/>
          <p:nvPr/>
        </p:nvSpPr>
        <p:spPr>
          <a:xfrm>
            <a:off x="9372600" y="3200400"/>
            <a:ext cx="2286000" cy="548640"/>
          </a:xfrm>
          <a:prstGeom prst="rect">
            <a:avLst/>
          </a:prstGeom>
          <a:noFill/>
          <a:ln/>
        </p:spPr>
        <p:txBody>
          <a:bodyPr wrap="square" lIns="0" tIns="0" rIns="0" bIns="0" rtlCol="0" anchor="t"/>
          <a:lstStyle/>
          <a:p>
            <a:pPr indent="0" marL="0">
              <a:buNone/>
            </a:pPr>
            <a:r>
              <a:rPr lang="en-US" sz="1400" b="1" dirty="0">
                <a:solidFill>
                  <a:srgbClr val="3C3F2C"/>
                </a:solidFill>
                <a:latin typeface="Calibri" pitchFamily="34" charset="0"/>
                <a:ea typeface="Calibri" pitchFamily="34" charset="-122"/>
                <a:cs typeface="Calibri" pitchFamily="34" charset="-120"/>
              </a:rPr>
              <a:t>It's On You</a:t>
            </a:r>
            <a:endParaRPr lang="en-US" sz="1400" dirty="0"/>
          </a:p>
        </p:txBody>
      </p:sp>
      <p:sp>
        <p:nvSpPr>
          <p:cNvPr id="20" name="Text 14"/>
          <p:cNvSpPr/>
          <p:nvPr/>
        </p:nvSpPr>
        <p:spPr>
          <a:xfrm>
            <a:off x="9372600" y="3794760"/>
            <a:ext cx="2286000" cy="205740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Nobody else updates it for you. A few minutes after every school, cert, or deployment keeps it current.</a:t>
            </a:r>
            <a:endParaRPr lang="en-US" sz="1150" dirty="0"/>
          </a:p>
        </p:txBody>
      </p:sp>
      <p:sp>
        <p:nvSpPr>
          <p:cNvPr id="21" name="Text 15"/>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5 PARTS OF YOUR STP</a:t>
            </a:r>
            <a:endParaRPr lang="en-US" sz="3000" dirty="0"/>
          </a:p>
        </p:txBody>
      </p:sp>
      <p:sp>
        <p:nvSpPr>
          <p:cNvPr id="3" name="Text 1"/>
          <p:cNvSpPr/>
          <p:nvPr/>
        </p:nvSpPr>
        <p:spPr>
          <a:xfrm>
            <a:off x="548640" y="1005840"/>
            <a:ext cx="91440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IPPS-A organizes your profile into five categories</a:t>
            </a:r>
            <a:endParaRPr lang="en-US" sz="1500" dirty="0"/>
          </a:p>
        </p:txBody>
      </p:sp>
      <p:sp>
        <p:nvSpPr>
          <p:cNvPr id="4" name="Shape 2"/>
          <p:cNvSpPr/>
          <p:nvPr/>
        </p:nvSpPr>
        <p:spPr>
          <a:xfrm>
            <a:off x="548640" y="1600200"/>
            <a:ext cx="2121408" cy="466344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5" name="Image 0" descr="icon_book.png">    </p:cNvPr>
          <p:cNvPicPr>
            <a:picLocks noChangeAspect="1"/>
          </p:cNvPicPr>
          <p:nvPr/>
        </p:nvPicPr>
        <p:blipFill>
          <a:blip r:embed="rId1"/>
          <a:stretch>
            <a:fillRect/>
          </a:stretch>
        </p:blipFill>
        <p:spPr>
          <a:xfrm>
            <a:off x="1353312" y="1874520"/>
            <a:ext cx="512064" cy="512064"/>
          </a:xfrm>
          <a:prstGeom prst="rect">
            <a:avLst/>
          </a:prstGeom>
        </p:spPr>
      </p:pic>
      <p:sp>
        <p:nvSpPr>
          <p:cNvPr id="6" name="Text 3"/>
          <p:cNvSpPr/>
          <p:nvPr/>
        </p:nvSpPr>
        <p:spPr>
          <a:xfrm>
            <a:off x="685800" y="2651760"/>
            <a:ext cx="1847088" cy="45720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Knowledge</a:t>
            </a:r>
            <a:endParaRPr lang="en-US" sz="1500" dirty="0"/>
          </a:p>
        </p:txBody>
      </p:sp>
      <p:sp>
        <p:nvSpPr>
          <p:cNvPr id="7" name="Text 4"/>
          <p:cNvSpPr/>
          <p:nvPr/>
        </p:nvSpPr>
        <p:spPr>
          <a:xfrm>
            <a:off x="685800" y="3200400"/>
            <a:ext cx="1847088" cy="288036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Military &amp; civilian education, accessions data, thesis/capstone or publications.</a:t>
            </a:r>
            <a:endParaRPr lang="en-US" sz="1100" dirty="0"/>
          </a:p>
        </p:txBody>
      </p:sp>
      <p:sp>
        <p:nvSpPr>
          <p:cNvPr id="8" name="Shape 5"/>
          <p:cNvSpPr/>
          <p:nvPr/>
        </p:nvSpPr>
        <p:spPr>
          <a:xfrm>
            <a:off x="2852928" y="1600200"/>
            <a:ext cx="2121408" cy="466344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9" name="Image 1" descr="icon_medal.png">    </p:cNvPr>
          <p:cNvPicPr>
            <a:picLocks noChangeAspect="1"/>
          </p:cNvPicPr>
          <p:nvPr/>
        </p:nvPicPr>
        <p:blipFill>
          <a:blip r:embed="rId2"/>
          <a:stretch>
            <a:fillRect/>
          </a:stretch>
        </p:blipFill>
        <p:spPr>
          <a:xfrm>
            <a:off x="3657600" y="1874520"/>
            <a:ext cx="512064" cy="512064"/>
          </a:xfrm>
          <a:prstGeom prst="rect">
            <a:avLst/>
          </a:prstGeom>
        </p:spPr>
      </p:pic>
      <p:sp>
        <p:nvSpPr>
          <p:cNvPr id="10" name="Text 6"/>
          <p:cNvSpPr/>
          <p:nvPr/>
        </p:nvSpPr>
        <p:spPr>
          <a:xfrm>
            <a:off x="2990088" y="2651760"/>
            <a:ext cx="1847088" cy="45720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Skills</a:t>
            </a:r>
            <a:endParaRPr lang="en-US" sz="1500" dirty="0"/>
          </a:p>
        </p:txBody>
      </p:sp>
      <p:sp>
        <p:nvSpPr>
          <p:cNvPr id="11" name="Text 7"/>
          <p:cNvSpPr/>
          <p:nvPr/>
        </p:nvSpPr>
        <p:spPr>
          <a:xfrm>
            <a:off x="2990088" y="3200400"/>
            <a:ext cx="1847088" cy="288036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Certifications &amp; licenses, language proficiency, awards/tabs/badges, additional duties.</a:t>
            </a:r>
            <a:endParaRPr lang="en-US" sz="1100" dirty="0"/>
          </a:p>
        </p:txBody>
      </p:sp>
      <p:sp>
        <p:nvSpPr>
          <p:cNvPr id="12" name="Shape 8"/>
          <p:cNvSpPr/>
          <p:nvPr/>
        </p:nvSpPr>
        <p:spPr>
          <a:xfrm>
            <a:off x="5157216" y="1600200"/>
            <a:ext cx="2121408" cy="466344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13" name="Image 2" descr="icon_users.png">    </p:cNvPr>
          <p:cNvPicPr>
            <a:picLocks noChangeAspect="1"/>
          </p:cNvPicPr>
          <p:nvPr/>
        </p:nvPicPr>
        <p:blipFill>
          <a:blip r:embed="rId3"/>
          <a:stretch>
            <a:fillRect/>
          </a:stretch>
        </p:blipFill>
        <p:spPr>
          <a:xfrm>
            <a:off x="5961888" y="1874520"/>
            <a:ext cx="512064" cy="512064"/>
          </a:xfrm>
          <a:prstGeom prst="rect">
            <a:avLst/>
          </a:prstGeom>
        </p:spPr>
      </p:pic>
      <p:sp>
        <p:nvSpPr>
          <p:cNvPr id="14" name="Text 9"/>
          <p:cNvSpPr/>
          <p:nvPr/>
        </p:nvSpPr>
        <p:spPr>
          <a:xfrm>
            <a:off x="5294376" y="2651760"/>
            <a:ext cx="1847088" cy="45720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Behaviors</a:t>
            </a:r>
            <a:endParaRPr lang="en-US" sz="1500" dirty="0"/>
          </a:p>
        </p:txBody>
      </p:sp>
      <p:sp>
        <p:nvSpPr>
          <p:cNvPr id="15" name="Text 10"/>
          <p:cNvSpPr/>
          <p:nvPr/>
        </p:nvSpPr>
        <p:spPr>
          <a:xfrm>
            <a:off x="5294376" y="3200400"/>
            <a:ext cx="1847088" cy="288036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Climate survey results, peer assessments, references, endorsements, goals.</a:t>
            </a:r>
            <a:endParaRPr lang="en-US" sz="1100" dirty="0"/>
          </a:p>
        </p:txBody>
      </p:sp>
      <p:sp>
        <p:nvSpPr>
          <p:cNvPr id="16" name="Shape 11"/>
          <p:cNvSpPr/>
          <p:nvPr/>
        </p:nvSpPr>
        <p:spPr>
          <a:xfrm>
            <a:off x="7461504" y="1600200"/>
            <a:ext cx="2121408" cy="466344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17" name="Image 3" descr="icon_route.png">    </p:cNvPr>
          <p:cNvPicPr>
            <a:picLocks noChangeAspect="1"/>
          </p:cNvPicPr>
          <p:nvPr/>
        </p:nvPicPr>
        <p:blipFill>
          <a:blip r:embed="rId4"/>
          <a:stretch>
            <a:fillRect/>
          </a:stretch>
        </p:blipFill>
        <p:spPr>
          <a:xfrm>
            <a:off x="8266176" y="1874520"/>
            <a:ext cx="512064" cy="512064"/>
          </a:xfrm>
          <a:prstGeom prst="rect">
            <a:avLst/>
          </a:prstGeom>
        </p:spPr>
      </p:pic>
      <p:sp>
        <p:nvSpPr>
          <p:cNvPr id="18" name="Text 12"/>
          <p:cNvSpPr/>
          <p:nvPr/>
        </p:nvSpPr>
        <p:spPr>
          <a:xfrm>
            <a:off x="7598664" y="2651760"/>
            <a:ext cx="1847088" cy="45720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Experience</a:t>
            </a:r>
            <a:endParaRPr lang="en-US" sz="1500" dirty="0"/>
          </a:p>
        </p:txBody>
      </p:sp>
      <p:sp>
        <p:nvSpPr>
          <p:cNvPr id="19" name="Text 13"/>
          <p:cNvSpPr/>
          <p:nvPr/>
        </p:nvSpPr>
        <p:spPr>
          <a:xfrm>
            <a:off x="7598664" y="3200400"/>
            <a:ext cx="1847088" cy="288036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Deployments, exercises, military and civilian work history, cultural experience.</a:t>
            </a:r>
            <a:endParaRPr lang="en-US" sz="1100" dirty="0"/>
          </a:p>
        </p:txBody>
      </p:sp>
      <p:sp>
        <p:nvSpPr>
          <p:cNvPr id="20" name="Shape 14"/>
          <p:cNvSpPr/>
          <p:nvPr/>
        </p:nvSpPr>
        <p:spPr>
          <a:xfrm>
            <a:off x="9765792" y="1600200"/>
            <a:ext cx="2121408" cy="466344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21" name="Image 4" descr="icon_shield.png">    </p:cNvPr>
          <p:cNvPicPr>
            <a:picLocks noChangeAspect="1"/>
          </p:cNvPicPr>
          <p:nvPr/>
        </p:nvPicPr>
        <p:blipFill>
          <a:blip r:embed="rId5"/>
          <a:stretch>
            <a:fillRect/>
          </a:stretch>
        </p:blipFill>
        <p:spPr>
          <a:xfrm>
            <a:off x="10570464" y="1874520"/>
            <a:ext cx="512064" cy="512064"/>
          </a:xfrm>
          <a:prstGeom prst="rect">
            <a:avLst/>
          </a:prstGeom>
        </p:spPr>
      </p:pic>
      <p:sp>
        <p:nvSpPr>
          <p:cNvPr id="22" name="Text 15"/>
          <p:cNvSpPr/>
          <p:nvPr/>
        </p:nvSpPr>
        <p:spPr>
          <a:xfrm>
            <a:off x="9902952" y="2651760"/>
            <a:ext cx="1847088" cy="45720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Readiness</a:t>
            </a:r>
            <a:endParaRPr lang="en-US" sz="1500" dirty="0"/>
          </a:p>
        </p:txBody>
      </p:sp>
      <p:sp>
        <p:nvSpPr>
          <p:cNvPr id="23" name="Text 16"/>
          <p:cNvSpPr/>
          <p:nvPr/>
        </p:nvSpPr>
        <p:spPr>
          <a:xfrm>
            <a:off x="9902952" y="3200400"/>
            <a:ext cx="1847088" cy="2880360"/>
          </a:xfrm>
          <a:prstGeom prst="rect">
            <a:avLst/>
          </a:prstGeom>
          <a:noFill/>
          <a:ln/>
        </p:spPr>
        <p:txBody>
          <a:bodyPr wrap="square" lIns="0" tIns="0" rIns="0" bIns="0" rtlCol="0" anchor="t"/>
          <a:lstStyle/>
          <a:p>
            <a:pPr algn="ctr" indent="0" marL="0">
              <a:buNone/>
            </a:pPr>
            <a:r>
              <a:rPr lang="en-US" sz="1100" dirty="0">
                <a:solidFill>
                  <a:srgbClr val="C9B896"/>
                </a:solidFill>
                <a:latin typeface="Calibri" pitchFamily="34" charset="0"/>
                <a:ea typeface="Calibri" pitchFamily="34" charset="-122"/>
                <a:cs typeface="Calibri" pitchFamily="34" charset="-120"/>
              </a:rPr>
              <a:t>Job &amp; location preferences, DA photo, medical restrictions, qualifications.</a:t>
            </a:r>
            <a:endParaRPr lang="en-US" sz="1100" dirty="0"/>
          </a:p>
        </p:txBody>
      </p:sp>
      <p:sp>
        <p:nvSpPr>
          <p:cNvPr id="24" name="Text 17"/>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17E PROFESSIONAL DEVELOPMENT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STP MISTAKES TO AVOID</a:t>
            </a:r>
            <a:endParaRPr lang="en-US" sz="3000" dirty="0"/>
          </a:p>
        </p:txBody>
      </p:sp>
      <p:sp>
        <p:nvSpPr>
          <p:cNvPr id="4" name="Shape 2"/>
          <p:cNvSpPr/>
          <p:nvPr/>
        </p:nvSpPr>
        <p:spPr>
          <a:xfrm>
            <a:off x="548640" y="155448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5" name="Image 0" descr="icon_warning.png">    </p:cNvPr>
          <p:cNvPicPr>
            <a:picLocks noChangeAspect="1"/>
          </p:cNvPicPr>
          <p:nvPr/>
        </p:nvPicPr>
        <p:blipFill>
          <a:blip r:embed="rId1"/>
          <a:stretch>
            <a:fillRect/>
          </a:stretch>
        </p:blipFill>
        <p:spPr>
          <a:xfrm>
            <a:off x="777240" y="1783080"/>
            <a:ext cx="457200" cy="457200"/>
          </a:xfrm>
          <a:prstGeom prst="rect">
            <a:avLst/>
          </a:prstGeom>
        </p:spPr>
      </p:pic>
      <p:sp>
        <p:nvSpPr>
          <p:cNvPr id="6" name="Text 3"/>
          <p:cNvSpPr/>
          <p:nvPr/>
        </p:nvSpPr>
        <p:spPr>
          <a:xfrm>
            <a:off x="1417320" y="173736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Never opening it after in-processing</a:t>
            </a:r>
            <a:endParaRPr lang="en-US" sz="1450" dirty="0"/>
          </a:p>
        </p:txBody>
      </p:sp>
      <p:sp>
        <p:nvSpPr>
          <p:cNvPr id="7" name="Text 4"/>
          <p:cNvSpPr/>
          <p:nvPr/>
        </p:nvSpPr>
        <p:spPr>
          <a:xfrm>
            <a:off x="1417320" y="242316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Most Soldiers fill out the bare minimum once and never come back — leaving years of growth undocumented.</a:t>
            </a:r>
            <a:endParaRPr lang="en-US" sz="1200" dirty="0"/>
          </a:p>
        </p:txBody>
      </p:sp>
      <p:sp>
        <p:nvSpPr>
          <p:cNvPr id="8" name="Shape 5"/>
          <p:cNvSpPr/>
          <p:nvPr/>
        </p:nvSpPr>
        <p:spPr>
          <a:xfrm>
            <a:off x="6263640" y="155448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9" name="Image 1" descr="icon_warning.png">    </p:cNvPr>
          <p:cNvPicPr>
            <a:picLocks noChangeAspect="1"/>
          </p:cNvPicPr>
          <p:nvPr/>
        </p:nvPicPr>
        <p:blipFill>
          <a:blip r:embed="rId2"/>
          <a:stretch>
            <a:fillRect/>
          </a:stretch>
        </p:blipFill>
        <p:spPr>
          <a:xfrm>
            <a:off x="6492240" y="1783080"/>
            <a:ext cx="457200" cy="457200"/>
          </a:xfrm>
          <a:prstGeom prst="rect">
            <a:avLst/>
          </a:prstGeom>
        </p:spPr>
      </p:pic>
      <p:sp>
        <p:nvSpPr>
          <p:cNvPr id="10" name="Text 6"/>
          <p:cNvSpPr/>
          <p:nvPr/>
        </p:nvSpPr>
        <p:spPr>
          <a:xfrm>
            <a:off x="7132320" y="173736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Forgetting it after every school or cert</a:t>
            </a:r>
            <a:endParaRPr lang="en-US" sz="1450" dirty="0"/>
          </a:p>
        </p:txBody>
      </p:sp>
      <p:sp>
        <p:nvSpPr>
          <p:cNvPr id="11" name="Text 7"/>
          <p:cNvSpPr/>
          <p:nvPr/>
        </p:nvSpPr>
        <p:spPr>
          <a:xfrm>
            <a:off x="7132320" y="242316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Finished a course from the career map, a certification, or a language test? Log it within the week, while it's fresh.</a:t>
            </a:r>
            <a:endParaRPr lang="en-US" sz="1200" dirty="0"/>
          </a:p>
        </p:txBody>
      </p:sp>
      <p:sp>
        <p:nvSpPr>
          <p:cNvPr id="12" name="Shape 8"/>
          <p:cNvSpPr/>
          <p:nvPr/>
        </p:nvSpPr>
        <p:spPr>
          <a:xfrm>
            <a:off x="548640" y="411480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3" name="Image 2" descr="icon_warning.png">    </p:cNvPr>
          <p:cNvPicPr>
            <a:picLocks noChangeAspect="1"/>
          </p:cNvPicPr>
          <p:nvPr/>
        </p:nvPicPr>
        <p:blipFill>
          <a:blip r:embed="rId3"/>
          <a:stretch>
            <a:fillRect/>
          </a:stretch>
        </p:blipFill>
        <p:spPr>
          <a:xfrm>
            <a:off x="777240" y="4343400"/>
            <a:ext cx="457200" cy="457200"/>
          </a:xfrm>
          <a:prstGeom prst="rect">
            <a:avLst/>
          </a:prstGeom>
        </p:spPr>
      </p:pic>
      <p:sp>
        <p:nvSpPr>
          <p:cNvPr id="14" name="Text 9"/>
          <p:cNvSpPr/>
          <p:nvPr/>
        </p:nvSpPr>
        <p:spPr>
          <a:xfrm>
            <a:off x="1417320" y="429768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Leaving job/location preferences stale</a:t>
            </a:r>
            <a:endParaRPr lang="en-US" sz="1450" dirty="0"/>
          </a:p>
        </p:txBody>
      </p:sp>
      <p:sp>
        <p:nvSpPr>
          <p:cNvPr id="15" name="Text 10"/>
          <p:cNvSpPr/>
          <p:nvPr/>
        </p:nvSpPr>
        <p:spPr>
          <a:xfrm>
            <a:off x="1417320" y="498348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Outdated Marketplace preferences can put you up for assignments you no longer want, or hide the ones you do.</a:t>
            </a:r>
            <a:endParaRPr lang="en-US" sz="1200" dirty="0"/>
          </a:p>
        </p:txBody>
      </p:sp>
      <p:sp>
        <p:nvSpPr>
          <p:cNvPr id="16" name="Shape 11"/>
          <p:cNvSpPr/>
          <p:nvPr/>
        </p:nvSpPr>
        <p:spPr>
          <a:xfrm>
            <a:off x="6263640" y="411480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7" name="Image 3" descr="icon_warning.png">    </p:cNvPr>
          <p:cNvPicPr>
            <a:picLocks noChangeAspect="1"/>
          </p:cNvPicPr>
          <p:nvPr/>
        </p:nvPicPr>
        <p:blipFill>
          <a:blip r:embed="rId4"/>
          <a:stretch>
            <a:fillRect/>
          </a:stretch>
        </p:blipFill>
        <p:spPr>
          <a:xfrm>
            <a:off x="6492240" y="4343400"/>
            <a:ext cx="457200" cy="457200"/>
          </a:xfrm>
          <a:prstGeom prst="rect">
            <a:avLst/>
          </a:prstGeom>
        </p:spPr>
      </p:pic>
      <p:sp>
        <p:nvSpPr>
          <p:cNvPr id="18" name="Text 12"/>
          <p:cNvSpPr/>
          <p:nvPr/>
        </p:nvSpPr>
        <p:spPr>
          <a:xfrm>
            <a:off x="7132320" y="429768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Ignoring it before a board</a:t>
            </a:r>
            <a:endParaRPr lang="en-US" sz="1450" dirty="0"/>
          </a:p>
        </p:txBody>
      </p:sp>
      <p:sp>
        <p:nvSpPr>
          <p:cNvPr id="19" name="Text 13"/>
          <p:cNvSpPr/>
          <p:nvPr/>
        </p:nvSpPr>
        <p:spPr>
          <a:xfrm>
            <a:off x="7132320" y="498348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Boards see your STP alongside your official record — check it well before your board month, not the week before.</a:t>
            </a:r>
            <a:endParaRPr lang="en-US" sz="1200" dirty="0"/>
          </a:p>
        </p:txBody>
      </p:sp>
      <p:sp>
        <p:nvSpPr>
          <p:cNvPr id="20" name="Text 1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17E PROFESSIONAL DEVELOPMENT  |  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Text 1"/>
          <p:cNvSpPr/>
          <p:nvPr/>
        </p:nvSpPr>
        <p:spPr>
          <a:xfrm>
            <a:off x="548640" y="41148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pic>
        <p:nvPicPr>
          <p:cNvPr id="4" name="Image 0" descr="icon_route.png">    </p:cNvPr>
          <p:cNvPicPr>
            <a:picLocks noChangeAspect="1"/>
          </p:cNvPicPr>
          <p:nvPr/>
        </p:nvPicPr>
        <p:blipFill>
          <a:blip r:embed="rId1"/>
          <a:stretch>
            <a:fillRect/>
          </a:stretch>
        </p:blipFill>
        <p:spPr>
          <a:xfrm>
            <a:off x="731520" y="1600200"/>
            <a:ext cx="457200" cy="457200"/>
          </a:xfrm>
          <a:prstGeom prst="rect">
            <a:avLst/>
          </a:prstGeom>
        </p:spPr>
      </p:pic>
      <p:sp>
        <p:nvSpPr>
          <p:cNvPr id="5" name="Text 2"/>
          <p:cNvSpPr/>
          <p:nvPr/>
        </p:nvSpPr>
        <p:spPr>
          <a:xfrm>
            <a:off x="1417320" y="155448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Your 17E Career Map (DA PAM 600-25) lays out your whole path — bookmark it</a:t>
            </a:r>
            <a:endParaRPr lang="en-US" sz="1600" dirty="0"/>
          </a:p>
        </p:txBody>
      </p:sp>
      <p:pic>
        <p:nvPicPr>
          <p:cNvPr id="6" name="Image 1" descr="icon_sitemap.png">    </p:cNvPr>
          <p:cNvPicPr>
            <a:picLocks noChangeAspect="1"/>
          </p:cNvPicPr>
          <p:nvPr/>
        </p:nvPicPr>
        <p:blipFill>
          <a:blip r:embed="rId2"/>
          <a:stretch>
            <a:fillRect/>
          </a:stretch>
        </p:blipFill>
        <p:spPr>
          <a:xfrm>
            <a:off x="731520" y="2377440"/>
            <a:ext cx="457200" cy="457200"/>
          </a:xfrm>
          <a:prstGeom prst="rect">
            <a:avLst/>
          </a:prstGeom>
        </p:spPr>
      </p:pic>
      <p:sp>
        <p:nvSpPr>
          <p:cNvPr id="7" name="Text 3"/>
          <p:cNvSpPr/>
          <p:nvPr/>
        </p:nvSpPr>
        <p:spPr>
          <a:xfrm>
            <a:off x="1417320" y="233172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Know your Retention Control Points — they drive your promotion timeline</a:t>
            </a:r>
            <a:endParaRPr lang="en-US" sz="1600" dirty="0"/>
          </a:p>
        </p:txBody>
      </p:sp>
      <p:pic>
        <p:nvPicPr>
          <p:cNvPr id="8" name="Image 2" descr="icon_grad.png">    </p:cNvPr>
          <p:cNvPicPr>
            <a:picLocks noChangeAspect="1"/>
          </p:cNvPicPr>
          <p:nvPr/>
        </p:nvPicPr>
        <p:blipFill>
          <a:blip r:embed="rId3"/>
          <a:stretch>
            <a:fillRect/>
          </a:stretch>
        </p:blipFill>
        <p:spPr>
          <a:xfrm>
            <a:off x="731520" y="3154680"/>
            <a:ext cx="457200" cy="457200"/>
          </a:xfrm>
          <a:prstGeom prst="rect">
            <a:avLst/>
          </a:prstGeom>
        </p:spPr>
      </p:pic>
      <p:sp>
        <p:nvSpPr>
          <p:cNvPr id="9" name="Text 4"/>
          <p:cNvSpPr/>
          <p:nvPr/>
        </p:nvSpPr>
        <p:spPr>
          <a:xfrm>
            <a:off x="1417320" y="310896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PME (BLC-MLC) is required; self-development (education, boards, COOL) is on you</a:t>
            </a:r>
            <a:endParaRPr lang="en-US" sz="1600" dirty="0"/>
          </a:p>
        </p:txBody>
      </p:sp>
      <p:pic>
        <p:nvPicPr>
          <p:cNvPr id="10" name="Image 3" descr="icon_check.png">    </p:cNvPr>
          <p:cNvPicPr>
            <a:picLocks noChangeAspect="1"/>
          </p:cNvPicPr>
          <p:nvPr/>
        </p:nvPicPr>
        <p:blipFill>
          <a:blip r:embed="rId4"/>
          <a:stretch>
            <a:fillRect/>
          </a:stretch>
        </p:blipFill>
        <p:spPr>
          <a:xfrm>
            <a:off x="731520" y="3931920"/>
            <a:ext cx="457200" cy="457200"/>
          </a:xfrm>
          <a:prstGeom prst="rect">
            <a:avLst/>
          </a:prstGeom>
        </p:spPr>
      </p:pic>
      <p:sp>
        <p:nvSpPr>
          <p:cNvPr id="11" name="Text 5"/>
          <p:cNvSpPr/>
          <p:nvPr/>
        </p:nvSpPr>
        <p:spPr>
          <a:xfrm>
            <a:off x="1417320" y="388620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Your STP in IPPS-A is your Army resume — keep all 5 categories current</a:t>
            </a:r>
            <a:endParaRPr lang="en-US" sz="1600" dirty="0"/>
          </a:p>
        </p:txBody>
      </p:sp>
      <p:sp>
        <p:nvSpPr>
          <p:cNvPr id="12" name="Shape 6"/>
          <p:cNvSpPr/>
          <p:nvPr/>
        </p:nvSpPr>
        <p:spPr>
          <a:xfrm>
            <a:off x="548640" y="4892040"/>
            <a:ext cx="11064240" cy="1280160"/>
          </a:xfrm>
          <a:prstGeom prst="roundRect">
            <a:avLst>
              <a:gd name="adj" fmla="val 5714"/>
            </a:avLst>
          </a:prstGeom>
          <a:solidFill>
            <a:srgbClr val="3C3F2C"/>
          </a:solidFill>
          <a:ln/>
          <a:effectLst>
            <a:outerShdw sx="100000" sy="100000" kx="0" ky="0" algn="bl" rotWithShape="0" blurRad="76200" dist="25400" dir="2700000">
              <a:srgbClr val="000000">
                <a:alpha val="15000"/>
              </a:srgbClr>
            </a:outerShdw>
          </a:effectLst>
        </p:spPr>
      </p:sp>
      <p:pic>
        <p:nvPicPr>
          <p:cNvPr id="13" name="Image 4" descr="icon_question.png">    </p:cNvPr>
          <p:cNvPicPr>
            <a:picLocks noChangeAspect="1"/>
          </p:cNvPicPr>
          <p:nvPr/>
        </p:nvPicPr>
        <p:blipFill>
          <a:blip r:embed="rId5"/>
          <a:stretch>
            <a:fillRect/>
          </a:stretch>
        </p:blipFill>
        <p:spPr>
          <a:xfrm>
            <a:off x="822960" y="5166360"/>
            <a:ext cx="502920" cy="502920"/>
          </a:xfrm>
          <a:prstGeom prst="rect">
            <a:avLst/>
          </a:prstGeom>
        </p:spPr>
      </p:pic>
      <p:sp>
        <p:nvSpPr>
          <p:cNvPr id="14" name="Text 7"/>
          <p:cNvSpPr/>
          <p:nvPr/>
        </p:nvSpPr>
        <p:spPr>
          <a:xfrm>
            <a:off x="1508760" y="5074920"/>
            <a:ext cx="9784080" cy="1005840"/>
          </a:xfrm>
          <a:prstGeom prst="rect">
            <a:avLst/>
          </a:prstGeom>
          <a:noFill/>
          <a:ln/>
        </p:spPr>
        <p:txBody>
          <a:bodyPr wrap="square" lIns="0" tIns="0" rIns="0" bIns="0" rtlCol="0" anchor="ctr"/>
          <a:lstStyle/>
          <a:p>
            <a:pPr indent="0" marL="0">
              <a:buNone/>
            </a:pPr>
            <a:r>
              <a:rPr lang="en-US" sz="1350" b="1" dirty="0">
                <a:solidFill>
                  <a:srgbClr val="C9A227"/>
                </a:solidFill>
                <a:latin typeface="Calibri" pitchFamily="34" charset="0"/>
                <a:ea typeface="Calibri" pitchFamily="34" charset="-122"/>
                <a:cs typeface="Calibri" pitchFamily="34" charset="-120"/>
              </a:rPr>
              <a:t>Before we close — </a:t>
            </a:r>
            <a:pPr indent="0" marL="0">
              <a:buNone/>
            </a:pPr>
            <a:r>
              <a:rPr lang="en-US" sz="1350" dirty="0">
                <a:solidFill>
                  <a:srgbClr val="FFFFFF"/>
                </a:solidFill>
                <a:latin typeface="Calibri" pitchFamily="34" charset="0"/>
                <a:ea typeface="Calibri" pitchFamily="34" charset="-122"/>
                <a:cs typeface="Calibri" pitchFamily="34" charset="-120"/>
              </a:rPr>
              <a:t>Log into IPPS-A this week and open your Talent Profile. Which of the 5 categories needs the most work?</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Development &amp; Reading Your STP — 17E</dc:title>
  <dc:subject>PptxGenJS Presentation</dc:subject>
  <dc:creator>US Army Cyber School</dc:creator>
  <cp:lastModifiedBy>US Army Cyber School</cp:lastModifiedBy>
  <cp:revision>1</cp:revision>
  <dcterms:created xsi:type="dcterms:W3CDTF">2026-07-06T23:45:13Z</dcterms:created>
  <dcterms:modified xsi:type="dcterms:W3CDTF">2026-07-06T23:45:13Z</dcterms:modified>
</cp:coreProperties>
</file>