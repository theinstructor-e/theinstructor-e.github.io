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0:00-1:00. Welcome the class. Ask: 'Who's already been to ACS for something?' Usually a few hands for financial counseling if you taught the TSP/LES briefs, but most won't know the full range of what's available. Tell them ACS is free, on nearly every installation, and most Soldiers only discover it during a crisis instead of before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1:00-2:00. Quick walkthrough, don't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2:00-4:30. Reassure the class that using ACS is not a sign of weakness or a career red flag - it's a resourcing tool commanders expect Soldiers to use. Mention that not every program is available at every installation, so it's worth checking with your local ACS for what's offered where you're stationed.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4:30-8:00. If you taught the earlier TSP or LES briefs, tie this back directly - FRP is the same office to visit with any confusing LES deduction or TSP question. On AER, clarify it's not a handout - it's a loan or grant for a genuine emergency, processed quickly, and usually repaid through an allotment.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8:00-11:00. Keep this matter-of-fact and non-judgmental - the goal is awareness that FAP exists as a resource, not a punitive program. New Parent Support in particular is worth highlighting for any Soldiers who are pregnant, expecting, or have young children - it's a genuinely well-liked, low-key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11:00-14:00. Recommend Soldiers visit RRP at their CURRENT installation as soon as they get PCS orders, not after arriving at the new one - sponsorship requests and pre-arrival info only help if requested early. The Lending Closet is especially valuable for young Soldiers PCSing for the first time with a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14:00-17:00. If Soldiers in the class have spouses, encourage them to pass this along directly - ERP is one of the most requested but underused programs precisely because Soldiers, not spouses, are the ones sitting in these briefings. Mention the Military Spouse Employment Partnership as a related 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17:00-20:00. Quick tour of six more programs. If your unit has EFMP-enrolled Families or Soldiers who've experienced a loss in their unit, those two programs (EFMP and SOS) are worth a slightly longer pause. AFAP is worth mentioning since it's the direct channel Soldiers have to actually change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20:00-22:00. Keep this practical - the goal is that every Soldier leaves knowing exactly how to find their local ACS this week, not just that ACS exists in the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22:00-25:00. Recap the four takeaways. Close with the discussion prompt, and offer to help connect anyone with a specific need to the right ACS program after class, privately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61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3C3F2C">
              <a:alpha val="60000"/>
            </a:srgbClr>
          </a:solidFill>
          <a:ln/>
        </p:spPr>
      </p:sp>
      <p:sp>
        <p:nvSpPr>
          <p:cNvPr id="3" name="Shape 1"/>
          <p:cNvSpPr/>
          <p:nvPr/>
        </p:nvSpPr>
        <p:spPr>
          <a:xfrm>
            <a:off x="-1828800" y="4572000"/>
            <a:ext cx="4114800" cy="4114800"/>
          </a:xfrm>
          <a:prstGeom prst="ellipse">
            <a:avLst/>
          </a:prstGeom>
          <a:solidFill>
            <a:srgbClr val="3C3F2C">
              <a:alpha val="60000"/>
            </a:srgbClr>
          </a:solidFill>
          <a:ln/>
        </p:spPr>
      </p:sp>
      <p:pic>
        <p:nvPicPr>
          <p:cNvPr id="4" name="Image 0" descr="icon_heart.png">    </p:cNvPr>
          <p:cNvPicPr>
            <a:picLocks noChangeAspect="1"/>
          </p:cNvPicPr>
          <p:nvPr/>
        </p:nvPicPr>
        <p:blipFill>
          <a:blip r:embed="rId1"/>
          <a:stretch>
            <a:fillRect/>
          </a:stretch>
        </p:blipFill>
        <p:spPr>
          <a:xfrm>
            <a:off x="822960" y="1280160"/>
            <a:ext cx="1005840" cy="1005840"/>
          </a:xfrm>
          <a:prstGeom prst="rect">
            <a:avLst/>
          </a:prstGeom>
        </p:spPr>
      </p:pic>
      <p:sp>
        <p:nvSpPr>
          <p:cNvPr id="5" name="Text 2"/>
          <p:cNvSpPr/>
          <p:nvPr/>
        </p:nvSpPr>
        <p:spPr>
          <a:xfrm>
            <a:off x="822960" y="2514600"/>
            <a:ext cx="1033272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ARMY COMMUNITY SERVICE</a:t>
            </a:r>
            <a:endParaRPr lang="en-US" sz="3400" dirty="0"/>
          </a:p>
        </p:txBody>
      </p:sp>
      <p:sp>
        <p:nvSpPr>
          <p:cNvPr id="6" name="Text 3"/>
          <p:cNvSpPr/>
          <p:nvPr/>
        </p:nvSpPr>
        <p:spPr>
          <a:xfrm>
            <a:off x="822960" y="3291840"/>
            <a:ext cx="10058400" cy="548640"/>
          </a:xfrm>
          <a:prstGeom prst="rect">
            <a:avLst/>
          </a:prstGeom>
          <a:noFill/>
          <a:ln/>
        </p:spPr>
        <p:txBody>
          <a:bodyPr wrap="square" lIns="0" tIns="0" rIns="0" bIns="0" rtlCol="0" anchor="ctr"/>
          <a:lstStyle/>
          <a:p>
            <a:pPr indent="0" marL="0">
              <a:buNone/>
            </a:pPr>
            <a:r>
              <a:rPr lang="en-US" sz="1900" i="1" dirty="0">
                <a:solidFill>
                  <a:srgbClr val="C9A227"/>
                </a:solidFill>
                <a:latin typeface="Calibri" pitchFamily="34" charset="0"/>
                <a:ea typeface="Calibri" pitchFamily="34" charset="-122"/>
                <a:cs typeface="Calibri" pitchFamily="34" charset="-120"/>
              </a:rPr>
              <a:t>The Support Network You're Already Paying For</a:t>
            </a:r>
            <a:endParaRPr lang="en-US" sz="1900" dirty="0"/>
          </a:p>
        </p:txBody>
      </p:sp>
      <p:sp>
        <p:nvSpPr>
          <p:cNvPr id="7" name="Text 4"/>
          <p:cNvSpPr/>
          <p:nvPr/>
        </p:nvSpPr>
        <p:spPr>
          <a:xfrm>
            <a:off x="822960" y="5943600"/>
            <a:ext cx="10058400" cy="365760"/>
          </a:xfrm>
          <a:prstGeom prst="rect">
            <a:avLst/>
          </a:prstGeom>
          <a:noFill/>
          <a:ln/>
        </p:spPr>
        <p:txBody>
          <a:bodyPr wrap="square" lIns="0" tIns="0" rIns="0" bIns="0" rtlCol="0" anchor="ctr"/>
          <a:lstStyle/>
          <a:p>
            <a:pPr indent="0" marL="0">
              <a:buNone/>
            </a:pPr>
            <a:r>
              <a:rPr lang="en-US" sz="1400" dirty="0">
                <a:solidFill>
                  <a:srgbClr val="C9B896"/>
                </a:solidFill>
                <a:latin typeface="Calibri" pitchFamily="34" charset="0"/>
                <a:ea typeface="Calibri" pitchFamily="34" charset="-122"/>
                <a:cs typeface="Calibri" pitchFamily="34" charset="-120"/>
              </a:rPr>
              <a:t>A 25-Minute Briefing for New Soldiers  |  U.S. Army Cyber School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WE'LL COVER TODAY</a:t>
            </a:r>
            <a:endParaRPr lang="en-US" sz="3000" dirty="0"/>
          </a:p>
        </p:txBody>
      </p:sp>
      <p:sp>
        <p:nvSpPr>
          <p:cNvPr id="4" name="Shape 2"/>
          <p:cNvSpPr/>
          <p:nvPr/>
        </p:nvSpPr>
        <p:spPr>
          <a:xfrm>
            <a:off x="548640" y="1463040"/>
            <a:ext cx="457200" cy="457200"/>
          </a:xfrm>
          <a:prstGeom prst="ellipse">
            <a:avLst/>
          </a:prstGeom>
          <a:solidFill>
            <a:srgbClr val="C9A227"/>
          </a:solidFill>
          <a:ln/>
        </p:spPr>
      </p:sp>
      <p:sp>
        <p:nvSpPr>
          <p:cNvPr id="5" name="Text 3"/>
          <p:cNvSpPr/>
          <p:nvPr/>
        </p:nvSpPr>
        <p:spPr>
          <a:xfrm>
            <a:off x="548640" y="146304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43000" y="141732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What ACS is and who it's for</a:t>
            </a:r>
            <a:endParaRPr lang="en-US" sz="1400" dirty="0"/>
          </a:p>
        </p:txBody>
      </p:sp>
      <p:sp>
        <p:nvSpPr>
          <p:cNvPr id="7" name="Shape 5"/>
          <p:cNvSpPr/>
          <p:nvPr/>
        </p:nvSpPr>
        <p:spPr>
          <a:xfrm>
            <a:off x="6263640" y="1463040"/>
            <a:ext cx="457200" cy="457200"/>
          </a:xfrm>
          <a:prstGeom prst="ellipse">
            <a:avLst/>
          </a:prstGeom>
          <a:solidFill>
            <a:srgbClr val="C9A227"/>
          </a:solidFill>
          <a:ln/>
        </p:spPr>
      </p:sp>
      <p:sp>
        <p:nvSpPr>
          <p:cNvPr id="8" name="Text 6"/>
          <p:cNvSpPr/>
          <p:nvPr/>
        </p:nvSpPr>
        <p:spPr>
          <a:xfrm>
            <a:off x="6263640" y="146304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6858000" y="141732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Financial Readiness &amp; Army Emergency Relief (AER)</a:t>
            </a:r>
            <a:endParaRPr lang="en-US" sz="1400" dirty="0"/>
          </a:p>
        </p:txBody>
      </p:sp>
      <p:sp>
        <p:nvSpPr>
          <p:cNvPr id="10" name="Shape 8"/>
          <p:cNvSpPr/>
          <p:nvPr/>
        </p:nvSpPr>
        <p:spPr>
          <a:xfrm>
            <a:off x="548640" y="2468880"/>
            <a:ext cx="457200" cy="457200"/>
          </a:xfrm>
          <a:prstGeom prst="ellipse">
            <a:avLst/>
          </a:prstGeom>
          <a:solidFill>
            <a:srgbClr val="C9A227"/>
          </a:solidFill>
          <a:ln/>
        </p:spPr>
      </p:sp>
      <p:sp>
        <p:nvSpPr>
          <p:cNvPr id="11" name="Text 9"/>
          <p:cNvSpPr/>
          <p:nvPr/>
        </p:nvSpPr>
        <p:spPr>
          <a:xfrm>
            <a:off x="548640" y="246888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143000" y="242316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Family Advocacy Program (FAP) and New Parent Support</a:t>
            </a:r>
            <a:endParaRPr lang="en-US" sz="1400" dirty="0"/>
          </a:p>
        </p:txBody>
      </p:sp>
      <p:sp>
        <p:nvSpPr>
          <p:cNvPr id="13" name="Shape 11"/>
          <p:cNvSpPr/>
          <p:nvPr/>
        </p:nvSpPr>
        <p:spPr>
          <a:xfrm>
            <a:off x="6263640" y="2468880"/>
            <a:ext cx="457200" cy="457200"/>
          </a:xfrm>
          <a:prstGeom prst="ellipse">
            <a:avLst/>
          </a:prstGeom>
          <a:solidFill>
            <a:srgbClr val="C9A227"/>
          </a:solidFill>
          <a:ln/>
        </p:spPr>
      </p:sp>
      <p:sp>
        <p:nvSpPr>
          <p:cNvPr id="14" name="Text 12"/>
          <p:cNvSpPr/>
          <p:nvPr/>
        </p:nvSpPr>
        <p:spPr>
          <a:xfrm>
            <a:off x="6263640" y="246888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6858000" y="242316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Relocation Readiness — PCS support that actually helps</a:t>
            </a:r>
            <a:endParaRPr lang="en-US" sz="1400" dirty="0"/>
          </a:p>
        </p:txBody>
      </p:sp>
      <p:sp>
        <p:nvSpPr>
          <p:cNvPr id="16" name="Shape 14"/>
          <p:cNvSpPr/>
          <p:nvPr/>
        </p:nvSpPr>
        <p:spPr>
          <a:xfrm>
            <a:off x="548640" y="3474720"/>
            <a:ext cx="457200" cy="457200"/>
          </a:xfrm>
          <a:prstGeom prst="ellipse">
            <a:avLst/>
          </a:prstGeom>
          <a:solidFill>
            <a:srgbClr val="C9A227"/>
          </a:solidFill>
          <a:ln/>
        </p:spPr>
      </p:sp>
      <p:sp>
        <p:nvSpPr>
          <p:cNvPr id="17" name="Text 15"/>
          <p:cNvSpPr/>
          <p:nvPr/>
        </p:nvSpPr>
        <p:spPr>
          <a:xfrm>
            <a:off x="548640" y="347472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143000" y="342900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Employment Readiness for spouses and family members</a:t>
            </a:r>
            <a:endParaRPr lang="en-US" sz="1400" dirty="0"/>
          </a:p>
        </p:txBody>
      </p:sp>
      <p:sp>
        <p:nvSpPr>
          <p:cNvPr id="19" name="Shape 17"/>
          <p:cNvSpPr/>
          <p:nvPr/>
        </p:nvSpPr>
        <p:spPr>
          <a:xfrm>
            <a:off x="6263640" y="3474720"/>
            <a:ext cx="457200" cy="457200"/>
          </a:xfrm>
          <a:prstGeom prst="ellipse">
            <a:avLst/>
          </a:prstGeom>
          <a:solidFill>
            <a:srgbClr val="C9A227"/>
          </a:solidFill>
          <a:ln/>
        </p:spPr>
      </p:sp>
      <p:sp>
        <p:nvSpPr>
          <p:cNvPr id="20" name="Text 18"/>
          <p:cNvSpPr/>
          <p:nvPr/>
        </p:nvSpPr>
        <p:spPr>
          <a:xfrm>
            <a:off x="6263640" y="347472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6</a:t>
            </a:r>
            <a:endParaRPr lang="en-US" sz="1800" dirty="0"/>
          </a:p>
        </p:txBody>
      </p:sp>
      <p:sp>
        <p:nvSpPr>
          <p:cNvPr id="21" name="Text 19"/>
          <p:cNvSpPr/>
          <p:nvPr/>
        </p:nvSpPr>
        <p:spPr>
          <a:xfrm>
            <a:off x="6858000" y="342900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Other programs: EFMP, AVC, AFTB, and Survivor Outreach</a:t>
            </a:r>
            <a:endParaRPr lang="en-US" sz="1400" dirty="0"/>
          </a:p>
        </p:txBody>
      </p:sp>
      <p:sp>
        <p:nvSpPr>
          <p:cNvPr id="22" name="Text 20"/>
          <p:cNvSpPr/>
          <p:nvPr/>
        </p:nvSpPr>
        <p:spPr>
          <a:xfrm>
            <a:off x="548640" y="6035040"/>
            <a:ext cx="9144000" cy="365760"/>
          </a:xfrm>
          <a:prstGeom prst="rect">
            <a:avLst/>
          </a:prstGeom>
          <a:noFill/>
          <a:ln/>
        </p:spPr>
        <p:txBody>
          <a:bodyPr wrap="square" lIns="0" tIns="0" rIns="0" bIns="0" rtlCol="0" anchor="ctr"/>
          <a:lstStyle/>
          <a:p>
            <a:pPr indent="0" marL="0">
              <a:buNone/>
            </a:pPr>
            <a:r>
              <a:rPr lang="en-US" sz="1250" i="1" dirty="0">
                <a:solidFill>
                  <a:srgbClr val="5B7553"/>
                </a:solidFill>
                <a:latin typeface="Calibri" pitchFamily="34" charset="0"/>
                <a:ea typeface="Calibri" pitchFamily="34" charset="-122"/>
                <a:cs typeface="Calibri" pitchFamily="34" charset="-120"/>
              </a:rPr>
              <a:t>Total time: about 25 minutes, including questions</a:t>
            </a:r>
            <a:endParaRPr lang="en-US" sz="1250" dirty="0"/>
          </a:p>
        </p:txBody>
      </p:sp>
      <p:sp>
        <p:nvSpPr>
          <p:cNvPr id="23" name="Text 21"/>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ARMY COMMUNITY SERVICE  |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IS ARMY COMMUNITY SERVICE?</a:t>
            </a:r>
            <a:endParaRPr lang="en-US" sz="2800" dirty="0"/>
          </a:p>
        </p:txBody>
      </p:sp>
      <p:sp>
        <p:nvSpPr>
          <p:cNvPr id="4" name="Text 2"/>
          <p:cNvSpPr/>
          <p:nvPr/>
        </p:nvSpPr>
        <p:spPr>
          <a:xfrm>
            <a:off x="548640" y="1234440"/>
            <a:ext cx="11064240" cy="914400"/>
          </a:xfrm>
          <a:prstGeom prst="rect">
            <a:avLst/>
          </a:prstGeom>
          <a:noFill/>
          <a:ln/>
        </p:spPr>
        <p:txBody>
          <a:bodyPr wrap="square" lIns="0" tIns="0" rIns="0" bIns="0" rtlCol="0" anchor="t"/>
          <a:lstStyle/>
          <a:p>
            <a:pPr indent="0" marL="0">
              <a:buNone/>
            </a:pPr>
            <a:r>
              <a:rPr lang="en-US" sz="1500" dirty="0">
                <a:solidFill>
                  <a:srgbClr val="2B2B25"/>
                </a:solidFill>
                <a:latin typeface="Calibri" pitchFamily="34" charset="0"/>
                <a:ea typeface="Calibri" pitchFamily="34" charset="-122"/>
                <a:cs typeface="Calibri" pitchFamily="34" charset="-120"/>
              </a:rPr>
              <a:t>ACS is the Army's on-post hub for free family and personal readiness programs — everything from emergency cash assistance to help finding a job after a PCS. It exists to help Soldiers and Families handle life so the mission doesn't suffer for it.</a:t>
            </a:r>
            <a:endParaRPr lang="en-US" sz="1500" dirty="0"/>
          </a:p>
        </p:txBody>
      </p:sp>
      <p:sp>
        <p:nvSpPr>
          <p:cNvPr id="5" name="Shape 3"/>
          <p:cNvSpPr/>
          <p:nvPr/>
        </p:nvSpPr>
        <p:spPr>
          <a:xfrm>
            <a:off x="54864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6" name="Image 0" descr="icon_home.png">    </p:cNvPr>
          <p:cNvPicPr>
            <a:picLocks noChangeAspect="1"/>
          </p:cNvPicPr>
          <p:nvPr/>
        </p:nvPicPr>
        <p:blipFill>
          <a:blip r:embed="rId1"/>
          <a:stretch>
            <a:fillRect/>
          </a:stretch>
        </p:blipFill>
        <p:spPr>
          <a:xfrm>
            <a:off x="731520" y="2560320"/>
            <a:ext cx="502920" cy="502920"/>
          </a:xfrm>
          <a:prstGeom prst="rect">
            <a:avLst/>
          </a:prstGeom>
        </p:spPr>
      </p:pic>
      <p:sp>
        <p:nvSpPr>
          <p:cNvPr id="7" name="Text 4"/>
          <p:cNvSpPr/>
          <p:nvPr/>
        </p:nvSpPr>
        <p:spPr>
          <a:xfrm>
            <a:off x="731520" y="3200400"/>
            <a:ext cx="2286000" cy="54864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On Every Installation</a:t>
            </a:r>
            <a:endParaRPr lang="en-US" sz="1350" dirty="0"/>
          </a:p>
        </p:txBody>
      </p:sp>
      <p:sp>
        <p:nvSpPr>
          <p:cNvPr id="8" name="Text 5"/>
          <p:cNvSpPr/>
          <p:nvPr/>
        </p:nvSpPr>
        <p:spPr>
          <a:xfrm>
            <a:off x="731520" y="3794760"/>
            <a:ext cx="2286000" cy="205740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Nearly every Army garrison has an ACS center, typically staffed with counselors and program managers.</a:t>
            </a:r>
            <a:endParaRPr lang="en-US" sz="1150" dirty="0"/>
          </a:p>
        </p:txBody>
      </p:sp>
      <p:sp>
        <p:nvSpPr>
          <p:cNvPr id="9" name="Shape 6"/>
          <p:cNvSpPr/>
          <p:nvPr/>
        </p:nvSpPr>
        <p:spPr>
          <a:xfrm>
            <a:off x="342900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0" name="Image 1" descr="icon_check.png">    </p:cNvPr>
          <p:cNvPicPr>
            <a:picLocks noChangeAspect="1"/>
          </p:cNvPicPr>
          <p:nvPr/>
        </p:nvPicPr>
        <p:blipFill>
          <a:blip r:embed="rId2"/>
          <a:stretch>
            <a:fillRect/>
          </a:stretch>
        </p:blipFill>
        <p:spPr>
          <a:xfrm>
            <a:off x="3611880" y="2560320"/>
            <a:ext cx="502920" cy="502920"/>
          </a:xfrm>
          <a:prstGeom prst="rect">
            <a:avLst/>
          </a:prstGeom>
        </p:spPr>
      </p:pic>
      <p:sp>
        <p:nvSpPr>
          <p:cNvPr id="11" name="Text 7"/>
          <p:cNvSpPr/>
          <p:nvPr/>
        </p:nvSpPr>
        <p:spPr>
          <a:xfrm>
            <a:off x="3611880" y="3200400"/>
            <a:ext cx="2286000" cy="54864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Free to Use</a:t>
            </a:r>
            <a:endParaRPr lang="en-US" sz="1350" dirty="0"/>
          </a:p>
        </p:txBody>
      </p:sp>
      <p:sp>
        <p:nvSpPr>
          <p:cNvPr id="12" name="Text 8"/>
          <p:cNvSpPr/>
          <p:nvPr/>
        </p:nvSpPr>
        <p:spPr>
          <a:xfrm>
            <a:off x="3611880" y="3794760"/>
            <a:ext cx="2286000" cy="205740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Services are free for Soldiers, Families, retirees, and DoD civilians — no insurance or fees involved.</a:t>
            </a:r>
            <a:endParaRPr lang="en-US" sz="1150" dirty="0"/>
          </a:p>
        </p:txBody>
      </p:sp>
      <p:sp>
        <p:nvSpPr>
          <p:cNvPr id="13" name="Shape 9"/>
          <p:cNvSpPr/>
          <p:nvPr/>
        </p:nvSpPr>
        <p:spPr>
          <a:xfrm>
            <a:off x="630936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4" name="Image 2" descr="icon_heart.png">    </p:cNvPr>
          <p:cNvPicPr>
            <a:picLocks noChangeAspect="1"/>
          </p:cNvPicPr>
          <p:nvPr/>
        </p:nvPicPr>
        <p:blipFill>
          <a:blip r:embed="rId3"/>
          <a:stretch>
            <a:fillRect/>
          </a:stretch>
        </p:blipFill>
        <p:spPr>
          <a:xfrm>
            <a:off x="6492240" y="2560320"/>
            <a:ext cx="502920" cy="502920"/>
          </a:xfrm>
          <a:prstGeom prst="rect">
            <a:avLst/>
          </a:prstGeom>
        </p:spPr>
      </p:pic>
      <p:sp>
        <p:nvSpPr>
          <p:cNvPr id="15" name="Text 10"/>
          <p:cNvSpPr/>
          <p:nvPr/>
        </p:nvSpPr>
        <p:spPr>
          <a:xfrm>
            <a:off x="6492240" y="3200400"/>
            <a:ext cx="2286000" cy="54864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Built for Every Stage</a:t>
            </a:r>
            <a:endParaRPr lang="en-US" sz="1350" dirty="0"/>
          </a:p>
        </p:txBody>
      </p:sp>
      <p:sp>
        <p:nvSpPr>
          <p:cNvPr id="16" name="Text 11"/>
          <p:cNvSpPr/>
          <p:nvPr/>
        </p:nvSpPr>
        <p:spPr>
          <a:xfrm>
            <a:off x="6492240" y="3794760"/>
            <a:ext cx="2286000" cy="205740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From your first assignment through separation or retirement, and for Families, survivors, and veterans too.</a:t>
            </a:r>
            <a:endParaRPr lang="en-US" sz="1150" dirty="0"/>
          </a:p>
        </p:txBody>
      </p:sp>
      <p:sp>
        <p:nvSpPr>
          <p:cNvPr id="17" name="Shape 12"/>
          <p:cNvSpPr/>
          <p:nvPr/>
        </p:nvSpPr>
        <p:spPr>
          <a:xfrm>
            <a:off x="918972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8" name="Image 3" descr="icon_hands.png">    </p:cNvPr>
          <p:cNvPicPr>
            <a:picLocks noChangeAspect="1"/>
          </p:cNvPicPr>
          <p:nvPr/>
        </p:nvPicPr>
        <p:blipFill>
          <a:blip r:embed="rId4"/>
          <a:stretch>
            <a:fillRect/>
          </a:stretch>
        </p:blipFill>
        <p:spPr>
          <a:xfrm>
            <a:off x="9372600" y="2560320"/>
            <a:ext cx="502920" cy="502920"/>
          </a:xfrm>
          <a:prstGeom prst="rect">
            <a:avLst/>
          </a:prstGeom>
        </p:spPr>
      </p:pic>
      <p:sp>
        <p:nvSpPr>
          <p:cNvPr id="19" name="Text 13"/>
          <p:cNvSpPr/>
          <p:nvPr/>
        </p:nvSpPr>
        <p:spPr>
          <a:xfrm>
            <a:off x="9372600" y="3200400"/>
            <a:ext cx="2286000" cy="54864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Confidential Help</a:t>
            </a:r>
            <a:endParaRPr lang="en-US" sz="1350" dirty="0"/>
          </a:p>
        </p:txBody>
      </p:sp>
      <p:sp>
        <p:nvSpPr>
          <p:cNvPr id="20" name="Text 14"/>
          <p:cNvSpPr/>
          <p:nvPr/>
        </p:nvSpPr>
        <p:spPr>
          <a:xfrm>
            <a:off x="9372600" y="3794760"/>
            <a:ext cx="2286000" cy="205740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Most programs offer private, judgment-free counseling — you don't need a crisis to walk in the door.</a:t>
            </a:r>
            <a:endParaRPr lang="en-US" sz="1150" dirty="0"/>
          </a:p>
        </p:txBody>
      </p:sp>
      <p:sp>
        <p:nvSpPr>
          <p:cNvPr id="21" name="Text 15"/>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ARMY COMMUNITY SERVICE  |  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FINANCIAL READINESS &amp; ARMY EMERGENCY RELIEF</a:t>
            </a:r>
            <a:endParaRPr lang="en-US" sz="2400" dirty="0"/>
          </a:p>
        </p:txBody>
      </p:sp>
      <p:sp>
        <p:nvSpPr>
          <p:cNvPr id="4" name="Shape 2"/>
          <p:cNvSpPr/>
          <p:nvPr/>
        </p:nvSpPr>
        <p:spPr>
          <a:xfrm>
            <a:off x="548640" y="1371600"/>
            <a:ext cx="5394960" cy="4754880"/>
          </a:xfrm>
          <a:prstGeom prst="roundRect">
            <a:avLst>
              <a:gd name="adj" fmla="val 1538"/>
            </a:avLst>
          </a:prstGeom>
          <a:solidFill>
            <a:srgbClr val="F1EDE3"/>
          </a:solidFill>
          <a:ln/>
          <a:effectLst>
            <a:outerShdw sx="100000" sy="100000" kx="0" ky="0" algn="bl" rotWithShape="0" blurRad="76200" dist="25400" dir="2700000">
              <a:srgbClr val="000000">
                <a:alpha val="10000"/>
              </a:srgbClr>
            </a:outerShdw>
          </a:effectLst>
        </p:spPr>
      </p:sp>
      <p:pic>
        <p:nvPicPr>
          <p:cNvPr id="5" name="Image 0" descr="icon_wallet.png">    </p:cNvPr>
          <p:cNvPicPr>
            <a:picLocks noChangeAspect="1"/>
          </p:cNvPicPr>
          <p:nvPr/>
        </p:nvPicPr>
        <p:blipFill>
          <a:blip r:embed="rId1"/>
          <a:stretch>
            <a:fillRect/>
          </a:stretch>
        </p:blipFill>
        <p:spPr>
          <a:xfrm>
            <a:off x="822960" y="1645920"/>
            <a:ext cx="457200" cy="457200"/>
          </a:xfrm>
          <a:prstGeom prst="rect">
            <a:avLst/>
          </a:prstGeom>
        </p:spPr>
      </p:pic>
      <p:sp>
        <p:nvSpPr>
          <p:cNvPr id="6" name="Text 3"/>
          <p:cNvSpPr/>
          <p:nvPr/>
        </p:nvSpPr>
        <p:spPr>
          <a:xfrm>
            <a:off x="1463040" y="1627632"/>
            <a:ext cx="4297680" cy="548640"/>
          </a:xfrm>
          <a:prstGeom prst="rect">
            <a:avLst/>
          </a:prstGeom>
          <a:noFill/>
          <a:ln/>
        </p:spPr>
        <p:txBody>
          <a:bodyPr wrap="square" lIns="0" tIns="0" rIns="0" bIns="0" rtlCol="0" anchor="ctr"/>
          <a:lstStyle/>
          <a:p>
            <a:pPr indent="0" marL="0">
              <a:buNone/>
            </a:pPr>
            <a:r>
              <a:rPr lang="en-US" sz="1500" b="1" dirty="0">
                <a:solidFill>
                  <a:srgbClr val="3C3F2C"/>
                </a:solidFill>
                <a:latin typeface="Calibri" pitchFamily="34" charset="0"/>
                <a:ea typeface="Calibri" pitchFamily="34" charset="-122"/>
                <a:cs typeface="Calibri" pitchFamily="34" charset="-120"/>
              </a:rPr>
              <a:t>Financial Readiness Program (FRP)</a:t>
            </a:r>
            <a:endParaRPr lang="en-US" sz="1500" dirty="0"/>
          </a:p>
        </p:txBody>
      </p:sp>
      <p:sp>
        <p:nvSpPr>
          <p:cNvPr id="7" name="Text 4"/>
          <p:cNvSpPr/>
          <p:nvPr/>
        </p:nvSpPr>
        <p:spPr>
          <a:xfrm>
            <a:off x="868680" y="2331720"/>
            <a:ext cx="4754880" cy="3611880"/>
          </a:xfrm>
          <a:prstGeom prst="rect">
            <a:avLst/>
          </a:prstGeom>
          <a:noFill/>
          <a:ln/>
        </p:spPr>
        <p:txBody>
          <a:bodyPr wrap="square" lIns="0" tIns="0" rIns="0" bIns="0" rtlCol="0" anchor="t"/>
          <a:lstStyle/>
          <a:p>
            <a:pPr marL="228600" indent="-228600">
              <a:spcAft>
                <a:spcPts val="1000"/>
              </a:spcAft>
              <a:buSzPct val="100000"/>
              <a:buChar char="•"/>
            </a:pPr>
            <a:r>
              <a:rPr lang="en-US" sz="1200" dirty="0">
                <a:solidFill>
                  <a:srgbClr val="2B2B25"/>
                </a:solidFill>
                <a:latin typeface="Calibri" pitchFamily="34" charset="0"/>
                <a:ea typeface="Calibri" pitchFamily="34" charset="-122"/>
                <a:cs typeface="Calibri" pitchFamily="34" charset="-120"/>
              </a:rPr>
              <a:t>Free one-on-one financial counseling with accredited Personal Financial Specialists</a:t>
            </a:r>
            <a:endParaRPr lang="en-US" sz="1200" dirty="0"/>
          </a:p>
          <a:p>
            <a:pPr marL="228600" indent="-228600">
              <a:spcAft>
                <a:spcPts val="1000"/>
              </a:spcAft>
              <a:buSzPct val="100000"/>
              <a:buChar char="•"/>
            </a:pPr>
            <a:r>
              <a:rPr lang="en-US" sz="1200" dirty="0">
                <a:solidFill>
                  <a:srgbClr val="2B2B25"/>
                </a:solidFill>
                <a:latin typeface="Calibri" pitchFamily="34" charset="0"/>
                <a:ea typeface="Calibri" pitchFamily="34" charset="-122"/>
                <a:cs typeface="Calibri" pitchFamily="34" charset="-120"/>
              </a:rPr>
              <a:t>Budgeting, debt management, credit, and consumer protection help</a:t>
            </a:r>
            <a:endParaRPr lang="en-US" sz="1200" dirty="0"/>
          </a:p>
          <a:p>
            <a:pPr marL="228600" indent="-228600">
              <a:spcAft>
                <a:spcPts val="1000"/>
              </a:spcAft>
              <a:buSzPct val="100000"/>
              <a:buChar char="•"/>
            </a:pPr>
            <a:r>
              <a:rPr lang="en-US" sz="1200" dirty="0">
                <a:solidFill>
                  <a:srgbClr val="2B2B25"/>
                </a:solidFill>
                <a:latin typeface="Calibri" pitchFamily="34" charset="0"/>
                <a:ea typeface="Calibri" pitchFamily="34" charset="-122"/>
                <a:cs typeface="Calibri" pitchFamily="34" charset="-120"/>
              </a:rPr>
              <a:t>Financial planning for deployment, PCS, and transition out of the Army</a:t>
            </a:r>
            <a:endParaRPr lang="en-US" sz="1200" dirty="0"/>
          </a:p>
          <a:p>
            <a:pPr marL="228600" indent="-228600">
              <a:spcAft>
                <a:spcPts val="1000"/>
              </a:spcAft>
              <a:buSzPct val="100000"/>
              <a:buChar char="•"/>
            </a:pPr>
            <a:r>
              <a:rPr lang="en-US" sz="1200" dirty="0">
                <a:solidFill>
                  <a:srgbClr val="2B2B25"/>
                </a:solidFill>
                <a:latin typeface="Calibri" pitchFamily="34" charset="0"/>
                <a:ea typeface="Calibri" pitchFamily="34" charset="-122"/>
                <a:cs typeface="Calibri" pitchFamily="34" charset="-120"/>
              </a:rPr>
              <a:t>The same office that runs mandatory financial literacy training</a:t>
            </a:r>
            <a:endParaRPr lang="en-US" sz="1200" dirty="0"/>
          </a:p>
        </p:txBody>
      </p:sp>
      <p:sp>
        <p:nvSpPr>
          <p:cNvPr id="8" name="Shape 5"/>
          <p:cNvSpPr/>
          <p:nvPr/>
        </p:nvSpPr>
        <p:spPr>
          <a:xfrm>
            <a:off x="6217920" y="1371600"/>
            <a:ext cx="5394960" cy="4754880"/>
          </a:xfrm>
          <a:prstGeom prst="roundRect">
            <a:avLst>
              <a:gd name="adj" fmla="val 1538"/>
            </a:avLst>
          </a:prstGeom>
          <a:solidFill>
            <a:srgbClr val="F1EDE3"/>
          </a:solidFill>
          <a:ln/>
          <a:effectLst>
            <a:outerShdw sx="100000" sy="100000" kx="0" ky="0" algn="bl" rotWithShape="0" blurRad="76200" dist="25400" dir="2700000">
              <a:srgbClr val="000000">
                <a:alpha val="10000"/>
              </a:srgbClr>
            </a:outerShdw>
          </a:effectLst>
        </p:spPr>
      </p:sp>
      <p:pic>
        <p:nvPicPr>
          <p:cNvPr id="9" name="Image 1" descr="icon_coins.png">    </p:cNvPr>
          <p:cNvPicPr>
            <a:picLocks noChangeAspect="1"/>
          </p:cNvPicPr>
          <p:nvPr/>
        </p:nvPicPr>
        <p:blipFill>
          <a:blip r:embed="rId2"/>
          <a:stretch>
            <a:fillRect/>
          </a:stretch>
        </p:blipFill>
        <p:spPr>
          <a:xfrm>
            <a:off x="6492240" y="1645920"/>
            <a:ext cx="457200" cy="457200"/>
          </a:xfrm>
          <a:prstGeom prst="rect">
            <a:avLst/>
          </a:prstGeom>
        </p:spPr>
      </p:pic>
      <p:sp>
        <p:nvSpPr>
          <p:cNvPr id="10" name="Text 6"/>
          <p:cNvSpPr/>
          <p:nvPr/>
        </p:nvSpPr>
        <p:spPr>
          <a:xfrm>
            <a:off x="7132320" y="1627632"/>
            <a:ext cx="4297680" cy="548640"/>
          </a:xfrm>
          <a:prstGeom prst="rect">
            <a:avLst/>
          </a:prstGeom>
          <a:noFill/>
          <a:ln/>
        </p:spPr>
        <p:txBody>
          <a:bodyPr wrap="square" lIns="0" tIns="0" rIns="0" bIns="0" rtlCol="0" anchor="ctr"/>
          <a:lstStyle/>
          <a:p>
            <a:pPr indent="0" marL="0">
              <a:buNone/>
            </a:pPr>
            <a:r>
              <a:rPr lang="en-US" sz="1500" b="1" dirty="0">
                <a:solidFill>
                  <a:srgbClr val="3C3F2C"/>
                </a:solidFill>
                <a:latin typeface="Calibri" pitchFamily="34" charset="0"/>
                <a:ea typeface="Calibri" pitchFamily="34" charset="-122"/>
                <a:cs typeface="Calibri" pitchFamily="34" charset="-120"/>
              </a:rPr>
              <a:t>Army Emergency Relief (AER)</a:t>
            </a:r>
            <a:endParaRPr lang="en-US" sz="1500" dirty="0"/>
          </a:p>
        </p:txBody>
      </p:sp>
      <p:sp>
        <p:nvSpPr>
          <p:cNvPr id="11" name="Text 7"/>
          <p:cNvSpPr/>
          <p:nvPr/>
        </p:nvSpPr>
        <p:spPr>
          <a:xfrm>
            <a:off x="6537960" y="2331720"/>
            <a:ext cx="4754880" cy="3611880"/>
          </a:xfrm>
          <a:prstGeom prst="rect">
            <a:avLst/>
          </a:prstGeom>
          <a:noFill/>
          <a:ln/>
        </p:spPr>
        <p:txBody>
          <a:bodyPr wrap="square" lIns="0" tIns="0" rIns="0" bIns="0" rtlCol="0" anchor="t"/>
          <a:lstStyle/>
          <a:p>
            <a:pPr marL="228600" indent="-228600">
              <a:spcAft>
                <a:spcPts val="1000"/>
              </a:spcAft>
              <a:buSzPct val="100000"/>
              <a:buChar char="•"/>
            </a:pPr>
            <a:r>
              <a:rPr lang="en-US" sz="1200" dirty="0">
                <a:solidFill>
                  <a:srgbClr val="2B2B25"/>
                </a:solidFill>
                <a:latin typeface="Calibri" pitchFamily="34" charset="0"/>
                <a:ea typeface="Calibri" pitchFamily="34" charset="-122"/>
                <a:cs typeface="Calibri" pitchFamily="34" charset="-120"/>
              </a:rPr>
              <a:t>The Army's own nonprofit for emergency financial assistance — interest-free loans and grants</a:t>
            </a:r>
            <a:endParaRPr lang="en-US" sz="1200" dirty="0"/>
          </a:p>
          <a:p>
            <a:pPr marL="228600" indent="-228600">
              <a:spcAft>
                <a:spcPts val="1000"/>
              </a:spcAft>
              <a:buSzPct val="100000"/>
              <a:buChar char="•"/>
            </a:pPr>
            <a:r>
              <a:rPr lang="en-US" sz="1200" dirty="0">
                <a:solidFill>
                  <a:srgbClr val="2B2B25"/>
                </a:solidFill>
                <a:latin typeface="Calibri" pitchFamily="34" charset="0"/>
                <a:ea typeface="Calibri" pitchFamily="34" charset="-122"/>
                <a:cs typeface="Calibri" pitchFamily="34" charset="-120"/>
              </a:rPr>
              <a:t>For valid emergencies: rent, emergency travel, funeral costs, essential vehicle repair, and more</a:t>
            </a:r>
            <a:endParaRPr lang="en-US" sz="1200" dirty="0"/>
          </a:p>
          <a:p>
            <a:pPr marL="228600" indent="-228600">
              <a:spcAft>
                <a:spcPts val="1000"/>
              </a:spcAft>
              <a:buSzPct val="100000"/>
              <a:buChar char="•"/>
            </a:pPr>
            <a:r>
              <a:rPr lang="en-US" sz="1200" dirty="0">
                <a:solidFill>
                  <a:srgbClr val="2B2B25"/>
                </a:solidFill>
                <a:latin typeface="Calibri" pitchFamily="34" charset="0"/>
                <a:ea typeface="Calibri" pitchFamily="34" charset="-122"/>
                <a:cs typeface="Calibri" pitchFamily="34" charset="-120"/>
              </a:rPr>
              <a:t>Apply after your Commander/1SG interview confirms it's a valid emergency need</a:t>
            </a:r>
            <a:endParaRPr lang="en-US" sz="1200" dirty="0"/>
          </a:p>
          <a:p>
            <a:pPr marL="228600" indent="-228600">
              <a:spcAft>
                <a:spcPts val="1000"/>
              </a:spcAft>
              <a:buSzPct val="100000"/>
              <a:buChar char="•"/>
            </a:pPr>
            <a:r>
              <a:rPr lang="en-US" sz="1200" dirty="0">
                <a:solidFill>
                  <a:srgbClr val="2B2B25"/>
                </a:solidFill>
                <a:latin typeface="Calibri" pitchFamily="34" charset="0"/>
                <a:ea typeface="Calibri" pitchFamily="34" charset="-122"/>
                <a:cs typeface="Calibri" pitchFamily="34" charset="-120"/>
              </a:rPr>
              <a:t>Has supported over 4 million Soldiers and Families since 1942</a:t>
            </a:r>
            <a:endParaRPr lang="en-US" sz="1200" dirty="0"/>
          </a:p>
        </p:txBody>
      </p:sp>
      <p:sp>
        <p:nvSpPr>
          <p:cNvPr id="12" name="Text 8"/>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ARMY COMMUNITY SERVICE  |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FAMILY ADVOCACY PROGRAM (FAP)</a:t>
            </a:r>
            <a:endParaRPr lang="en-US" sz="2800" dirty="0"/>
          </a:p>
        </p:txBody>
      </p:sp>
      <p:sp>
        <p:nvSpPr>
          <p:cNvPr id="3" name="Text 1"/>
          <p:cNvSpPr/>
          <p:nvPr/>
        </p:nvSpPr>
        <p:spPr>
          <a:xfrm>
            <a:off x="548640" y="1005840"/>
            <a:ext cx="10515600" cy="365760"/>
          </a:xfrm>
          <a:prstGeom prst="rect">
            <a:avLst/>
          </a:prstGeom>
          <a:noFill/>
          <a:ln/>
        </p:spPr>
        <p:txBody>
          <a:bodyPr wrap="square" lIns="0" tIns="0" rIns="0" bIns="0" rtlCol="0" anchor="ctr"/>
          <a:lstStyle/>
          <a:p>
            <a:pPr indent="0" marL="0">
              <a:buNone/>
            </a:pPr>
            <a:r>
              <a:rPr lang="en-US" sz="1500" i="1" dirty="0">
                <a:solidFill>
                  <a:srgbClr val="C9A227"/>
                </a:solidFill>
                <a:latin typeface="Calibri" pitchFamily="34" charset="0"/>
                <a:ea typeface="Calibri" pitchFamily="34" charset="-122"/>
                <a:cs typeface="Calibri" pitchFamily="34" charset="-120"/>
              </a:rPr>
              <a:t>Prevention, education, and support — before things reach a crisis point</a:t>
            </a:r>
            <a:endParaRPr lang="en-US" sz="1500" dirty="0"/>
          </a:p>
        </p:txBody>
      </p:sp>
      <p:pic>
        <p:nvPicPr>
          <p:cNvPr id="4" name="Image 0" descr="icon_child.png">    </p:cNvPr>
          <p:cNvPicPr>
            <a:picLocks noChangeAspect="1"/>
          </p:cNvPicPr>
          <p:nvPr/>
        </p:nvPicPr>
        <p:blipFill>
          <a:blip r:embed="rId1"/>
          <a:stretch>
            <a:fillRect/>
          </a:stretch>
        </p:blipFill>
        <p:spPr>
          <a:xfrm>
            <a:off x="640080" y="1737360"/>
            <a:ext cx="777240" cy="777240"/>
          </a:xfrm>
          <a:prstGeom prst="rect">
            <a:avLst/>
          </a:prstGeom>
        </p:spPr>
      </p:pic>
      <p:sp>
        <p:nvSpPr>
          <p:cNvPr id="5" name="Text 2"/>
          <p:cNvSpPr/>
          <p:nvPr/>
        </p:nvSpPr>
        <p:spPr>
          <a:xfrm>
            <a:off x="1554480" y="1737360"/>
            <a:ext cx="10058400" cy="100584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FAP is dedicated to preventing and addressing domestic violence and child abuse, and to building healthier Families through education — not just responding after harm has occurred.</a:t>
            </a:r>
            <a:endParaRPr lang="en-US" sz="1450" dirty="0"/>
          </a:p>
        </p:txBody>
      </p:sp>
      <p:sp>
        <p:nvSpPr>
          <p:cNvPr id="6" name="Text 3"/>
          <p:cNvSpPr/>
          <p:nvPr/>
        </p:nvSpPr>
        <p:spPr>
          <a:xfrm>
            <a:off x="640080" y="2926080"/>
            <a:ext cx="10789920" cy="310896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Prevention and education programs on healthy relationships, coping, and parenting skills</a:t>
            </a:r>
            <a:endParaRPr lang="en-US" sz="1400" dirty="0"/>
          </a:p>
          <a:p>
            <a:pPr marL="228600" indent="-2286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New Parent Support Program — home visits and classes for new and expecting military parents</a:t>
            </a:r>
            <a:endParaRPr lang="en-US" sz="1400" dirty="0"/>
          </a:p>
          <a:p>
            <a:pPr marL="228600" indent="-2286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Prompt reporting, intervention, and treatment services when abuse or neglect does occur</a:t>
            </a:r>
            <a:endParaRPr lang="en-US" sz="1400" dirty="0"/>
          </a:p>
          <a:p>
            <a:pPr marL="228600" indent="-2286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April (Child Abuse Prevention Month) and October (Domestic Violence Awareness Month) outreach events</a:t>
            </a:r>
            <a:endParaRPr lang="en-US" sz="1400" dirty="0"/>
          </a:p>
        </p:txBody>
      </p:sp>
      <p:sp>
        <p:nvSpPr>
          <p:cNvPr id="7" name="Text 4"/>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8A8C78"/>
                </a:solidFill>
                <a:latin typeface="Calibri" pitchFamily="34" charset="0"/>
                <a:ea typeface="Calibri" pitchFamily="34" charset="-122"/>
                <a:cs typeface="Calibri" pitchFamily="34" charset="-120"/>
              </a:rPr>
              <a:t>ARMY COMMUNITY SERVICE  |  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RELOCATION READINESS PROGRAM (RRP)</a:t>
            </a:r>
            <a:endParaRPr lang="en-US" sz="2600" dirty="0"/>
          </a:p>
        </p:txBody>
      </p:sp>
      <p:sp>
        <p:nvSpPr>
          <p:cNvPr id="4" name="Text 2"/>
          <p:cNvSpPr/>
          <p:nvPr/>
        </p:nvSpPr>
        <p:spPr>
          <a:xfrm>
            <a:off x="548640" y="1234440"/>
            <a:ext cx="11064240" cy="777240"/>
          </a:xfrm>
          <a:prstGeom prst="rect">
            <a:avLst/>
          </a:prstGeom>
          <a:noFill/>
          <a:ln/>
        </p:spPr>
        <p:txBody>
          <a:bodyPr wrap="square" lIns="0" tIns="0" rIns="0" bIns="0" rtlCol="0" anchor="t"/>
          <a:lstStyle/>
          <a:p>
            <a:pPr indent="0" marL="0">
              <a:buNone/>
            </a:pPr>
            <a:r>
              <a:rPr lang="en-US" sz="1450" dirty="0">
                <a:solidFill>
                  <a:srgbClr val="2B2B25"/>
                </a:solidFill>
                <a:latin typeface="Calibri" pitchFamily="34" charset="0"/>
                <a:ea typeface="Calibri" pitchFamily="34" charset="-122"/>
                <a:cs typeface="Calibri" pitchFamily="34" charset="-120"/>
              </a:rPr>
              <a:t>PCS moves are one of the most disruptive parts of Army life. RRP exists specifically to make that disruption smaller — for first-time movers and 20-year veterans of the process alike.</a:t>
            </a:r>
            <a:endParaRPr lang="en-US" sz="1450" dirty="0"/>
          </a:p>
        </p:txBody>
      </p:sp>
      <p:sp>
        <p:nvSpPr>
          <p:cNvPr id="5" name="Shape 3"/>
          <p:cNvSpPr/>
          <p:nvPr/>
        </p:nvSpPr>
        <p:spPr>
          <a:xfrm>
            <a:off x="54864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6" name="Image 0" descr="icon_truck.png">    </p:cNvPr>
          <p:cNvPicPr>
            <a:picLocks noChangeAspect="1"/>
          </p:cNvPicPr>
          <p:nvPr/>
        </p:nvPicPr>
        <p:blipFill>
          <a:blip r:embed="rId1"/>
          <a:stretch>
            <a:fillRect/>
          </a:stretch>
        </p:blipFill>
        <p:spPr>
          <a:xfrm>
            <a:off x="731520" y="2560320"/>
            <a:ext cx="502920" cy="502920"/>
          </a:xfrm>
          <a:prstGeom prst="rect">
            <a:avLst/>
          </a:prstGeom>
        </p:spPr>
      </p:pic>
      <p:sp>
        <p:nvSpPr>
          <p:cNvPr id="7" name="Text 4"/>
          <p:cNvSpPr/>
          <p:nvPr/>
        </p:nvSpPr>
        <p:spPr>
          <a:xfrm>
            <a:off x="731520" y="3200400"/>
            <a:ext cx="2286000" cy="54864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Sponsorship Program</a:t>
            </a:r>
            <a:endParaRPr lang="en-US" sz="1350" dirty="0"/>
          </a:p>
        </p:txBody>
      </p:sp>
      <p:sp>
        <p:nvSpPr>
          <p:cNvPr id="8" name="Text 5"/>
          <p:cNvSpPr/>
          <p:nvPr/>
        </p:nvSpPr>
        <p:spPr>
          <a:xfrm>
            <a:off x="731520" y="3794760"/>
            <a:ext cx="2286000" cy="205740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Request a sponsor at your gaining installation via DA Form 5434 to have someone helping before you even arrive.</a:t>
            </a:r>
            <a:endParaRPr lang="en-US" sz="1150" dirty="0"/>
          </a:p>
        </p:txBody>
      </p:sp>
      <p:sp>
        <p:nvSpPr>
          <p:cNvPr id="9" name="Shape 6"/>
          <p:cNvSpPr/>
          <p:nvPr/>
        </p:nvSpPr>
        <p:spPr>
          <a:xfrm>
            <a:off x="342900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0" name="Image 1" descr="icon_home.png">    </p:cNvPr>
          <p:cNvPicPr>
            <a:picLocks noChangeAspect="1"/>
          </p:cNvPicPr>
          <p:nvPr/>
        </p:nvPicPr>
        <p:blipFill>
          <a:blip r:embed="rId2"/>
          <a:stretch>
            <a:fillRect/>
          </a:stretch>
        </p:blipFill>
        <p:spPr>
          <a:xfrm>
            <a:off x="3611880" y="2560320"/>
            <a:ext cx="502920" cy="502920"/>
          </a:xfrm>
          <a:prstGeom prst="rect">
            <a:avLst/>
          </a:prstGeom>
        </p:spPr>
      </p:pic>
      <p:sp>
        <p:nvSpPr>
          <p:cNvPr id="11" name="Text 7"/>
          <p:cNvSpPr/>
          <p:nvPr/>
        </p:nvSpPr>
        <p:spPr>
          <a:xfrm>
            <a:off x="3611880" y="3200400"/>
            <a:ext cx="2286000" cy="54864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Lending Closet</a:t>
            </a:r>
            <a:endParaRPr lang="en-US" sz="1350" dirty="0"/>
          </a:p>
        </p:txBody>
      </p:sp>
      <p:sp>
        <p:nvSpPr>
          <p:cNvPr id="12" name="Text 8"/>
          <p:cNvSpPr/>
          <p:nvPr/>
        </p:nvSpPr>
        <p:spPr>
          <a:xfrm>
            <a:off x="3611880" y="3794760"/>
            <a:ext cx="2286000" cy="205740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Borrow basic household items (kitchenware, basic furniture) while you wait for your household goods to arrive.</a:t>
            </a:r>
            <a:endParaRPr lang="en-US" sz="1150" dirty="0"/>
          </a:p>
        </p:txBody>
      </p:sp>
      <p:sp>
        <p:nvSpPr>
          <p:cNvPr id="13" name="Shape 9"/>
          <p:cNvSpPr/>
          <p:nvPr/>
        </p:nvSpPr>
        <p:spPr>
          <a:xfrm>
            <a:off x="630936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4" name="Image 2" descr="icon_globe.png">    </p:cNvPr>
          <p:cNvPicPr>
            <a:picLocks noChangeAspect="1"/>
          </p:cNvPicPr>
          <p:nvPr/>
        </p:nvPicPr>
        <p:blipFill>
          <a:blip r:embed="rId3"/>
          <a:stretch>
            <a:fillRect/>
          </a:stretch>
        </p:blipFill>
        <p:spPr>
          <a:xfrm>
            <a:off x="6492240" y="2560320"/>
            <a:ext cx="502920" cy="502920"/>
          </a:xfrm>
          <a:prstGeom prst="rect">
            <a:avLst/>
          </a:prstGeom>
        </p:spPr>
      </p:pic>
      <p:sp>
        <p:nvSpPr>
          <p:cNvPr id="15" name="Text 10"/>
          <p:cNvSpPr/>
          <p:nvPr/>
        </p:nvSpPr>
        <p:spPr>
          <a:xfrm>
            <a:off x="6492240" y="3200400"/>
            <a:ext cx="2286000" cy="54864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Welcome &amp; Orientation</a:t>
            </a:r>
            <a:endParaRPr lang="en-US" sz="1350" dirty="0"/>
          </a:p>
        </p:txBody>
      </p:sp>
      <p:sp>
        <p:nvSpPr>
          <p:cNvPr id="16" name="Text 11"/>
          <p:cNvSpPr/>
          <p:nvPr/>
        </p:nvSpPr>
        <p:spPr>
          <a:xfrm>
            <a:off x="6492240" y="3794760"/>
            <a:ext cx="2286000" cy="205740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Newcomer welcome packets, host-nation orientation overseas, and information on your new local area.</a:t>
            </a:r>
            <a:endParaRPr lang="en-US" sz="1150" dirty="0"/>
          </a:p>
        </p:txBody>
      </p:sp>
      <p:sp>
        <p:nvSpPr>
          <p:cNvPr id="17" name="Shape 12"/>
          <p:cNvSpPr/>
          <p:nvPr/>
        </p:nvSpPr>
        <p:spPr>
          <a:xfrm>
            <a:off x="918972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8" name="Image 3" descr="icon_check.png">    </p:cNvPr>
          <p:cNvPicPr>
            <a:picLocks noChangeAspect="1"/>
          </p:cNvPicPr>
          <p:nvPr/>
        </p:nvPicPr>
        <p:blipFill>
          <a:blip r:embed="rId4"/>
          <a:stretch>
            <a:fillRect/>
          </a:stretch>
        </p:blipFill>
        <p:spPr>
          <a:xfrm>
            <a:off x="9372600" y="2560320"/>
            <a:ext cx="502920" cy="502920"/>
          </a:xfrm>
          <a:prstGeom prst="rect">
            <a:avLst/>
          </a:prstGeom>
        </p:spPr>
      </p:pic>
      <p:sp>
        <p:nvSpPr>
          <p:cNvPr id="19" name="Text 13"/>
          <p:cNvSpPr/>
          <p:nvPr/>
        </p:nvSpPr>
        <p:spPr>
          <a:xfrm>
            <a:off x="9372600" y="3200400"/>
            <a:ext cx="2286000" cy="54864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Relocation Counseling</a:t>
            </a:r>
            <a:endParaRPr lang="en-US" sz="1350" dirty="0"/>
          </a:p>
        </p:txBody>
      </p:sp>
      <p:sp>
        <p:nvSpPr>
          <p:cNvPr id="20" name="Text 14"/>
          <p:cNvSpPr/>
          <p:nvPr/>
        </p:nvSpPr>
        <p:spPr>
          <a:xfrm>
            <a:off x="9372600" y="3794760"/>
            <a:ext cx="2286000" cy="205740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One-on-one help planning your move, understanding entitlements, and avoiding common PCS pitfalls.</a:t>
            </a:r>
            <a:endParaRPr lang="en-US" sz="1150" dirty="0"/>
          </a:p>
        </p:txBody>
      </p:sp>
      <p:sp>
        <p:nvSpPr>
          <p:cNvPr id="21" name="Text 15"/>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ARMY COMMUNITY SERVICE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365760"/>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EMPLOYMENT READINESS PROGRAM (ERP)</a:t>
            </a:r>
            <a:endParaRPr lang="en-US" sz="2600" dirty="0"/>
          </a:p>
        </p:txBody>
      </p:sp>
      <p:sp>
        <p:nvSpPr>
          <p:cNvPr id="3" name="Text 1"/>
          <p:cNvSpPr/>
          <p:nvPr/>
        </p:nvSpPr>
        <p:spPr>
          <a:xfrm>
            <a:off x="548640" y="960120"/>
            <a:ext cx="10515600" cy="365760"/>
          </a:xfrm>
          <a:prstGeom prst="rect">
            <a:avLst/>
          </a:prstGeom>
          <a:noFill/>
          <a:ln/>
        </p:spPr>
        <p:txBody>
          <a:bodyPr wrap="square" lIns="0" tIns="0" rIns="0" bIns="0" rtlCol="0" anchor="ctr"/>
          <a:lstStyle/>
          <a:p>
            <a:pPr indent="0" marL="0">
              <a:buNone/>
            </a:pPr>
            <a:r>
              <a:rPr lang="en-US" sz="1450" i="1" dirty="0">
                <a:solidFill>
                  <a:srgbClr val="C9A227"/>
                </a:solidFill>
                <a:latin typeface="Calibri" pitchFamily="34" charset="0"/>
                <a:ea typeface="Calibri" pitchFamily="34" charset="-122"/>
                <a:cs typeface="Calibri" pitchFamily="34" charset="-120"/>
              </a:rPr>
              <a:t>Helping military spouses and family members build a career, not just a job</a:t>
            </a:r>
            <a:endParaRPr lang="en-US" sz="1450" dirty="0"/>
          </a:p>
        </p:txBody>
      </p:sp>
      <p:pic>
        <p:nvPicPr>
          <p:cNvPr id="4" name="Image 0" descr="icon_briefcase.png">    </p:cNvPr>
          <p:cNvPicPr>
            <a:picLocks noChangeAspect="1"/>
          </p:cNvPicPr>
          <p:nvPr/>
        </p:nvPicPr>
        <p:blipFill>
          <a:blip r:embed="rId1"/>
          <a:stretch>
            <a:fillRect/>
          </a:stretch>
        </p:blipFill>
        <p:spPr>
          <a:xfrm>
            <a:off x="640080" y="1691640"/>
            <a:ext cx="777240" cy="777240"/>
          </a:xfrm>
          <a:prstGeom prst="rect">
            <a:avLst/>
          </a:prstGeom>
        </p:spPr>
      </p:pic>
      <p:sp>
        <p:nvSpPr>
          <p:cNvPr id="5" name="Text 2"/>
          <p:cNvSpPr/>
          <p:nvPr/>
        </p:nvSpPr>
        <p:spPr>
          <a:xfrm>
            <a:off x="1554480" y="1691640"/>
            <a:ext cx="10058400" cy="91440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Frequent moves make it hard for spouses and family members to build a stable career. ERP gives them the tools, resources, and connections to keep that career moving anyway.</a:t>
            </a:r>
            <a:endParaRPr lang="en-US" sz="1450" dirty="0"/>
          </a:p>
        </p:txBody>
      </p:sp>
      <p:sp>
        <p:nvSpPr>
          <p:cNvPr id="6" name="Text 3"/>
          <p:cNvSpPr/>
          <p:nvPr/>
        </p:nvSpPr>
        <p:spPr>
          <a:xfrm>
            <a:off x="640080" y="2834640"/>
            <a:ext cx="10789920" cy="320040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Career coaching, resume help, and interview preparation</a:t>
            </a:r>
            <a:endParaRPr lang="en-US" sz="1400" dirty="0"/>
          </a:p>
          <a:p>
            <a:pPr marL="228600" indent="-2286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Job fairs, job listings, and up-to-date local market and job trend information</a:t>
            </a:r>
            <a:endParaRPr lang="en-US" sz="1400" dirty="0"/>
          </a:p>
          <a:p>
            <a:pPr marL="228600" indent="-2286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Education, training, and volunteer opportunities that build a competitive resume</a:t>
            </a:r>
            <a:endParaRPr lang="en-US" sz="1400" dirty="0"/>
          </a:p>
          <a:p>
            <a:pPr marL="228600" indent="-2286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Best used 3 months before a PCS and again in the first 3 months after arrival</a:t>
            </a:r>
            <a:endParaRPr lang="en-US" sz="1400" dirty="0"/>
          </a:p>
        </p:txBody>
      </p:sp>
      <p:sp>
        <p:nvSpPr>
          <p:cNvPr id="7" name="Text 4"/>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8A8C78"/>
                </a:solidFill>
                <a:latin typeface="Calibri" pitchFamily="34" charset="0"/>
                <a:ea typeface="Calibri" pitchFamily="34" charset="-122"/>
                <a:cs typeface="Calibri" pitchFamily="34" charset="-120"/>
              </a:rPr>
              <a:t>ARMY COMMUNITY SERVICE  |  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OTHER ACS PROGRAMS WORTH KNOWING</a:t>
            </a:r>
            <a:endParaRPr lang="en-US" sz="2600" dirty="0"/>
          </a:p>
        </p:txBody>
      </p:sp>
      <p:sp>
        <p:nvSpPr>
          <p:cNvPr id="4" name="Shape 2"/>
          <p:cNvSpPr/>
          <p:nvPr/>
        </p:nvSpPr>
        <p:spPr>
          <a:xfrm>
            <a:off x="548640" y="1417320"/>
            <a:ext cx="3566160" cy="2377440"/>
          </a:xfrm>
          <a:prstGeom prst="roundRect">
            <a:avLst>
              <a:gd name="adj" fmla="val 3077"/>
            </a:avLst>
          </a:prstGeom>
          <a:solidFill>
            <a:srgbClr val="F1EDE3"/>
          </a:solidFill>
          <a:ln/>
          <a:effectLst>
            <a:outerShdw sx="100000" sy="100000" kx="0" ky="0" algn="bl" rotWithShape="0" blurRad="76200" dist="25400" dir="2700000">
              <a:srgbClr val="000000">
                <a:alpha val="10000"/>
              </a:srgbClr>
            </a:outerShdw>
          </a:effectLst>
        </p:spPr>
      </p:sp>
      <p:sp>
        <p:nvSpPr>
          <p:cNvPr id="5" name="Text 3"/>
          <p:cNvSpPr/>
          <p:nvPr/>
        </p:nvSpPr>
        <p:spPr>
          <a:xfrm>
            <a:off x="731520" y="1581912"/>
            <a:ext cx="3200400" cy="685800"/>
          </a:xfrm>
          <a:prstGeom prst="rect">
            <a:avLst/>
          </a:prstGeom>
          <a:noFill/>
          <a:ln/>
        </p:spPr>
        <p:txBody>
          <a:bodyPr wrap="square" lIns="0" tIns="0" rIns="0" bIns="0" rtlCol="0" anchor="t"/>
          <a:lstStyle/>
          <a:p>
            <a:pPr indent="0" marL="0">
              <a:buNone/>
            </a:pPr>
            <a:r>
              <a:rPr lang="en-US" sz="1250" b="1" dirty="0">
                <a:solidFill>
                  <a:srgbClr val="3C3F2C"/>
                </a:solidFill>
                <a:latin typeface="Calibri" pitchFamily="34" charset="0"/>
                <a:ea typeface="Calibri" pitchFamily="34" charset="-122"/>
                <a:cs typeface="Calibri" pitchFamily="34" charset="-120"/>
              </a:rPr>
              <a:t>Exceptional Family Member Program (EFMP)</a:t>
            </a:r>
            <a:endParaRPr lang="en-US" sz="1250" dirty="0"/>
          </a:p>
        </p:txBody>
      </p:sp>
      <p:sp>
        <p:nvSpPr>
          <p:cNvPr id="6" name="Text 4"/>
          <p:cNvSpPr/>
          <p:nvPr/>
        </p:nvSpPr>
        <p:spPr>
          <a:xfrm>
            <a:off x="731520" y="2286000"/>
            <a:ext cx="3200400" cy="1371600"/>
          </a:xfrm>
          <a:prstGeom prst="rect">
            <a:avLst/>
          </a:prstGeom>
          <a:noFill/>
          <a:ln/>
        </p:spPr>
        <p:txBody>
          <a:bodyPr wrap="square" lIns="0" tIns="0" rIns="0" bIns="0" rtlCol="0" anchor="t"/>
          <a:lstStyle/>
          <a:p>
            <a:pPr indent="0" marL="0">
              <a:buNone/>
            </a:pPr>
            <a:r>
              <a:rPr lang="en-US" sz="1050" dirty="0">
                <a:solidFill>
                  <a:srgbClr val="2B2B25"/>
                </a:solidFill>
                <a:latin typeface="Calibri" pitchFamily="34" charset="0"/>
                <a:ea typeface="Calibri" pitchFamily="34" charset="-122"/>
                <a:cs typeface="Calibri" pitchFamily="34" charset="-120"/>
              </a:rPr>
              <a:t>Support for Family members with special medical, developmental, or educational needs — coordinates with military and civilian agencies.</a:t>
            </a:r>
            <a:endParaRPr lang="en-US" sz="1050" dirty="0"/>
          </a:p>
        </p:txBody>
      </p:sp>
      <p:sp>
        <p:nvSpPr>
          <p:cNvPr id="7" name="Shape 5"/>
          <p:cNvSpPr/>
          <p:nvPr/>
        </p:nvSpPr>
        <p:spPr>
          <a:xfrm>
            <a:off x="4297680" y="1417320"/>
            <a:ext cx="3566160" cy="2377440"/>
          </a:xfrm>
          <a:prstGeom prst="roundRect">
            <a:avLst>
              <a:gd name="adj" fmla="val 3077"/>
            </a:avLst>
          </a:prstGeom>
          <a:solidFill>
            <a:srgbClr val="F1EDE3"/>
          </a:solidFill>
          <a:ln/>
          <a:effectLst>
            <a:outerShdw sx="100000" sy="100000" kx="0" ky="0" algn="bl" rotWithShape="0" blurRad="76200" dist="25400" dir="2700000">
              <a:srgbClr val="000000">
                <a:alpha val="10000"/>
              </a:srgbClr>
            </a:outerShdw>
          </a:effectLst>
        </p:spPr>
      </p:sp>
      <p:sp>
        <p:nvSpPr>
          <p:cNvPr id="8" name="Text 6"/>
          <p:cNvSpPr/>
          <p:nvPr/>
        </p:nvSpPr>
        <p:spPr>
          <a:xfrm>
            <a:off x="4480560" y="1581912"/>
            <a:ext cx="3200400" cy="685800"/>
          </a:xfrm>
          <a:prstGeom prst="rect">
            <a:avLst/>
          </a:prstGeom>
          <a:noFill/>
          <a:ln/>
        </p:spPr>
        <p:txBody>
          <a:bodyPr wrap="square" lIns="0" tIns="0" rIns="0" bIns="0" rtlCol="0" anchor="t"/>
          <a:lstStyle/>
          <a:p>
            <a:pPr indent="0" marL="0">
              <a:buNone/>
            </a:pPr>
            <a:r>
              <a:rPr lang="en-US" sz="1250" b="1" dirty="0">
                <a:solidFill>
                  <a:srgbClr val="3C3F2C"/>
                </a:solidFill>
                <a:latin typeface="Calibri" pitchFamily="34" charset="0"/>
                <a:ea typeface="Calibri" pitchFamily="34" charset="-122"/>
                <a:cs typeface="Calibri" pitchFamily="34" charset="-120"/>
              </a:rPr>
              <a:t>Army Volunteer Corps (AVC)</a:t>
            </a:r>
            <a:endParaRPr lang="en-US" sz="1250" dirty="0"/>
          </a:p>
        </p:txBody>
      </p:sp>
      <p:sp>
        <p:nvSpPr>
          <p:cNvPr id="9" name="Text 7"/>
          <p:cNvSpPr/>
          <p:nvPr/>
        </p:nvSpPr>
        <p:spPr>
          <a:xfrm>
            <a:off x="4480560" y="2286000"/>
            <a:ext cx="3200400" cy="1371600"/>
          </a:xfrm>
          <a:prstGeom prst="rect">
            <a:avLst/>
          </a:prstGeom>
          <a:noFill/>
          <a:ln/>
        </p:spPr>
        <p:txBody>
          <a:bodyPr wrap="square" lIns="0" tIns="0" rIns="0" bIns="0" rtlCol="0" anchor="t"/>
          <a:lstStyle/>
          <a:p>
            <a:pPr indent="0" marL="0">
              <a:buNone/>
            </a:pPr>
            <a:r>
              <a:rPr lang="en-US" sz="1050" dirty="0">
                <a:solidFill>
                  <a:srgbClr val="2B2B25"/>
                </a:solidFill>
                <a:latin typeface="Calibri" pitchFamily="34" charset="0"/>
                <a:ea typeface="Calibri" pitchFamily="34" charset="-122"/>
                <a:cs typeface="Calibri" pitchFamily="34" charset="-120"/>
              </a:rPr>
              <a:t>Volunteer opportunities that build community connections and can enhance a resume or JST.</a:t>
            </a:r>
            <a:endParaRPr lang="en-US" sz="1050" dirty="0"/>
          </a:p>
        </p:txBody>
      </p:sp>
      <p:sp>
        <p:nvSpPr>
          <p:cNvPr id="10" name="Shape 8"/>
          <p:cNvSpPr/>
          <p:nvPr/>
        </p:nvSpPr>
        <p:spPr>
          <a:xfrm>
            <a:off x="8046720" y="1417320"/>
            <a:ext cx="3566160" cy="2377440"/>
          </a:xfrm>
          <a:prstGeom prst="roundRect">
            <a:avLst>
              <a:gd name="adj" fmla="val 3077"/>
            </a:avLst>
          </a:prstGeom>
          <a:solidFill>
            <a:srgbClr val="F1EDE3"/>
          </a:solidFill>
          <a:ln/>
          <a:effectLst>
            <a:outerShdw sx="100000" sy="100000" kx="0" ky="0" algn="bl" rotWithShape="0" blurRad="76200" dist="25400" dir="2700000">
              <a:srgbClr val="000000">
                <a:alpha val="10000"/>
              </a:srgbClr>
            </a:outerShdw>
          </a:effectLst>
        </p:spPr>
      </p:sp>
      <p:sp>
        <p:nvSpPr>
          <p:cNvPr id="11" name="Text 9"/>
          <p:cNvSpPr/>
          <p:nvPr/>
        </p:nvSpPr>
        <p:spPr>
          <a:xfrm>
            <a:off x="8229600" y="1581912"/>
            <a:ext cx="3200400" cy="685800"/>
          </a:xfrm>
          <a:prstGeom prst="rect">
            <a:avLst/>
          </a:prstGeom>
          <a:noFill/>
          <a:ln/>
        </p:spPr>
        <p:txBody>
          <a:bodyPr wrap="square" lIns="0" tIns="0" rIns="0" bIns="0" rtlCol="0" anchor="t"/>
          <a:lstStyle/>
          <a:p>
            <a:pPr indent="0" marL="0">
              <a:buNone/>
            </a:pPr>
            <a:r>
              <a:rPr lang="en-US" sz="1250" b="1" dirty="0">
                <a:solidFill>
                  <a:srgbClr val="3C3F2C"/>
                </a:solidFill>
                <a:latin typeface="Calibri" pitchFamily="34" charset="0"/>
                <a:ea typeface="Calibri" pitchFamily="34" charset="-122"/>
                <a:cs typeface="Calibri" pitchFamily="34" charset="-120"/>
              </a:rPr>
              <a:t>Army Family Team Building (AFTB)</a:t>
            </a:r>
            <a:endParaRPr lang="en-US" sz="1250" dirty="0"/>
          </a:p>
        </p:txBody>
      </p:sp>
      <p:sp>
        <p:nvSpPr>
          <p:cNvPr id="12" name="Text 10"/>
          <p:cNvSpPr/>
          <p:nvPr/>
        </p:nvSpPr>
        <p:spPr>
          <a:xfrm>
            <a:off x="8229600" y="2286000"/>
            <a:ext cx="3200400" cy="1371600"/>
          </a:xfrm>
          <a:prstGeom prst="rect">
            <a:avLst/>
          </a:prstGeom>
          <a:noFill/>
          <a:ln/>
        </p:spPr>
        <p:txBody>
          <a:bodyPr wrap="square" lIns="0" tIns="0" rIns="0" bIns="0" rtlCol="0" anchor="t"/>
          <a:lstStyle/>
          <a:p>
            <a:pPr indent="0" marL="0">
              <a:buNone/>
            </a:pPr>
            <a:r>
              <a:rPr lang="en-US" sz="1050" dirty="0">
                <a:solidFill>
                  <a:srgbClr val="2B2B25"/>
                </a:solidFill>
                <a:latin typeface="Calibri" pitchFamily="34" charset="0"/>
                <a:ea typeface="Calibri" pitchFamily="34" charset="-122"/>
                <a:cs typeface="Calibri" pitchFamily="34" charset="-120"/>
              </a:rPr>
              <a:t>Training in Army life basics, personal development, and leadership skills for Soldiers and Families alike.</a:t>
            </a:r>
            <a:endParaRPr lang="en-US" sz="1050" dirty="0"/>
          </a:p>
        </p:txBody>
      </p:sp>
      <p:sp>
        <p:nvSpPr>
          <p:cNvPr id="13" name="Shape 11"/>
          <p:cNvSpPr/>
          <p:nvPr/>
        </p:nvSpPr>
        <p:spPr>
          <a:xfrm>
            <a:off x="548640" y="3931920"/>
            <a:ext cx="3566160" cy="2377440"/>
          </a:xfrm>
          <a:prstGeom prst="roundRect">
            <a:avLst>
              <a:gd name="adj" fmla="val 3077"/>
            </a:avLst>
          </a:prstGeom>
          <a:solidFill>
            <a:srgbClr val="F1EDE3"/>
          </a:solidFill>
          <a:ln/>
          <a:effectLst>
            <a:outerShdw sx="100000" sy="100000" kx="0" ky="0" algn="bl" rotWithShape="0" blurRad="76200" dist="25400" dir="2700000">
              <a:srgbClr val="000000">
                <a:alpha val="10000"/>
              </a:srgbClr>
            </a:outerShdw>
          </a:effectLst>
        </p:spPr>
      </p:sp>
      <p:sp>
        <p:nvSpPr>
          <p:cNvPr id="14" name="Text 12"/>
          <p:cNvSpPr/>
          <p:nvPr/>
        </p:nvSpPr>
        <p:spPr>
          <a:xfrm>
            <a:off x="731520" y="4096512"/>
            <a:ext cx="3200400" cy="685800"/>
          </a:xfrm>
          <a:prstGeom prst="rect">
            <a:avLst/>
          </a:prstGeom>
          <a:noFill/>
          <a:ln/>
        </p:spPr>
        <p:txBody>
          <a:bodyPr wrap="square" lIns="0" tIns="0" rIns="0" bIns="0" rtlCol="0" anchor="t"/>
          <a:lstStyle/>
          <a:p>
            <a:pPr indent="0" marL="0">
              <a:buNone/>
            </a:pPr>
            <a:r>
              <a:rPr lang="en-US" sz="1250" b="1" dirty="0">
                <a:solidFill>
                  <a:srgbClr val="3C3F2C"/>
                </a:solidFill>
                <a:latin typeface="Calibri" pitchFamily="34" charset="0"/>
                <a:ea typeface="Calibri" pitchFamily="34" charset="-122"/>
                <a:cs typeface="Calibri" pitchFamily="34" charset="-120"/>
              </a:rPr>
              <a:t>Survivor Outreach Services (SOS)</a:t>
            </a:r>
            <a:endParaRPr lang="en-US" sz="1250" dirty="0"/>
          </a:p>
        </p:txBody>
      </p:sp>
      <p:sp>
        <p:nvSpPr>
          <p:cNvPr id="15" name="Text 13"/>
          <p:cNvSpPr/>
          <p:nvPr/>
        </p:nvSpPr>
        <p:spPr>
          <a:xfrm>
            <a:off x="731520" y="4800600"/>
            <a:ext cx="3200400" cy="1371600"/>
          </a:xfrm>
          <a:prstGeom prst="rect">
            <a:avLst/>
          </a:prstGeom>
          <a:noFill/>
          <a:ln/>
        </p:spPr>
        <p:txBody>
          <a:bodyPr wrap="square" lIns="0" tIns="0" rIns="0" bIns="0" rtlCol="0" anchor="t"/>
          <a:lstStyle/>
          <a:p>
            <a:pPr indent="0" marL="0">
              <a:buNone/>
            </a:pPr>
            <a:r>
              <a:rPr lang="en-US" sz="1050" dirty="0">
                <a:solidFill>
                  <a:srgbClr val="2B2B25"/>
                </a:solidFill>
                <a:latin typeface="Calibri" pitchFamily="34" charset="0"/>
                <a:ea typeface="Calibri" pitchFamily="34" charset="-122"/>
                <a:cs typeface="Calibri" pitchFamily="34" charset="-120"/>
              </a:rPr>
              <a:t>Sustained, long-term support for surviving Family members of the fallen — as long as they need it.</a:t>
            </a:r>
            <a:endParaRPr lang="en-US" sz="1050" dirty="0"/>
          </a:p>
        </p:txBody>
      </p:sp>
      <p:sp>
        <p:nvSpPr>
          <p:cNvPr id="16" name="Shape 14"/>
          <p:cNvSpPr/>
          <p:nvPr/>
        </p:nvSpPr>
        <p:spPr>
          <a:xfrm>
            <a:off x="4297680" y="3931920"/>
            <a:ext cx="3566160" cy="2377440"/>
          </a:xfrm>
          <a:prstGeom prst="roundRect">
            <a:avLst>
              <a:gd name="adj" fmla="val 3077"/>
            </a:avLst>
          </a:prstGeom>
          <a:solidFill>
            <a:srgbClr val="F1EDE3"/>
          </a:solidFill>
          <a:ln/>
          <a:effectLst>
            <a:outerShdw sx="100000" sy="100000" kx="0" ky="0" algn="bl" rotWithShape="0" blurRad="76200" dist="25400" dir="2700000">
              <a:srgbClr val="000000">
                <a:alpha val="10000"/>
              </a:srgbClr>
            </a:outerShdw>
          </a:effectLst>
        </p:spPr>
      </p:sp>
      <p:sp>
        <p:nvSpPr>
          <p:cNvPr id="17" name="Text 15"/>
          <p:cNvSpPr/>
          <p:nvPr/>
        </p:nvSpPr>
        <p:spPr>
          <a:xfrm>
            <a:off x="4480560" y="4096512"/>
            <a:ext cx="3200400" cy="685800"/>
          </a:xfrm>
          <a:prstGeom prst="rect">
            <a:avLst/>
          </a:prstGeom>
          <a:noFill/>
          <a:ln/>
        </p:spPr>
        <p:txBody>
          <a:bodyPr wrap="square" lIns="0" tIns="0" rIns="0" bIns="0" rtlCol="0" anchor="t"/>
          <a:lstStyle/>
          <a:p>
            <a:pPr indent="0" marL="0">
              <a:buNone/>
            </a:pPr>
            <a:r>
              <a:rPr lang="en-US" sz="1250" b="1" dirty="0">
                <a:solidFill>
                  <a:srgbClr val="3C3F2C"/>
                </a:solidFill>
                <a:latin typeface="Calibri" pitchFamily="34" charset="0"/>
                <a:ea typeface="Calibri" pitchFamily="34" charset="-122"/>
                <a:cs typeface="Calibri" pitchFamily="34" charset="-120"/>
              </a:rPr>
              <a:t>Army Family Action Plan (AFAP)</a:t>
            </a:r>
            <a:endParaRPr lang="en-US" sz="1250" dirty="0"/>
          </a:p>
        </p:txBody>
      </p:sp>
      <p:sp>
        <p:nvSpPr>
          <p:cNvPr id="18" name="Text 16"/>
          <p:cNvSpPr/>
          <p:nvPr/>
        </p:nvSpPr>
        <p:spPr>
          <a:xfrm>
            <a:off x="4480560" y="4800600"/>
            <a:ext cx="3200400" cy="1371600"/>
          </a:xfrm>
          <a:prstGeom prst="rect">
            <a:avLst/>
          </a:prstGeom>
          <a:noFill/>
          <a:ln/>
        </p:spPr>
        <p:txBody>
          <a:bodyPr wrap="square" lIns="0" tIns="0" rIns="0" bIns="0" rtlCol="0" anchor="t"/>
          <a:lstStyle/>
          <a:p>
            <a:pPr indent="0" marL="0">
              <a:buNone/>
            </a:pPr>
            <a:r>
              <a:rPr lang="en-US" sz="1050" dirty="0">
                <a:solidFill>
                  <a:srgbClr val="2B2B25"/>
                </a:solidFill>
                <a:latin typeface="Calibri" pitchFamily="34" charset="0"/>
                <a:ea typeface="Calibri" pitchFamily="34" charset="-122"/>
                <a:cs typeface="Calibri" pitchFamily="34" charset="-120"/>
              </a:rPr>
              <a:t>A formal channel to raise quality-of-life issues directly to Army leadership for real policy change.</a:t>
            </a:r>
            <a:endParaRPr lang="en-US" sz="1050" dirty="0"/>
          </a:p>
        </p:txBody>
      </p:sp>
      <p:sp>
        <p:nvSpPr>
          <p:cNvPr id="19" name="Shape 17"/>
          <p:cNvSpPr/>
          <p:nvPr/>
        </p:nvSpPr>
        <p:spPr>
          <a:xfrm>
            <a:off x="8046720" y="3931920"/>
            <a:ext cx="3566160" cy="2377440"/>
          </a:xfrm>
          <a:prstGeom prst="roundRect">
            <a:avLst>
              <a:gd name="adj" fmla="val 3077"/>
            </a:avLst>
          </a:prstGeom>
          <a:solidFill>
            <a:srgbClr val="F1EDE3"/>
          </a:solidFill>
          <a:ln/>
          <a:effectLst>
            <a:outerShdw sx="100000" sy="100000" kx="0" ky="0" algn="bl" rotWithShape="0" blurRad="76200" dist="25400" dir="2700000">
              <a:srgbClr val="000000">
                <a:alpha val="10000"/>
              </a:srgbClr>
            </a:outerShdw>
          </a:effectLst>
        </p:spPr>
      </p:sp>
      <p:sp>
        <p:nvSpPr>
          <p:cNvPr id="20" name="Text 18"/>
          <p:cNvSpPr/>
          <p:nvPr/>
        </p:nvSpPr>
        <p:spPr>
          <a:xfrm>
            <a:off x="8229600" y="4096512"/>
            <a:ext cx="3200400" cy="685800"/>
          </a:xfrm>
          <a:prstGeom prst="rect">
            <a:avLst/>
          </a:prstGeom>
          <a:noFill/>
          <a:ln/>
        </p:spPr>
        <p:txBody>
          <a:bodyPr wrap="square" lIns="0" tIns="0" rIns="0" bIns="0" rtlCol="0" anchor="t"/>
          <a:lstStyle/>
          <a:p>
            <a:pPr indent="0" marL="0">
              <a:buNone/>
            </a:pPr>
            <a:r>
              <a:rPr lang="en-US" sz="1250" b="1" dirty="0">
                <a:solidFill>
                  <a:srgbClr val="3C3F2C"/>
                </a:solidFill>
                <a:latin typeface="Calibri" pitchFamily="34" charset="0"/>
                <a:ea typeface="Calibri" pitchFamily="34" charset="-122"/>
                <a:cs typeface="Calibri" pitchFamily="34" charset="-120"/>
              </a:rPr>
              <a:t>Mobilization &amp; Deployment Support</a:t>
            </a:r>
            <a:endParaRPr lang="en-US" sz="1250" dirty="0"/>
          </a:p>
        </p:txBody>
      </p:sp>
      <p:sp>
        <p:nvSpPr>
          <p:cNvPr id="21" name="Text 19"/>
          <p:cNvSpPr/>
          <p:nvPr/>
        </p:nvSpPr>
        <p:spPr>
          <a:xfrm>
            <a:off x="8229600" y="4800600"/>
            <a:ext cx="3200400" cy="1371600"/>
          </a:xfrm>
          <a:prstGeom prst="rect">
            <a:avLst/>
          </a:prstGeom>
          <a:noFill/>
          <a:ln/>
        </p:spPr>
        <p:txBody>
          <a:bodyPr wrap="square" lIns="0" tIns="0" rIns="0" bIns="0" rtlCol="0" anchor="t"/>
          <a:lstStyle/>
          <a:p>
            <a:pPr indent="0" marL="0">
              <a:buNone/>
            </a:pPr>
            <a:r>
              <a:rPr lang="en-US" sz="1050" dirty="0">
                <a:solidFill>
                  <a:srgbClr val="2B2B25"/>
                </a:solidFill>
                <a:latin typeface="Calibri" pitchFamily="34" charset="0"/>
                <a:ea typeface="Calibri" pitchFamily="34" charset="-122"/>
                <a:cs typeface="Calibri" pitchFamily="34" charset="-120"/>
              </a:rPr>
              <a:t>Resources for Soldiers, Families, rear detachment cadre, and Family Readiness Group leaders during deployment.</a:t>
            </a:r>
            <a:endParaRPr lang="en-US" sz="1050" dirty="0"/>
          </a:p>
        </p:txBody>
      </p:sp>
      <p:sp>
        <p:nvSpPr>
          <p:cNvPr id="22" name="Text 20"/>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ARMY COMMUNITY SERVICE  |  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TO ACTUALLY USE ACS</a:t>
            </a:r>
            <a:endParaRPr lang="en-US" sz="3000" dirty="0"/>
          </a:p>
        </p:txBody>
      </p:sp>
      <p:sp>
        <p:nvSpPr>
          <p:cNvPr id="3" name="Text 1"/>
          <p:cNvSpPr/>
          <p:nvPr/>
        </p:nvSpPr>
        <p:spPr>
          <a:xfrm>
            <a:off x="548640" y="960120"/>
            <a:ext cx="9144000" cy="365760"/>
          </a:xfrm>
          <a:prstGeom prst="rect">
            <a:avLst/>
          </a:prstGeom>
          <a:noFill/>
          <a:ln/>
        </p:spPr>
        <p:txBody>
          <a:bodyPr wrap="square" lIns="0" tIns="0" rIns="0" bIns="0" rtlCol="0" anchor="ctr"/>
          <a:lstStyle/>
          <a:p>
            <a:pPr indent="0" marL="0">
              <a:buNone/>
            </a:pPr>
            <a:r>
              <a:rPr lang="en-US" sz="1500" i="1" dirty="0">
                <a:solidFill>
                  <a:srgbClr val="C9A227"/>
                </a:solidFill>
                <a:latin typeface="Calibri" pitchFamily="34" charset="0"/>
                <a:ea typeface="Calibri" pitchFamily="34" charset="-122"/>
                <a:cs typeface="Calibri" pitchFamily="34" charset="-120"/>
              </a:rPr>
              <a:t>Three simple steps</a:t>
            </a:r>
            <a:endParaRPr lang="en-US" sz="1500" dirty="0"/>
          </a:p>
        </p:txBody>
      </p:sp>
      <p:sp>
        <p:nvSpPr>
          <p:cNvPr id="4" name="Shape 2"/>
          <p:cNvSpPr/>
          <p:nvPr/>
        </p:nvSpPr>
        <p:spPr>
          <a:xfrm>
            <a:off x="548640" y="1828800"/>
            <a:ext cx="3566160" cy="3931920"/>
          </a:xfrm>
          <a:prstGeom prst="roundRect">
            <a:avLst>
              <a:gd name="adj" fmla="val 2051"/>
            </a:avLst>
          </a:prstGeom>
          <a:solidFill>
            <a:srgbClr val="3C3F2C"/>
          </a:solidFill>
          <a:ln/>
        </p:spPr>
      </p:sp>
      <p:sp>
        <p:nvSpPr>
          <p:cNvPr id="5" name="Shape 3"/>
          <p:cNvSpPr/>
          <p:nvPr/>
        </p:nvSpPr>
        <p:spPr>
          <a:xfrm>
            <a:off x="1965960" y="2103120"/>
            <a:ext cx="731520" cy="731520"/>
          </a:xfrm>
          <a:prstGeom prst="ellipse">
            <a:avLst/>
          </a:prstGeom>
          <a:solidFill>
            <a:srgbClr val="C9A227"/>
          </a:solidFill>
          <a:ln/>
        </p:spPr>
      </p:sp>
      <p:sp>
        <p:nvSpPr>
          <p:cNvPr id="6" name="Text 4"/>
          <p:cNvSpPr/>
          <p:nvPr/>
        </p:nvSpPr>
        <p:spPr>
          <a:xfrm>
            <a:off x="1965960" y="2103120"/>
            <a:ext cx="731520" cy="731520"/>
          </a:xfrm>
          <a:prstGeom prst="rect">
            <a:avLst/>
          </a:prstGeom>
          <a:noFill/>
          <a:ln/>
        </p:spPr>
        <p:txBody>
          <a:bodyPr wrap="square" lIns="0" tIns="0" rIns="0" bIns="0" rtlCol="0" anchor="ctr"/>
          <a:lstStyle/>
          <a:p>
            <a:pPr algn="ctr" indent="0" marL="0">
              <a:buNone/>
            </a:pPr>
            <a:r>
              <a:rPr lang="en-US" sz="2800" b="1" dirty="0">
                <a:solidFill>
                  <a:srgbClr val="24261A"/>
                </a:solidFill>
                <a:latin typeface="Cambria" pitchFamily="34" charset="0"/>
                <a:ea typeface="Cambria" pitchFamily="34" charset="-122"/>
                <a:cs typeface="Cambria" pitchFamily="34" charset="-120"/>
              </a:rPr>
              <a:t>1</a:t>
            </a:r>
            <a:endParaRPr lang="en-US" sz="2800" dirty="0"/>
          </a:p>
        </p:txBody>
      </p:sp>
      <p:sp>
        <p:nvSpPr>
          <p:cNvPr id="7" name="Text 5"/>
          <p:cNvSpPr/>
          <p:nvPr/>
        </p:nvSpPr>
        <p:spPr>
          <a:xfrm>
            <a:off x="777240" y="3017520"/>
            <a:ext cx="3108960" cy="731520"/>
          </a:xfrm>
          <a:prstGeom prst="rect">
            <a:avLst/>
          </a:prstGeom>
          <a:noFill/>
          <a:ln/>
        </p:spPr>
        <p:txBody>
          <a:bodyPr wrap="square" lIns="0" tIns="0" rIns="0" bIns="0" rtlCol="0" anchor="t"/>
          <a:lstStyle/>
          <a:p>
            <a:pPr algn="ctr" indent="0" marL="0">
              <a:buNone/>
            </a:pPr>
            <a:r>
              <a:rPr lang="en-US" sz="1400" b="1" dirty="0">
                <a:solidFill>
                  <a:srgbClr val="C9A227"/>
                </a:solidFill>
                <a:latin typeface="Calibri" pitchFamily="34" charset="0"/>
                <a:ea typeface="Calibri" pitchFamily="34" charset="-122"/>
                <a:cs typeface="Calibri" pitchFamily="34" charset="-120"/>
              </a:rPr>
              <a:t>Find your installation's ACS center</a:t>
            </a:r>
            <a:endParaRPr lang="en-US" sz="1400" dirty="0"/>
          </a:p>
        </p:txBody>
      </p:sp>
      <p:sp>
        <p:nvSpPr>
          <p:cNvPr id="8" name="Text 6"/>
          <p:cNvSpPr/>
          <p:nvPr/>
        </p:nvSpPr>
        <p:spPr>
          <a:xfrm>
            <a:off x="777240" y="3794760"/>
            <a:ext cx="3108960" cy="178308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Nearly every garrison has one — search your installation's MWR website or ask your unit's Family Readiness support.</a:t>
            </a:r>
            <a:endParaRPr lang="en-US" sz="1150" dirty="0"/>
          </a:p>
        </p:txBody>
      </p:sp>
      <p:sp>
        <p:nvSpPr>
          <p:cNvPr id="9" name="Shape 7"/>
          <p:cNvSpPr/>
          <p:nvPr/>
        </p:nvSpPr>
        <p:spPr>
          <a:xfrm>
            <a:off x="4297680" y="1828800"/>
            <a:ext cx="3566160" cy="3931920"/>
          </a:xfrm>
          <a:prstGeom prst="roundRect">
            <a:avLst>
              <a:gd name="adj" fmla="val 2051"/>
            </a:avLst>
          </a:prstGeom>
          <a:solidFill>
            <a:srgbClr val="3C3F2C"/>
          </a:solidFill>
          <a:ln/>
        </p:spPr>
      </p:sp>
      <p:sp>
        <p:nvSpPr>
          <p:cNvPr id="10" name="Shape 8"/>
          <p:cNvSpPr/>
          <p:nvPr/>
        </p:nvSpPr>
        <p:spPr>
          <a:xfrm>
            <a:off x="5715000" y="2103120"/>
            <a:ext cx="731520" cy="731520"/>
          </a:xfrm>
          <a:prstGeom prst="ellipse">
            <a:avLst/>
          </a:prstGeom>
          <a:solidFill>
            <a:srgbClr val="C9A227"/>
          </a:solidFill>
          <a:ln/>
        </p:spPr>
      </p:sp>
      <p:sp>
        <p:nvSpPr>
          <p:cNvPr id="11" name="Text 9"/>
          <p:cNvSpPr/>
          <p:nvPr/>
        </p:nvSpPr>
        <p:spPr>
          <a:xfrm>
            <a:off x="5715000" y="2103120"/>
            <a:ext cx="731520" cy="731520"/>
          </a:xfrm>
          <a:prstGeom prst="rect">
            <a:avLst/>
          </a:prstGeom>
          <a:noFill/>
          <a:ln/>
        </p:spPr>
        <p:txBody>
          <a:bodyPr wrap="square" lIns="0" tIns="0" rIns="0" bIns="0" rtlCol="0" anchor="ctr"/>
          <a:lstStyle/>
          <a:p>
            <a:pPr algn="ctr" indent="0" marL="0">
              <a:buNone/>
            </a:pPr>
            <a:r>
              <a:rPr lang="en-US" sz="2800" b="1" dirty="0">
                <a:solidFill>
                  <a:srgbClr val="24261A"/>
                </a:solidFill>
                <a:latin typeface="Cambria" pitchFamily="34" charset="0"/>
                <a:ea typeface="Cambria" pitchFamily="34" charset="-122"/>
                <a:cs typeface="Cambria" pitchFamily="34" charset="-120"/>
              </a:rPr>
              <a:t>2</a:t>
            </a:r>
            <a:endParaRPr lang="en-US" sz="2800" dirty="0"/>
          </a:p>
        </p:txBody>
      </p:sp>
      <p:sp>
        <p:nvSpPr>
          <p:cNvPr id="12" name="Text 10"/>
          <p:cNvSpPr/>
          <p:nvPr/>
        </p:nvSpPr>
        <p:spPr>
          <a:xfrm>
            <a:off x="4526280" y="3017520"/>
            <a:ext cx="3108960" cy="731520"/>
          </a:xfrm>
          <a:prstGeom prst="rect">
            <a:avLst/>
          </a:prstGeom>
          <a:noFill/>
          <a:ln/>
        </p:spPr>
        <p:txBody>
          <a:bodyPr wrap="square" lIns="0" tIns="0" rIns="0" bIns="0" rtlCol="0" anchor="t"/>
          <a:lstStyle/>
          <a:p>
            <a:pPr algn="ctr" indent="0" marL="0">
              <a:buNone/>
            </a:pPr>
            <a:r>
              <a:rPr lang="en-US" sz="1400" b="1" dirty="0">
                <a:solidFill>
                  <a:srgbClr val="C9A227"/>
                </a:solidFill>
                <a:latin typeface="Calibri" pitchFamily="34" charset="0"/>
                <a:ea typeface="Calibri" pitchFamily="34" charset="-122"/>
                <a:cs typeface="Calibri" pitchFamily="34" charset="-120"/>
              </a:rPr>
              <a:t>Walk in, call, or request a referral</a:t>
            </a:r>
            <a:endParaRPr lang="en-US" sz="1400" dirty="0"/>
          </a:p>
        </p:txBody>
      </p:sp>
      <p:sp>
        <p:nvSpPr>
          <p:cNvPr id="13" name="Text 11"/>
          <p:cNvSpPr/>
          <p:nvPr/>
        </p:nvSpPr>
        <p:spPr>
          <a:xfrm>
            <a:off x="4526280" y="3794760"/>
            <a:ext cx="3108960" cy="178308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Most programs take walk-ins; some (like financial counseling) work best by appointment.</a:t>
            </a:r>
            <a:endParaRPr lang="en-US" sz="1150" dirty="0"/>
          </a:p>
        </p:txBody>
      </p:sp>
      <p:sp>
        <p:nvSpPr>
          <p:cNvPr id="14" name="Shape 12"/>
          <p:cNvSpPr/>
          <p:nvPr/>
        </p:nvSpPr>
        <p:spPr>
          <a:xfrm>
            <a:off x="8046720" y="1828800"/>
            <a:ext cx="3566160" cy="3931920"/>
          </a:xfrm>
          <a:prstGeom prst="roundRect">
            <a:avLst>
              <a:gd name="adj" fmla="val 2051"/>
            </a:avLst>
          </a:prstGeom>
          <a:solidFill>
            <a:srgbClr val="3C3F2C"/>
          </a:solidFill>
          <a:ln/>
        </p:spPr>
      </p:sp>
      <p:sp>
        <p:nvSpPr>
          <p:cNvPr id="15" name="Shape 13"/>
          <p:cNvSpPr/>
          <p:nvPr/>
        </p:nvSpPr>
        <p:spPr>
          <a:xfrm>
            <a:off x="9464040" y="2103120"/>
            <a:ext cx="731520" cy="731520"/>
          </a:xfrm>
          <a:prstGeom prst="ellipse">
            <a:avLst/>
          </a:prstGeom>
          <a:solidFill>
            <a:srgbClr val="C9A227"/>
          </a:solidFill>
          <a:ln/>
        </p:spPr>
      </p:sp>
      <p:sp>
        <p:nvSpPr>
          <p:cNvPr id="16" name="Text 14"/>
          <p:cNvSpPr/>
          <p:nvPr/>
        </p:nvSpPr>
        <p:spPr>
          <a:xfrm>
            <a:off x="9464040" y="2103120"/>
            <a:ext cx="731520" cy="731520"/>
          </a:xfrm>
          <a:prstGeom prst="rect">
            <a:avLst/>
          </a:prstGeom>
          <a:noFill/>
          <a:ln/>
        </p:spPr>
        <p:txBody>
          <a:bodyPr wrap="square" lIns="0" tIns="0" rIns="0" bIns="0" rtlCol="0" anchor="ctr"/>
          <a:lstStyle/>
          <a:p>
            <a:pPr algn="ctr" indent="0" marL="0">
              <a:buNone/>
            </a:pPr>
            <a:r>
              <a:rPr lang="en-US" sz="2800" b="1" dirty="0">
                <a:solidFill>
                  <a:srgbClr val="24261A"/>
                </a:solidFill>
                <a:latin typeface="Cambria" pitchFamily="34" charset="0"/>
                <a:ea typeface="Cambria" pitchFamily="34" charset="-122"/>
                <a:cs typeface="Cambria" pitchFamily="34" charset="-120"/>
              </a:rPr>
              <a:t>3</a:t>
            </a:r>
            <a:endParaRPr lang="en-US" sz="2800" dirty="0"/>
          </a:p>
        </p:txBody>
      </p:sp>
      <p:sp>
        <p:nvSpPr>
          <p:cNvPr id="17" name="Text 15"/>
          <p:cNvSpPr/>
          <p:nvPr/>
        </p:nvSpPr>
        <p:spPr>
          <a:xfrm>
            <a:off x="8275320" y="3017520"/>
            <a:ext cx="3108960" cy="731520"/>
          </a:xfrm>
          <a:prstGeom prst="rect">
            <a:avLst/>
          </a:prstGeom>
          <a:noFill/>
          <a:ln/>
        </p:spPr>
        <p:txBody>
          <a:bodyPr wrap="square" lIns="0" tIns="0" rIns="0" bIns="0" rtlCol="0" anchor="t"/>
          <a:lstStyle/>
          <a:p>
            <a:pPr algn="ctr" indent="0" marL="0">
              <a:buNone/>
            </a:pPr>
            <a:r>
              <a:rPr lang="en-US" sz="1400" b="1" dirty="0">
                <a:solidFill>
                  <a:srgbClr val="C9A227"/>
                </a:solidFill>
                <a:latin typeface="Calibri" pitchFamily="34" charset="0"/>
                <a:ea typeface="Calibri" pitchFamily="34" charset="-122"/>
                <a:cs typeface="Calibri" pitchFamily="34" charset="-120"/>
              </a:rPr>
              <a:t>Ask what's available where you are</a:t>
            </a:r>
            <a:endParaRPr lang="en-US" sz="1400" dirty="0"/>
          </a:p>
        </p:txBody>
      </p:sp>
      <p:sp>
        <p:nvSpPr>
          <p:cNvPr id="18" name="Text 16"/>
          <p:cNvSpPr/>
          <p:nvPr/>
        </p:nvSpPr>
        <p:spPr>
          <a:xfrm>
            <a:off x="8275320" y="3794760"/>
            <a:ext cx="3108960" cy="178308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Not every program exists at every installation — the front desk (Information &amp; Referral) will point you to what does.</a:t>
            </a:r>
            <a:endParaRPr lang="en-US" sz="1150" dirty="0"/>
          </a:p>
        </p:txBody>
      </p:sp>
      <p:sp>
        <p:nvSpPr>
          <p:cNvPr id="19" name="Text 17"/>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8A8C78"/>
                </a:solidFill>
                <a:latin typeface="Calibri" pitchFamily="34" charset="0"/>
                <a:ea typeface="Calibri" pitchFamily="34" charset="-122"/>
                <a:cs typeface="Calibri" pitchFamily="34" charset="-120"/>
              </a:rPr>
              <a:t>ARMY COMMUNITY SERVICE  |  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pic>
        <p:nvPicPr>
          <p:cNvPr id="4" name="Image 0" descr="icon_heart.png">    </p:cNvPr>
          <p:cNvPicPr>
            <a:picLocks noChangeAspect="1"/>
          </p:cNvPicPr>
          <p:nvPr/>
        </p:nvPicPr>
        <p:blipFill>
          <a:blip r:embed="rId1"/>
          <a:stretch>
            <a:fillRect/>
          </a:stretch>
        </p:blipFill>
        <p:spPr>
          <a:xfrm>
            <a:off x="731520" y="1554480"/>
            <a:ext cx="457200" cy="457200"/>
          </a:xfrm>
          <a:prstGeom prst="rect">
            <a:avLst/>
          </a:prstGeom>
        </p:spPr>
      </p:pic>
      <p:sp>
        <p:nvSpPr>
          <p:cNvPr id="5" name="Text 2"/>
          <p:cNvSpPr/>
          <p:nvPr/>
        </p:nvSpPr>
        <p:spPr>
          <a:xfrm>
            <a:off x="1417320" y="1508760"/>
            <a:ext cx="10058400" cy="548640"/>
          </a:xfrm>
          <a:prstGeom prst="rect">
            <a:avLst/>
          </a:prstGeom>
          <a:noFill/>
          <a:ln/>
        </p:spPr>
        <p:txBody>
          <a:bodyPr wrap="square" lIns="0" tIns="0" rIns="0" bIns="0" rtlCol="0" anchor="ctr"/>
          <a:lstStyle/>
          <a:p>
            <a:pPr indent="0" marL="0">
              <a:buNone/>
            </a:pPr>
            <a:r>
              <a:rPr lang="en-US" sz="1600" dirty="0">
                <a:solidFill>
                  <a:srgbClr val="2B2B25"/>
                </a:solidFill>
                <a:latin typeface="Calibri" pitchFamily="34" charset="0"/>
                <a:ea typeface="Calibri" pitchFamily="34" charset="-122"/>
                <a:cs typeface="Calibri" pitchFamily="34" charset="-120"/>
              </a:rPr>
              <a:t>ACS is free, confidential, and built for Soldiers and Families at every stage</a:t>
            </a:r>
            <a:endParaRPr lang="en-US" sz="1600" dirty="0"/>
          </a:p>
        </p:txBody>
      </p:sp>
      <p:pic>
        <p:nvPicPr>
          <p:cNvPr id="6" name="Image 1" descr="icon_wallet.png">    </p:cNvPr>
          <p:cNvPicPr>
            <a:picLocks noChangeAspect="1"/>
          </p:cNvPicPr>
          <p:nvPr/>
        </p:nvPicPr>
        <p:blipFill>
          <a:blip r:embed="rId2"/>
          <a:stretch>
            <a:fillRect/>
          </a:stretch>
        </p:blipFill>
        <p:spPr>
          <a:xfrm>
            <a:off x="731520" y="2331720"/>
            <a:ext cx="457200" cy="457200"/>
          </a:xfrm>
          <a:prstGeom prst="rect">
            <a:avLst/>
          </a:prstGeom>
        </p:spPr>
      </p:pic>
      <p:sp>
        <p:nvSpPr>
          <p:cNvPr id="7" name="Text 3"/>
          <p:cNvSpPr/>
          <p:nvPr/>
        </p:nvSpPr>
        <p:spPr>
          <a:xfrm>
            <a:off x="1417320" y="2286000"/>
            <a:ext cx="10058400" cy="548640"/>
          </a:xfrm>
          <a:prstGeom prst="rect">
            <a:avLst/>
          </a:prstGeom>
          <a:noFill/>
          <a:ln/>
        </p:spPr>
        <p:txBody>
          <a:bodyPr wrap="square" lIns="0" tIns="0" rIns="0" bIns="0" rtlCol="0" anchor="ctr"/>
          <a:lstStyle/>
          <a:p>
            <a:pPr indent="0" marL="0">
              <a:buNone/>
            </a:pPr>
            <a:r>
              <a:rPr lang="en-US" sz="1600" dirty="0">
                <a:solidFill>
                  <a:srgbClr val="2B2B25"/>
                </a:solidFill>
                <a:latin typeface="Calibri" pitchFamily="34" charset="0"/>
                <a:ea typeface="Calibri" pitchFamily="34" charset="-122"/>
                <a:cs typeface="Calibri" pitchFamily="34" charset="-120"/>
              </a:rPr>
              <a:t>Financial Readiness and AER can help long before a small problem becomes a big one</a:t>
            </a:r>
            <a:endParaRPr lang="en-US" sz="1600" dirty="0"/>
          </a:p>
        </p:txBody>
      </p:sp>
      <p:pic>
        <p:nvPicPr>
          <p:cNvPr id="8" name="Image 2" descr="icon_truck.png">    </p:cNvPr>
          <p:cNvPicPr>
            <a:picLocks noChangeAspect="1"/>
          </p:cNvPicPr>
          <p:nvPr/>
        </p:nvPicPr>
        <p:blipFill>
          <a:blip r:embed="rId3"/>
          <a:stretch>
            <a:fillRect/>
          </a:stretch>
        </p:blipFill>
        <p:spPr>
          <a:xfrm>
            <a:off x="731520" y="3108960"/>
            <a:ext cx="457200" cy="457200"/>
          </a:xfrm>
          <a:prstGeom prst="rect">
            <a:avLst/>
          </a:prstGeom>
        </p:spPr>
      </p:pic>
      <p:sp>
        <p:nvSpPr>
          <p:cNvPr id="9" name="Text 4"/>
          <p:cNvSpPr/>
          <p:nvPr/>
        </p:nvSpPr>
        <p:spPr>
          <a:xfrm>
            <a:off x="1417320" y="3063240"/>
            <a:ext cx="10058400" cy="548640"/>
          </a:xfrm>
          <a:prstGeom prst="rect">
            <a:avLst/>
          </a:prstGeom>
          <a:noFill/>
          <a:ln/>
        </p:spPr>
        <p:txBody>
          <a:bodyPr wrap="square" lIns="0" tIns="0" rIns="0" bIns="0" rtlCol="0" anchor="ctr"/>
          <a:lstStyle/>
          <a:p>
            <a:pPr indent="0" marL="0">
              <a:buNone/>
            </a:pPr>
            <a:r>
              <a:rPr lang="en-US" sz="1600" dirty="0">
                <a:solidFill>
                  <a:srgbClr val="2B2B25"/>
                </a:solidFill>
                <a:latin typeface="Calibri" pitchFamily="34" charset="0"/>
                <a:ea typeface="Calibri" pitchFamily="34" charset="-122"/>
                <a:cs typeface="Calibri" pitchFamily="34" charset="-120"/>
              </a:rPr>
              <a:t>Relocation Readiness works best when you visit before you PCS, not after</a:t>
            </a:r>
            <a:endParaRPr lang="en-US" sz="1600" dirty="0"/>
          </a:p>
        </p:txBody>
      </p:sp>
      <p:pic>
        <p:nvPicPr>
          <p:cNvPr id="10" name="Image 3" descr="icon_briefcase.png">    </p:cNvPr>
          <p:cNvPicPr>
            <a:picLocks noChangeAspect="1"/>
          </p:cNvPicPr>
          <p:nvPr/>
        </p:nvPicPr>
        <p:blipFill>
          <a:blip r:embed="rId4"/>
          <a:stretch>
            <a:fillRect/>
          </a:stretch>
        </p:blipFill>
        <p:spPr>
          <a:xfrm>
            <a:off x="731520" y="3886200"/>
            <a:ext cx="457200" cy="457200"/>
          </a:xfrm>
          <a:prstGeom prst="rect">
            <a:avLst/>
          </a:prstGeom>
        </p:spPr>
      </p:pic>
      <p:sp>
        <p:nvSpPr>
          <p:cNvPr id="11" name="Text 5"/>
          <p:cNvSpPr/>
          <p:nvPr/>
        </p:nvSpPr>
        <p:spPr>
          <a:xfrm>
            <a:off x="1417320" y="3840480"/>
            <a:ext cx="10058400" cy="548640"/>
          </a:xfrm>
          <a:prstGeom prst="rect">
            <a:avLst/>
          </a:prstGeom>
          <a:noFill/>
          <a:ln/>
        </p:spPr>
        <p:txBody>
          <a:bodyPr wrap="square" lIns="0" tIns="0" rIns="0" bIns="0" rtlCol="0" anchor="ctr"/>
          <a:lstStyle/>
          <a:p>
            <a:pPr indent="0" marL="0">
              <a:buNone/>
            </a:pPr>
            <a:r>
              <a:rPr lang="en-US" sz="1600" dirty="0">
                <a:solidFill>
                  <a:srgbClr val="2B2B25"/>
                </a:solidFill>
                <a:latin typeface="Calibri" pitchFamily="34" charset="0"/>
                <a:ea typeface="Calibri" pitchFamily="34" charset="-122"/>
                <a:cs typeface="Calibri" pitchFamily="34" charset="-120"/>
              </a:rPr>
              <a:t>Employment Readiness is a real career resource for spouses — pass it along</a:t>
            </a:r>
            <a:endParaRPr lang="en-US" sz="1600" dirty="0"/>
          </a:p>
        </p:txBody>
      </p:sp>
      <p:sp>
        <p:nvSpPr>
          <p:cNvPr id="12" name="Shape 6"/>
          <p:cNvSpPr/>
          <p:nvPr/>
        </p:nvSpPr>
        <p:spPr>
          <a:xfrm>
            <a:off x="548640" y="4846320"/>
            <a:ext cx="11064240" cy="1371600"/>
          </a:xfrm>
          <a:prstGeom prst="roundRect">
            <a:avLst>
              <a:gd name="adj" fmla="val 5333"/>
            </a:avLst>
          </a:prstGeom>
          <a:solidFill>
            <a:srgbClr val="F1EDE3"/>
          </a:solidFill>
          <a:ln/>
          <a:effectLst>
            <a:outerShdw sx="100000" sy="100000" kx="0" ky="0" algn="bl" rotWithShape="0" blurRad="76200" dist="25400" dir="2700000">
              <a:srgbClr val="000000">
                <a:alpha val="10000"/>
              </a:srgbClr>
            </a:outerShdw>
          </a:effectLst>
        </p:spPr>
      </p:sp>
      <p:pic>
        <p:nvPicPr>
          <p:cNvPr id="13" name="Image 4" descr="icon_question.png">    </p:cNvPr>
          <p:cNvPicPr>
            <a:picLocks noChangeAspect="1"/>
          </p:cNvPicPr>
          <p:nvPr/>
        </p:nvPicPr>
        <p:blipFill>
          <a:blip r:embed="rId5"/>
          <a:stretch>
            <a:fillRect/>
          </a:stretch>
        </p:blipFill>
        <p:spPr>
          <a:xfrm>
            <a:off x="822960" y="5120640"/>
            <a:ext cx="502920" cy="502920"/>
          </a:xfrm>
          <a:prstGeom prst="rect">
            <a:avLst/>
          </a:prstGeom>
        </p:spPr>
      </p:pic>
      <p:sp>
        <p:nvSpPr>
          <p:cNvPr id="14" name="Text 7"/>
          <p:cNvSpPr/>
          <p:nvPr/>
        </p:nvSpPr>
        <p:spPr>
          <a:xfrm>
            <a:off x="1508760" y="5029200"/>
            <a:ext cx="9784080" cy="1097280"/>
          </a:xfrm>
          <a:prstGeom prst="rect">
            <a:avLst/>
          </a:prstGeom>
          <a:noFill/>
          <a:ln/>
        </p:spPr>
        <p:txBody>
          <a:bodyPr wrap="square" lIns="0" tIns="0" rIns="0" bIns="0" rtlCol="0" anchor="ctr"/>
          <a:lstStyle/>
          <a:p>
            <a:pPr indent="0" marL="0">
              <a:buNone/>
            </a:pPr>
            <a:r>
              <a:rPr lang="en-US" sz="1350" b="1" dirty="0">
                <a:solidFill>
                  <a:srgbClr val="3C3F2C"/>
                </a:solidFill>
                <a:latin typeface="Calibri" pitchFamily="34" charset="0"/>
                <a:ea typeface="Calibri" pitchFamily="34" charset="-122"/>
                <a:cs typeface="Calibri" pitchFamily="34" charset="-120"/>
              </a:rPr>
              <a:t>Before we close — </a:t>
            </a:r>
            <a:pPr indent="0" marL="0">
              <a:buNone/>
            </a:pPr>
            <a:r>
              <a:rPr lang="en-US" sz="1350" dirty="0">
                <a:solidFill>
                  <a:srgbClr val="2B2B25"/>
                </a:solidFill>
                <a:latin typeface="Calibri" pitchFamily="34" charset="0"/>
                <a:ea typeface="Calibri" pitchFamily="34" charset="-122"/>
                <a:cs typeface="Calibri" pitchFamily="34" charset="-120"/>
              </a:rPr>
              <a:t>Which ACS program from today is most relevant to you or your Family right now?</a:t>
            </a:r>
            <a:endParaRPr lang="en-US" sz="1350" dirty="0"/>
          </a:p>
        </p:txBody>
      </p:sp>
      <p:sp>
        <p:nvSpPr>
          <p:cNvPr id="15" name="Text 8"/>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ARMY COMMUNITY SERVICE  |  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Army Community Service (ACS)</dc:title>
  <dc:subject>PptxGenJS Presentation</dc:subject>
  <dc:creator>US Army Cyber School</dc:creator>
  <cp:lastModifiedBy>US Army Cyber School</cp:lastModifiedBy>
  <cp:revision>1</cp:revision>
  <dcterms:created xsi:type="dcterms:W3CDTF">2026-07-08T00:14:16Z</dcterms:created>
  <dcterms:modified xsi:type="dcterms:W3CDTF">2026-07-08T00:14:16Z</dcterms:modified>
</cp:coreProperties>
</file>